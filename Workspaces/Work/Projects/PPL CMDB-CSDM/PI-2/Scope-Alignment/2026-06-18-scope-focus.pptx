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PI-2 Scope &amp; Delivery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 i="0">
                <a:solidFill>
                  <a:srgbClr val="C9D6E6"/>
                </a:solidFill>
                <a:latin typeface="Segoe UI"/>
              </a:rPr>
              <a:t>CMDB Team Working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PI-2  ·  Iteration 2.3  (Jun 10 - 23)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May 13 - Aug 4, 2026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Why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Clarity on what we committed to, what we added, and where to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  <a:latin typeface="Segoe UI"/>
              </a:rPr>
              <a:t>This deck aligns what we are building to what the engagement committed to. It establishes the original contracted scope, the scope added during PI-2, and where to focus our effort and solution decisions for the rest of the increment.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789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  <a:latin typeface="Segoe UI"/>
              </a:rPr>
              <a:t>1.  Initial scope</a:t>
            </a:r>
          </a:p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What the engagement was contracted to deliver - 4 workstreams.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46120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789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  <a:latin typeface="Segoe UI"/>
              </a:rPr>
              <a:t>2.  Added in PI-2</a:t>
            </a:r>
          </a:p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What PI-2 layered on top - 6 objectives, 3 of them new.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109728" cy="5669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78992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  <a:latin typeface="Segoe UI"/>
              </a:rPr>
              <a:t>3.  Direction</a:t>
            </a:r>
          </a:p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Our ranked goals, live work, capacity, risks, and the calls we 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Audience: the CMDB team doing the work and making solution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Initial Scope - Contracted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contracted CMDB scope: 4 workstreams  (WS #1-3 = CO#5  ·  WS #4 = prior 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468880"/>
                <a:gridCol w="6309360"/>
                <a:gridCol w="1188720"/>
              </a:tblGrid>
              <a:tr h="69494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Workstream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What it covers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Effort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6DB4"/>
                          </a:solidFill>
                          <a:latin typeface="Segoe UI"/>
                        </a:rPr>
                        <a:t>WS #1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3A5F"/>
                          </a:solidFill>
                          <a:latin typeface="Segoe UI"/>
                        </a:rPr>
                        <a:t>Governance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Data dictionary / class attributes (Servers, Computers, Business Apps, Databases); SOX / ESS-02; CCB facilitation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27 pts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6DB4"/>
                          </a:solidFill>
                          <a:latin typeface="Segoe UI"/>
                        </a:rPr>
                        <a:t>WS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3A5F"/>
                          </a:solidFill>
                          <a:latin typeface="Segoe UI"/>
                        </a:rPr>
                        <a:t>Automated Data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SCCM / Discovery precedence; 90% coverage validation (Computers &amp; Servers); Oracle / MS-SQL discovery; Life Cycle bulk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33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6DB4"/>
                          </a:solidFill>
                          <a:latin typeface="Segoe UI"/>
                        </a:rPr>
                        <a:t>WS #3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3A5F"/>
                          </a:solidFill>
                          <a:latin typeface="Segoe UI"/>
                        </a:rPr>
                        <a:t>Other Enhancements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Evaluate ONE integration - Tanium OR Qualys; asset / service-mapping data only (no vulnerability ingestion)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7 pts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2E6DB4"/>
                          </a:solidFill>
                          <a:latin typeface="Segoe UI"/>
                        </a:rPr>
                        <a:t>WS 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3A5F"/>
                          </a:solidFill>
                          <a:latin typeface="Segoe UI"/>
                        </a:rPr>
                        <a:t>Service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Dev 4 fully dedicated; 5 maps / sprint x 6 sprints = 30 service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48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115 pts total  (67 general pool  +  48 Dev 4 dedicated)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75504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Segoe UI"/>
              </a:rPr>
              <a:t>Dev 4 is walled off for Service Mapping and does not draw on the shared (general) pool.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532120"/>
            <a:ext cx="11155680" cy="841248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96128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7A4F10"/>
                </a:solidFill>
                <a:latin typeface="Segoe UI"/>
              </a:rPr>
              <a:t>Contract term: CO#5 runs through June 30,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108813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5A4A2A"/>
                </a:solidFill>
                <a:latin typeface="Segoe UI"/>
              </a:rPr>
              <a:t>All CO#5 deliverables are due June 30, with a $533,775 holdback released on acceptance.  An extension covering July / August (Sprints 5-6) is expected but NOT yet signed.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PI-2 Scope vs Signed Contract (CO#5)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Basis: signed CO#5 (Mar 31 - Jun 30, 2026)   ·   2 contracted · 1 partial · 2 added · 1 to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91840"/>
                <a:gridCol w="1554480"/>
                <a:gridCol w="5669280"/>
              </a:tblGrid>
              <a:tr h="43107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PI-2 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Alignment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6B728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VMware -&gt; Azure Migration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ADDED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Not in CO#5 - added, critical. Needs a change order. 100% VMs discovered &amp; mapped pre-migration.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6B728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Network Gear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VERIFY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Believed contracted (prior CO) - NOT named in CO#5. Confirm against CO#1-4. &gt;=90% network-gear quality.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6B728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CI Data Certification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CONTRACTED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CO#5 Deliverable 1.2 (named). Process, intake, Business App pilot, KB docs.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6B728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Service Mapping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CONTRACTED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Contracted (prior CO). 30 maps target - exact commitment shape TBD.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6B728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NERC-CIP &amp; Qualys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CO#5 buys Qualys REQUIREMENTS only; team is building (verify build CO). NERC-CIP explicitly EXCLUDED.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6B728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3A5F"/>
                          </a:solidFill>
                          <a:latin typeface="Segoe UI"/>
                        </a:rPr>
                        <a:t>NowAssist AI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ADDED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Not in CO#5 - added. ~17 pts. Needs a change order.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34840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Two original commitments need a home: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37176"/>
            <a:ext cx="109728" cy="4572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88136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WS #2 Auto Data Ingestion (CO#5 Deliverable 2) - contracted and delivered at task level, but has no PI-2 objective of its own. Give it a tracked goal.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95544"/>
            <a:ext cx="109728" cy="4572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58968"/>
            <a:ext cx="1088136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SOX / ESS-02 (CO#5 Deliverable 1) - contracted, but not explicitly called out as its own PI-2 objective.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Our Goals, Ranked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By operational priority  ·  #1 split into added network gear vs. contracted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115568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16736"/>
            <a:ext cx="868680" cy="43891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8686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P0</a:t>
            </a:r>
          </a:p>
          <a:p>
            <a:pPr algn="ctr"/>
            <a:r>
              <a:rPr sz="850" b="0" i="0">
                <a:solidFill>
                  <a:srgbClr val="DCEBF8"/>
                </a:solidFill>
                <a:latin typeface="Segoe UI"/>
              </a:rPr>
              <a:t>BV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261872"/>
            <a:ext cx="67665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VMware -&gt; Azure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554480"/>
            <a:ext cx="67665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Segoe UI"/>
              </a:rPr>
              <a:t>100% in-scope VMs discovered, classified &amp; relationship-mapped pre-migration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399032"/>
            <a:ext cx="132588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399032"/>
            <a:ext cx="15544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1F3A5F"/>
                </a:solidFill>
                <a:latin typeface="Segoe UI"/>
              </a:rPr>
              <a:t>Added in PI-2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01952"/>
            <a:ext cx="1115568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011680"/>
            <a:ext cx="868680" cy="43891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93392"/>
            <a:ext cx="8686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P1</a:t>
            </a:r>
          </a:p>
          <a:p>
            <a:pPr algn="ctr"/>
            <a:r>
              <a:rPr sz="850" b="0" i="0">
                <a:solidFill>
                  <a:srgbClr val="DCEBF8"/>
                </a:solidFill>
                <a:latin typeface="Segoe UI"/>
              </a:rPr>
              <a:t>BV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1956816"/>
            <a:ext cx="67665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Network Gear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249424"/>
            <a:ext cx="67665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Segoe UI"/>
              </a:rPr>
              <a:t>&gt;=90% of network-gear CIs meet data-quality standard by Aug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2093976"/>
            <a:ext cx="132588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093976"/>
            <a:ext cx="15544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1F3A5F"/>
                </a:solidFill>
                <a:latin typeface="Segoe UI"/>
              </a:rPr>
              <a:t>Contracted? verify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96896"/>
            <a:ext cx="1115568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706624"/>
            <a:ext cx="868680" cy="43891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688336"/>
            <a:ext cx="8686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P1</a:t>
            </a:r>
          </a:p>
          <a:p>
            <a:pPr algn="ctr"/>
            <a:r>
              <a:rPr sz="850" b="0" i="0">
                <a:solidFill>
                  <a:srgbClr val="DCEBF8"/>
                </a:solidFill>
                <a:latin typeface="Segoe UI"/>
              </a:rPr>
              <a:t>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2651760"/>
            <a:ext cx="67665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Server / Computer Data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2944368"/>
            <a:ext cx="67665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Segoe UI"/>
              </a:rPr>
              <a:t>SCCM precedence + 90% Computer/Server coverage + class data &amp; form updates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2788920"/>
            <a:ext cx="132588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788920"/>
            <a:ext cx="15544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1F3A5F"/>
                </a:solidFill>
                <a:latin typeface="Segoe UI"/>
              </a:rPr>
              <a:t>Original WS #2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91840"/>
            <a:ext cx="1115568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401568"/>
            <a:ext cx="868680" cy="43891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383280"/>
            <a:ext cx="8686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P1</a:t>
            </a:r>
          </a:p>
          <a:p>
            <a:pPr algn="ctr"/>
            <a:r>
              <a:rPr sz="850" b="0" i="0">
                <a:solidFill>
                  <a:srgbClr val="DCEBF8"/>
                </a:solidFill>
                <a:latin typeface="Segoe UI"/>
              </a:rPr>
              <a:t>BV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3346704"/>
            <a:ext cx="67665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CI Data Certification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639312"/>
            <a:ext cx="67665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Segoe UI"/>
              </a:rPr>
              <a:t>Framework defined + Business App pilot + repeatable cadence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3483864"/>
            <a:ext cx="132588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483864"/>
            <a:ext cx="15544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1F3A5F"/>
                </a:solidFill>
                <a:latin typeface="Segoe UI"/>
              </a:rPr>
              <a:t>Original WS #1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986784"/>
            <a:ext cx="1115568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096512"/>
            <a:ext cx="868680" cy="438912"/>
          </a:xfrm>
          <a:prstGeom prst="rect">
            <a:avLst/>
          </a:prstGeom>
          <a:solidFill>
            <a:srgbClr val="2F8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78224"/>
            <a:ext cx="8686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P2</a:t>
            </a:r>
          </a:p>
          <a:p>
            <a:pPr algn="ctr"/>
            <a:r>
              <a:rPr sz="850" b="0" i="0">
                <a:solidFill>
                  <a:srgbClr val="DCEBF8"/>
                </a:solidFill>
                <a:latin typeface="Segoe UI"/>
              </a:rPr>
              <a:t>BV 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4041648"/>
            <a:ext cx="67665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Service Mapping Expansion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334256"/>
            <a:ext cx="67665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Segoe UI"/>
              </a:rPr>
              <a:t>30 maps (10/month) of business-critical apps, by criticality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4178808"/>
            <a:ext cx="132588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On track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178808"/>
            <a:ext cx="15544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1F3A5F"/>
                </a:solidFill>
                <a:latin typeface="Segoe UI"/>
              </a:rPr>
              <a:t>Original WS #4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681728"/>
            <a:ext cx="1115568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791456"/>
            <a:ext cx="868680" cy="438912"/>
          </a:xfrm>
          <a:prstGeom prst="rect">
            <a:avLst/>
          </a:prstGeom>
          <a:solidFill>
            <a:srgbClr val="2F8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773168"/>
            <a:ext cx="8686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P2</a:t>
            </a:r>
          </a:p>
          <a:p>
            <a:pPr algn="ctr"/>
            <a:r>
              <a:rPr sz="850" b="0" i="0">
                <a:solidFill>
                  <a:srgbClr val="DCEBF8"/>
                </a:solidFill>
                <a:latin typeface="Segoe UI"/>
              </a:rPr>
              <a:t>BV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4736592"/>
            <a:ext cx="67665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NERC-CIP &amp; Qualys Foundation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5029200"/>
            <a:ext cx="67665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Segoe UI"/>
              </a:rPr>
              <a:t>100% foundational data model + integration approach defined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4873752"/>
            <a:ext cx="132588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Blocked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4873752"/>
            <a:ext cx="15544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1F3A5F"/>
                </a:solidFill>
                <a:latin typeface="Segoe UI"/>
              </a:rPr>
              <a:t>Partial WS #3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376672"/>
            <a:ext cx="1115568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" y="5486400"/>
            <a:ext cx="868680" cy="438912"/>
          </a:xfrm>
          <a:prstGeom prst="rect">
            <a:avLst/>
          </a:prstGeom>
          <a:solidFill>
            <a:srgbClr val="4A9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468112"/>
            <a:ext cx="8686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P3</a:t>
            </a:r>
          </a:p>
          <a:p>
            <a:pPr algn="ctr"/>
            <a:r>
              <a:rPr sz="850" b="0" i="0">
                <a:solidFill>
                  <a:srgbClr val="DCEBF8"/>
                </a:solidFill>
                <a:latin typeface="Segoe UI"/>
              </a:rPr>
              <a:t>BV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5431536"/>
            <a:ext cx="67665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NowAssist AI Embedding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45920" y="5724144"/>
            <a:ext cx="67665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Segoe UI"/>
              </a:rPr>
              <a:t>Embed in key CMDB/ITSM touchpoints; measurable quality gain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49640" y="5568696"/>
            <a:ext cx="132588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At risk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5568696"/>
            <a:ext cx="15544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1F3A5F"/>
                </a:solidFill>
                <a:latin typeface="Segoe UI"/>
              </a:rPr>
              <a:t>Added - defer candidate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Live Work - P0 / 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What we are actually working - live ADO status (6/17 snapshot)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09728" cy="109728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640080" cy="2743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98448"/>
            <a:ext cx="758952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VMware -&gt; Azure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316736"/>
            <a:ext cx="28346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Segoe UI"/>
              </a:rPr>
              <a:t>3 Validation · 2 Active · Feat 1420613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645920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Airlift Pre/During/Post (1418610/18/21) - Validation;  CI auto-populate 1416384 -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38528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Live driver: Ray's 450-server app-instance request (82/450 covered) - Risk #13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77440"/>
            <a:ext cx="111556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77440"/>
            <a:ext cx="109728" cy="109728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514600"/>
            <a:ext cx="640080" cy="2743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87168"/>
            <a:ext cx="758952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Network Gear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05456"/>
            <a:ext cx="28346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Segoe UI"/>
              </a:rPr>
              <a:t>2 Validation · 1 Active · 2 New · Feat 1356646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834640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Spikes 1402555 (Active) / 1402559 (New);  credentials 1444864 (Validation, 6 tasks still in 2.2)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127248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Dep #1 network-gear stakeholder requirements (1383487) still New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66160"/>
            <a:ext cx="111556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66160"/>
            <a:ext cx="109728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703320"/>
            <a:ext cx="640080" cy="2743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675888"/>
            <a:ext cx="758952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Server / Computer Data Ingestion  (WS #2 - contracted)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94176"/>
            <a:ext cx="28346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Segoe UI"/>
              </a:rPr>
              <a:t>6 Validation · 4 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023360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SCCM precedence 1403759 / 1403760 / 1403762 / 1403763 - all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315968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Class data: 1454371, 1355167, 1455858 Active;  1407572, 1421790, 1387236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54880"/>
            <a:ext cx="111556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754880"/>
            <a:ext cx="109728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4892040"/>
            <a:ext cx="640080" cy="2743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864608"/>
            <a:ext cx="758952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CI Data Certification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882896"/>
            <a:ext cx="28346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Segoe UI"/>
              </a:rPr>
              <a:t>1 UAT · 1 Validation · 3 empty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212080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Dashboard 1402727 - UAT signed, PROD 6/23;  Pilot changes 1435307 -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04688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Watch: Feats 1371672 / 1382404 / 1402958 are shells, no stories yet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Live Work - P2 / 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What we are actually working - live ADO status (6/17 snapshot)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09728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640080" cy="274320"/>
          </a:xfrm>
          <a:prstGeom prst="rect">
            <a:avLst/>
          </a:prstGeom>
          <a:solidFill>
            <a:srgbClr val="2F8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98448"/>
            <a:ext cx="758952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Service Mapping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316736"/>
            <a:ext cx="28346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Segoe UI"/>
              </a:rPr>
              <a:t>4 maps active · 2 spikes · Dev 4 dedicated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645920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WATT / Vault Inspection / MV90 / RIE active;  spikes 1326754, 1420634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38528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Watch: ~36 carryover map tasks stranded in 2.1/2.2;  Wave 20 &amp; 21 empty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77440"/>
            <a:ext cx="111556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77440"/>
            <a:ext cx="109728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514600"/>
            <a:ext cx="640080" cy="274320"/>
          </a:xfrm>
          <a:prstGeom prst="rect">
            <a:avLst/>
          </a:prstGeom>
          <a:solidFill>
            <a:srgbClr val="2F8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87168"/>
            <a:ext cx="758952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NERC-CIP &amp; Qualys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05456"/>
            <a:ext cx="28346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Segoe UI"/>
              </a:rPr>
              <a:t>2 Blocked · 1 Active · NERC = dep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834640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Qualys 1428703 / 1428704 BLOCKED - Issue 1465952 (vendor plugin approval)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127248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ESS-02 1420244 Active;  NERC-CIP = dependency 1383515 only, no build stories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66160"/>
            <a:ext cx="11155680" cy="1097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66160"/>
            <a:ext cx="109728" cy="109728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703320"/>
            <a:ext cx="640080" cy="274320"/>
          </a:xfrm>
          <a:prstGeom prst="rect">
            <a:avLst/>
          </a:prstGeom>
          <a:solidFill>
            <a:srgbClr val="4A9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675888"/>
            <a:ext cx="758952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Segoe UI"/>
              </a:rPr>
              <a:t>NowAssist AI Embedding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94176"/>
            <a:ext cx="283464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50" b="0" i="1">
                <a:solidFill>
                  <a:srgbClr val="6B7280"/>
                </a:solidFill>
                <a:latin typeface="Segoe UI"/>
              </a:rPr>
              <a:t>1 Closed · 1 Resolved · 2 Active · Feat 1436574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023360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- 1436576 Closed, 1436579 Resolved, 1436592 / 1470837 Active;  1436593 / 1436581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315968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Watch: ~17-pt admin / platform-setup prerequisite not yet storied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54880"/>
            <a:ext cx="11155680" cy="713232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28032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7A4F10"/>
                </a:solidFill>
                <a:latin typeface="Segoe UI"/>
              </a:rPr>
              <a:t>Not mapped to any objective - capacity leaking off-board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38928"/>
            <a:ext cx="10972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OCM 1428659 (Active, Nora Lizenberg) - no objective home   ·   orphan stories 1472365 &amp; 1399787 - no parent / no feature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Capacity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added scope fits on paper - but the back half has no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42062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Original scope (contracted)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280160"/>
            <a:ext cx="1828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  <a:latin typeface="Segoe UI"/>
              </a:rPr>
              <a:t>115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80160"/>
            <a:ext cx="4754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67 general pool  +  48 Dev 4 dedicated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01952"/>
            <a:ext cx="1115568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01952"/>
            <a:ext cx="42062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PI-2 additions (general pool)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01952"/>
            <a:ext cx="1828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  <a:latin typeface="Segoe UI"/>
              </a:rPr>
              <a:t>~55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01952"/>
            <a:ext cx="4754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Network Gear + NowAssist + VMware - absorbed into the buffer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23744"/>
            <a:ext cx="1115568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23744"/>
            <a:ext cx="42062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General-pool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523744"/>
            <a:ext cx="18288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  <a:latin typeface="Segoe UI"/>
              </a:rPr>
              <a:t>122 / 144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23744"/>
            <a:ext cx="4754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Buffer ~22 pts - but front/back-loaded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91256"/>
            <a:ext cx="1737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91256"/>
            <a:ext cx="1737360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91256"/>
            <a:ext cx="1737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48456"/>
            <a:ext cx="17373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May 13-23</a:t>
            </a:r>
          </a:p>
          <a:p>
            <a:pPr algn="ctr"/>
            <a:r>
              <a:rPr sz="1300" b="1" i="0">
                <a:solidFill>
                  <a:srgbClr val="1F3A5F"/>
                </a:solidFill>
                <a:latin typeface="Segoe UI"/>
              </a:rPr>
              <a:t>10 / 24</a:t>
            </a:r>
          </a:p>
          <a:p>
            <a:pPr algn="ctr"/>
            <a:r>
              <a:rPr sz="1000" b="1" i="0">
                <a:solidFill>
                  <a:srgbClr val="2E8B57"/>
                </a:solidFill>
                <a:latin typeface="Segoe UI"/>
              </a:rPr>
              <a:t>Under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3191256"/>
            <a:ext cx="1737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3191256"/>
            <a:ext cx="1737360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3191256"/>
            <a:ext cx="1737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648456"/>
            <a:ext cx="17373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May 27-Jun 6</a:t>
            </a:r>
          </a:p>
          <a:p>
            <a:pPr algn="ctr"/>
            <a:r>
              <a:rPr sz="1300" b="1" i="0">
                <a:solidFill>
                  <a:srgbClr val="1F3A5F"/>
                </a:solidFill>
                <a:latin typeface="Segoe UI"/>
              </a:rPr>
              <a:t>19 / 24</a:t>
            </a:r>
          </a:p>
          <a:p>
            <a:pPr algn="ctr"/>
            <a:r>
              <a:rPr sz="1000" b="1" i="0">
                <a:solidFill>
                  <a:srgbClr val="2E8B57"/>
                </a:solidFill>
                <a:latin typeface="Segoe UI"/>
              </a:rPr>
              <a:t>Under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191256"/>
            <a:ext cx="1737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3191256"/>
            <a:ext cx="1737360" cy="38404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3191256"/>
            <a:ext cx="1737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648456"/>
            <a:ext cx="17373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Jun 10-20</a:t>
            </a:r>
          </a:p>
          <a:p>
            <a:pPr algn="ctr"/>
            <a:r>
              <a:rPr sz="1300" b="1" i="0">
                <a:solidFill>
                  <a:srgbClr val="1F3A5F"/>
                </a:solidFill>
                <a:latin typeface="Segoe UI"/>
              </a:rPr>
              <a:t>23 / 24</a:t>
            </a:r>
          </a:p>
          <a:p>
            <a:pPr algn="ctr"/>
            <a:r>
              <a:rPr sz="1000" b="1" i="0">
                <a:solidFill>
                  <a:srgbClr val="E08A00"/>
                </a:solidFill>
                <a:latin typeface="Segoe UI"/>
              </a:rPr>
              <a:t>Near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191256"/>
            <a:ext cx="1737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89320" y="3191256"/>
            <a:ext cx="1737360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3191256"/>
            <a:ext cx="1737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648456"/>
            <a:ext cx="17373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Jun 24-Jul 4</a:t>
            </a:r>
          </a:p>
          <a:p>
            <a:pPr algn="ctr"/>
            <a:r>
              <a:rPr sz="1300" b="1" i="0">
                <a:solidFill>
                  <a:srgbClr val="1F3A5F"/>
                </a:solidFill>
                <a:latin typeface="Segoe UI"/>
              </a:rPr>
              <a:t>24 / 24</a:t>
            </a:r>
          </a:p>
          <a:p>
            <a:pPr algn="ctr"/>
            <a:r>
              <a:rPr sz="1000" b="1" i="0">
                <a:solidFill>
                  <a:srgbClr val="C0392B"/>
                </a:solidFill>
                <a:latin typeface="Segoe UI"/>
              </a:rPr>
              <a:t>At capacity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3191256"/>
            <a:ext cx="1737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3191256"/>
            <a:ext cx="1737360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3191256"/>
            <a:ext cx="1737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3648456"/>
            <a:ext cx="17373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Jul 8-18</a:t>
            </a:r>
          </a:p>
          <a:p>
            <a:pPr algn="ctr"/>
            <a:r>
              <a:rPr sz="1300" b="1" i="0">
                <a:solidFill>
                  <a:srgbClr val="1F3A5F"/>
                </a:solidFill>
                <a:latin typeface="Segoe UI"/>
              </a:rPr>
              <a:t>24 / 24</a:t>
            </a:r>
          </a:p>
          <a:p>
            <a:pPr algn="ctr"/>
            <a:r>
              <a:rPr sz="1000" b="1" i="0">
                <a:solidFill>
                  <a:srgbClr val="C0392B"/>
                </a:solidFill>
                <a:latin typeface="Segoe UI"/>
              </a:rPr>
              <a:t>At capacity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3191256"/>
            <a:ext cx="1737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46920" y="3191256"/>
            <a:ext cx="1737360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3191256"/>
            <a:ext cx="1737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648456"/>
            <a:ext cx="17373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Jul 22-Aug 1</a:t>
            </a:r>
          </a:p>
          <a:p>
            <a:pPr algn="ctr"/>
            <a:r>
              <a:rPr sz="1300" b="1" i="0">
                <a:solidFill>
                  <a:srgbClr val="1F3A5F"/>
                </a:solidFill>
                <a:latin typeface="Segoe UI"/>
              </a:rPr>
              <a:t>22 / 24</a:t>
            </a:r>
          </a:p>
          <a:p>
            <a:pPr algn="ctr"/>
            <a:r>
              <a:rPr sz="1000" b="1" i="0">
                <a:solidFill>
                  <a:srgbClr val="2E8B57"/>
                </a:solidFill>
                <a:latin typeface="Segoe UI"/>
              </a:rPr>
              <a:t>Under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562856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S4-S5 run at 100% (zero buffer).  Dev code freeze Jun 27 - Jul 18 covers most of S4 + all of S5;  Test code freeze Jul 18 - Aug 15 covers all of S6.  The back half is the crunch.  Note: CO#5 term ends Jun 30 (mid-S4) - S5/S6 sit beyond the signed term, pending a not-yet-signed extension.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Roadmap - Plan vs.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plan is sound; several near-term gates are slipping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Plan phases:  Initiation (S1)  -&gt;  Foundation Build (S2-S3)  -&gt;  Core Delivery (S4-S5)  -&gt;  Finalization &amp; Close (S6).  Contract reality: CO#5 ends Jun 30 (mid-S4) - everything in S5/S6 sits beyond the signed term, pending an extension.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Where plan and live status diverge: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1115568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109728" cy="84124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1088136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Segoe UI"/>
              </a:rPr>
              <a:t>Plan:  NowAssist admin 'complete by S2 (Jun 6)'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52344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Segoe UI"/>
              </a:rPr>
              <a:t>Reality:  Not started - and it gates S5 workflow embedding.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64408"/>
            <a:ext cx="1115568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64408"/>
            <a:ext cx="109728" cy="84124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55848"/>
            <a:ext cx="1088136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Segoe UI"/>
              </a:rPr>
              <a:t>Plan:  Network Gear 'CI class defined by S3 (Jun 20)'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85032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Segoe UI"/>
              </a:rPr>
              <a:t>Reality:  Dep #1 still New;  unlikely by Jun 20 (we are in S3 now).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97096"/>
            <a:ext cx="1115568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197096"/>
            <a:ext cx="109728" cy="84124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88536"/>
            <a:ext cx="1088136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Segoe UI"/>
              </a:rPr>
              <a:t>Plan:  Service Mapping '15 maps by S3'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Segoe UI"/>
              </a:rPr>
              <a:t>Reality:  Only 4 maps active;  ~36 tasks stranded in carryover.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129784"/>
            <a:ext cx="1115568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129784"/>
            <a:ext cx="109728" cy="84124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21224"/>
            <a:ext cx="1088136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Segoe UI"/>
              </a:rPr>
              <a:t>Plan:  VMware (P0, critical) parked entirely in S6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50408"/>
            <a:ext cx="108813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Segoe UI"/>
              </a:rPr>
              <a:t>Reality:  S6 is the IP iteration AND inside the test code freeze (Jul 18 - Aug 15).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Risks &amp; Escalations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9 risks total  ·  only 2 need leadership action - and both are overdue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914400"/>
                <a:gridCol w="1645920"/>
                <a:gridCol w="5212080"/>
              </a:tblGrid>
              <a:tr h="6096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#1  Missing / delayed HR / location data (physical computers)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B7280"/>
                          </a:solidFill>
                          <a:latin typeface="Segoe UI"/>
                        </a:rPr>
                        <a:t>Program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TO ESCALATE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Escalate now - 'before S3' deadline is today. Blocks Dep #7 + computer-location ingestion (WS #2).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#2  Undefined NERC-CIP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B7280"/>
                          </a:solidFill>
                          <a:latin typeface="Segoe UI"/>
                        </a:rPr>
                        <a:t>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TO ESCALATE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Escalate now - overdue. Blocks Dep #2 and all PI-2 #4 NERC build 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#4  Competing priorities / unplanned Airlift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B7280"/>
                          </a:solidFill>
                          <a:latin typeface="Segoe UI"/>
                        </a:rPr>
                        <a:t>Team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ACCEPTED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S4 + S5 at 100%. Reconsider: deferring NowAssist (P3) is a clean mitigation lever.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#5  ServiceNow upgrade / code-freeze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B7280"/>
                          </a:solidFill>
                          <a:latin typeface="Segoe UI"/>
                        </a:rPr>
                        <a:t>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ACCEPTED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Dates are known (dev Jun 27-Jul 18, test Jul 18-Aug 15) = S4-S6. 'Adjust sprint plan' action still outstanding.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#9  Airlift / Azure - credential, IP, firewall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B7280"/>
                          </a:solidFill>
                          <a:latin typeface="Segoe UI"/>
                        </a:rPr>
                        <a:t>Team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MITIGATED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Marked 'IP-only changes'. Pressure-test vs Ray's 450-server reality before trusting 'Mitigated'.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21208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Segoe UI"/>
              </a:rPr>
              <a:t>Also open: #3 key-member dependency (Owned), #6 Service Mapping PoC, #7 Qualys field mapping, #8 Business Owners (all Mitigated).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Solution Decisions We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calls the team and PO need to make - this is the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92608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29260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80160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Track Server/Computer Ingestion (WS #2) as its own goal - it is contracted and mature, but invisible at the objective level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31136"/>
            <a:ext cx="29260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12848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Set the NowAssist (P3) defer trigger now - it is the first thing to drop if S4/S5 tightens.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91256"/>
            <a:ext cx="292608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29260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145536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Hold the line in S4/S5 - no new scope; route every new ask through the PO trade-off.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23944"/>
            <a:ext cx="292608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96512"/>
            <a:ext cx="29260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78224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Escalate Risks #1 and #2 this week - both are overdue and block contracted + added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56632"/>
            <a:ext cx="292608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29260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010912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NERC-CIP needs requirements before any build - it is dependency-only today; do not commit build stories yet.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325880"/>
            <a:ext cx="292608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298448"/>
            <a:ext cx="29260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1280160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Qualys is blocked on the vendor plugin (Issue 1465952) - monitor; do not burn capacity waiting on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258568"/>
            <a:ext cx="292608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231136"/>
            <a:ext cx="29260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2212848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Re-plan VMware out of the frozen S6 where possible - sequence Airlift discovery earlier.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191256"/>
            <a:ext cx="292608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163824"/>
            <a:ext cx="29260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3145536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Decide Service Mapping carryover (~36 tasks) - re-sprint or de-scope at iteration review.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123944"/>
            <a:ext cx="292608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096512"/>
            <a:ext cx="29260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4078224"/>
            <a:ext cx="5074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Clean up off-board work - OCM 1428659 and orphans 1472365 / 1399787 need an objective home or closure.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Focus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Protect committed goals; make the open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Scope &amp; Delivery Focus  -  Jun 18,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91440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88136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7A4F10"/>
                </a:solidFill>
                <a:latin typeface="Segoe UI"/>
              </a:rPr>
              <a:t>Focus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00784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5A4A2A"/>
                </a:solidFill>
                <a:latin typeface="Segoe UI"/>
              </a:rPr>
              <a:t>S4-S5 at 100% capacity + freezes Jun 27 - Aug 15. Protect P0/P1; NowAssist (P3) is the first defer candidate.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11155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Immediate next steps: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7180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Confirm the WS #2 goal split on the board and in 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0332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PO trade-off session: NowAssist defer trigger + S4/S5 capacity protection.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Escalate Risks #1 (location data) and #2 (NERC requirements) - this week.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6636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Iteration-review decision on the Service Mapping carryover backlog.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E6DB4"/>
                </a:solidFill>
                <a:latin typeface="Segoe UI"/>
              </a:rPr>
              <a:t>Full traceability: PI-2/pi2-objectives-features-stories.md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