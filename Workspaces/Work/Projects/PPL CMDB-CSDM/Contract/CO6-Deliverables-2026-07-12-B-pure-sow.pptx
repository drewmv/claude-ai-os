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CO6 Deliverables - Team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651760"/>
            <a:ext cx="106984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000" b="0" i="0">
                <a:solidFill>
                  <a:srgbClr val="C9D6E6"/>
                </a:solidFill>
                <a:latin typeface="Segoe UI"/>
              </a:rPr>
              <a:t>Per-SOW deliverables: description, acceptance criteria &amp; target 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1069848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9 deliverables, straight from the CO6 SOW</a:t>
            </a:r>
          </a:p>
          <a:p>
            <a:pPr algn="l"/>
            <a:r>
              <a:rPr sz="1400" b="0" i="0">
                <a:solidFill>
                  <a:srgbClr val="C9D6E6"/>
                </a:solidFill>
                <a:latin typeface="Segoe UI"/>
              </a:rPr>
              <a:t>Delivery window: Jul 1 - Oct 30, 2026  (tail of PI-2 + all of PI-3)</a:t>
            </a:r>
          </a:p>
          <a:p>
            <a:pPr algn="l"/>
            <a:r>
              <a:rPr sz="1200" b="0" i="0">
                <a:solidFill>
                  <a:srgbClr val="9FB2CC"/>
                </a:solidFill>
                <a:latin typeface="Segoe UI"/>
              </a:rPr>
              <a:t>Manuel Vazquez  -  Scrum Master, CMDB-CSDM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943600"/>
            <a:ext cx="10698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7F8CA6"/>
                </a:solidFill>
                <a:latin typeface="Segoe UI"/>
              </a:rPr>
              <a:t>Sourced from the authoritative CO6 v3.  Dates align to CO6 gates (PI-3 ends Oct 27; final gates Oct 30).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Deliverables &amp; 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At-a-glance - ordered by due date (SOW detail follows)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CO6 Deliverables (per SOW v3)  |  Team Focus  -  Jul 12,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822960"/>
                <a:gridCol w="5760720"/>
              </a:tblGrid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Deliverable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Due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PI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What we focus 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Network Gear Discovery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Aug 31 -&gt; Oct 30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Segoe UI"/>
                        </a:rPr>
                        <a:t>PI-3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Automated network-device discovery into the CMDB; 90% coverage, business-owner validated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Service 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Aug 31 -&gt; Oct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Segoe UI"/>
                        </a:rPr>
                        <a:t>PI-3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15 Silver-tier + Gold-tier maps; &gt;=75% business-service inventory; app-&gt;infra and service-&gt;app layers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Legacy Platform Rationalization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Aug 31 -&gt; Oct 30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Segoe UI"/>
                        </a:rPr>
                        <a:t>PI-3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Gap analysis of iTeam / DISCO / Cherwell / AIM; migration plan; October execution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CMDB 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Sep 30 -&gt; Oct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Segoe UI"/>
                        </a:rPr>
                        <a:t>PI-3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Data certification (process + PROD + dashboards + training) for Computers, Servers, Databases, Network Devices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Qualys Integration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Sep 30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Segoe UI"/>
                        </a:rPr>
                        <a:t>PI-3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One-way ServiceNow -&gt; Qualys sync of owner, support group &amp; SOX flag, live in PROD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NERC-CIP Platform Strategy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Sep 30 -&gt; Oct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Segoe UI"/>
                        </a:rPr>
                        <a:t>PI-3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Dual-instance evaluation + executive strategy package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ATF Strategy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Oct 30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Segoe UI"/>
                        </a:rPr>
                        <a:t>PI-3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Plan for Automated Test Framework rollout across in-prod ServiceNow capabilities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6B7280"/>
                          </a:solidFill>
                          <a:latin typeface="Segoe UI"/>
                        </a:rPr>
                        <a:t>ITSM Product Management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6B7280"/>
                          </a:solidFill>
                          <a:latin typeface="Segoe UI"/>
                        </a:rPr>
                        <a:t>Monthly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Segoe UI"/>
                        </a:rPr>
                        <a:t>PI-2/3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6B7280"/>
                          </a:solidFill>
                          <a:latin typeface="Segoe UI"/>
                        </a:rPr>
                        <a:t>Dedicated ITSM Product Owner - backlog prioritization, ceremonies, governance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6B7280"/>
                          </a:solidFill>
                          <a:latin typeface="Segoe UI"/>
                        </a:rPr>
                        <a:t>Platform Support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6B7280"/>
                          </a:solidFill>
                          <a:latin typeface="Segoe UI"/>
                        </a:rPr>
                        <a:t>Monthly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Segoe UI"/>
                        </a:rPr>
                        <a:t>PI-2/3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6B7280"/>
                          </a:solidFill>
                          <a:latin typeface="Segoe UI"/>
                        </a:rPr>
                        <a:t>2 BAU / DevOps + 4 major-enhancement developers; 40 hrs of stories per week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At-a-glance summary (date-ordered).  Per-deliverable SOW detail follows.  Bottom two are standing PO / BAU lanes.  Sourced from the authoritative CO6 v3.  Dates align to CO6 gates (PI-3 ends Oct 27; final gates Oct 30).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Deliverable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SOW: description, acceptance criteria &amp; target 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CO6 Deliverables (per SOW v3)  |  Team Focus  -  Jul 12,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Deliverable 1  -  Network Gear Discovery</a:t>
            </a:r>
            <a:r>
              <a:rPr sz="1150" b="1" i="0">
                <a:solidFill>
                  <a:srgbClr val="2E6DB4"/>
                </a:solidFill>
                <a:latin typeface="Segoe UI"/>
              </a:rPr>
              <a:t>      Aug 31 - Oct 30,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11155680" cy="2011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11155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6B7280"/>
                </a:solidFill>
                <a:latin typeface="Segoe UI"/>
              </a:rPr>
              <a:t>Description   </a:t>
            </a:r>
            <a:r>
              <a:rPr sz="1000" b="0" i="0">
                <a:solidFill>
                  <a:srgbClr val="2D2D2D"/>
                </a:solidFill>
                <a:latin typeface="Segoe UI"/>
              </a:rPr>
              <a:t>Automated, real-time discovery of network devices to populate and maintain the CMDB. Eliminates manual data collection, reduces configuration drift, and provides the foundation for incident impact analysis - improving response times and reducing outage risk across PPL's network.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157984"/>
          <a:ext cx="11155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Acceptance criteria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Targeted due date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•  Network device types (routers, switches, firewalls, load balancers, WAPs, network controllers) actively discovered using validated credentials - no failed authentications on target devices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•  Discovery schedules running on defined intervals; CMDB records auto-updated without manual intervention within each cycle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Aug 31,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All discoverable mandatory CMDB attributes for network devices (per CMDB governance) fully populated via discovery - no mandatory fields blank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Sep 30,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90%+ of expected network-device inventory represented in the CMDB, validated against authoritative data from business owners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Oct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Deliverable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SOW: description, acceptance criteria &amp; target 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CO6 Deliverables (per SOW v3)  |  Team Focus  -  Jul 12,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Deliverable 2  -  Service Mapping</a:t>
            </a:r>
            <a:r>
              <a:rPr sz="1150" b="1" i="0">
                <a:solidFill>
                  <a:srgbClr val="2E6DB4"/>
                </a:solidFill>
                <a:latin typeface="Segoe UI"/>
              </a:rPr>
              <a:t>      Aug 31 - Oct 30, 2026 (phased)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11155680" cy="2011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11155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6B7280"/>
                </a:solidFill>
                <a:latin typeface="Segoe UI"/>
              </a:rPr>
              <a:t>Description   </a:t>
            </a:r>
            <a:r>
              <a:rPr sz="1000" b="0" i="0">
                <a:solidFill>
                  <a:srgbClr val="2D2D2D"/>
                </a:solidFill>
                <a:latin typeface="Segoe UI"/>
              </a:rPr>
              <a:t>End-to-end visibility of business services and their infrastructure dependencies in ServiceNow. Accurate maps enable faster incident triage, reliable change-impact assessment, and better outage prioritization - reducing MTTR and unintended disruptions.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157984"/>
          <a:ext cx="11155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Acceptance criteria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Targeted due date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•  15 priority (Silver-tier) business-app maps built - full dependencies from business application to infrastructure CIs; owner-validated; ops teams enabled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•  &gt;=75% of identified business-service inventory represented in the CMDB, owner-validated  (*assumes business services defined prior to start)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Aug 31,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•  15 Silver-tier maps (business application -&gt; infrastructure): additional validation pass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•  Gold-tier maps (business service -&gt; business application) built, owner-validated, teams enabled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Sep 30,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•  Remaining Contractor-managed Silver-tier maps (business application -&gt; infrastructure) built and validated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•  Silver-tier maps (business service -&gt; business application) built, owner-validated, teams enabled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Oct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Deliverable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SOW: description, acceptance criteria &amp; target 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CO6 Deliverables (per SOW v3)  |  Team Focus  -  Jul 12,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Deliverable 4  -  CMDB Governance</a:t>
            </a:r>
            <a:r>
              <a:rPr sz="1150" b="1" i="0">
                <a:solidFill>
                  <a:srgbClr val="2E6DB4"/>
                </a:solidFill>
                <a:latin typeface="Segoe UI"/>
              </a:rPr>
              <a:t>      Sep 30 - Oct 30,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11155680" cy="2011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11155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6B7280"/>
                </a:solidFill>
                <a:latin typeface="Segoe UI"/>
              </a:rPr>
              <a:t>Description   </a:t>
            </a:r>
            <a:r>
              <a:rPr sz="1000" b="0" i="0">
                <a:solidFill>
                  <a:srgbClr val="2D2D2D"/>
                </a:solidFill>
                <a:latin typeface="Segoe UI"/>
              </a:rPr>
              <a:t>Establishes the data standards, certification processes, and compliance alignment to keep the CMDB trustworthy - accurate, current configuration data for change, incident, and regulatory decisions.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157984"/>
          <a:ext cx="111556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Acceptance criteria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Targeted due date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•  Data certification for Computers - process flow documented, technical build released to PROD, tracking dashboards live, training delivered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•  Data certification for Servers - same (process, PROD, dashboards, training)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Sep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•  Data certification for Databases - same (process, PROD, dashboards, training)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•  Data certification for Network Devices - same (process, PROD, dashboards, training)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Oct 30,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Deliverable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SOW: description, acceptance criteria &amp; target 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CO6 Deliverables (per SOW v3)  |  Team Focus  -  Jul 12,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Deliverable 5  -  Legacy Platform Rationalization</a:t>
            </a:r>
            <a:r>
              <a:rPr sz="1150" b="1" i="0">
                <a:solidFill>
                  <a:srgbClr val="2E6DB4"/>
                </a:solidFill>
                <a:latin typeface="Segoe UI"/>
              </a:rPr>
              <a:t>      Aug 31 - Oct 30,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11155680" cy="2011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11155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6B7280"/>
                </a:solidFill>
                <a:latin typeface="Segoe UI"/>
              </a:rPr>
              <a:t>Description   </a:t>
            </a:r>
            <a:r>
              <a:rPr sz="1000" b="0" i="0">
                <a:solidFill>
                  <a:srgbClr val="2D2D2D"/>
                </a:solidFill>
                <a:latin typeface="Segoe UI"/>
              </a:rPr>
              <a:t>A deliberate, structured transition from legacy platforms (iTeam, DISCO, Cherwell, AIM) into ServiceNow - reducing tool sprawl and maintenance cost and enabling retirement of redundant tooling with a validated roadmap.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157984"/>
          <a:ext cx="11155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Acceptance criteria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Targeted due date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Gap analysis of functionality in iTeam, DISCO, Cherwell, and AIM vs. ServiceNow existing capabilities; existing PPL documentation reviewed and validated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Aug 31,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Migration plan delivered - prioritized list of functionality to migrate + an actionable roadmap with timelines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Sep 30,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Execution of the October efforts outlined in the migration plan (per 5.2)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Oct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Deliverable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SOW: description, acceptance criteria &amp; target 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CO6 Deliverables (per SOW v3)  |  Team Focus  -  Jul 12,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Deliverable 9  -  NERC-CIP ServiceNow Platform Strategy</a:t>
            </a:r>
            <a:r>
              <a:rPr sz="1150" b="1" i="0">
                <a:solidFill>
                  <a:srgbClr val="2E6DB4"/>
                </a:solidFill>
                <a:latin typeface="Segoe UI"/>
              </a:rPr>
              <a:t>      Sep 30 - Oct 30,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11155680" cy="2011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11155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6B7280"/>
                </a:solidFill>
                <a:latin typeface="Segoe UI"/>
              </a:rPr>
              <a:t>Description   </a:t>
            </a:r>
            <a:r>
              <a:rPr sz="1000" b="0" i="0">
                <a:solidFill>
                  <a:srgbClr val="2D2D2D"/>
                </a:solidFill>
                <a:latin typeface="Segoe UI"/>
              </a:rPr>
              <a:t>A leadership-ready strategy package evaluating a separate ServiceNow environment for NERC-CIP assets - enabling PPL to decide the go-forward solution for managing NERC-CIP assets in ServiceNow.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157984"/>
          <a:ext cx="111556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Acceptance criteria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Targeted due date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Evaluation of the dual-instance NERC-CIP platform strategy completed - documented high-level considerations, pros and cons, risks, and dependencies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Sep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Executive-level NERC-CIP Platform Strategy package (e.g. PowerPoint / Word) describing go-forward solution options, tradeoffs, and high-level implementation steps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Oct 30,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Deliverable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SOW: description, acceptance criteria &amp; target 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CO6 Deliverables (per SOW v3)  |  Team Focus  -  Jul 12,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111556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Deliverable 3  -  Qualys Integration</a:t>
            </a:r>
            <a:r>
              <a:rPr sz="1150" b="1" i="0">
                <a:solidFill>
                  <a:srgbClr val="2E6DB4"/>
                </a:solidFill>
                <a:latin typeface="Segoe UI"/>
              </a:rPr>
              <a:t>      Sep 30,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53896"/>
            <a:ext cx="11155680" cy="2011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27048"/>
            <a:ext cx="11155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6B7280"/>
                </a:solidFill>
                <a:latin typeface="Segoe UI"/>
              </a:rPr>
              <a:t>Description   </a:t>
            </a:r>
            <a:r>
              <a:rPr sz="1000" b="0" i="0">
                <a:solidFill>
                  <a:srgbClr val="2D2D2D"/>
                </a:solidFill>
                <a:latin typeface="Segoe UI"/>
              </a:rPr>
              <a:t>Automates synchronization of key CMDB attributes (asset owners, support groups, SOX flags) from ServiceNow to Qualys, eliminating manual reconciliation - so vulnerability scan data stays tied to the right owners and compliance context.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112264"/>
          <a:ext cx="1115568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Acceptance criteria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Targeted due date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One-way ServiceNow -&gt; Qualys integration fully configured, tested, and live in production - owner, support group &amp; SOX flag data auto-synchronized to Qualys on a defined schedule, no manual handoffs  (*assumes the required Qualys plug-in is available)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Sep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3593592"/>
            <a:ext cx="11155680" cy="1463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657600"/>
            <a:ext cx="111556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Deliverable 7  -  ATF Strategy</a:t>
            </a:r>
            <a:r>
              <a:rPr sz="1150" b="1" i="0">
                <a:solidFill>
                  <a:srgbClr val="2E6DB4"/>
                </a:solidFill>
                <a:latin typeface="Segoe UI"/>
              </a:rPr>
              <a:t>      Oct 30,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968496"/>
            <a:ext cx="11155680" cy="2011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041648"/>
            <a:ext cx="11155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6B7280"/>
                </a:solidFill>
                <a:latin typeface="Segoe UI"/>
              </a:rPr>
              <a:t>Description   </a:t>
            </a:r>
            <a:r>
              <a:rPr sz="1000" b="0" i="0">
                <a:solidFill>
                  <a:srgbClr val="2D2D2D"/>
                </a:solidFill>
                <a:latin typeface="Segoe UI"/>
              </a:rPr>
              <a:t>A scalable, structured approach for adopting the Automated Test Framework (ATF) across PPL's ServiceNow platform - reducing regression risk and improving deployment confidence as capabilities expand.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4626864"/>
          <a:ext cx="1115568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Acceptance criteria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Targeted due date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Published ATF implementation plan covering all production ServiceNow capabilities in use as of Jul 31 - defined criteria for which capabilities require ATF coverage, a sequenced rollout timeline, and a reusable implementation approach applied consistently across capabilities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Oct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Deliverable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SOW: description, acceptance criteria &amp; target 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CO6 Deliverables (per SOW v3)  |  Team Focus  -  Jul 12,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111556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Deliverable 6  -  ITSM Product Management</a:t>
            </a:r>
            <a:r>
              <a:rPr sz="1150" b="1" i="0">
                <a:solidFill>
                  <a:srgbClr val="2E6DB4"/>
                </a:solidFill>
                <a:latin typeface="Segoe UI"/>
              </a:rPr>
              <a:t>      Monthly, Jul 31 - Oct 30,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53896"/>
            <a:ext cx="11155680" cy="2011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27048"/>
            <a:ext cx="11155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6B7280"/>
                </a:solidFill>
                <a:latin typeface="Segoe UI"/>
              </a:rPr>
              <a:t>Description   </a:t>
            </a:r>
            <a:r>
              <a:rPr sz="1000" b="0" i="0">
                <a:solidFill>
                  <a:srgbClr val="2D2D2D"/>
                </a:solidFill>
                <a:latin typeface="Segoe UI"/>
              </a:rPr>
              <a:t>Dedicated product ownership so PPL's ServiceNow ITSM capabilities are strategically guided, backlog-prioritized, and continuously improved - keeping governance and cross-functional coordination in step with platform growth.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112264"/>
          <a:ext cx="1115568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Acceptance criteria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Targeted due date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Product owner activities fully executed for the period - stakeholder engagements, active backlog prioritization in agile ceremonies, cross-functional coordination, and participation in governance / process-improvement forums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Monthly: Jul 31 -&gt; Oct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3593592"/>
            <a:ext cx="11155680" cy="1463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657600"/>
            <a:ext cx="111556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Deliverable 8  -  Platform Support</a:t>
            </a:r>
            <a:r>
              <a:rPr sz="1150" b="1" i="0">
                <a:solidFill>
                  <a:srgbClr val="2E6DB4"/>
                </a:solidFill>
                <a:latin typeface="Segoe UI"/>
              </a:rPr>
              <a:t>      Monthly, Jul 31 - Oct 30,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968496"/>
            <a:ext cx="11155680" cy="2011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041648"/>
            <a:ext cx="11155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6B7280"/>
                </a:solidFill>
                <a:latin typeface="Segoe UI"/>
              </a:rPr>
              <a:t>Description   </a:t>
            </a:r>
            <a:r>
              <a:rPr sz="1000" b="0" i="0">
                <a:solidFill>
                  <a:srgbClr val="2D2D2D"/>
                </a:solidFill>
                <a:latin typeface="Segoe UI"/>
              </a:rPr>
              <a:t>A dedicated team of 2 developers for BAU support and DevOps pipeline management (ServiceNow ITSM &amp; CMDB), plus 4 developers for major enhancements (primarily ITSM, &gt;40 hrs effort). Enhancement priority set by product ownership, scoped in agile ceremonies.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4626864"/>
          <a:ext cx="111556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Acceptance criteria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Targeted due date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Time- and effort-tracking mechanism operational - all team members logging 40 hours of completed stories per week (holiday/PTO-adjusted); sprint allocation reports available to stakeholders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Jul 31,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Each team member delivers 40 hours of completed stories per sprint, with ongoing tracking confirming consistent allocation to BAU scope throughout the period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Monthly: Aug 31 -&gt; Oct 30,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