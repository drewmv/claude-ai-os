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160520"/>
            <a:ext cx="12191695" cy="73152"/>
          </a:xfrm>
          <a:prstGeom prst="rect">
            <a:avLst/>
          </a:prstGeom>
          <a:solidFill>
            <a:srgbClr val="2E6D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645920"/>
            <a:ext cx="10698480" cy="100584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/>
            <a:r>
              <a:rPr sz="4200" b="1" i="0">
                <a:solidFill>
                  <a:srgbClr val="FFFFFF"/>
                </a:solidFill>
                <a:latin typeface="Segoe UI"/>
              </a:rPr>
              <a:t>CO6 Deliverables - Team Focus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49808" y="2651760"/>
            <a:ext cx="10698480" cy="54864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/>
            <a:r>
              <a:rPr sz="2000" b="0" i="0">
                <a:solidFill>
                  <a:srgbClr val="C9D6E6"/>
                </a:solidFill>
                <a:latin typeface="Segoe UI"/>
              </a:rPr>
              <a:t>Deliverables, dates &amp; where to focus  ·  for Development + supporting roles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49808" y="4343400"/>
            <a:ext cx="10698480" cy="137160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/>
            <a:r>
              <a:rPr sz="1600" b="1" i="0">
                <a:solidFill>
                  <a:srgbClr val="FFFFFF"/>
                </a:solidFill>
                <a:latin typeface="Segoe UI"/>
              </a:rPr>
              <a:t>What we deliver, by when, and where to focus</a:t>
            </a:r>
          </a:p>
          <a:p>
            <a:pPr algn="l"/>
            <a:r>
              <a:rPr sz="1400" b="0" i="0">
                <a:solidFill>
                  <a:srgbClr val="C9D6E6"/>
                </a:solidFill>
                <a:latin typeface="Segoe UI"/>
              </a:rPr>
              <a:t>Delivery window: Jul 1 - Oct 30, 2026  (tail of PI-2 + all of PI-3)</a:t>
            </a:r>
          </a:p>
          <a:p>
            <a:pPr algn="l"/>
            <a:r>
              <a:rPr sz="1200" b="0" i="0">
                <a:solidFill>
                  <a:srgbClr val="9FB2CC"/>
                </a:solidFill>
                <a:latin typeface="Segoe UI"/>
              </a:rPr>
              <a:t>Manuel Vazquez  -  Scrum Master, CMDB-CSDM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49808" y="5989320"/>
            <a:ext cx="10698480" cy="292608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/>
            <a:r>
              <a:rPr sz="1100" b="0" i="1">
                <a:solidFill>
                  <a:srgbClr val="7F8CA6"/>
                </a:solidFill>
                <a:latin typeface="Segoe UI"/>
              </a:rPr>
              <a:t>Planning view - dates &amp; scope firm up at PI-3 planning.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54864"/>
          </a:xfrm>
          <a:prstGeom prst="rect">
            <a:avLst/>
          </a:prstGeom>
          <a:solidFill>
            <a:srgbClr val="2E6D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64592"/>
            <a:ext cx="11155680" cy="502920"/>
          </a:xfrm>
          <a:prstGeom prst="rect">
            <a:avLst/>
          </a:prstGeom>
          <a:noFill/>
        </p:spPr>
        <p:txBody>
          <a:bodyPr wrap="square" anchor="ctr" lIns="50800" rIns="50800" tIns="25400" bIns="25400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Segoe UI"/>
              </a:rPr>
              <a:t>Deliverables &amp; Dates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21207" y="603504"/>
            <a:ext cx="11155680" cy="292608"/>
          </a:xfrm>
          <a:prstGeom prst="rect">
            <a:avLst/>
          </a:prstGeom>
          <a:noFill/>
        </p:spPr>
        <p:txBody>
          <a:bodyPr wrap="square" anchor="ctr" lIns="50800" rIns="50800" tIns="25400" bIns="25400">
            <a:spAutoFit/>
          </a:bodyPr>
          <a:lstStyle/>
          <a:p>
            <a:pPr algn="l"/>
            <a:r>
              <a:rPr sz="1200" b="0" i="0">
                <a:solidFill>
                  <a:srgbClr val="C9D6E6"/>
                </a:solidFill>
                <a:latin typeface="Segoe UI"/>
              </a:rPr>
              <a:t>Ordered by due date - soonest first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473952"/>
            <a:ext cx="9144000" cy="292608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/>
            <a:r>
              <a:rPr sz="900" b="0" i="0">
                <a:solidFill>
                  <a:srgbClr val="6B7280"/>
                </a:solidFill>
                <a:latin typeface="Segoe UI"/>
              </a:rPr>
              <a:t>PPL CMDB-CSDM  |  CO6 Deliverables  |  Team Focus  -  Jul 10, 2026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02920" y="1280160"/>
          <a:ext cx="11155680" cy="4297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3200"/>
                <a:gridCol w="1828800"/>
                <a:gridCol w="822960"/>
                <a:gridCol w="5760720"/>
              </a:tblGrid>
              <a:tr h="390698">
                <a:tc>
                  <a:txBody>
                    <a:bodyPr wrap="square"/>
                    <a:lstStyle/>
                    <a:p>
                      <a:pPr algn="l"/>
                      <a:r>
                        <a:rPr sz="1150" b="1" i="0">
                          <a:solidFill>
                            <a:srgbClr val="FFFFFF"/>
                          </a:solidFill>
                          <a:latin typeface="Segoe UI"/>
                        </a:rPr>
                        <a:t>Deliverable</a:t>
                      </a:r>
                    </a:p>
                  </a:txBody>
                  <a:tcPr>
                    <a:solidFill>
                      <a:srgbClr val="1F3A5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1" i="0">
                          <a:solidFill>
                            <a:srgbClr val="FFFFFF"/>
                          </a:solidFill>
                          <a:latin typeface="Segoe UI"/>
                        </a:rPr>
                        <a:t>Due</a:t>
                      </a:r>
                    </a:p>
                  </a:txBody>
                  <a:tcPr>
                    <a:solidFill>
                      <a:srgbClr val="1F3A5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1" i="0">
                          <a:solidFill>
                            <a:srgbClr val="FFFFFF"/>
                          </a:solidFill>
                          <a:latin typeface="Segoe UI"/>
                        </a:rPr>
                        <a:t>PI</a:t>
                      </a:r>
                    </a:p>
                  </a:txBody>
                  <a:tcPr>
                    <a:solidFill>
                      <a:srgbClr val="1F3A5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 b="1" i="0">
                          <a:solidFill>
                            <a:srgbClr val="FFFFFF"/>
                          </a:solidFill>
                          <a:latin typeface="Segoe UI"/>
                        </a:rPr>
                        <a:t>What we focus on</a:t>
                      </a:r>
                    </a:p>
                  </a:txBody>
                  <a:tcPr>
                    <a:solidFill>
                      <a:srgbClr val="1F3A5F"/>
                    </a:solidFill>
                  </a:tcPr>
                </a:tc>
              </a:tr>
              <a:tr h="390698">
                <a:tc>
                  <a:txBody>
                    <a:bodyPr wrap="square"/>
                    <a:lstStyle/>
                    <a:p>
                      <a:pPr algn="l"/>
                      <a:r>
                        <a:rPr sz="1050" b="1" i="0">
                          <a:solidFill>
                            <a:srgbClr val="1F3A5F"/>
                          </a:solidFill>
                          <a:latin typeface="Segoe UI"/>
                        </a:rPr>
                        <a:t>CMDB Governance</a:t>
                      </a:r>
                    </a:p>
                  </a:txBody>
                  <a:tcPr>
                    <a:solidFill>
                      <a:srgbClr val="F4F6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1" i="0">
                          <a:solidFill>
                            <a:srgbClr val="2E6DB4"/>
                          </a:solidFill>
                          <a:latin typeface="Segoe UI"/>
                        </a:rPr>
                        <a:t>Jul 31</a:t>
                      </a:r>
                    </a:p>
                  </a:txBody>
                  <a:tcPr>
                    <a:solidFill>
                      <a:srgbClr val="F4F6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1" i="0">
                          <a:solidFill>
                            <a:srgbClr val="2D2D2D"/>
                          </a:solidFill>
                          <a:latin typeface="Segoe UI"/>
                        </a:rPr>
                        <a:t>PI-2</a:t>
                      </a:r>
                    </a:p>
                  </a:txBody>
                  <a:tcPr>
                    <a:solidFill>
                      <a:srgbClr val="F4F6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 i="0">
                          <a:solidFill>
                            <a:srgbClr val="2D2D2D"/>
                          </a:solidFill>
                          <a:latin typeface="Segoe UI"/>
                        </a:rPr>
                        <a:t>Data dictionary incl. Databases; Data Certification for ALL CI classes + KB articles; ESS-02; SOX BA review</a:t>
                      </a:r>
                    </a:p>
                  </a:txBody>
                  <a:tcPr>
                    <a:solidFill>
                      <a:srgbClr val="F4F6F9"/>
                    </a:solidFill>
                  </a:tcPr>
                </a:tc>
              </a:tr>
              <a:tr h="390698">
                <a:tc>
                  <a:txBody>
                    <a:bodyPr wrap="square"/>
                    <a:lstStyle/>
                    <a:p>
                      <a:pPr algn="l"/>
                      <a:r>
                        <a:rPr sz="1050" b="1" i="0">
                          <a:solidFill>
                            <a:srgbClr val="1F3A5F"/>
                          </a:solidFill>
                          <a:latin typeface="Segoe UI"/>
                        </a:rPr>
                        <a:t>CI Coverage - Computers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1" i="0">
                          <a:solidFill>
                            <a:srgbClr val="2E6DB4"/>
                          </a:solidFill>
                          <a:latin typeface="Segoe UI"/>
                        </a:rPr>
                        <a:t>Jul 31 -&gt; Sep 30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1" i="0">
                          <a:solidFill>
                            <a:srgbClr val="2D2D2D"/>
                          </a:solidFill>
                          <a:latin typeface="Segoe UI"/>
                        </a:rPr>
                        <a:t>PI-2/3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 i="0">
                          <a:solidFill>
                            <a:srgbClr val="2D2D2D"/>
                          </a:solidFill>
                          <a:latin typeface="Segoe UI"/>
                        </a:rPr>
                        <a:t>SCCM/Discovery precedence + bulk life-cycle; 90% of devices managed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90698">
                <a:tc>
                  <a:txBody>
                    <a:bodyPr wrap="square"/>
                    <a:lstStyle/>
                    <a:p>
                      <a:pPr algn="l"/>
                      <a:r>
                        <a:rPr sz="1050" b="1" i="0">
                          <a:solidFill>
                            <a:srgbClr val="1F3A5F"/>
                          </a:solidFill>
                          <a:latin typeface="Segoe UI"/>
                        </a:rPr>
                        <a:t>CI Coverage - Servers</a:t>
                      </a:r>
                    </a:p>
                  </a:txBody>
                  <a:tcPr>
                    <a:solidFill>
                      <a:srgbClr val="F4F6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1" i="0">
                          <a:solidFill>
                            <a:srgbClr val="2E6DB4"/>
                          </a:solidFill>
                          <a:latin typeface="Segoe UI"/>
                        </a:rPr>
                        <a:t>Jul 31 -&gt; Oct 30</a:t>
                      </a:r>
                    </a:p>
                  </a:txBody>
                  <a:tcPr>
                    <a:solidFill>
                      <a:srgbClr val="F4F6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1" i="0">
                          <a:solidFill>
                            <a:srgbClr val="2D2D2D"/>
                          </a:solidFill>
                          <a:latin typeface="Segoe UI"/>
                        </a:rPr>
                        <a:t>PI-2/3</a:t>
                      </a:r>
                    </a:p>
                  </a:txBody>
                  <a:tcPr>
                    <a:solidFill>
                      <a:srgbClr val="F4F6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 i="0">
                          <a:solidFill>
                            <a:srgbClr val="2D2D2D"/>
                          </a:solidFill>
                          <a:latin typeface="Segoe UI"/>
                        </a:rPr>
                        <a:t>SCCM/Discovery precedence; enhanced DB Discovery (MS-SQL/Oracle); 90% of non-NERC-CIP servers</a:t>
                      </a:r>
                    </a:p>
                  </a:txBody>
                  <a:tcPr>
                    <a:solidFill>
                      <a:srgbClr val="F4F6F9"/>
                    </a:solidFill>
                  </a:tcPr>
                </a:tc>
              </a:tr>
              <a:tr h="390698">
                <a:tc>
                  <a:txBody>
                    <a:bodyPr wrap="square"/>
                    <a:lstStyle/>
                    <a:p>
                      <a:pPr algn="l"/>
                      <a:r>
                        <a:rPr sz="1050" b="1" i="0">
                          <a:solidFill>
                            <a:srgbClr val="1F3A5F"/>
                          </a:solidFill>
                          <a:latin typeface="Segoe UI"/>
                        </a:rPr>
                        <a:t>Network Gear Discovery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1" i="0">
                          <a:solidFill>
                            <a:srgbClr val="2E6DB4"/>
                          </a:solidFill>
                          <a:latin typeface="Segoe UI"/>
                        </a:rPr>
                        <a:t>Aug 31 -&gt; Oct 30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1" i="0">
                          <a:solidFill>
                            <a:srgbClr val="2D2D2D"/>
                          </a:solidFill>
                          <a:latin typeface="Segoe UI"/>
                        </a:rPr>
                        <a:t>PI-3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 i="0">
                          <a:solidFill>
                            <a:srgbClr val="2D2D2D"/>
                          </a:solidFill>
                          <a:latin typeface="Segoe UI"/>
                        </a:rPr>
                        <a:t>Credentials / SNMP (excl. OT); discovery schedules; mandatory attributes; 90% coverage, owner-validated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90698">
                <a:tc>
                  <a:txBody>
                    <a:bodyPr wrap="square"/>
                    <a:lstStyle/>
                    <a:p>
                      <a:pPr algn="l"/>
                      <a:r>
                        <a:rPr sz="1050" b="1" i="0">
                          <a:solidFill>
                            <a:srgbClr val="1F3A5F"/>
                          </a:solidFill>
                          <a:latin typeface="Segoe UI"/>
                        </a:rPr>
                        <a:t>Service Mapping</a:t>
                      </a:r>
                    </a:p>
                  </a:txBody>
                  <a:tcPr>
                    <a:solidFill>
                      <a:srgbClr val="F4F6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1" i="0">
                          <a:solidFill>
                            <a:srgbClr val="2E6DB4"/>
                          </a:solidFill>
                          <a:latin typeface="Segoe UI"/>
                        </a:rPr>
                        <a:t>Aug 31 -&gt; Oct 30</a:t>
                      </a:r>
                    </a:p>
                  </a:txBody>
                  <a:tcPr>
                    <a:solidFill>
                      <a:srgbClr val="F4F6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1" i="0">
                          <a:solidFill>
                            <a:srgbClr val="2D2D2D"/>
                          </a:solidFill>
                          <a:latin typeface="Segoe UI"/>
                        </a:rPr>
                        <a:t>PI-3</a:t>
                      </a:r>
                    </a:p>
                  </a:txBody>
                  <a:tcPr>
                    <a:solidFill>
                      <a:srgbClr val="F4F6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 i="0">
                          <a:solidFill>
                            <a:srgbClr val="2D2D2D"/>
                          </a:solidFill>
                          <a:latin typeface="Segoe UI"/>
                        </a:rPr>
                        <a:t>End-to-end maps for 10 priority apps down to infra CIs; owner-validated; consumable in ServiceNow</a:t>
                      </a:r>
                    </a:p>
                  </a:txBody>
                  <a:tcPr>
                    <a:solidFill>
                      <a:srgbClr val="F4F6F9"/>
                    </a:solidFill>
                  </a:tcPr>
                </a:tc>
              </a:tr>
              <a:tr h="390698">
                <a:tc>
                  <a:txBody>
                    <a:bodyPr wrap="square"/>
                    <a:lstStyle/>
                    <a:p>
                      <a:pPr algn="l"/>
                      <a:r>
                        <a:rPr sz="1050" b="1" i="0">
                          <a:solidFill>
                            <a:srgbClr val="1F3A5F"/>
                          </a:solidFill>
                          <a:latin typeface="Segoe UI"/>
                        </a:rPr>
                        <a:t>Legacy Platform Rationalization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1" i="0">
                          <a:solidFill>
                            <a:srgbClr val="2E6DB4"/>
                          </a:solidFill>
                          <a:latin typeface="Segoe UI"/>
                        </a:rPr>
                        <a:t>Aug 31 -&gt; Oct 30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1" i="0">
                          <a:solidFill>
                            <a:srgbClr val="2D2D2D"/>
                          </a:solidFill>
                          <a:latin typeface="Segoe UI"/>
                        </a:rPr>
                        <a:t>PI-3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 i="0">
                          <a:solidFill>
                            <a:srgbClr val="2D2D2D"/>
                          </a:solidFill>
                          <a:latin typeface="Segoe UI"/>
                        </a:rPr>
                        <a:t>Analysis + migration plan: iTeam -&gt; DISCO / Cherwell -&gt; AIM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90698">
                <a:tc>
                  <a:txBody>
                    <a:bodyPr wrap="square"/>
                    <a:lstStyle/>
                    <a:p>
                      <a:pPr algn="l"/>
                      <a:r>
                        <a:rPr sz="1050" b="1" i="0">
                          <a:solidFill>
                            <a:srgbClr val="1F3A5F"/>
                          </a:solidFill>
                          <a:latin typeface="Segoe UI"/>
                        </a:rPr>
                        <a:t>Qualys Integration</a:t>
                      </a:r>
                    </a:p>
                  </a:txBody>
                  <a:tcPr>
                    <a:solidFill>
                      <a:srgbClr val="F4F6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1" i="0">
                          <a:solidFill>
                            <a:srgbClr val="2E6DB4"/>
                          </a:solidFill>
                          <a:latin typeface="Segoe UI"/>
                        </a:rPr>
                        <a:t>Oct 27</a:t>
                      </a:r>
                    </a:p>
                  </a:txBody>
                  <a:tcPr>
                    <a:solidFill>
                      <a:srgbClr val="F4F6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1" i="0">
                          <a:solidFill>
                            <a:srgbClr val="2D2D2D"/>
                          </a:solidFill>
                          <a:latin typeface="Segoe UI"/>
                        </a:rPr>
                        <a:t>PI-3</a:t>
                      </a:r>
                    </a:p>
                  </a:txBody>
                  <a:tcPr>
                    <a:solidFill>
                      <a:srgbClr val="F4F6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 i="0">
                          <a:solidFill>
                            <a:srgbClr val="2D2D2D"/>
                          </a:solidFill>
                          <a:latin typeface="Segoe UI"/>
                        </a:rPr>
                        <a:t>One-way Qualys -&gt; ServiceNow feed; configured, tested, deployed to PROD</a:t>
                      </a:r>
                    </a:p>
                  </a:txBody>
                  <a:tcPr>
                    <a:solidFill>
                      <a:srgbClr val="F4F6F9"/>
                    </a:solidFill>
                  </a:tcPr>
                </a:tc>
              </a:tr>
              <a:tr h="390698">
                <a:tc>
                  <a:txBody>
                    <a:bodyPr wrap="square"/>
                    <a:lstStyle/>
                    <a:p>
                      <a:pPr algn="l"/>
                      <a:r>
                        <a:rPr sz="1050" b="1" i="0">
                          <a:solidFill>
                            <a:srgbClr val="1F3A5F"/>
                          </a:solidFill>
                          <a:latin typeface="Segoe UI"/>
                        </a:rPr>
                        <a:t>ATF Strategy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1" i="0">
                          <a:solidFill>
                            <a:srgbClr val="2E6DB4"/>
                          </a:solidFill>
                          <a:latin typeface="Segoe UI"/>
                        </a:rPr>
                        <a:t>Oct 31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1" i="0">
                          <a:solidFill>
                            <a:srgbClr val="2D2D2D"/>
                          </a:solidFill>
                          <a:latin typeface="Segoe UI"/>
                        </a:rPr>
                        <a:t>PI-3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 i="0">
                          <a:solidFill>
                            <a:srgbClr val="2D2D2D"/>
                          </a:solidFill>
                          <a:latin typeface="Segoe UI"/>
                        </a:rPr>
                        <a:t>Plan for Automated Test Framework rollout across in-prod ServiceNow capabilities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90698">
                <a:tc>
                  <a:txBody>
                    <a:bodyPr wrap="square"/>
                    <a:lstStyle/>
                    <a:p>
                      <a:pPr algn="l"/>
                      <a:r>
                        <a:rPr sz="1050" b="1" i="0">
                          <a:solidFill>
                            <a:srgbClr val="6B7280"/>
                          </a:solidFill>
                          <a:latin typeface="Segoe UI"/>
                        </a:rPr>
                        <a:t>ITSM Product Management</a:t>
                      </a:r>
                    </a:p>
                  </a:txBody>
                  <a:tcPr>
                    <a:solidFill>
                      <a:srgbClr val="ECEEF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1" i="0">
                          <a:solidFill>
                            <a:srgbClr val="6B7280"/>
                          </a:solidFill>
                          <a:latin typeface="Segoe UI"/>
                        </a:rPr>
                        <a:t>Monthly</a:t>
                      </a:r>
                    </a:p>
                  </a:txBody>
                  <a:tcPr>
                    <a:solidFill>
                      <a:srgbClr val="ECEEF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1" i="0">
                          <a:solidFill>
                            <a:srgbClr val="2D2D2D"/>
                          </a:solidFill>
                          <a:latin typeface="Segoe UI"/>
                        </a:rPr>
                        <a:t>PI-2/3</a:t>
                      </a:r>
                    </a:p>
                  </a:txBody>
                  <a:tcPr>
                    <a:solidFill>
                      <a:srgbClr val="ECEEF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 i="0">
                          <a:solidFill>
                            <a:srgbClr val="6B7280"/>
                          </a:solidFill>
                          <a:latin typeface="Segoe UI"/>
                        </a:rPr>
                        <a:t>Separate ITSM lane (Product Owner role) - outside core CMDB delivery</a:t>
                      </a:r>
                    </a:p>
                  </a:txBody>
                  <a:tcPr>
                    <a:solidFill>
                      <a:srgbClr val="ECEEF1"/>
                    </a:solidFill>
                  </a:tcPr>
                </a:tc>
              </a:tr>
              <a:tr h="390700">
                <a:tc>
                  <a:txBody>
                    <a:bodyPr wrap="square"/>
                    <a:lstStyle/>
                    <a:p>
                      <a:pPr algn="l"/>
                      <a:r>
                        <a:rPr sz="1050" b="1" i="0">
                          <a:solidFill>
                            <a:srgbClr val="6B7280"/>
                          </a:solidFill>
                          <a:latin typeface="Segoe UI"/>
                        </a:rPr>
                        <a:t>Platform Support</a:t>
                      </a:r>
                    </a:p>
                  </a:txBody>
                  <a:tcPr>
                    <a:solidFill>
                      <a:srgbClr val="ECEEF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1" i="0">
                          <a:solidFill>
                            <a:srgbClr val="6B7280"/>
                          </a:solidFill>
                          <a:latin typeface="Segoe UI"/>
                        </a:rPr>
                        <a:t>Monthly</a:t>
                      </a:r>
                    </a:p>
                  </a:txBody>
                  <a:tcPr>
                    <a:solidFill>
                      <a:srgbClr val="ECEEF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1" i="0">
                          <a:solidFill>
                            <a:srgbClr val="2D2D2D"/>
                          </a:solidFill>
                          <a:latin typeface="Segoe UI"/>
                        </a:rPr>
                        <a:t>PI-3</a:t>
                      </a:r>
                    </a:p>
                  </a:txBody>
                  <a:tcPr>
                    <a:solidFill>
                      <a:srgbClr val="ECEEF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 i="0">
                          <a:solidFill>
                            <a:srgbClr val="6B7280"/>
                          </a:solidFill>
                          <a:latin typeface="Segoe UI"/>
                        </a:rPr>
                        <a:t>Standing BAU / DevOps support - ongoing capacity, not a finite deliverable</a:t>
                      </a:r>
                    </a:p>
                  </a:txBody>
                  <a:tcPr>
                    <a:solidFill>
                      <a:srgbClr val="ECEEF1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502920" y="5715000"/>
            <a:ext cx="11155680" cy="54864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/>
            <a:r>
              <a:rPr sz="1000" b="0" i="0">
                <a:solidFill>
                  <a:srgbClr val="2D2D2D"/>
                </a:solidFill>
                <a:latin typeface="Segoe UI"/>
              </a:rPr>
              <a:t>Ordered by due date.  Bottom two are standing PO / BAU lanes - separate from core CMDB delivery.  Planning view - dates &amp; scope firm up at PI-3 planning.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54864"/>
          </a:xfrm>
          <a:prstGeom prst="rect">
            <a:avLst/>
          </a:prstGeom>
          <a:solidFill>
            <a:srgbClr val="2E6D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64592"/>
            <a:ext cx="11155680" cy="502920"/>
          </a:xfrm>
          <a:prstGeom prst="rect">
            <a:avLst/>
          </a:prstGeom>
          <a:noFill/>
        </p:spPr>
        <p:txBody>
          <a:bodyPr wrap="square" anchor="ctr" lIns="50800" rIns="50800" tIns="25400" bIns="25400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Segoe UI"/>
              </a:rPr>
              <a:t>In-Flight Now - Current Work &amp; Stories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21207" y="603504"/>
            <a:ext cx="11155680" cy="292608"/>
          </a:xfrm>
          <a:prstGeom prst="rect">
            <a:avLst/>
          </a:prstGeom>
          <a:noFill/>
        </p:spPr>
        <p:txBody>
          <a:bodyPr wrap="square" anchor="ctr" lIns="50800" rIns="50800" tIns="25400" bIns="25400">
            <a:spAutoFit/>
          </a:bodyPr>
          <a:lstStyle/>
          <a:p>
            <a:pPr algn="l"/>
            <a:r>
              <a:rPr sz="1200" b="0" i="0">
                <a:solidFill>
                  <a:srgbClr val="C9D6E6"/>
                </a:solidFill>
                <a:latin typeface="Segoe UI"/>
              </a:rPr>
              <a:t>The threads already in motion - what to do next, and the ADO items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473952"/>
            <a:ext cx="9144000" cy="292608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/>
            <a:r>
              <a:rPr sz="900" b="0" i="0">
                <a:solidFill>
                  <a:srgbClr val="6B7280"/>
                </a:solidFill>
                <a:latin typeface="Segoe UI"/>
              </a:rPr>
              <a:t>PPL CMDB-CSDM  |  CO6 Deliverables  |  Team Focus  -  Jul 10, 2026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02920" y="1280160"/>
          <a:ext cx="11155680" cy="39319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3200"/>
                <a:gridCol w="5029200"/>
                <a:gridCol w="3383280"/>
              </a:tblGrid>
              <a:tr h="561702">
                <a:tc>
                  <a:txBody>
                    <a:bodyPr wrap="square"/>
                    <a:lstStyle/>
                    <a:p>
                      <a:pPr algn="l"/>
                      <a:r>
                        <a:rPr sz="1150" b="1" i="0">
                          <a:solidFill>
                            <a:srgbClr val="FFFFFF"/>
                          </a:solidFill>
                          <a:latin typeface="Segoe UI"/>
                        </a:rPr>
                        <a:t>Focus area</a:t>
                      </a:r>
                    </a:p>
                  </a:txBody>
                  <a:tcPr>
                    <a:solidFill>
                      <a:srgbClr val="1F3A5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 b="1" i="0">
                          <a:solidFill>
                            <a:srgbClr val="FFFFFF"/>
                          </a:solidFill>
                          <a:latin typeface="Segoe UI"/>
                        </a:rPr>
                        <a:t>What to do next</a:t>
                      </a:r>
                    </a:p>
                  </a:txBody>
                  <a:tcPr>
                    <a:solidFill>
                      <a:srgbClr val="1F3A5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 b="1" i="0">
                          <a:solidFill>
                            <a:srgbClr val="FFFFFF"/>
                          </a:solidFill>
                          <a:latin typeface="Segoe UI"/>
                        </a:rPr>
                        <a:t>Current stories</a:t>
                      </a:r>
                    </a:p>
                  </a:txBody>
                  <a:tcPr>
                    <a:solidFill>
                      <a:srgbClr val="1F3A5F"/>
                    </a:solidFill>
                  </a:tcPr>
                </a:tc>
              </a:tr>
              <a:tr h="561702">
                <a:tc>
                  <a:txBody>
                    <a:bodyPr wrap="square"/>
                    <a:lstStyle/>
                    <a:p>
                      <a:pPr algn="l"/>
                      <a:r>
                        <a:rPr sz="1050" b="1" i="0">
                          <a:solidFill>
                            <a:srgbClr val="1F3A5F"/>
                          </a:solidFill>
                          <a:latin typeface="Segoe UI"/>
                        </a:rPr>
                        <a:t>CMDB Governance</a:t>
                      </a:r>
                    </a:p>
                  </a:txBody>
                  <a:tcPr>
                    <a:solidFill>
                      <a:srgbClr val="F4F6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 i="0">
                          <a:solidFill>
                            <a:srgbClr val="2D2D2D"/>
                          </a:solidFill>
                          <a:latin typeface="Segoe UI"/>
                        </a:rPr>
                        <a:t>Roll Data Certification out to all CI classes + KB; close data dictionary incl. Databases; ESS-02; SOX BA review</a:t>
                      </a:r>
                    </a:p>
                  </a:txBody>
                  <a:tcPr>
                    <a:solidFill>
                      <a:srgbClr val="F4F6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D2D2D"/>
                          </a:solidFill>
                          <a:latin typeface="Segoe UI"/>
                        </a:rPr>
                        <a:t>Data Cert 1247179 / 1402727 / 1402958  ·  ESS-02 spike 1420244  ·  SOX 1438967 / 1455827</a:t>
                      </a:r>
                    </a:p>
                  </a:txBody>
                  <a:tcPr>
                    <a:solidFill>
                      <a:srgbClr val="F4F6F9"/>
                    </a:solidFill>
                  </a:tcPr>
                </a:tc>
              </a:tr>
              <a:tr h="561702">
                <a:tc>
                  <a:txBody>
                    <a:bodyPr wrap="square"/>
                    <a:lstStyle/>
                    <a:p>
                      <a:pPr algn="l"/>
                      <a:r>
                        <a:rPr sz="1050" b="1" i="0">
                          <a:solidFill>
                            <a:srgbClr val="1F3A5F"/>
                          </a:solidFill>
                          <a:latin typeface="Segoe UI"/>
                        </a:rPr>
                        <a:t>CI Coverage - Computers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 i="0">
                          <a:solidFill>
                            <a:srgbClr val="2D2D2D"/>
                          </a:solidFill>
                          <a:latin typeface="Segoe UI"/>
                        </a:rPr>
                        <a:t>Land SCCM/Discovery precedence + bulk life-cycle; stand up the 90% coverage measurement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D2D2D"/>
                          </a:solidFill>
                          <a:latin typeface="Segoe UI"/>
                        </a:rPr>
                        <a:t>SCCM Computer 1348712 / 16 / 17 / 15  ·  Computer Class 1354794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61702">
                <a:tc>
                  <a:txBody>
                    <a:bodyPr wrap="square"/>
                    <a:lstStyle/>
                    <a:p>
                      <a:pPr algn="l"/>
                      <a:r>
                        <a:rPr sz="1050" b="1" i="0">
                          <a:solidFill>
                            <a:srgbClr val="1F3A5F"/>
                          </a:solidFill>
                          <a:latin typeface="Segoe UI"/>
                        </a:rPr>
                        <a:t>CI Coverage - Servers</a:t>
                      </a:r>
                    </a:p>
                  </a:txBody>
                  <a:tcPr>
                    <a:solidFill>
                      <a:srgbClr val="F4F6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 i="0">
                          <a:solidFill>
                            <a:srgbClr val="2D2D2D"/>
                          </a:solidFill>
                          <a:latin typeface="Segoe UI"/>
                        </a:rPr>
                        <a:t>Land server precedence; enhanced DB Discovery (MS-SQL / Oracle); stand up 90% measurement</a:t>
                      </a:r>
                    </a:p>
                  </a:txBody>
                  <a:tcPr>
                    <a:solidFill>
                      <a:srgbClr val="F4F6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D2D2D"/>
                          </a:solidFill>
                          <a:latin typeface="Segoe UI"/>
                        </a:rPr>
                        <a:t>SCCM Server 1356826 (1403759 / 60 / 62 / 63)  ·  creds 1444864</a:t>
                      </a:r>
                    </a:p>
                  </a:txBody>
                  <a:tcPr>
                    <a:solidFill>
                      <a:srgbClr val="F4F6F9"/>
                    </a:solidFill>
                  </a:tcPr>
                </a:tc>
              </a:tr>
              <a:tr h="561702">
                <a:tc>
                  <a:txBody>
                    <a:bodyPr wrap="square"/>
                    <a:lstStyle/>
                    <a:p>
                      <a:pPr algn="l"/>
                      <a:r>
                        <a:rPr sz="1050" b="1" i="0">
                          <a:solidFill>
                            <a:srgbClr val="1F3A5F"/>
                          </a:solidFill>
                          <a:latin typeface="Segoe UI"/>
                        </a:rPr>
                        <a:t>Service Mapping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 i="0">
                          <a:solidFill>
                            <a:srgbClr val="2D2D2D"/>
                          </a:solidFill>
                          <a:latin typeface="Segoe UI"/>
                        </a:rPr>
                        <a:t>Build maps for the 10 priority apps; get app-owner validation; make consumable in SNOW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D2D2D"/>
                          </a:solidFill>
                          <a:latin typeface="Segoe UI"/>
                        </a:rPr>
                        <a:t>Wave 1355866 / 68 / 71  ·  per-app: WATT, Oceana, SolarWinds PoC 1431652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61702">
                <a:tc>
                  <a:txBody>
                    <a:bodyPr wrap="square"/>
                    <a:lstStyle/>
                    <a:p>
                      <a:pPr algn="l"/>
                      <a:r>
                        <a:rPr sz="1050" b="1" i="0">
                          <a:solidFill>
                            <a:srgbClr val="1F3A5F"/>
                          </a:solidFill>
                          <a:latin typeface="Segoe UI"/>
                        </a:rPr>
                        <a:t>Network Gear Discovery</a:t>
                      </a:r>
                    </a:p>
                  </a:txBody>
                  <a:tcPr>
                    <a:solidFill>
                      <a:srgbClr val="F4F6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 i="0">
                          <a:solidFill>
                            <a:srgbClr val="2D2D2D"/>
                          </a:solidFill>
                          <a:latin typeface="Segoe UI"/>
                        </a:rPr>
                        <a:t>Fix creds / SNMP (excl. OT); activate discovery schedules; populate mandatory attributes</a:t>
                      </a:r>
                    </a:p>
                  </a:txBody>
                  <a:tcPr>
                    <a:solidFill>
                      <a:srgbClr val="F4F6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D2D2D"/>
                          </a:solidFill>
                          <a:latin typeface="Segoe UI"/>
                        </a:rPr>
                        <a:t>1356646  ·  1402572 / 574 / 575  ·  creds 1444864 / 1459721  ·  dep 1383487</a:t>
                      </a:r>
                    </a:p>
                  </a:txBody>
                  <a:tcPr>
                    <a:solidFill>
                      <a:srgbClr val="F4F6F9"/>
                    </a:solidFill>
                  </a:tcPr>
                </a:tc>
              </a:tr>
              <a:tr h="561708">
                <a:tc>
                  <a:txBody>
                    <a:bodyPr wrap="square"/>
                    <a:lstStyle/>
                    <a:p>
                      <a:pPr algn="l"/>
                      <a:r>
                        <a:rPr sz="1050" b="1" i="0">
                          <a:solidFill>
                            <a:srgbClr val="1F3A5F"/>
                          </a:solidFill>
                          <a:latin typeface="Segoe UI"/>
                        </a:rPr>
                        <a:t>Qualys Integration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 i="0">
                          <a:solidFill>
                            <a:srgbClr val="2D2D2D"/>
                          </a:solidFill>
                          <a:latin typeface="Segoe UI"/>
                        </a:rPr>
                        <a:t>Clear the plugin blocker; configure + test the one-way feed; deploy to PROD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D2D2D"/>
                          </a:solidFill>
                          <a:latin typeface="Segoe UI"/>
                        </a:rPr>
                        <a:t>1428703 / 1428704 (blocked)  ·  data-scope spike 1234585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Rectangle 7"/>
          <p:cNvSpPr/>
          <p:nvPr/>
        </p:nvSpPr>
        <p:spPr>
          <a:xfrm>
            <a:off x="502920" y="5394960"/>
            <a:ext cx="11155680" cy="777240"/>
          </a:xfrm>
          <a:prstGeom prst="rect">
            <a:avLst/>
          </a:prstGeom>
          <a:solidFill>
            <a:srgbClr val="E9F0F8"/>
          </a:solidFill>
          <a:ln w="9525">
            <a:solidFill>
              <a:srgbClr val="2E6D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8368" y="5449824"/>
            <a:ext cx="10881360" cy="694944"/>
          </a:xfrm>
          <a:prstGeom prst="rect">
            <a:avLst/>
          </a:prstGeom>
          <a:noFill/>
        </p:spPr>
        <p:txBody>
          <a:bodyPr wrap="square" anchor="ctr" lIns="50800" rIns="50800" tIns="25400" bIns="25400">
            <a:spAutoFit/>
          </a:bodyPr>
          <a:lstStyle/>
          <a:p>
            <a:pPr algn="l"/>
            <a:r>
              <a:rPr sz="1000" b="0" i="0">
                <a:solidFill>
                  <a:srgbClr val="1F3A5F"/>
                </a:solidFill>
                <a:latin typeface="Segoe UI"/>
              </a:rPr>
              <a:t>These are the threads already in motion - the same work you're on now.  Legacy Platform Rationalization and ATF Strategy are greenfield (no stories yet) - scoped at PI-3 planning.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54864"/>
          </a:xfrm>
          <a:prstGeom prst="rect">
            <a:avLst/>
          </a:prstGeom>
          <a:solidFill>
            <a:srgbClr val="2E6D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64592"/>
            <a:ext cx="11155680" cy="502920"/>
          </a:xfrm>
          <a:prstGeom prst="rect">
            <a:avLst/>
          </a:prstGeom>
          <a:noFill/>
        </p:spPr>
        <p:txBody>
          <a:bodyPr wrap="square" anchor="ctr" lIns="50800" rIns="50800" tIns="25400" bIns="25400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Segoe UI"/>
              </a:rPr>
              <a:t>Timeline - Where It Lands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21207" y="603504"/>
            <a:ext cx="11155680" cy="292608"/>
          </a:xfrm>
          <a:prstGeom prst="rect">
            <a:avLst/>
          </a:prstGeom>
          <a:noFill/>
        </p:spPr>
        <p:txBody>
          <a:bodyPr wrap="square" anchor="ctr" lIns="50800" rIns="50800" tIns="25400" bIns="25400">
            <a:spAutoFit/>
          </a:bodyPr>
          <a:lstStyle/>
          <a:p>
            <a:pPr algn="l"/>
            <a:r>
              <a:rPr sz="1200" b="0" i="0">
                <a:solidFill>
                  <a:srgbClr val="C9D6E6"/>
                </a:solidFill>
                <a:latin typeface="Segoe UI"/>
              </a:rPr>
              <a:t>Tail of PI-2 + all of PI-3  ·  staged monthly acceptance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473952"/>
            <a:ext cx="9144000" cy="292608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/>
            <a:r>
              <a:rPr sz="900" b="0" i="0">
                <a:solidFill>
                  <a:srgbClr val="6B7280"/>
                </a:solidFill>
                <a:latin typeface="Segoe UI"/>
              </a:rPr>
              <a:t>PPL CMDB-CSDM  |  CO6 Deliverables  |  Team Focus  -  Jul 10, 2026</a:t>
            </a:r>
          </a:p>
        </p:txBody>
      </p:sp>
      <p:sp>
        <p:nvSpPr>
          <p:cNvPr id="7" name="Rectangle 6"/>
          <p:cNvSpPr/>
          <p:nvPr/>
        </p:nvSpPr>
        <p:spPr>
          <a:xfrm>
            <a:off x="1828800" y="1188720"/>
            <a:ext cx="12700" cy="1234440"/>
          </a:xfrm>
          <a:prstGeom prst="rect">
            <a:avLst/>
          </a:prstGeom>
          <a:solidFill>
            <a:srgbClr val="DD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554480" y="2441448"/>
            <a:ext cx="548640" cy="22860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ctr"/>
            <a:r>
              <a:rPr sz="900" b="0" i="0">
                <a:solidFill>
                  <a:srgbClr val="6B7280"/>
                </a:solidFill>
                <a:latin typeface="Segoe UI"/>
              </a:rPr>
              <a:t>Jun</a:t>
            </a:r>
          </a:p>
        </p:txBody>
      </p:sp>
      <p:sp>
        <p:nvSpPr>
          <p:cNvPr id="9" name="Rectangle 8"/>
          <p:cNvSpPr/>
          <p:nvPr/>
        </p:nvSpPr>
        <p:spPr>
          <a:xfrm>
            <a:off x="3767328" y="1188720"/>
            <a:ext cx="12700" cy="1234440"/>
          </a:xfrm>
          <a:prstGeom prst="rect">
            <a:avLst/>
          </a:prstGeom>
          <a:solidFill>
            <a:srgbClr val="DD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493008" y="2441448"/>
            <a:ext cx="548640" cy="22860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ctr"/>
            <a:r>
              <a:rPr sz="900" b="0" i="0">
                <a:solidFill>
                  <a:srgbClr val="6B7280"/>
                </a:solidFill>
                <a:latin typeface="Segoe UI"/>
              </a:rPr>
              <a:t>Jul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705856" y="1188720"/>
            <a:ext cx="12700" cy="1234440"/>
          </a:xfrm>
          <a:prstGeom prst="rect">
            <a:avLst/>
          </a:prstGeom>
          <a:solidFill>
            <a:srgbClr val="DD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31536" y="2441448"/>
            <a:ext cx="548640" cy="22860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ctr"/>
            <a:r>
              <a:rPr sz="900" b="0" i="0">
                <a:solidFill>
                  <a:srgbClr val="6B7280"/>
                </a:solidFill>
                <a:latin typeface="Segoe UI"/>
              </a:rPr>
              <a:t>Aug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644383" y="1188720"/>
            <a:ext cx="12700" cy="1234440"/>
          </a:xfrm>
          <a:prstGeom prst="rect">
            <a:avLst/>
          </a:prstGeom>
          <a:solidFill>
            <a:srgbClr val="DD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370063" y="2441448"/>
            <a:ext cx="548640" cy="22860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ctr"/>
            <a:r>
              <a:rPr sz="900" b="0" i="0">
                <a:solidFill>
                  <a:srgbClr val="6B7280"/>
                </a:solidFill>
                <a:latin typeface="Segoe UI"/>
              </a:rPr>
              <a:t>Sep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582912" y="1188720"/>
            <a:ext cx="12700" cy="1234440"/>
          </a:xfrm>
          <a:prstGeom prst="rect">
            <a:avLst/>
          </a:prstGeom>
          <a:solidFill>
            <a:srgbClr val="DD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308592" y="2441448"/>
            <a:ext cx="548640" cy="22860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ctr"/>
            <a:r>
              <a:rPr sz="900" b="0" i="0">
                <a:solidFill>
                  <a:srgbClr val="6B7280"/>
                </a:solidFill>
                <a:latin typeface="Segoe UI"/>
              </a:rPr>
              <a:t>Oct</a:t>
            </a:r>
          </a:p>
        </p:txBody>
      </p:sp>
      <p:sp>
        <p:nvSpPr>
          <p:cNvPr id="17" name="Rectangle 16"/>
          <p:cNvSpPr/>
          <p:nvPr/>
        </p:nvSpPr>
        <p:spPr>
          <a:xfrm>
            <a:off x="11521440" y="1188720"/>
            <a:ext cx="12700" cy="1234440"/>
          </a:xfrm>
          <a:prstGeom prst="rect">
            <a:avLst/>
          </a:prstGeom>
          <a:solidFill>
            <a:srgbClr val="DD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1247120" y="2441448"/>
            <a:ext cx="548640" cy="22860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ctr"/>
            <a:r>
              <a:rPr sz="900" b="0" i="0">
                <a:solidFill>
                  <a:srgbClr val="6B7280"/>
                </a:solidFill>
                <a:latin typeface="Segoe UI"/>
              </a:rPr>
              <a:t>Nov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02920" y="1188720"/>
            <a:ext cx="1280160" cy="1234440"/>
          </a:xfrm>
          <a:prstGeom prst="rect">
            <a:avLst/>
          </a:prstGeom>
          <a:noFill/>
        </p:spPr>
        <p:txBody>
          <a:bodyPr wrap="square" anchor="ctr" lIns="50800" rIns="50800" tIns="25400" bIns="25400">
            <a:spAutoFit/>
          </a:bodyPr>
          <a:lstStyle/>
          <a:p>
            <a:pPr algn="l"/>
            <a:r>
              <a:rPr sz="900" b="1" i="0">
                <a:solidFill>
                  <a:srgbClr val="6B7280"/>
                </a:solidFill>
                <a:latin typeface="Segoe UI"/>
              </a:rPr>
              <a:t>Windows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767328" y="1243584"/>
            <a:ext cx="7628107" cy="292608"/>
          </a:xfrm>
          <a:prstGeom prst="rect">
            <a:avLst/>
          </a:prstGeom>
          <a:solidFill>
            <a:srgbClr val="2E6D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840480" y="1243584"/>
            <a:ext cx="7518379" cy="292608"/>
          </a:xfrm>
          <a:prstGeom prst="rect">
            <a:avLst/>
          </a:prstGeom>
          <a:noFill/>
        </p:spPr>
        <p:txBody>
          <a:bodyPr wrap="square" anchor="ctr" lIns="50800" rIns="50800" tIns="25400" bIns="25400">
            <a:spAutoFit/>
          </a:bodyPr>
          <a:lstStyle/>
          <a:p>
            <a:pPr algn="l"/>
            <a:r>
              <a:rPr sz="950" b="1" i="0">
                <a:solidFill>
                  <a:srgbClr val="FFFFFF"/>
                </a:solidFill>
                <a:latin typeface="Segoe UI"/>
              </a:rPr>
              <a:t>Delivery window   Jul 1 - Oct 30</a:t>
            </a:r>
          </a:p>
        </p:txBody>
      </p:sp>
      <p:sp>
        <p:nvSpPr>
          <p:cNvPr id="22" name="Rectangle 21"/>
          <p:cNvSpPr/>
          <p:nvPr/>
        </p:nvSpPr>
        <p:spPr>
          <a:xfrm>
            <a:off x="1828800" y="1613916"/>
            <a:ext cx="4065093" cy="292608"/>
          </a:xfrm>
          <a:prstGeom prst="rect">
            <a:avLst/>
          </a:prstGeom>
          <a:solidFill>
            <a:srgbClr val="6E88A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901952" y="1613916"/>
            <a:ext cx="3955365" cy="292608"/>
          </a:xfrm>
          <a:prstGeom prst="rect">
            <a:avLst/>
          </a:prstGeom>
          <a:noFill/>
        </p:spPr>
        <p:txBody>
          <a:bodyPr wrap="square" anchor="ctr" lIns="50800" rIns="50800" tIns="25400" bIns="25400">
            <a:spAutoFit/>
          </a:bodyPr>
          <a:lstStyle/>
          <a:p>
            <a:pPr algn="l"/>
            <a:r>
              <a:rPr sz="950" b="1" i="0">
                <a:solidFill>
                  <a:srgbClr val="FFFFFF"/>
                </a:solidFill>
                <a:latin typeface="Segoe UI"/>
              </a:rPr>
              <a:t>PI-2  (-&gt; Aug 4)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955926" y="1984248"/>
            <a:ext cx="5253410" cy="292608"/>
          </a:xfrm>
          <a:prstGeom prst="rect">
            <a:avLst/>
          </a:prstGeom>
          <a:solidFill>
            <a:srgbClr val="2E8B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029078" y="1984248"/>
            <a:ext cx="5143682" cy="292608"/>
          </a:xfrm>
          <a:prstGeom prst="rect">
            <a:avLst/>
          </a:prstGeom>
          <a:noFill/>
        </p:spPr>
        <p:txBody>
          <a:bodyPr wrap="square" anchor="ctr" lIns="50800" rIns="50800" tIns="25400" bIns="25400">
            <a:spAutoFit/>
          </a:bodyPr>
          <a:lstStyle/>
          <a:p>
            <a:pPr algn="l"/>
            <a:r>
              <a:rPr sz="950" b="1" i="0">
                <a:solidFill>
                  <a:srgbClr val="FFFFFF"/>
                </a:solidFill>
                <a:latin typeface="Segoe UI"/>
              </a:rPr>
              <a:t>PI-3  Aug 5 - Oct 27</a:t>
            </a:r>
          </a:p>
        </p:txBody>
      </p:sp>
      <p:graphicFrame>
        <p:nvGraphicFramePr>
          <p:cNvPr id="26" name="Table 25"/>
          <p:cNvGraphicFramePr>
            <a:graphicFrameLocks noGrp="1"/>
          </p:cNvGraphicFramePr>
          <p:nvPr/>
        </p:nvGraphicFramePr>
        <p:xfrm>
          <a:off x="502920" y="3063240"/>
          <a:ext cx="11155680" cy="28346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71600"/>
                <a:gridCol w="7223760"/>
                <a:gridCol w="2560320"/>
              </a:tblGrid>
              <a:tr h="354330">
                <a:tc>
                  <a:txBody>
                    <a:bodyPr wrap="square"/>
                    <a:lstStyle/>
                    <a:p>
                      <a:pPr algn="ctr"/>
                      <a:r>
                        <a:rPr sz="1100" b="1" i="0">
                          <a:solidFill>
                            <a:srgbClr val="FFFFFF"/>
                          </a:solidFill>
                          <a:latin typeface="Segoe UI"/>
                        </a:rPr>
                        <a:t>When</a:t>
                      </a:r>
                    </a:p>
                  </a:txBody>
                  <a:tcPr>
                    <a:solidFill>
                      <a:srgbClr val="1F3A5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1" i="0">
                          <a:solidFill>
                            <a:srgbClr val="FFFFFF"/>
                          </a:solidFill>
                          <a:latin typeface="Segoe UI"/>
                        </a:rPr>
                        <a:t>What's due</a:t>
                      </a:r>
                    </a:p>
                  </a:txBody>
                  <a:tcPr>
                    <a:solidFill>
                      <a:srgbClr val="1F3A5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 i="0">
                          <a:solidFill>
                            <a:srgbClr val="FFFFFF"/>
                          </a:solidFill>
                          <a:latin typeface="Segoe UI"/>
                        </a:rPr>
                        <a:t>Lands in</a:t>
                      </a:r>
                    </a:p>
                  </a:txBody>
                  <a:tcPr>
                    <a:solidFill>
                      <a:srgbClr val="1F3A5F"/>
                    </a:solidFill>
                  </a:tcPr>
                </a:tc>
              </a:tr>
              <a:tr h="354330">
                <a:tc>
                  <a:txBody>
                    <a:bodyPr wrap="square"/>
                    <a:lstStyle/>
                    <a:p>
                      <a:pPr algn="ctr"/>
                      <a:r>
                        <a:rPr sz="1050" b="1" i="0">
                          <a:solidFill>
                            <a:srgbClr val="1F3A5F"/>
                          </a:solidFill>
                          <a:latin typeface="Segoe UI"/>
                        </a:rPr>
                        <a:t>Jul 31</a:t>
                      </a:r>
                    </a:p>
                  </a:txBody>
                  <a:tcPr>
                    <a:solidFill>
                      <a:srgbClr val="F4F6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D2D2D"/>
                          </a:solidFill>
                          <a:latin typeface="Segoe UI"/>
                        </a:rPr>
                        <a:t>CMDB Governance (data dictionary incl. Databases; Data Cert all CI classes; ESS-02; SOX)  ·  CI Coverage foundation (Computers &amp; Servers precedence)</a:t>
                      </a:r>
                    </a:p>
                  </a:txBody>
                  <a:tcPr>
                    <a:solidFill>
                      <a:srgbClr val="F4F6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1" i="0">
                          <a:solidFill>
                            <a:srgbClr val="2E6DB4"/>
                          </a:solidFill>
                          <a:latin typeface="Segoe UI"/>
                        </a:rPr>
                        <a:t>PI-2 Iter 2.5 / 2.6 (IP)</a:t>
                      </a:r>
                    </a:p>
                  </a:txBody>
                  <a:tcPr>
                    <a:solidFill>
                      <a:srgbClr val="F4F6F9"/>
                    </a:solidFill>
                  </a:tcPr>
                </a:tc>
              </a:tr>
              <a:tr h="354330">
                <a:tc>
                  <a:txBody>
                    <a:bodyPr wrap="square"/>
                    <a:lstStyle/>
                    <a:p>
                      <a:pPr algn="ctr"/>
                      <a:r>
                        <a:rPr sz="1050" b="1" i="0">
                          <a:solidFill>
                            <a:srgbClr val="1F3A5F"/>
                          </a:solidFill>
                          <a:latin typeface="Segoe UI"/>
                        </a:rPr>
                        <a:t>Aug 31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D2D2D"/>
                          </a:solidFill>
                          <a:latin typeface="Segoe UI"/>
                        </a:rPr>
                        <a:t>Network Gear (creds &amp; schedules)  ·  Service Mapping (initial maps)  ·  Legacy Platform (analysis) - staged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1" i="0">
                          <a:solidFill>
                            <a:srgbClr val="2E6DB4"/>
                          </a:solidFill>
                          <a:latin typeface="Segoe UI"/>
                        </a:rPr>
                        <a:t>PI-3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54330">
                <a:tc>
                  <a:txBody>
                    <a:bodyPr wrap="square"/>
                    <a:lstStyle/>
                    <a:p>
                      <a:pPr algn="ctr"/>
                      <a:r>
                        <a:rPr sz="1050" b="1" i="0">
                          <a:solidFill>
                            <a:srgbClr val="1F3A5F"/>
                          </a:solidFill>
                          <a:latin typeface="Segoe UI"/>
                        </a:rPr>
                        <a:t>Sep 30</a:t>
                      </a:r>
                    </a:p>
                  </a:txBody>
                  <a:tcPr>
                    <a:solidFill>
                      <a:srgbClr val="F4F6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D2D2D"/>
                          </a:solidFill>
                          <a:latin typeface="Segoe UI"/>
                        </a:rPr>
                        <a:t>CI Coverage - Computers 90% managed  ·  Network Gear mandatory attributes</a:t>
                      </a:r>
                    </a:p>
                  </a:txBody>
                  <a:tcPr>
                    <a:solidFill>
                      <a:srgbClr val="F4F6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1" i="0">
                          <a:solidFill>
                            <a:srgbClr val="2E6DB4"/>
                          </a:solidFill>
                          <a:latin typeface="Segoe UI"/>
                        </a:rPr>
                        <a:t>PI-3</a:t>
                      </a:r>
                    </a:p>
                  </a:txBody>
                  <a:tcPr>
                    <a:solidFill>
                      <a:srgbClr val="F4F6F9"/>
                    </a:solidFill>
                  </a:tcPr>
                </a:tc>
              </a:tr>
              <a:tr h="354330">
                <a:tc>
                  <a:txBody>
                    <a:bodyPr wrap="square"/>
                    <a:lstStyle/>
                    <a:p>
                      <a:pPr algn="ctr"/>
                      <a:r>
                        <a:rPr sz="1050" b="1" i="0">
                          <a:solidFill>
                            <a:srgbClr val="1F3A5F"/>
                          </a:solidFill>
                          <a:latin typeface="Segoe UI"/>
                        </a:rPr>
                        <a:t>Oct 27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D2D2D"/>
                          </a:solidFill>
                          <a:latin typeface="Segoe UI"/>
                        </a:rPr>
                        <a:t>Qualys -&gt; ServiceNow live in PROD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1" i="0">
                          <a:solidFill>
                            <a:srgbClr val="2E6DB4"/>
                          </a:solidFill>
                          <a:latin typeface="Segoe UI"/>
                        </a:rPr>
                        <a:t>PI-3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54330">
                <a:tc>
                  <a:txBody>
                    <a:bodyPr wrap="square"/>
                    <a:lstStyle/>
                    <a:p>
                      <a:pPr algn="ctr"/>
                      <a:r>
                        <a:rPr sz="1050" b="1" i="0">
                          <a:solidFill>
                            <a:srgbClr val="1F3A5F"/>
                          </a:solidFill>
                          <a:latin typeface="Segoe UI"/>
                        </a:rPr>
                        <a:t>Oct 30</a:t>
                      </a:r>
                    </a:p>
                  </a:txBody>
                  <a:tcPr>
                    <a:solidFill>
                      <a:srgbClr val="F4F6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D2D2D"/>
                          </a:solidFill>
                          <a:latin typeface="Segoe UI"/>
                        </a:rPr>
                        <a:t>CI Coverage - Servers 90%  ·  Network Gear 90%  ·  Service Mapping (10 apps)  ·  Legacy Platform (migration plan)</a:t>
                      </a:r>
                    </a:p>
                  </a:txBody>
                  <a:tcPr>
                    <a:solidFill>
                      <a:srgbClr val="F4F6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1" i="0">
                          <a:solidFill>
                            <a:srgbClr val="2E6DB4"/>
                          </a:solidFill>
                          <a:latin typeface="Segoe UI"/>
                        </a:rPr>
                        <a:t>PI-3</a:t>
                      </a:r>
                    </a:p>
                  </a:txBody>
                  <a:tcPr>
                    <a:solidFill>
                      <a:srgbClr val="F4F6F9"/>
                    </a:solidFill>
                  </a:tcPr>
                </a:tc>
              </a:tr>
              <a:tr h="354330">
                <a:tc>
                  <a:txBody>
                    <a:bodyPr wrap="square"/>
                    <a:lstStyle/>
                    <a:p>
                      <a:pPr algn="ctr"/>
                      <a:r>
                        <a:rPr sz="1050" b="1" i="0">
                          <a:solidFill>
                            <a:srgbClr val="1F3A5F"/>
                          </a:solidFill>
                          <a:latin typeface="Segoe UI"/>
                        </a:rPr>
                        <a:t>Oct 31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D2D2D"/>
                          </a:solidFill>
                          <a:latin typeface="Segoe UI"/>
                        </a:rPr>
                        <a:t>ATF Strategy (rollout plan)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1" i="0">
                          <a:solidFill>
                            <a:srgbClr val="2E6DB4"/>
                          </a:solidFill>
                          <a:latin typeface="Segoe UI"/>
                        </a:rPr>
                        <a:t>PI-3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54330">
                <a:tc>
                  <a:txBody>
                    <a:bodyPr wrap="square"/>
                    <a:lstStyle/>
                    <a:p>
                      <a:pPr algn="ctr"/>
                      <a:r>
                        <a:rPr sz="1050" b="1" i="0">
                          <a:solidFill>
                            <a:srgbClr val="1F3A5F"/>
                          </a:solidFill>
                          <a:latin typeface="Segoe UI"/>
                        </a:rPr>
                        <a:t>Ongoing</a:t>
                      </a:r>
                    </a:p>
                  </a:txBody>
                  <a:tcPr>
                    <a:solidFill>
                      <a:srgbClr val="F4F6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D2D2D"/>
                          </a:solidFill>
                          <a:latin typeface="Segoe UI"/>
                        </a:rPr>
                        <a:t>ITSM Product Management &amp; Platform Support - monthly</a:t>
                      </a:r>
                    </a:p>
                  </a:txBody>
                  <a:tcPr>
                    <a:solidFill>
                      <a:srgbClr val="F4F6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1" i="0">
                          <a:solidFill>
                            <a:srgbClr val="2E6DB4"/>
                          </a:solidFill>
                          <a:latin typeface="Segoe UI"/>
                        </a:rPr>
                        <a:t>PI-2 tail -&gt; PI-3</a:t>
                      </a:r>
                    </a:p>
                  </a:txBody>
                  <a:tcPr>
                    <a:solidFill>
                      <a:srgbClr val="F4F6F9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54864"/>
          </a:xfrm>
          <a:prstGeom prst="rect">
            <a:avLst/>
          </a:prstGeom>
          <a:solidFill>
            <a:srgbClr val="2E6D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64592"/>
            <a:ext cx="11155680" cy="502920"/>
          </a:xfrm>
          <a:prstGeom prst="rect">
            <a:avLst/>
          </a:prstGeom>
          <a:noFill/>
        </p:spPr>
        <p:txBody>
          <a:bodyPr wrap="square" anchor="ctr" lIns="50800" rIns="50800" tIns="25400" bIns="25400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Segoe UI"/>
              </a:rPr>
              <a:t>Where to Focus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21207" y="603504"/>
            <a:ext cx="11155680" cy="292608"/>
          </a:xfrm>
          <a:prstGeom prst="rect">
            <a:avLst/>
          </a:prstGeom>
          <a:noFill/>
        </p:spPr>
        <p:txBody>
          <a:bodyPr wrap="square" anchor="ctr" lIns="50800" rIns="50800" tIns="25400" bIns="25400">
            <a:spAutoFit/>
          </a:bodyPr>
          <a:lstStyle/>
          <a:p>
            <a:pPr algn="l"/>
            <a:r>
              <a:rPr sz="1200" b="0" i="0">
                <a:solidFill>
                  <a:srgbClr val="C9D6E6"/>
                </a:solidFill>
                <a:latin typeface="Segoe UI"/>
              </a:rPr>
              <a:t>Priorities for Development + supporting roles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473952"/>
            <a:ext cx="9144000" cy="292608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/>
            <a:r>
              <a:rPr sz="900" b="0" i="0">
                <a:solidFill>
                  <a:srgbClr val="6B7280"/>
                </a:solidFill>
                <a:latin typeface="Segoe UI"/>
              </a:rPr>
              <a:t>PPL CMDB-CSDM  |  CO6 Deliverables  |  Team Focus  -  Jul 10, 2026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1316736"/>
            <a:ext cx="109728" cy="566928"/>
          </a:xfrm>
          <a:prstGeom prst="rect">
            <a:avLst/>
          </a:prstGeom>
          <a:solidFill>
            <a:srgbClr val="2E6D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49808" y="1280160"/>
            <a:ext cx="10881360" cy="292608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/>
            <a:r>
              <a:rPr sz="1350" b="1" i="0">
                <a:solidFill>
                  <a:srgbClr val="1F3A5F"/>
                </a:solidFill>
                <a:latin typeface="Segoe UI"/>
              </a:rPr>
              <a:t>Focus first: the Jul 31 items.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49808" y="1591056"/>
            <a:ext cx="10881360" cy="45720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/>
            <a:r>
              <a:rPr sz="1100" b="0" i="0">
                <a:solidFill>
                  <a:srgbClr val="2D2D2D"/>
                </a:solidFill>
                <a:latin typeface="Segoe UI"/>
              </a:rPr>
              <a:t>CMDB Governance and CI Coverage foundation (Computers &amp; Servers precedence) are due first and land in PI-2 - keep these moving now.</a:t>
            </a:r>
          </a:p>
        </p:txBody>
      </p:sp>
      <p:sp>
        <p:nvSpPr>
          <p:cNvPr id="10" name="Rectangle 9"/>
          <p:cNvSpPr/>
          <p:nvPr/>
        </p:nvSpPr>
        <p:spPr>
          <a:xfrm>
            <a:off x="502920" y="2157984"/>
            <a:ext cx="109728" cy="566928"/>
          </a:xfrm>
          <a:prstGeom prst="rect">
            <a:avLst/>
          </a:prstGeom>
          <a:solidFill>
            <a:srgbClr val="2E6D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49808" y="2121408"/>
            <a:ext cx="10881360" cy="292608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/>
            <a:r>
              <a:rPr sz="1350" b="1" i="0">
                <a:solidFill>
                  <a:srgbClr val="1F3A5F"/>
                </a:solidFill>
                <a:latin typeface="Segoe UI"/>
              </a:rPr>
              <a:t>Biggest PI-3 build: Discovery + Mapping.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49808" y="2432303"/>
            <a:ext cx="10881360" cy="45720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/>
            <a:r>
              <a:rPr sz="1100" b="0" i="0">
                <a:solidFill>
                  <a:srgbClr val="2D2D2D"/>
                </a:solidFill>
                <a:latin typeface="Segoe UI"/>
              </a:rPr>
              <a:t>Network Gear, Service Mapping and the 90% coverage targets (Sep 30 / Oct 30) are the bulk of the work - discovery, credentials, and app-owner validation.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02920" y="2999232"/>
            <a:ext cx="109728" cy="566928"/>
          </a:xfrm>
          <a:prstGeom prst="rect">
            <a:avLst/>
          </a:prstGeom>
          <a:solidFill>
            <a:srgbClr val="2E6D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49808" y="2962656"/>
            <a:ext cx="10881360" cy="292608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/>
            <a:r>
              <a:rPr sz="1350" b="1" i="0">
                <a:solidFill>
                  <a:srgbClr val="1F3A5F"/>
                </a:solidFill>
                <a:latin typeface="Segoe UI"/>
              </a:rPr>
              <a:t>Unblock Qualys early.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49808" y="3273551"/>
            <a:ext cx="10881360" cy="45720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/>
            <a:r>
              <a:rPr sz="1100" b="0" i="0">
                <a:solidFill>
                  <a:srgbClr val="2D2D2D"/>
                </a:solidFill>
                <a:latin typeface="Segoe UI"/>
              </a:rPr>
              <a:t>One-way feed to PROD by Oct 27 - the plugin blocker needs clearing before the build can finish.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02920" y="3840480"/>
            <a:ext cx="109728" cy="566928"/>
          </a:xfrm>
          <a:prstGeom prst="rect">
            <a:avLst/>
          </a:prstGeom>
          <a:solidFill>
            <a:srgbClr val="2E6D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49808" y="3803904"/>
            <a:ext cx="10881360" cy="292608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/>
            <a:r>
              <a:rPr sz="1350" b="1" i="0">
                <a:solidFill>
                  <a:srgbClr val="1F3A5F"/>
                </a:solidFill>
                <a:latin typeface="Segoe UI"/>
              </a:rPr>
              <a:t>New to plan at PI-3 planning.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49808" y="4114800"/>
            <a:ext cx="10881360" cy="45720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/>
            <a:r>
              <a:rPr sz="1100" b="0" i="0">
                <a:solidFill>
                  <a:srgbClr val="2D2D2D"/>
                </a:solidFill>
                <a:latin typeface="Segoe UI"/>
              </a:rPr>
              <a:t>Legacy Platform Rationalization and ATF Strategy are greenfield - no stories yet; we scope and staff these at planning.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02920" y="4681728"/>
            <a:ext cx="109728" cy="566928"/>
          </a:xfrm>
          <a:prstGeom prst="rect">
            <a:avLst/>
          </a:prstGeom>
          <a:solidFill>
            <a:srgbClr val="2E6D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49808" y="4645152"/>
            <a:ext cx="10881360" cy="292608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/>
            <a:r>
              <a:rPr sz="1350" b="1" i="0">
                <a:solidFill>
                  <a:srgbClr val="1F3A5F"/>
                </a:solidFill>
                <a:latin typeface="Segoe UI"/>
              </a:rPr>
              <a:t>Supporting lanes stand up separately.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49808" y="4956048"/>
            <a:ext cx="10881360" cy="45720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/>
            <a:r>
              <a:rPr sz="1100" b="0" i="0">
                <a:solidFill>
                  <a:srgbClr val="2D2D2D"/>
                </a:solidFill>
                <a:latin typeface="Segoe UI"/>
              </a:rPr>
              <a:t>ITSM Product Management and Platform Support are PO / BAU capacity, not core CMDB dev - flagged so they're on the radar.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02920" y="5522976"/>
            <a:ext cx="109728" cy="566928"/>
          </a:xfrm>
          <a:prstGeom prst="rect">
            <a:avLst/>
          </a:prstGeom>
          <a:solidFill>
            <a:srgbClr val="2E6D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49808" y="5486400"/>
            <a:ext cx="10881360" cy="292608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/>
            <a:r>
              <a:rPr sz="1350" b="1" i="0">
                <a:solidFill>
                  <a:srgbClr val="1F3A5F"/>
                </a:solidFill>
                <a:latin typeface="Segoe UI"/>
              </a:rPr>
              <a:t>Questions?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49808" y="5797296"/>
            <a:ext cx="10881360" cy="45720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/>
            <a:r>
              <a:rPr sz="1100" b="0" i="0">
                <a:solidFill>
                  <a:srgbClr val="2D2D2D"/>
                </a:solidFill>
                <a:latin typeface="Segoe UI"/>
              </a:rPr>
              <a:t>Jordan Yung is the CO6 SME; Joe Dames owns governance scope. Flag anything unclear to Manny.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