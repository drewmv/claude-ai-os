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60520"/>
            <a:ext cx="12191695" cy="73152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698480" cy="10058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Segoe UI"/>
              </a:rPr>
              <a:t>CO6 Deliverables - Team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2560320"/>
            <a:ext cx="1069848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2000" b="0" i="0">
                <a:solidFill>
                  <a:srgbClr val="C9D6E6"/>
                </a:solidFill>
                <a:latin typeface="Segoe UI"/>
              </a:rPr>
              <a:t>Change Order #6  ·  what's coming for CMDB / CSDM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3291840"/>
            <a:ext cx="5120640" cy="457200"/>
          </a:xfrm>
          <a:prstGeom prst="rect">
            <a:avLst/>
          </a:prstGeom>
          <a:solidFill>
            <a:srgbClr val="7A4F10"/>
          </a:solidFill>
          <a:ln w="9525">
            <a:solidFill>
              <a:srgbClr val="E0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310128"/>
            <a:ext cx="4937760" cy="420624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1200" b="1" i="0">
                <a:solidFill>
                  <a:srgbClr val="FFE6C2"/>
                </a:solidFill>
                <a:latin typeface="Segoe UI"/>
              </a:rPr>
              <a:t>DRAFT / UNSIGNED  -  tentative until executed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4343400"/>
            <a:ext cx="10698480" cy="13716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9 deliverables  ·  6 net-new  ·  3 continue current CO5 work</a:t>
            </a:r>
          </a:p>
          <a:p>
            <a:pPr algn="l"/>
            <a:r>
              <a:rPr sz="1400" b="0" i="0">
                <a:solidFill>
                  <a:srgbClr val="C9D6E6"/>
                </a:solidFill>
                <a:latin typeface="Segoe UI"/>
              </a:rPr>
              <a:t>Proposed term: Jul 1 - Oct 30, 2026  (spans the tail of PI-2 + all of PI-3)</a:t>
            </a:r>
          </a:p>
          <a:p>
            <a:pPr algn="l"/>
            <a:r>
              <a:rPr sz="1200" b="0" i="0">
                <a:solidFill>
                  <a:srgbClr val="9FB2CC"/>
                </a:solidFill>
                <a:latin typeface="Segoe UI"/>
              </a:rPr>
              <a:t>Manuel Vazquez  -  Scrum Master, CMDB-CSDM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55680" cy="5029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Segoe UI"/>
              </a:rPr>
              <a:t>CO6 Deliverables - All 9 at a Glance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603504"/>
            <a:ext cx="11155680" cy="29260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1200" b="0" i="0">
                <a:solidFill>
                  <a:srgbClr val="C9D6E6"/>
                </a:solidFill>
                <a:latin typeface="Segoe UI"/>
              </a:rPr>
              <a:t>6 net-new  ·  3 continue current CO5 work  ·  staged monthly acceptance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9144000" cy="29260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Segoe UI"/>
              </a:rPr>
              <a:t>PPL CMDB-CSDM  |  CO6 Deliverables (DRAFT)  |  Team FYI  -  Jul 10,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115568"/>
            <a:ext cx="11155680" cy="457200"/>
          </a:xfrm>
          <a:prstGeom prst="rect">
            <a:avLst/>
          </a:prstGeom>
          <a:solidFill>
            <a:srgbClr val="FBEEDB"/>
          </a:solidFill>
          <a:ln w="9525">
            <a:solidFill>
              <a:srgbClr val="E0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133856"/>
            <a:ext cx="10881360" cy="420624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1050" b="1" i="0">
                <a:solidFill>
                  <a:srgbClr val="7A4F10"/>
                </a:solidFill>
                <a:latin typeface="Segoe UI"/>
              </a:rPr>
              <a:t>DRAFT / UNSIGNED (3/27 working draft).  Scope, numbering and dates are TENTATIVE until the contract is executed - nothing here changes our current commitments yet.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737360"/>
          <a:ext cx="1115568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3931920"/>
                <a:gridCol w="1737360"/>
                <a:gridCol w="3108960"/>
                <a:gridCol w="1737360"/>
              </a:tblGrid>
              <a:tr h="374072"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Segoe UI"/>
                        </a:rPr>
                        <a:t>#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Segoe UI"/>
                        </a:rPr>
                        <a:t>Deliverable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Segoe UI"/>
                        </a:rPr>
                        <a:t>Type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Segoe UI"/>
                        </a:rPr>
                        <a:t>Due (draft)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Segoe UI"/>
                        </a:rPr>
                        <a:t>PI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74072"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6B7280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F3A5F"/>
                          </a:solidFill>
                          <a:latin typeface="Segoe UI"/>
                        </a:rPr>
                        <a:t>Network Gear Discovery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Segoe UI"/>
                        </a:rPr>
                        <a:t>New</a:t>
                      </a:r>
                    </a:p>
                  </a:txBody>
                  <a:tcPr>
                    <a:solidFill>
                      <a:srgbClr val="2E6DB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D2D2D"/>
                          </a:solidFill>
                          <a:latin typeface="Segoe UI"/>
                        </a:rPr>
                        <a:t>Aug 31 -&gt; Oct 30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2D2D2D"/>
                          </a:solidFill>
                          <a:latin typeface="Segoe UI"/>
                        </a:rPr>
                        <a:t>PI-3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374072"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6B7280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F3A5F"/>
                          </a:solidFill>
                          <a:latin typeface="Segoe UI"/>
                        </a:rPr>
                        <a:t>Service Mapping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Segoe UI"/>
                        </a:rPr>
                        <a:t>New</a:t>
                      </a:r>
                    </a:p>
                  </a:txBody>
                  <a:tcPr>
                    <a:solidFill>
                      <a:srgbClr val="2E6DB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D2D2D"/>
                          </a:solidFill>
                          <a:latin typeface="Segoe UI"/>
                        </a:rPr>
                        <a:t>Aug 31 -&gt; Oct 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2D2D2D"/>
                          </a:solidFill>
                          <a:latin typeface="Segoe UI"/>
                        </a:rPr>
                        <a:t>PI-3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072"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6B7280"/>
                          </a:solidFill>
                          <a:latin typeface="Segoe UI"/>
                        </a:rPr>
                        <a:t>3a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F3A5F"/>
                          </a:solidFill>
                          <a:latin typeface="Segoe UI"/>
                        </a:rPr>
                        <a:t>Qualys Integration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Segoe UI"/>
                        </a:rPr>
                        <a:t>Continues</a:t>
                      </a:r>
                    </a:p>
                  </a:txBody>
                  <a:tcPr>
                    <a:solidFill>
                      <a:srgbClr val="5B6B7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D2D2D"/>
                          </a:solidFill>
                          <a:latin typeface="Segoe UI"/>
                        </a:rPr>
                        <a:t>Oct 27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2D2D2D"/>
                          </a:solidFill>
                          <a:latin typeface="Segoe UI"/>
                        </a:rPr>
                        <a:t>PI-3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374072"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6B7280"/>
                          </a:solidFill>
                          <a:latin typeface="Segoe UI"/>
                        </a:rPr>
                        <a:t>3b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F3A5F"/>
                          </a:solidFill>
                          <a:latin typeface="Segoe UI"/>
                        </a:rPr>
                        <a:t>CMDB Governance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Segoe UI"/>
                        </a:rPr>
                        <a:t>Continues</a:t>
                      </a:r>
                    </a:p>
                  </a:txBody>
                  <a:tcPr>
                    <a:solidFill>
                      <a:srgbClr val="5B6B7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D2D2D"/>
                          </a:solidFill>
                          <a:latin typeface="Segoe UI"/>
                        </a:rPr>
                        <a:t>Jul 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2D2D2D"/>
                          </a:solidFill>
                          <a:latin typeface="Segoe UI"/>
                        </a:rPr>
                        <a:t>PI-2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072"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6B7280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F3A5F"/>
                          </a:solidFill>
                          <a:latin typeface="Segoe UI"/>
                        </a:rPr>
                        <a:t>CI Coverage - Computers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Segoe UI"/>
                        </a:rPr>
                        <a:t>Continues</a:t>
                      </a:r>
                    </a:p>
                  </a:txBody>
                  <a:tcPr>
                    <a:solidFill>
                      <a:srgbClr val="5B6B7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D2D2D"/>
                          </a:solidFill>
                          <a:latin typeface="Segoe UI"/>
                        </a:rPr>
                        <a:t>Jul 31 -&gt; Sep 30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2D2D2D"/>
                          </a:solidFill>
                          <a:latin typeface="Segoe UI"/>
                        </a:rPr>
                        <a:t>PI-2/3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374072"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6B7280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F3A5F"/>
                          </a:solidFill>
                          <a:latin typeface="Segoe UI"/>
                        </a:rPr>
                        <a:t>CI Coverage - Servers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Segoe UI"/>
                        </a:rPr>
                        <a:t>Continues</a:t>
                      </a:r>
                    </a:p>
                  </a:txBody>
                  <a:tcPr>
                    <a:solidFill>
                      <a:srgbClr val="5B6B7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D2D2D"/>
                          </a:solidFill>
                          <a:latin typeface="Segoe UI"/>
                        </a:rPr>
                        <a:t>Jul 31 -&gt; Oct 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2D2D2D"/>
                          </a:solidFill>
                          <a:latin typeface="Segoe UI"/>
                        </a:rPr>
                        <a:t>PI-2/3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072"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6B7280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F3A5F"/>
                          </a:solidFill>
                          <a:latin typeface="Segoe UI"/>
                        </a:rPr>
                        <a:t>Legacy Platform Rationalization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Segoe UI"/>
                        </a:rPr>
                        <a:t>New</a:t>
                      </a:r>
                    </a:p>
                  </a:txBody>
                  <a:tcPr>
                    <a:solidFill>
                      <a:srgbClr val="2E6DB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D2D2D"/>
                          </a:solidFill>
                          <a:latin typeface="Segoe UI"/>
                        </a:rPr>
                        <a:t>Aug 31 -&gt; Oct 30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2D2D2D"/>
                          </a:solidFill>
                          <a:latin typeface="Segoe UI"/>
                        </a:rPr>
                        <a:t>PI-3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374072"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6B7280"/>
                          </a:solidFill>
                          <a:latin typeface="Segoe U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F3A5F"/>
                          </a:solidFill>
                          <a:latin typeface="Segoe UI"/>
                        </a:rPr>
                        <a:t>ITSM Product Management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Segoe UI"/>
                        </a:rPr>
                        <a:t>New</a:t>
                      </a:r>
                    </a:p>
                  </a:txBody>
                  <a:tcPr>
                    <a:solidFill>
                      <a:srgbClr val="2E6DB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D2D2D"/>
                          </a:solidFill>
                          <a:latin typeface="Segoe UI"/>
                        </a:rPr>
                        <a:t>Monthly Jul 31-Oct 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2D2D2D"/>
                          </a:solidFill>
                          <a:latin typeface="Segoe UI"/>
                        </a:rPr>
                        <a:t>PI-2/3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072"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6B7280"/>
                          </a:solidFill>
                          <a:latin typeface="Segoe UI"/>
                        </a:rPr>
                        <a:t>8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F3A5F"/>
                          </a:solidFill>
                          <a:latin typeface="Segoe UI"/>
                        </a:rPr>
                        <a:t>ATF Strategy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Segoe UI"/>
                        </a:rPr>
                        <a:t>New</a:t>
                      </a:r>
                    </a:p>
                  </a:txBody>
                  <a:tcPr>
                    <a:solidFill>
                      <a:srgbClr val="2E6DB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D2D2D"/>
                          </a:solidFill>
                          <a:latin typeface="Segoe UI"/>
                        </a:rPr>
                        <a:t>Oct 31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2D2D2D"/>
                          </a:solidFill>
                          <a:latin typeface="Segoe UI"/>
                        </a:rPr>
                        <a:t>PI-3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374080"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6B7280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F3A5F"/>
                          </a:solidFill>
                          <a:latin typeface="Segoe UI"/>
                        </a:rPr>
                        <a:t>Platform Support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Segoe UI"/>
                        </a:rPr>
                        <a:t>New</a:t>
                      </a:r>
                    </a:p>
                  </a:txBody>
                  <a:tcPr>
                    <a:solidFill>
                      <a:srgbClr val="2E6DB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D2D2D"/>
                          </a:solidFill>
                          <a:latin typeface="Segoe UI"/>
                        </a:rPr>
                        <a:t>Monthly Aug 31-Oct 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2D2D2D"/>
                          </a:solidFill>
                          <a:latin typeface="Segoe UI"/>
                        </a:rPr>
                        <a:t>PI-3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02920" y="5943600"/>
            <a:ext cx="11155680" cy="5029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050" b="0" i="0">
                <a:solidFill>
                  <a:srgbClr val="2D2D2D"/>
                </a:solidFill>
                <a:latin typeface="Segoe UI"/>
              </a:rPr>
              <a:t>6 net-new  ·  3 continue current CO5 work (Governance, CI Coverage, Qualys).  Draft numbers two items '3' (Qualys + CMDB Governance) - shown here as 3a / 3b.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55680" cy="5029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Segoe UI"/>
              </a:rPr>
              <a:t>The 6 Net-New Deliverables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603504"/>
            <a:ext cx="11155680" cy="29260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1200" b="0" i="0">
                <a:solidFill>
                  <a:srgbClr val="C9D6E6"/>
                </a:solidFill>
                <a:latin typeface="Segoe UI"/>
              </a:rPr>
              <a:t>Brand-new scope with no CO5 antecedent - mostly planned &amp; staffed at PI-3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9144000" cy="29260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Segoe UI"/>
              </a:rPr>
              <a:t>PPL CMDB-CSDM  |  CO6 Deliverables (DRAFT)  |  Team FYI  -  Jul 10, 2026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188720"/>
          <a:ext cx="1115568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4480560"/>
                <a:gridCol w="1737360"/>
                <a:gridCol w="2468880"/>
              </a:tblGrid>
              <a:tr h="587828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</a:rPr>
                        <a:t>Deliverable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</a:rPr>
                        <a:t>What it adds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</a:rPr>
                        <a:t>Due (draft)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</a:rPr>
                        <a:t>Where it stands today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587828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F3A5F"/>
                          </a:solidFill>
                          <a:latin typeface="Segoe UI"/>
                        </a:rPr>
                        <a:t>Network Gear Discovery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D2D2D"/>
                          </a:solidFill>
                          <a:latin typeface="Segoe UI"/>
                        </a:rPr>
                        <a:t>Discover &amp; populate network devices in CMDB (excl. OT); 90% coverage, business-owner validated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E6DB4"/>
                          </a:solidFill>
                          <a:latin typeface="Segoe UI"/>
                        </a:rPr>
                        <a:t>Aug 31 -&gt; Oct 30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D2D2D"/>
                          </a:solidFill>
                          <a:latin typeface="Segoe UI"/>
                        </a:rPr>
                        <a:t>Scaffolding from PI-2 Obj 1 (feat 1356646; stories 1402572/574/575) - no acceptance met yet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587828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F3A5F"/>
                          </a:solidFill>
                          <a:latin typeface="Segoe UI"/>
                        </a:rPr>
                        <a:t>Service Mapping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D2D2D"/>
                          </a:solidFill>
                          <a:latin typeface="Segoe UI"/>
                        </a:rPr>
                        <a:t>End-to-end maps for 10 priority business apps down to infra CIs; consumable in ServiceNow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E6DB4"/>
                          </a:solidFill>
                          <a:latin typeface="Segoe UI"/>
                        </a:rPr>
                        <a:t>Aug 31 -&gt; Oct 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D2D2D"/>
                          </a:solidFill>
                          <a:latin typeface="Segoe UI"/>
                        </a:rPr>
                        <a:t>Wave features 1355866/68/71 + per-app stories (WATT, Oceana, SolarWinds PoC 1431652); 10-app target is new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7828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F3A5F"/>
                          </a:solidFill>
                          <a:latin typeface="Segoe UI"/>
                        </a:rPr>
                        <a:t>Legacy Platform Rationalization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D2D2D"/>
                          </a:solidFill>
                          <a:latin typeface="Segoe UI"/>
                        </a:rPr>
                        <a:t>Analysis + migration plan: iTeam -&gt; DISCO / Cherwell -&gt; AIM (Cherwell/AIM 'if applicable')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E6DB4"/>
                          </a:solidFill>
                          <a:latin typeface="Segoe UI"/>
                        </a:rPr>
                        <a:t>Aug 31 -&gt; Oct 30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D2D2D"/>
                          </a:solidFill>
                          <a:latin typeface="Segoe UI"/>
                        </a:rPr>
                        <a:t>Only iTeam import 1452028 today - no analysis/plan stories yet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587828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F3A5F"/>
                          </a:solidFill>
                          <a:latin typeface="Segoe UI"/>
                        </a:rPr>
                        <a:t>ITSM Product Management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D2D2D"/>
                          </a:solidFill>
                          <a:latin typeface="Segoe UI"/>
                        </a:rPr>
                        <a:t>New ITSM Product Owner role + ITSM workstream (outside CMDB)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E6DB4"/>
                          </a:solidFill>
                          <a:latin typeface="Segoe UI"/>
                        </a:rPr>
                        <a:t>Monthly Jul 31 -&gt; Oct 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D2D2D"/>
                          </a:solidFill>
                          <a:latin typeface="Segoe UI"/>
                        </a:rPr>
                        <a:t>No stories; owner TBD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7828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F3A5F"/>
                          </a:solidFill>
                          <a:latin typeface="Segoe UI"/>
                        </a:rPr>
                        <a:t>ATF Strategy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D2D2D"/>
                          </a:solidFill>
                          <a:latin typeface="Segoe UI"/>
                        </a:rPr>
                        <a:t>Plan for Automated Test Framework rollout across in-prod ServiceNow capabilities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E6DB4"/>
                          </a:solidFill>
                          <a:latin typeface="Segoe UI"/>
                        </a:rPr>
                        <a:t>Oct 31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D2D2D"/>
                          </a:solidFill>
                          <a:latin typeface="Segoe UI"/>
                        </a:rPr>
                        <a:t>Greenfield - no stories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587832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F3A5F"/>
                          </a:solidFill>
                          <a:latin typeface="Segoe UI"/>
                        </a:rPr>
                        <a:t>Platform Support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D2D2D"/>
                          </a:solidFill>
                          <a:latin typeface="Segoe UI"/>
                        </a:rPr>
                        <a:t>Dedicated BAU / DevOps team; ~40 hrs of stories per week per member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E6DB4"/>
                          </a:solidFill>
                          <a:latin typeface="Segoe UI"/>
                        </a:rPr>
                        <a:t>Monthly Aug 31 -&gt; Oct 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D2D2D"/>
                          </a:solidFill>
                          <a:latin typeface="Segoe UI"/>
                        </a:rPr>
                        <a:t>No stories; team size TBD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02920" y="5440680"/>
            <a:ext cx="11155680" cy="822960"/>
          </a:xfrm>
          <a:prstGeom prst="rect">
            <a:avLst/>
          </a:prstGeom>
          <a:solidFill>
            <a:srgbClr val="FBEEDB"/>
          </a:solidFill>
          <a:ln w="9525">
            <a:solidFill>
              <a:srgbClr val="E0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5486400"/>
            <a:ext cx="10881360" cy="74980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1000" b="0" i="0">
                <a:solidFill>
                  <a:srgbClr val="5A4A2A"/>
                </a:solidFill>
                <a:latin typeface="Segoe UI"/>
              </a:rPr>
              <a:t>Net-new is not free:  ITSM PM and Platform Support are ongoing-capacity commitments (~40 hrs/wk per person), not finite deliverables - they need people, not just backlog.  #1 and #2 have story scaffolding from PI-2 objectives but no contractual acceptance met yet.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55680" cy="5029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Segoe UI"/>
              </a:rPr>
              <a:t>Continuing From CO5 - Re-Baselined &amp; Escalated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603504"/>
            <a:ext cx="11155680" cy="29260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1200" b="0" i="0">
                <a:solidFill>
                  <a:srgbClr val="C9D6E6"/>
                </a:solidFill>
                <a:latin typeface="Segoe UI"/>
              </a:rPr>
              <a:t>These continue work we're already doing, with new (later) dates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9144000" cy="29260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Segoe UI"/>
              </a:rPr>
              <a:t>PPL CMDB-CSDM  |  CO6 Deliverables (DRAFT)  |  Team FYI  -  Jul 10, 2026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188720"/>
          <a:ext cx="1115568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480560"/>
                <a:gridCol w="1463040"/>
                <a:gridCol w="3017520"/>
              </a:tblGrid>
              <a:tr h="768096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</a:rPr>
                        <a:t>Workstream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</a:rPr>
                        <a:t>What changes in CO6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</a:rPr>
                        <a:t>New date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</a:rPr>
                        <a:t>Current stories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768096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F3A5F"/>
                          </a:solidFill>
                          <a:latin typeface="Segoe UI"/>
                        </a:rPr>
                        <a:t>CMDB Governance</a:t>
                      </a:r>
                    </a:p>
                    <a:p>
                      <a:pPr algn="l"/>
                      <a:r>
                        <a:rPr sz="1000" b="1" i="0">
                          <a:solidFill>
                            <a:srgbClr val="1F3A5F"/>
                          </a:solidFill>
                          <a:latin typeface="Segoe UI"/>
                        </a:rPr>
                        <a:t>(was CO5 D1)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D2D2D"/>
                          </a:solidFill>
                          <a:latin typeface="Segoe UI"/>
                        </a:rPr>
                        <a:t>Data dictionary now includes Databases; Data Cert pilot expands from Business-App-only to ALL CI classes + KB; ESS-02; SOX BA review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E8B57"/>
                          </a:solidFill>
                          <a:latin typeface="Segoe UI"/>
                        </a:rPr>
                        <a:t>Jul 31</a:t>
                      </a:r>
                    </a:p>
                    <a:p>
                      <a:pPr algn="ctr"/>
                      <a:r>
                        <a:rPr sz="950" b="1" i="0">
                          <a:solidFill>
                            <a:srgbClr val="2E8B57"/>
                          </a:solidFill>
                          <a:latin typeface="Segoe UI"/>
                        </a:rPr>
                        <a:t>(+1 mo)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D2D2D"/>
                          </a:solidFill>
                          <a:latin typeface="Segoe UI"/>
                        </a:rPr>
                        <a:t>Data Cert 1247179 / 1402727 / 1402958 ; ESS-02 spike 1420244 ; SOX 1438967 / 1455827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768096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F3A5F"/>
                          </a:solidFill>
                          <a:latin typeface="Segoe UI"/>
                        </a:rPr>
                        <a:t>CI Coverage - Computers</a:t>
                      </a:r>
                    </a:p>
                    <a:p>
                      <a:pPr algn="l"/>
                      <a:r>
                        <a:rPr sz="1000" b="1" i="0">
                          <a:solidFill>
                            <a:srgbClr val="1F3A5F"/>
                          </a:solidFill>
                          <a:latin typeface="Segoe UI"/>
                        </a:rPr>
                        <a:t>(was CO5 D2.1)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D2D2D"/>
                          </a:solidFill>
                          <a:latin typeface="Segoe UI"/>
                        </a:rPr>
                        <a:t>SCCM/Discovery precedence + bulk life-cycle; 90% of devices managed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E8B57"/>
                          </a:solidFill>
                          <a:latin typeface="Segoe UI"/>
                        </a:rPr>
                        <a:t>Jul 31 -&gt;</a:t>
                      </a:r>
                    </a:p>
                    <a:p>
                      <a:pPr algn="ctr"/>
                      <a:r>
                        <a:rPr sz="950" b="1" i="0">
                          <a:solidFill>
                            <a:srgbClr val="2E8B57"/>
                          </a:solidFill>
                          <a:latin typeface="Segoe UI"/>
                        </a:rPr>
                        <a:t>Sep 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D2D2D"/>
                          </a:solidFill>
                          <a:latin typeface="Segoe UI"/>
                        </a:rPr>
                        <a:t>SCCM Computer 1348712/16/17/15 ; Computer Class 1354794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F3A5F"/>
                          </a:solidFill>
                          <a:latin typeface="Segoe UI"/>
                        </a:rPr>
                        <a:t>CI Coverage - Servers</a:t>
                      </a:r>
                    </a:p>
                    <a:p>
                      <a:pPr algn="l"/>
                      <a:r>
                        <a:rPr sz="1000" b="1" i="0">
                          <a:solidFill>
                            <a:srgbClr val="1F3A5F"/>
                          </a:solidFill>
                          <a:latin typeface="Segoe UI"/>
                        </a:rPr>
                        <a:t>(was CO5 D2.2/2.3)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D2D2D"/>
                          </a:solidFill>
                          <a:latin typeface="Segoe UI"/>
                        </a:rPr>
                        <a:t>SCCM/Discovery precedence; enhanced DB Discovery (MS-SQL / Oracle); 90% of non-NERC-CIP servers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E8B57"/>
                          </a:solidFill>
                          <a:latin typeface="Segoe UI"/>
                        </a:rPr>
                        <a:t>Jul 31 -&gt;</a:t>
                      </a:r>
                    </a:p>
                    <a:p>
                      <a:pPr algn="ctr"/>
                      <a:r>
                        <a:rPr sz="950" b="1" i="0">
                          <a:solidFill>
                            <a:srgbClr val="2E8B57"/>
                          </a:solidFill>
                          <a:latin typeface="Segoe UI"/>
                        </a:rPr>
                        <a:t>Oct 30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D2D2D"/>
                          </a:solidFill>
                          <a:latin typeface="Segoe UI"/>
                        </a:rPr>
                        <a:t>SCCM Server 1356826 (1403759/60/62/63) ; creds 1444864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768096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F3A5F"/>
                          </a:solidFill>
                          <a:latin typeface="Segoe UI"/>
                        </a:rPr>
                        <a:t>Qualys Integration</a:t>
                      </a:r>
                    </a:p>
                    <a:p>
                      <a:pPr algn="l"/>
                      <a:r>
                        <a:rPr sz="1000" b="1" i="0">
                          <a:solidFill>
                            <a:srgbClr val="1F3A5F"/>
                          </a:solidFill>
                          <a:latin typeface="Segoe UI"/>
                        </a:rPr>
                        <a:t>(was CO5 D3)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D2D2D"/>
                          </a:solidFill>
                          <a:latin typeface="Segoe UI"/>
                        </a:rPr>
                        <a:t>Escalates from 'evaluate one integration' to a full one-way Qualys -&gt; ServiceNow feed, deployed to PROD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E8B57"/>
                          </a:solidFill>
                          <a:latin typeface="Segoe UI"/>
                        </a:rPr>
                        <a:t>Oct 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D2D2D"/>
                          </a:solidFill>
                          <a:latin typeface="Segoe UI"/>
                        </a:rPr>
                        <a:t>Stream C 1428703 / 1428704 (currently blocked) ; spike 1234585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02920" y="5212080"/>
            <a:ext cx="11155680" cy="1005840"/>
          </a:xfrm>
          <a:prstGeom prst="rect">
            <a:avLst/>
          </a:prstGeom>
          <a:solidFill>
            <a:srgbClr val="E6F3EC"/>
          </a:solidFill>
          <a:ln w="9525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5285232"/>
            <a:ext cx="10881360" cy="896112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1000" b="0" i="0">
                <a:solidFill>
                  <a:srgbClr val="1E5A38"/>
                </a:solidFill>
                <a:latin typeface="Segoe UI"/>
              </a:rPr>
              <a:t>The hard 90% coverage targets get real PI-3 runway (Sep 30 / Oct 30) instead of a single 6/30 cliff.  Foundation work (Governance, precedence) is dated Jul 31 - it lands in PI-2 Iter 2.5/2.6, so it needs to be substantially done by early PI-2 end, not 'sometime in July.'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55680" cy="5029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Segoe UI"/>
              </a:rPr>
              <a:t>CO6 Timeline - Where It Lands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603504"/>
            <a:ext cx="11155680" cy="29260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1200" b="0" i="0">
                <a:solidFill>
                  <a:srgbClr val="C9D6E6"/>
                </a:solidFill>
                <a:latin typeface="Segoe UI"/>
              </a:rPr>
              <a:t>Spans the tail of PI-2 + all of PI-3  ·  staged monthly acceptance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9144000" cy="29260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Segoe UI"/>
              </a:rPr>
              <a:t>PPL CMDB-CSDM  |  CO6 Deliverables (DRAFT)  |  Team FYI  -  Jul 10,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1828800" y="1188720"/>
            <a:ext cx="12700" cy="1417320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54480" y="2624328"/>
            <a:ext cx="548640" cy="2286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  <a:latin typeface="Segoe UI"/>
              </a:rPr>
              <a:t>Jun</a:t>
            </a:r>
          </a:p>
        </p:txBody>
      </p:sp>
      <p:sp>
        <p:nvSpPr>
          <p:cNvPr id="9" name="Rectangle 8"/>
          <p:cNvSpPr/>
          <p:nvPr/>
        </p:nvSpPr>
        <p:spPr>
          <a:xfrm>
            <a:off x="3767328" y="1188720"/>
            <a:ext cx="12700" cy="1417320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93008" y="2624328"/>
            <a:ext cx="548640" cy="2286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  <a:latin typeface="Segoe UI"/>
              </a:rPr>
              <a:t>Jul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05856" y="1188720"/>
            <a:ext cx="12700" cy="1417320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31536" y="2624328"/>
            <a:ext cx="548640" cy="2286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  <a:latin typeface="Segoe UI"/>
              </a:rPr>
              <a:t>Aug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44383" y="1188720"/>
            <a:ext cx="12700" cy="1417320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70063" y="2624328"/>
            <a:ext cx="548640" cy="2286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  <a:latin typeface="Segoe UI"/>
              </a:rPr>
              <a:t>Sep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582912" y="1188720"/>
            <a:ext cx="12700" cy="1417320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08592" y="2624328"/>
            <a:ext cx="548640" cy="2286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  <a:latin typeface="Segoe UI"/>
              </a:rPr>
              <a:t>Oct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521440" y="1188720"/>
            <a:ext cx="12700" cy="1417320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247120" y="2624328"/>
            <a:ext cx="548640" cy="2286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  <a:latin typeface="Segoe UI"/>
              </a:rPr>
              <a:t>Nov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1188720"/>
            <a:ext cx="1280160" cy="14173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900" b="1" i="0">
                <a:solidFill>
                  <a:srgbClr val="6B7280"/>
                </a:solidFill>
                <a:latin typeface="Segoe UI"/>
              </a:rPr>
              <a:t>Contract /</a:t>
            </a:r>
          </a:p>
          <a:p>
            <a:pPr algn="l"/>
            <a:r>
              <a:rPr sz="900" b="1" i="0">
                <a:solidFill>
                  <a:srgbClr val="6B7280"/>
                </a:solidFill>
                <a:latin typeface="Segoe UI"/>
              </a:rPr>
              <a:t>PI window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828800" y="1243584"/>
            <a:ext cx="1874556" cy="274320"/>
          </a:xfrm>
          <a:prstGeom prst="rect">
            <a:avLst/>
          </a:prstGeom>
          <a:solidFill>
            <a:srgbClr val="8A9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901952" y="1243584"/>
            <a:ext cx="1764828" cy="2743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Segoe UI"/>
              </a:rPr>
              <a:t>CO5 (ends Jun 30)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767328" y="1586484"/>
            <a:ext cx="7628107" cy="274320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40480" y="1586484"/>
            <a:ext cx="7518379" cy="2743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Segoe UI"/>
              </a:rPr>
              <a:t>CO6   Jul 1 - Oct 30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28800" y="1929384"/>
            <a:ext cx="4065093" cy="274320"/>
          </a:xfrm>
          <a:prstGeom prst="rect">
            <a:avLst/>
          </a:prstGeom>
          <a:solidFill>
            <a:srgbClr val="6E8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01952" y="1929384"/>
            <a:ext cx="3955365" cy="2743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Segoe UI"/>
              </a:rPr>
              <a:t>PI-2  (-&gt; Aug 4)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55926" y="2272284"/>
            <a:ext cx="5253410" cy="27432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29078" y="2272284"/>
            <a:ext cx="5143682" cy="2743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Segoe UI"/>
              </a:rPr>
              <a:t>PI-3  Aug 5 - Oct 27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502920" y="3154680"/>
          <a:ext cx="111556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7223760"/>
                <a:gridCol w="2560320"/>
              </a:tblGrid>
              <a:tr h="342900"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</a:rPr>
                        <a:t>When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</a:rPr>
                        <a:t>What's due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</a:rPr>
                        <a:t>Lands in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1F3A5F"/>
                          </a:solidFill>
                          <a:latin typeface="Segoe UI"/>
                        </a:rPr>
                        <a:t>Jul 31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D2D2D"/>
                          </a:solidFill>
                          <a:latin typeface="Segoe UI"/>
                        </a:rPr>
                        <a:t>CMDB Governance (data dictionary incl. Databases; Data Cert all CI classes; ESS-02; SOX)  ·  CI Coverage foundation (Computers &amp; Servers precedence)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E6DB4"/>
                          </a:solidFill>
                          <a:latin typeface="Segoe UI"/>
                        </a:rPr>
                        <a:t>PI-2 Iter 2.5 / 2.6 (IP)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1F3A5F"/>
                          </a:solidFill>
                          <a:latin typeface="Segoe UI"/>
                        </a:rPr>
                        <a:t>Aug 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D2D2D"/>
                          </a:solidFill>
                          <a:latin typeface="Segoe UI"/>
                        </a:rPr>
                        <a:t>Network Gear (creds &amp; schedules)  ·  Service Mapping (initial maps)  ·  Legacy Platform (analysis) - staged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E6DB4"/>
                          </a:solidFill>
                          <a:latin typeface="Segoe UI"/>
                        </a:rPr>
                        <a:t>PI-3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1F3A5F"/>
                          </a:solidFill>
                          <a:latin typeface="Segoe UI"/>
                        </a:rPr>
                        <a:t>Sep 30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D2D2D"/>
                          </a:solidFill>
                          <a:latin typeface="Segoe UI"/>
                        </a:rPr>
                        <a:t>CI Coverage - Computers 90% managed  ·  Network Gear mandatory attributes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E6DB4"/>
                          </a:solidFill>
                          <a:latin typeface="Segoe UI"/>
                        </a:rPr>
                        <a:t>PI-3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1F3A5F"/>
                          </a:solidFill>
                          <a:latin typeface="Segoe UI"/>
                        </a:rPr>
                        <a:t>Oct 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D2D2D"/>
                          </a:solidFill>
                          <a:latin typeface="Segoe UI"/>
                        </a:rPr>
                        <a:t>Qualys -&gt; ServiceNow live in PROD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E6DB4"/>
                          </a:solidFill>
                          <a:latin typeface="Segoe UI"/>
                        </a:rPr>
                        <a:t>PI-3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1F3A5F"/>
                          </a:solidFill>
                          <a:latin typeface="Segoe UI"/>
                        </a:rPr>
                        <a:t>Oct 30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D2D2D"/>
                          </a:solidFill>
                          <a:latin typeface="Segoe UI"/>
                        </a:rPr>
                        <a:t>CI Coverage - Servers 90%  ·  Network Gear 90%  ·  Service Mapping (10 apps)  ·  Legacy Platform (migration plan)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E6DB4"/>
                          </a:solidFill>
                          <a:latin typeface="Segoe UI"/>
                        </a:rPr>
                        <a:t>PI-3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1F3A5F"/>
                          </a:solidFill>
                          <a:latin typeface="Segoe UI"/>
                        </a:rPr>
                        <a:t>Oct 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D2D2D"/>
                          </a:solidFill>
                          <a:latin typeface="Segoe UI"/>
                        </a:rPr>
                        <a:t>ATF Strategy (rollout plan)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E6DB4"/>
                          </a:solidFill>
                          <a:latin typeface="Segoe UI"/>
                        </a:rPr>
                        <a:t>PI-3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1F3A5F"/>
                          </a:solidFill>
                          <a:latin typeface="Segoe UI"/>
                        </a:rPr>
                        <a:t>Ongoing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D2D2D"/>
                          </a:solidFill>
                          <a:latin typeface="Segoe UI"/>
                        </a:rPr>
                        <a:t>ITSM Product Management &amp; Platform Support - monthly acceptance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E6DB4"/>
                          </a:solidFill>
                          <a:latin typeface="Segoe UI"/>
                        </a:rPr>
                        <a:t>PI-2 tail -&gt; PI-3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55680" cy="5029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Segoe UI"/>
              </a:rPr>
              <a:t>What This Means for 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603504"/>
            <a:ext cx="11155680" cy="29260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1200" b="0" i="0">
                <a:solidFill>
                  <a:srgbClr val="C9D6E6"/>
                </a:solidFill>
                <a:latin typeface="Segoe UI"/>
              </a:rPr>
              <a:t>FYI - nothing here is committed until CO6 is signed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9144000" cy="29260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Segoe UI"/>
              </a:rPr>
              <a:t>PPL CMDB-CSDM  |  CO6 Deliverables (DRAFT)  |  Team FYI  -  Jul 10,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16736"/>
            <a:ext cx="109728" cy="566928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280160"/>
            <a:ext cx="10881360" cy="29260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Segoe UI"/>
              </a:rPr>
              <a:t>Draft only - nothing committed yet.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591056"/>
            <a:ext cx="1088136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00" b="0" i="0">
                <a:solidFill>
                  <a:srgbClr val="2D2D2D"/>
                </a:solidFill>
                <a:latin typeface="Segoe UI"/>
              </a:rPr>
              <a:t>CO6 is unsigned (3/27 draft). Treat scope and dates as tentative; our current commitments don't change until it's executed.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157984"/>
            <a:ext cx="109728" cy="566928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121408"/>
            <a:ext cx="10881360" cy="29260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Segoe UI"/>
              </a:rPr>
              <a:t>Most of it is work we're already doing.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432303"/>
            <a:ext cx="1088136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00" b="0" i="0">
                <a:solidFill>
                  <a:srgbClr val="2D2D2D"/>
                </a:solidFill>
                <a:latin typeface="Segoe UI"/>
              </a:rPr>
              <a:t>Governance, CI Coverage (Computers/Servers), Service Mapping and Network Gear are the same threads you're on now - CO6 just formalizes them with dates.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999232"/>
            <a:ext cx="109728" cy="566928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2962656"/>
            <a:ext cx="10881360" cy="29260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Segoe UI"/>
              </a:rPr>
              <a:t>Four things are brand new for PI-3 planning.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273551"/>
            <a:ext cx="1088136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00" b="0" i="0">
                <a:solidFill>
                  <a:srgbClr val="2D2D2D"/>
                </a:solidFill>
                <a:latin typeface="Segoe UI"/>
              </a:rPr>
              <a:t>Legacy Platform Rationalization, ITSM Product Management, ATF Strategy and Platform Support - we'll story-out and staff these at PI-3 planning.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840480"/>
            <a:ext cx="109728" cy="566928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3803904"/>
            <a:ext cx="10881360" cy="29260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Segoe UI"/>
              </a:rPr>
              <a:t>Two are standing commitments, not projects.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4114800"/>
            <a:ext cx="1088136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00" b="0" i="0">
                <a:solidFill>
                  <a:srgbClr val="2D2D2D"/>
                </a:solidFill>
                <a:latin typeface="Segoe UI"/>
              </a:rPr>
              <a:t>ITSM PM and Platform Support (BAU) are ongoing capacity (~40 hrs/wk per person) - they need people assigned, not just a backlog.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681728"/>
            <a:ext cx="109728" cy="566928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4645152"/>
            <a:ext cx="10881360" cy="29260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Segoe UI"/>
              </a:rPr>
              <a:t>The hard coverage targets get real runway.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4956048"/>
            <a:ext cx="1088136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00" b="0" i="0">
                <a:solidFill>
                  <a:srgbClr val="2D2D2D"/>
                </a:solidFill>
                <a:latin typeface="Segoe UI"/>
              </a:rPr>
              <a:t>90% coverage moves to Sep 30 / Oct 30 in PI-3 - no single 6/30 cliff.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5522976"/>
            <a:ext cx="109728" cy="566928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" y="5486400"/>
            <a:ext cx="10881360" cy="29260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Segoe UI"/>
              </a:rPr>
              <a:t>Questions?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" y="5797296"/>
            <a:ext cx="1088136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00" b="0" i="0">
                <a:solidFill>
                  <a:srgbClr val="2D2D2D"/>
                </a:solidFill>
                <a:latin typeface="Segoe UI"/>
              </a:rPr>
              <a:t>Source is the 3/27 draft. Jordan Yung is the CO6 SME; Joe Dames owns governance scope. Flag anything unclear to Manny.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