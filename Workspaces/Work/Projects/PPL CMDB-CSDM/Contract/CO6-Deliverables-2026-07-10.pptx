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CO6 Deliverables - Team Focus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651760"/>
            <a:ext cx="10698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000" b="0" i="0">
                <a:solidFill>
                  <a:srgbClr val="C9D6E6"/>
                </a:solidFill>
                <a:latin typeface="Segoe UI"/>
              </a:rPr>
              <a:t>Deliverables, dates &amp; where to focus  ·  for Development + supporting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4343400"/>
            <a:ext cx="10698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What we deliver, by when, and where to focus</a:t>
            </a:r>
          </a:p>
          <a:p>
            <a:pPr algn="l"/>
            <a:r>
              <a:rPr sz="1400" b="0" i="0">
                <a:solidFill>
                  <a:srgbClr val="C9D6E6"/>
                </a:solidFill>
                <a:latin typeface="Segoe UI"/>
              </a:rPr>
              <a:t>Delivery window: Jul 1 - Oct 30, 2026  (tail of PI-2 + all of PI-3)</a:t>
            </a:r>
          </a:p>
          <a:p>
            <a:pPr algn="l"/>
            <a:r>
              <a:rPr sz="1200" b="0" i="0">
                <a:solidFill>
                  <a:srgbClr val="9FB2CC"/>
                </a:solidFill>
                <a:latin typeface="Segoe UI"/>
              </a:rPr>
              <a:t>Manuel Vazquez  -  Scrum Master, CMDB-CSDM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989320"/>
            <a:ext cx="1069848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1">
                <a:solidFill>
                  <a:srgbClr val="7F8CA6"/>
                </a:solidFill>
                <a:latin typeface="Segoe UI"/>
              </a:rPr>
              <a:t>Planning view - dates &amp; scope firm up at PI-3 planning.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Deliverables &amp; 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Ordered by due date - soonest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80160"/>
          <a:ext cx="11155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822960"/>
                <a:gridCol w="5760720"/>
              </a:tblGrid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Deliverable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Due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PI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What we focus 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CMDB Governance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Jul 31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Data dictionary incl. Databases; Data Certification for ALL CI classes + KB articles; ESS-02; SOX BA review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CI Coverage - Computers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Jul 31 -&gt; Sep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PI-2/3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SCCM/Discovery precedence + bulk life-cycle; 90% of devices managed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CI Coverage - Servers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Jul 31 -&gt; Oct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PI-2/3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SCCM/Discovery precedence; enhanced DB Discovery (MS-SQL/Oracle); 90% of non-NERC-CIP servers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Network Gear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Aug 31 -&gt; Oct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Credentials / SNMP (excl. OT); discovery schedules; mandatory attributes; 90% coverage, owner-validated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Service Mapping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Aug 31 -&gt; Oct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End-to-end maps for 10 priority apps down to infra CIs; owner-validated; consumable in ServiceNow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Legacy Platform Rationalization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Aug 31 -&gt; Oct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Analysis + migration plan: iTeam -&gt; DISCO / Cherwell -&gt; AIM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Qualys Integration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Oct 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One-way Qualys -&gt; ServiceNow feed; configured, tested, deployed to PROD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ATF Strategy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Oct 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Plan for Automated Test Framework rollout across in-prod ServiceNow capabilities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6B7280"/>
                          </a:solidFill>
                          <a:latin typeface="Segoe UI"/>
                        </a:rPr>
                        <a:t>ITSM Product Management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6B7280"/>
                          </a:solidFill>
                          <a:latin typeface="Segoe UI"/>
                        </a:rPr>
                        <a:t>Monthly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PI-2/3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6B7280"/>
                          </a:solidFill>
                          <a:latin typeface="Segoe UI"/>
                        </a:rPr>
                        <a:t>Separate ITSM lane (Product Owner role) - outside core CMDB delivery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907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6B7280"/>
                          </a:solidFill>
                          <a:latin typeface="Segoe UI"/>
                        </a:rPr>
                        <a:t>Platform Support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6B7280"/>
                          </a:solidFill>
                          <a:latin typeface="Segoe UI"/>
                        </a:rPr>
                        <a:t>Monthly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6B7280"/>
                          </a:solidFill>
                          <a:latin typeface="Segoe UI"/>
                        </a:rPr>
                        <a:t>Standing BAU / DevOps support - ongoing capacity, not a finite deliverable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715000"/>
            <a:ext cx="111556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Ordered by due date.  Bottom two are standing PO / BAU lanes - separate from core CMDB delivery.  Planning view - dates &amp; scope firm up at PI-3 planning.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CMDB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Due Jul 31   ·   PI-2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solidFill>
            <a:srgbClr val="E9F0F8"/>
          </a:solidFill>
          <a:ln w="952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33856"/>
            <a:ext cx="10881360" cy="42062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F3A5F"/>
                </a:solidFill>
                <a:latin typeface="Segoe UI"/>
              </a:rPr>
              <a:t>Governance foundation: data dictionary, data certification, ESS-02, and SOX Business App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Done when (acceptance)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Class attributes / data dictionary defined for all in-scope CI classes, incl. Databases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Data Certification live for ALL CI classes (not just Business Apps), with KB articles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ESS-02 alignment with Cyber Security &amp; Compliance addressed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SOX Business Apps correctly identified with update-rights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Scope</a:t>
            </a:r>
          </a:p>
          <a:p>
            <a:pPr algn="l"/>
            <a:r>
              <a:rPr sz="1050" b="1" i="0">
                <a:solidFill>
                  <a:srgbClr val="2E8B57"/>
                </a:solidFill>
                <a:latin typeface="Segoe UI"/>
              </a:rPr>
              <a:t>In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Servers, Computers, Business Apps, Databases data dictionary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Data Cert: process, intake, pilot, KB articles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ESS-02 policy / CMDB alignment; SOX BA identification + access governance</a:t>
            </a:r>
          </a:p>
          <a:p>
            <a:pPr algn="l"/>
            <a:r>
              <a:rPr sz="1050" b="1" i="0">
                <a:solidFill>
                  <a:srgbClr val="C0392B"/>
                </a:solidFill>
                <a:latin typeface="Segoe UI"/>
              </a:rPr>
              <a:t>Out of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NERC / CIP compliance indicators (separate stream)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14800"/>
            <a:ext cx="11155680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10881360" cy="116128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Segoe UI"/>
              </a:rPr>
              <a:t>Current stories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Data Cert: 1247179 pilot  ·  1402727 dashboard (PROD)  ·  1402958 planning  ·  1435307 pilot changes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ESS-02: spike 1420244 (analysis)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SOX: 1438967 (closed)  ·  1455827 ownership-change notify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Databases data dictionary - no story yet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413248"/>
            <a:ext cx="11155680" cy="896112"/>
          </a:xfrm>
          <a:prstGeom prst="rect">
            <a:avLst/>
          </a:prstGeom>
          <a:solidFill>
            <a:srgbClr val="FBEEDB"/>
          </a:solidFill>
          <a:ln w="952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449824"/>
            <a:ext cx="108813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7A4F10"/>
                </a:solidFill>
                <a:latin typeface="Segoe UI"/>
              </a:rPr>
              <a:t>Watch-outs / dependencies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Databases class has no data-dictionary story yet - needs creating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KB / user-doc articles have no owner - confirm before sign-off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SOX only - NERC / CIP explicitly excluded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CI Coverage - Computers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Due Jul 31 -&gt; Sep 30   ·   PI-2 / PI-3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solidFill>
            <a:srgbClr val="E9F0F8"/>
          </a:solidFill>
          <a:ln w="952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33856"/>
            <a:ext cx="10881360" cy="42062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F3A5F"/>
                </a:solidFill>
                <a:latin typeface="Segoe UI"/>
              </a:rPr>
              <a:t>SCCM/Discovery precedence, bulk life-cycle, and 90% of computers managed.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Done when (acceptance)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SCCM/Discovery data precedence reconciled and applied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Bulk Life Cycle Stage &amp; Status updates applied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90% of computer devices managed (coverage validated)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Scope</a:t>
            </a:r>
          </a:p>
          <a:p>
            <a:pPr algn="l"/>
            <a:r>
              <a:rPr sz="1050" b="1" i="0">
                <a:solidFill>
                  <a:srgbClr val="2E8B57"/>
                </a:solidFill>
                <a:latin typeface="Segoe UI"/>
              </a:rPr>
              <a:t>In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Physical + virtual computers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Precedence reconciliation; bulk life-cycle; coverage measurement</a:t>
            </a:r>
          </a:p>
          <a:p>
            <a:pPr algn="l"/>
            <a:r>
              <a:rPr sz="1050" b="1" i="0">
                <a:solidFill>
                  <a:srgbClr val="C0392B"/>
                </a:solidFill>
                <a:latin typeface="Segoe UI"/>
              </a:rPr>
              <a:t>Out of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Life-cycle process definition (owned by Asset Management)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14800"/>
            <a:ext cx="11155680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10881360" cy="116128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Segoe UI"/>
              </a:rPr>
              <a:t>Current stories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SCCM Computer: 1348712 / 16 / 17 (resolved)  ·  1348715 last-seen (validation)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Computer Class 1354794  ·  1402790 retired lifecycle (closed)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90% coverage measurement - no story yet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413248"/>
            <a:ext cx="11155680" cy="896112"/>
          </a:xfrm>
          <a:prstGeom prst="rect">
            <a:avLst/>
          </a:prstGeom>
          <a:solidFill>
            <a:srgbClr val="FBEEDB"/>
          </a:solidFill>
          <a:ln w="952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449824"/>
            <a:ext cx="108813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7A4F10"/>
                </a:solidFill>
                <a:latin typeface="Segoe UI"/>
              </a:rPr>
              <a:t>Watch-outs / dependencies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90% coverage has no measurement story - stand it up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Life-cycle process depends on the Asset Management team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Only on-network devices discovered - hard to prove the physical-device total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CI Coverage - Servers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Due Jul 31 -&gt; Oct 30   ·   PI-2 / PI-3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solidFill>
            <a:srgbClr val="E9F0F8"/>
          </a:solidFill>
          <a:ln w="952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33856"/>
            <a:ext cx="10881360" cy="42062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F3A5F"/>
                </a:solidFill>
                <a:latin typeface="Segoe UI"/>
              </a:rPr>
              <a:t>Server precedence, enhanced MS-SQL / Oracle discovery, and 90% of non-NERC-CIP servers.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Done when (acceptance)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SCCM/Discovery precedence reconciled and applied for servers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Enhanced Discovery working for MS-SQL &amp; Oracle databases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90% of non-NERC-CIP servers discovered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Scope</a:t>
            </a:r>
          </a:p>
          <a:p>
            <a:pPr algn="l"/>
            <a:r>
              <a:rPr sz="1050" b="1" i="0">
                <a:solidFill>
                  <a:srgbClr val="2E8B57"/>
                </a:solidFill>
                <a:latin typeface="Segoe UI"/>
              </a:rPr>
              <a:t>In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Server precedence; MS-SQL / Oracle discovery; coverage measurement</a:t>
            </a:r>
          </a:p>
          <a:p>
            <a:pPr algn="l"/>
            <a:r>
              <a:rPr sz="1050" b="1" i="0">
                <a:solidFill>
                  <a:srgbClr val="C0392B"/>
                </a:solidFill>
                <a:latin typeface="Segoe UI"/>
              </a:rPr>
              <a:t>Out of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SOX indicators (manually maintained - excluded from automation)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NERC / CIP servers (excluded from the 90% target)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14800"/>
            <a:ext cx="11155680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10881360" cy="116128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Segoe UI"/>
              </a:rPr>
              <a:t>Current stories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SCCM Server 1356826 (1403759 / 60 / 62 / 63 - validation)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Credentials 1444864 (validation; child tasks active)  ·  1459721 SNMP / MID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90% coverage measurement - no story yet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413248"/>
            <a:ext cx="11155680" cy="896112"/>
          </a:xfrm>
          <a:prstGeom prst="rect">
            <a:avLst/>
          </a:prstGeom>
          <a:solidFill>
            <a:srgbClr val="FBEEDB"/>
          </a:solidFill>
          <a:ln w="952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449824"/>
            <a:ext cx="108813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7A4F10"/>
                </a:solidFill>
                <a:latin typeface="Segoe UI"/>
              </a:rPr>
              <a:t>Watch-outs / dependencies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Credential distribution to target CIs - no scalable solution yet (gates servers + DBs)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SCCM precedence has no full field-by-field map - rework risk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90% coverage has no measurement story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Network Gear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Due Aug 31 -&gt; Oct 30   ·   PI-3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solidFill>
            <a:srgbClr val="E9F0F8"/>
          </a:solidFill>
          <a:ln w="952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33856"/>
            <a:ext cx="10881360" cy="42062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F3A5F"/>
                </a:solidFill>
                <a:latin typeface="Segoe UI"/>
              </a:rPr>
              <a:t>Discover and populate network devices in the CMDB, to 90% coverage.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Done when (acceptance)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Credentials configured &amp; validated (excluding OT)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Discovery schedules active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Mandatory attributes populated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90% coverage, business-owner validated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Scope</a:t>
            </a:r>
          </a:p>
          <a:p>
            <a:pPr algn="l"/>
            <a:r>
              <a:rPr sz="1050" b="1" i="0">
                <a:solidFill>
                  <a:srgbClr val="2E8B57"/>
                </a:solidFill>
                <a:latin typeface="Segoe UI"/>
              </a:rPr>
              <a:t>In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Network gear: credentials / SNMP, schedules, attributes, coverage</a:t>
            </a:r>
          </a:p>
          <a:p>
            <a:pPr algn="l"/>
            <a:r>
              <a:rPr sz="1050" b="1" i="0">
                <a:solidFill>
                  <a:srgbClr val="C0392B"/>
                </a:solidFill>
                <a:latin typeface="Segoe UI"/>
              </a:rPr>
              <a:t>Out of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OT (operational technology) devices - explicitly excluded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14800"/>
            <a:ext cx="11155680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10881360" cy="116128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Segoe UI"/>
              </a:rPr>
              <a:t>Current stories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1356646 Network Device Coverage (feature)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1402572 / 574 / 575 discovery config + rerun  ·  1402555 / 1402559 spikes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Creds 1444864 / 1459721  ·  stakeholder dependency 1383487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413248"/>
            <a:ext cx="11155680" cy="896112"/>
          </a:xfrm>
          <a:prstGeom prst="rect">
            <a:avLst/>
          </a:prstGeom>
          <a:solidFill>
            <a:srgbClr val="FBEEDB"/>
          </a:solidFill>
          <a:ln w="952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449824"/>
            <a:ext cx="108813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7A4F10"/>
                </a:solidFill>
                <a:latin typeface="Segoe UI"/>
              </a:rPr>
              <a:t>Watch-outs / dependencies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OT boundary - confirm with stakeholders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Stakeholder requirements (1383487) still open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Shares credential work with servers / databases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Service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Due Aug 31 -&gt; Oct 30   ·   PI-3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solidFill>
            <a:srgbClr val="E9F0F8"/>
          </a:solidFill>
          <a:ln w="952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33856"/>
            <a:ext cx="10881360" cy="42062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F3A5F"/>
                </a:solidFill>
                <a:latin typeface="Segoe UI"/>
              </a:rPr>
              <a:t>End-to-end maps for 10 priority business apps down to infrastructure CIs.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Done when (acceptance)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Service maps built for 10 priority business apps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Maps validated by application owners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Maps consumable in ServiceNow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Scope</a:t>
            </a:r>
          </a:p>
          <a:p>
            <a:pPr algn="l"/>
            <a:r>
              <a:rPr sz="1050" b="1" i="0">
                <a:solidFill>
                  <a:srgbClr val="2E8B57"/>
                </a:solidFill>
                <a:latin typeface="Segoe UI"/>
              </a:rPr>
              <a:t>In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The 10 priority apps; app -&gt; infra mapping; owner validation</a:t>
            </a:r>
          </a:p>
          <a:p>
            <a:pPr algn="l"/>
            <a:r>
              <a:rPr sz="1050" b="1" i="0">
                <a:solidFill>
                  <a:srgbClr val="C0392B"/>
                </a:solidFill>
                <a:latin typeface="Segoe UI"/>
              </a:rPr>
              <a:t>Out of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Apps beyond the 10 priority 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14800"/>
            <a:ext cx="11155680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10881360" cy="116128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Segoe UI"/>
              </a:rPr>
              <a:t>Current stories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Wave features 1355866 / 1355868 / 1355871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Per-app: WATT  ·  Oceana  ·  SolarWinds PoC 1431652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413248"/>
            <a:ext cx="11155680" cy="896112"/>
          </a:xfrm>
          <a:prstGeom prst="rect">
            <a:avLst/>
          </a:prstGeom>
          <a:solidFill>
            <a:srgbClr val="FBEEDB"/>
          </a:solidFill>
          <a:ln w="952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449824"/>
            <a:ext cx="108813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7A4F10"/>
                </a:solidFill>
                <a:latin typeface="Segoe UI"/>
              </a:rPr>
              <a:t>Watch-outs / dependencies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App-owner validation is the gating dependency - need named owners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Choose the 10 apps deliberately - it's a fixed acceptance bar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Infra / credential access can stall mapping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Legacy Platform Rationalization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Due Aug 31 -&gt; Oct 30   ·   PI-3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solidFill>
            <a:srgbClr val="E9F0F8"/>
          </a:solidFill>
          <a:ln w="952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33856"/>
            <a:ext cx="10881360" cy="42062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F3A5F"/>
                </a:solidFill>
                <a:latin typeface="Segoe UI"/>
              </a:rPr>
              <a:t>Analysis and migration plan for legacy data sources into the CMDB.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Done when (acceptance)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Analysis complete for iTeam -&gt; DISCO / Cherwell -&gt; AIM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Migration plan produced (Cherwell / AIM only if applicable at PI-3 planning)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Scope</a:t>
            </a:r>
          </a:p>
          <a:p>
            <a:pPr algn="l"/>
            <a:r>
              <a:rPr sz="1050" b="1" i="0">
                <a:solidFill>
                  <a:srgbClr val="2E8B57"/>
                </a:solidFill>
                <a:latin typeface="Segoe UI"/>
              </a:rPr>
              <a:t>In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iTeam import / migration; analysis of DISCO / Cherwell / AIM</a:t>
            </a:r>
          </a:p>
          <a:p>
            <a:pPr algn="l"/>
            <a:r>
              <a:rPr sz="1050" b="1" i="0">
                <a:solidFill>
                  <a:srgbClr val="C0392B"/>
                </a:solidFill>
                <a:latin typeface="Segoe UI"/>
              </a:rPr>
              <a:t>Out of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Cherwell / AIM execution unless confirmed applicable at PI-3 planning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14800"/>
            <a:ext cx="11155680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10881360" cy="116128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Segoe UI"/>
              </a:rPr>
              <a:t>Current stories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iTeam import 1452028 (only current story)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Analysis / migration-plan stories - not created yet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413248"/>
            <a:ext cx="11155680" cy="896112"/>
          </a:xfrm>
          <a:prstGeom prst="rect">
            <a:avLst/>
          </a:prstGeom>
          <a:solidFill>
            <a:srgbClr val="FBEEDB"/>
          </a:solidFill>
          <a:ln w="952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449824"/>
            <a:ext cx="108813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7A4F10"/>
                </a:solidFill>
                <a:latin typeface="Segoe UI"/>
              </a:rPr>
              <a:t>Watch-outs / dependencies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Greenfield - scope the analysis / plan stories at PI-3 planning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Ties to the ~450-server application-to-server gap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Cherwell / AIM applicability decided at PI-3 planning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Qualys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Due Oct 27   ·   PI-3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solidFill>
            <a:srgbClr val="E9F0F8"/>
          </a:solidFill>
          <a:ln w="952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33856"/>
            <a:ext cx="10881360" cy="42062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F3A5F"/>
                </a:solidFill>
                <a:latin typeface="Segoe UI"/>
              </a:rPr>
              <a:t>One-way Qualys -&gt; ServiceNow vulnerability feed, deployed to PROD.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Done when (acceptance)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One-way Qualys -&gt; ServiceNow integration configured &amp; tested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Deployed to PROD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Vulnerability data ingests on schedule, no data loss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Scope</a:t>
            </a:r>
          </a:p>
          <a:p>
            <a:pPr algn="l"/>
            <a:r>
              <a:rPr sz="1050" b="1" i="0">
                <a:solidFill>
                  <a:srgbClr val="2E8B57"/>
                </a:solidFill>
                <a:latin typeface="Segoe UI"/>
              </a:rPr>
              <a:t>In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One-way Qualys -&gt; SNOW feed: config, test, PROD deploy</a:t>
            </a:r>
          </a:p>
          <a:p>
            <a:pPr algn="l"/>
            <a:r>
              <a:rPr sz="1050" b="1" i="0">
                <a:solidFill>
                  <a:srgbClr val="C0392B"/>
                </a:solidFill>
                <a:latin typeface="Segoe UI"/>
              </a:rPr>
              <a:t>Out of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Two-way sync; other integrations (Tanium was the alternative)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14800"/>
            <a:ext cx="11155680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10881360" cy="116128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Segoe UI"/>
              </a:rPr>
              <a:t>Current stories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1428703 install plugin  ·  1428704 configure - both blocked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Data-scope spike 1234585  ·  1465952 plugin replacement (closed)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413248"/>
            <a:ext cx="11155680" cy="896112"/>
          </a:xfrm>
          <a:prstGeom prst="rect">
            <a:avLst/>
          </a:prstGeom>
          <a:solidFill>
            <a:srgbClr val="FBEEDB"/>
          </a:solidFill>
          <a:ln w="952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449824"/>
            <a:ext cx="108813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7A4F10"/>
                </a:solidFill>
                <a:latin typeface="Segoe UI"/>
              </a:rPr>
              <a:t>Watch-outs / dependencies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Plugin blocker: replacement plugin pending approval (1465952 may have cleared it - confirm)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Story states were not auto-flipped - verify with Stan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Build cannot finish until the plugin is unblocked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ATF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Due Oct 31   ·   PI-3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solidFill>
            <a:srgbClr val="E9F0F8"/>
          </a:solidFill>
          <a:ln w="952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33856"/>
            <a:ext cx="10881360" cy="42062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F3A5F"/>
                </a:solidFill>
                <a:latin typeface="Segoe UI"/>
              </a:rPr>
              <a:t>A plan for rolling out the Automated Test Framework across in-prod ServiceNow capabilities.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Done when (acceptance)</a:t>
            </a:r>
          </a:p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•  Rollout plan delivered: selection criteria, timeline, and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55648"/>
            <a:ext cx="54864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Segoe UI"/>
              </a:rPr>
              <a:t>Scope</a:t>
            </a:r>
          </a:p>
          <a:p>
            <a:pPr algn="l"/>
            <a:r>
              <a:rPr sz="1050" b="1" i="0">
                <a:solidFill>
                  <a:srgbClr val="2E8B57"/>
                </a:solidFill>
                <a:latin typeface="Segoe UI"/>
              </a:rPr>
              <a:t>In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Strategy / plan for ATF rollout (an analysis deliverable)</a:t>
            </a:r>
          </a:p>
          <a:p>
            <a:pPr algn="l"/>
            <a:r>
              <a:rPr sz="1050" b="1" i="0">
                <a:solidFill>
                  <a:srgbClr val="C0392B"/>
                </a:solidFill>
                <a:latin typeface="Segoe UI"/>
              </a:rPr>
              <a:t>Out of scope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Building / implementing ATF (this is the plan, not the rollout)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14800"/>
            <a:ext cx="11155680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10881360" cy="116128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Segoe UI"/>
              </a:rPr>
              <a:t>Current stories</a:t>
            </a:r>
          </a:p>
          <a:p>
            <a:pPr algn="l"/>
            <a:r>
              <a:rPr sz="950" b="0" i="0">
                <a:solidFill>
                  <a:srgbClr val="2D2D2D"/>
                </a:solidFill>
                <a:latin typeface="Segoe UI"/>
              </a:rPr>
              <a:t>•  None - greenfield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413248"/>
            <a:ext cx="11155680" cy="896112"/>
          </a:xfrm>
          <a:prstGeom prst="rect">
            <a:avLst/>
          </a:prstGeom>
          <a:solidFill>
            <a:srgbClr val="FBEEDB"/>
          </a:solidFill>
          <a:ln w="952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449824"/>
            <a:ext cx="108813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7A4F10"/>
                </a:solidFill>
                <a:latin typeface="Segoe UI"/>
              </a:rPr>
              <a:t>Watch-outs / dependencies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No stories yet - scope at PI-3 planning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Deliverable is a plan, not an implementation</a:t>
            </a:r>
          </a:p>
          <a:p>
            <a:pPr algn="l"/>
            <a:r>
              <a:rPr sz="950" b="0" i="0">
                <a:solidFill>
                  <a:srgbClr val="5A4A2A"/>
                </a:solidFill>
                <a:latin typeface="Segoe UI"/>
              </a:rPr>
              <a:t>•  Owner TBD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Supporting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PO / BAU capacity - separate from core CMDB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86400" cy="6583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417320"/>
            <a:ext cx="512064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ITSM Product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19072"/>
            <a:ext cx="512064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C9D6E6"/>
                </a:solidFill>
                <a:latin typeface="Segoe UI"/>
              </a:rPr>
              <a:t>Monthly  ·  PI-2 / PI-3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29968"/>
            <a:ext cx="548640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148840"/>
            <a:ext cx="512064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•  ITSM Product Owner role: stakeholder management, backlog prioritization, agile ceremonies, governance</a:t>
            </a:r>
          </a:p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•  Separate ITSM lane - outside core CMDB delivery</a:t>
            </a:r>
          </a:p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•  No stories; owner TBD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371600"/>
            <a:ext cx="5486400" cy="6583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1" y="1417320"/>
            <a:ext cx="512064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Platform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1" y="1719072"/>
            <a:ext cx="512064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C9D6E6"/>
                </a:solidFill>
                <a:latin typeface="Segoe UI"/>
              </a:rPr>
              <a:t>Monthly  ·  PI-3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59" y="2029968"/>
            <a:ext cx="548640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1" y="2148840"/>
            <a:ext cx="512064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•  Dedicated BAU / DevOps team; ~40 hrs of stories per week per member; per-sprint time tracking</a:t>
            </a:r>
          </a:p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•  Ongoing capacity, not a finite deliverable</a:t>
            </a:r>
          </a:p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•  Team size TBD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029200"/>
            <a:ext cx="11155680" cy="640080"/>
          </a:xfrm>
          <a:prstGeom prst="rect">
            <a:avLst/>
          </a:prstGeom>
          <a:solidFill>
            <a:srgbClr val="FBEEDB"/>
          </a:solidFill>
          <a:ln w="9525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065776"/>
            <a:ext cx="1088136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5A4A2A"/>
                </a:solidFill>
                <a:latin typeface="Segoe UI"/>
              </a:rPr>
              <a:t>These are staffing / capacity decisions, not backlog - flagged so they stay on the radar.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Timeline - Where It Lands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Tail of PI-2 + all of PI-3  ·  staged monthly acceptance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188720"/>
            <a:ext cx="12700" cy="123444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44144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Jun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7328" y="1188720"/>
            <a:ext cx="12700" cy="123444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244144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Jul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05856" y="1188720"/>
            <a:ext cx="12700" cy="123444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31536" y="244144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44383" y="1188720"/>
            <a:ext cx="12700" cy="123444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3" y="244144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Sep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82912" y="1188720"/>
            <a:ext cx="12700" cy="123444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08592" y="244144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Oct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21440" y="1188720"/>
            <a:ext cx="12700" cy="123444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7120" y="244144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Nov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188720"/>
            <a:ext cx="1280160" cy="12344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Segoe UI"/>
              </a:rPr>
              <a:t>Windows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328" y="1243584"/>
            <a:ext cx="7628107" cy="29260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1243584"/>
            <a:ext cx="7518379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Delivery window   Jul 1 - Oct 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1613916"/>
            <a:ext cx="4065093" cy="292608"/>
          </a:xfrm>
          <a:prstGeom prst="rect">
            <a:avLst/>
          </a:prstGeom>
          <a:solidFill>
            <a:srgbClr val="6E8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01952" y="1613916"/>
            <a:ext cx="3955365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PI-2  (-&gt; Aug 4)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55926" y="1984248"/>
            <a:ext cx="5253410" cy="2926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29078" y="1984248"/>
            <a:ext cx="5143682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PI-3  Aug 5 - Oct 27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3063240"/>
          <a:ext cx="111556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223760"/>
                <a:gridCol w="2560320"/>
              </a:tblGrid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When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What's due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Lands in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Jul 31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CMDB Governance (data dictionary incl. Databases; Data Cert all CI classes; ESS-02; SOX)  ·  CI Coverage foundation (Computers &amp; Servers precedence)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PI-2 Iter 2.5 / 2.6 (IP)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Aug 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Network Gear (creds &amp; schedules)  ·  Service Mapping (initial maps)  ·  Legacy Platform (analysis) - staged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Sep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CI Coverage - Computers 90% managed  ·  Network Gear mandatory attributes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Oct 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Qualys -&gt; ServiceNow live in PROD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Oct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CI Coverage - Servers 90%  ·  Network Gear 90%  ·  Service Mapping (10 apps)  ·  Legacy Platform (migration plan)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Oct 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ATF Strategy (rollout plan)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Ongoing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ITSM Product Management &amp; Platform Support - monthly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PI-2 tail -&gt; 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Where to Focus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Priorities for Development + supporting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16736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Focus first: the Jul 31 items.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9105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CMDB Governance and CI Coverage foundation (Computers &amp; Servers precedence) are due first and land in PI-2 - keep these moving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57984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21408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Biggest PI-3 build: Discovery + Mapping.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32303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Network Gear, Service Mapping and the 90% coverage targets (Sep 30 / Oct 30) are the bulk of the work - discovery, credentials, and app-owner validation.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99232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62656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Unblock Qualys early.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73551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One-way feed to PROD by Oct 27 - the plugin blocker needs clearing before the build can finish.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840480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803904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New to plan at PI-3 planning.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11480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Legacy Platform Rationalization and ATF Strategy are greenfield - no stories yet; we scope and staff these at planning.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681728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645152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Supporting lanes stand up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56048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ITSM Product Management and Platform Support are PO / BAU capacity, not core CMDB dev - flagged so they're on the radar.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522976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486400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Questions?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79729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Jordan Yung is the CO6 SME; Joe Dames owns governance scope. Flag anything unclear to Manny.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