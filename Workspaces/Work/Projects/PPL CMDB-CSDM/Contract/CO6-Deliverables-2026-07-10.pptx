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CO6 Deliverables - Team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5176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 i="0">
                <a:solidFill>
                  <a:srgbClr val="C9D6E6"/>
                </a:solidFill>
                <a:latin typeface="Segoe UI"/>
              </a:rPr>
              <a:t>Deliverables, dates &amp; where to focus  ·  for Development + supporting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What we deliver, by when, and where to focus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Delivery window: Jul 1 - Oct 30, 2026  (tail of PI-2 + all of PI-3)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89320"/>
            <a:ext cx="106984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7F8CA6"/>
                </a:solidFill>
                <a:latin typeface="Segoe UI"/>
              </a:rPr>
              <a:t>Planning view - dates &amp; scope firm up at PI-3 planning.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Deliverables &amp;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Ordered by due date - soonest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 |  Team Focus  -  Jul 10,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822960"/>
                <a:gridCol w="5760720"/>
              </a:tblGrid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Deliverable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Due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What we focus 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CMDB Governance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Jul 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Data dictionary incl. Databases; Data Certification for ALL CI classes + KB articles; ESS-02; SOX BA review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CI Coverage - Computers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Jul 31 -&gt; Sep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PI-2/3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SCCM/Discovery precedence + bulk life-cycle; 90% of devices managed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CI Coverage - Servers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Jul 31 -&gt; 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PI-2/3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SCCM/Discovery precedence; enhanced DB Discovery (MS-SQL/Oracle); 90% of non-NERC-CIP servers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Network Gear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31 -&gt;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Credentials / SNMP (excl. OT); discovery schedules; mandatory attributes; 90% coverage, owner-validated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Service Mapping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31 -&gt; 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End-to-end maps for 10 priority apps down to infra CIs; owner-validated; consumable in ServiceNow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Legacy Platform Rationalization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Aug 31 -&gt;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Analysis + migration plan: iTeam -&gt; DISCO / Cherwell -&gt; AIM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Qualys Integration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One-way Qualys -&gt; ServiceNow feed; configured, tested, deployed to PROD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ATF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Oct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Plan for Automated Test Framework rollout across in-prod ServiceNow capabilities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ITSM Product Management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Monthly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PI-2/3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B7280"/>
                          </a:solidFill>
                          <a:latin typeface="Segoe UI"/>
                        </a:rPr>
                        <a:t>Separate ITSM lane (Product Owner role) - outside core CMDB delivery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907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Platform Support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Monthly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D2D2D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6B7280"/>
                          </a:solidFill>
                          <a:latin typeface="Segoe UI"/>
                        </a:rPr>
                        <a:t>Standing BAU / DevOps support - ongoing capacity, not a finite deliverable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Ordered by due date.  Bottom two are standing PO / BAU lanes - separate from core CMDB delivery.  Planning view - dates &amp; scope firm up at PI-3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Acceptance criteria (with target dates) and scope  ·  1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 |  Team Focus  -  Jul 10,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3328" y="1188720"/>
            <a:ext cx="15240" cy="50292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394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CMDB Governance</a:t>
            </a:r>
            <a:r>
              <a:rPr sz="1200" b="1" i="0">
                <a:solidFill>
                  <a:srgbClr val="2E6DB4"/>
                </a:solidFill>
                <a:latin typeface="Segoe UI"/>
              </a:rPr>
              <a:t>    Jul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394960" cy="274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39496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Done when (acceptance)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Jul 31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Data dictionary for all CI classes, incl. Databases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Data Certification live for ALL CI classes + KB articles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ESS-02 alignment with Cyber Security &amp; Compliance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SOX Business Apps identified with update-rights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5394960" cy="2148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B57"/>
                </a:solidFill>
                <a:latin typeface="Segoe UI"/>
              </a:rPr>
              <a:t>In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Servers, Computers, Business Apps, Databases data dictionary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Data Cert: process, intake, pilot, KB articles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ESS-02 alignment; SOX BA identification + access governance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Segoe UI"/>
              </a:rPr>
              <a:t>Out of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NERC / CIP compliance indicators (separate stream)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5394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CI Coverage - Computers</a:t>
            </a:r>
            <a:r>
              <a:rPr sz="1200" b="1" i="0">
                <a:solidFill>
                  <a:srgbClr val="2E6DB4"/>
                </a:solidFill>
                <a:latin typeface="Segoe UI"/>
              </a:rPr>
              <a:t>    Jul 31 -&gt; Sep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5394960" cy="274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539496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Done when (acceptance)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Jul 31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SCCM/Discovery precedence reconciled &amp; applied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Bulk Life Cycle Stage &amp; Status updates applied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Sep 30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90% of computer devices managed (validated)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394960" cy="2148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B57"/>
                </a:solidFill>
                <a:latin typeface="Segoe UI"/>
              </a:rPr>
              <a:t>In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Physical + virtual computers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Precedence; bulk life-cycle; coverage measurement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Segoe UI"/>
              </a:rPr>
              <a:t>Out of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Life-cycle process definition (owned by Asset Management)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Acceptance criteria (with target dates) and scope  ·  2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 |  Team Focus  -  Jul 10,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3328" y="1188720"/>
            <a:ext cx="15240" cy="50292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394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CI Coverage - Servers</a:t>
            </a:r>
            <a:r>
              <a:rPr sz="1200" b="1" i="0">
                <a:solidFill>
                  <a:srgbClr val="2E6DB4"/>
                </a:solidFill>
                <a:latin typeface="Segoe UI"/>
              </a:rPr>
              <a:t>    Jul 31 -&gt; Oct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394960" cy="274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39496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Done when (acceptance)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Jul 31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SCCM/Discovery precedence reconciled &amp; applied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Enhanced Discovery for MS-SQL &amp; Oracle databases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Oct 30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90% of non-NERC-CIP servers discovered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5394960" cy="2148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B57"/>
                </a:solidFill>
                <a:latin typeface="Segoe UI"/>
              </a:rPr>
              <a:t>In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Server precedence; MS-SQL / Oracle discovery; coverage measurement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Segoe UI"/>
              </a:rPr>
              <a:t>Out of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SOX indicators (manually maintained - excluded)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NERC / CIP servers (excluded from the 90% target)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5394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Network Gear Discovery</a:t>
            </a:r>
            <a:r>
              <a:rPr sz="1200" b="1" i="0">
                <a:solidFill>
                  <a:srgbClr val="2E6DB4"/>
                </a:solidFill>
                <a:latin typeface="Segoe UI"/>
              </a:rPr>
              <a:t>    Aug 31 -&gt; Oct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5394960" cy="274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539496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Done when (acceptance)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Aug 31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Credentials configured &amp; validated (excl. OT)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Discovery schedules active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Sep 30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Mandatory attributes populated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Oct 30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90% coverage, business-owner 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394960" cy="2148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B57"/>
                </a:solidFill>
                <a:latin typeface="Segoe UI"/>
              </a:rPr>
              <a:t>In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Network gear: credentials / SNMP, schedules, attributes, coverage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Segoe UI"/>
              </a:rPr>
              <a:t>Out of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OT (operational technology)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Acceptance criteria (with target dates) and scope  ·  3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 |  Team Focus  -  Jul 10,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3328" y="1188720"/>
            <a:ext cx="15240" cy="50292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394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Service Mapping</a:t>
            </a:r>
            <a:r>
              <a:rPr sz="1200" b="1" i="0">
                <a:solidFill>
                  <a:srgbClr val="2E6DB4"/>
                </a:solidFill>
                <a:latin typeface="Segoe UI"/>
              </a:rPr>
              <a:t>    Aug 31 -&gt; Oct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394960" cy="274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39496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Done when (acceptance)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Aug 31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Initial maps for priority business apps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Oct 30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All 10 priority apps mapped down to infra CIs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Owner-validated &amp; consumable in 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5394960" cy="2148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B57"/>
                </a:solidFill>
                <a:latin typeface="Segoe UI"/>
              </a:rPr>
              <a:t>In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The 10 priority apps; app -&gt; infra mapping; owner validation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Segoe UI"/>
              </a:rPr>
              <a:t>Out of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Apps beyond the 10 priority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5394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Legacy Platform Rationalization</a:t>
            </a:r>
            <a:r>
              <a:rPr sz="1200" b="1" i="0">
                <a:solidFill>
                  <a:srgbClr val="2E6DB4"/>
                </a:solidFill>
                <a:latin typeface="Segoe UI"/>
              </a:rPr>
              <a:t>    Aug 31 -&gt; Oct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5394960" cy="274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539496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Done when (acceptance)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Aug 31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Analysis: iTeam -&gt; DISCO / Cherwell -&gt; AIM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Oct 30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Migration plan (Cherwell / AIM if applicable)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394960" cy="2148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B57"/>
                </a:solidFill>
                <a:latin typeface="Segoe UI"/>
              </a:rPr>
              <a:t>In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iTeam import / migration; analysis of DISCO / Cherwell / AIM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Segoe UI"/>
              </a:rPr>
              <a:t>Out of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Cherwell / AIM execution unless confirmed at PI-3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Deliverable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Acceptance criteria (with target dates) and scope  ·  4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 |  Team Focus  -  Jul 10,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3328" y="1188720"/>
            <a:ext cx="15240" cy="50292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394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Qualys Integration</a:t>
            </a:r>
            <a:r>
              <a:rPr sz="1200" b="1" i="0">
                <a:solidFill>
                  <a:srgbClr val="2E6DB4"/>
                </a:solidFill>
                <a:latin typeface="Segoe UI"/>
              </a:rPr>
              <a:t>    Oct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394960" cy="274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39496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Done when (acceptance)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Oct 27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One-way Qualys -&gt; ServiceNow configured &amp; tested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Deployed to PROD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Vulnerability data ingests on schedule, no data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5394960" cy="2148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B57"/>
                </a:solidFill>
                <a:latin typeface="Segoe UI"/>
              </a:rPr>
              <a:t>In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One-way Qualys -&gt; ServiceNow feed: config, test, PROD deploy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Segoe UI"/>
              </a:rPr>
              <a:t>Out of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Two-way sync; other integrations (Tanium was the alternative)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5394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Segoe UI"/>
              </a:rPr>
              <a:t>ATF Strategy</a:t>
            </a:r>
            <a:r>
              <a:rPr sz="1200" b="1" i="0">
                <a:solidFill>
                  <a:srgbClr val="2E6DB4"/>
                </a:solidFill>
                <a:latin typeface="Segoe UI"/>
              </a:rPr>
              <a:t>    Oct 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5394960" cy="274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539496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Done when (acceptance)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6DB4"/>
                </a:solidFill>
                <a:latin typeface="Segoe UI"/>
              </a:rPr>
              <a:t>By Oct 31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Rollout plan: selection criteria, timeline, and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394960" cy="2148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8B57"/>
                </a:solidFill>
                <a:latin typeface="Segoe UI"/>
              </a:rPr>
              <a:t>In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Strategy / plan for ATF rollout (analysis deliverable)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Segoe UI"/>
              </a:rPr>
              <a:t>Out of scope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D2D2D"/>
                </a:solidFill>
                <a:latin typeface="Segoe UI"/>
              </a:rPr>
              <a:t>•  Building / implementing ATF (this is the plan, not the rollout)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Supporting 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PO / BAU capacity - separate from core CMDB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 |  Team Focus  -  Jul 10,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17320"/>
            <a:ext cx="51206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ITSM Product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19072"/>
            <a:ext cx="5120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C9D6E6"/>
                </a:solidFill>
                <a:latin typeface="Segoe UI"/>
              </a:rPr>
              <a:t>Monthly  ·  PI-2 / PI-3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29968"/>
            <a:ext cx="54864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48840"/>
            <a:ext cx="512064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•  ITSM Product Owner role: stakeholder management, backlog prioritization, agile ceremonies, governance</a:t>
            </a:r>
          </a:p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•  Separate ITSM lane - outside core CMDB delivery</a:t>
            </a:r>
          </a:p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•  No stories; owner TBD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5486400" cy="6583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1417320"/>
            <a:ext cx="51206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Platform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1719072"/>
            <a:ext cx="5120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C9D6E6"/>
                </a:solidFill>
                <a:latin typeface="Segoe UI"/>
              </a:rPr>
              <a:t>Monthly  ·  PI-3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2029968"/>
            <a:ext cx="54864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2148840"/>
            <a:ext cx="512064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•  Dedicated BAU / DevOps team; ~40 hrs of stories per week per member; per-sprint time tracking</a:t>
            </a:r>
          </a:p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•  Ongoing capacity, not a finite deliverable</a:t>
            </a:r>
          </a:p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•  Team size TBD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29200"/>
            <a:ext cx="11155680" cy="64008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065776"/>
            <a:ext cx="10881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A4A2A"/>
                </a:solidFill>
                <a:latin typeface="Segoe UI"/>
              </a:rPr>
              <a:t>These are staffing / capacity decisions, not backlog - flagged so they stay on the radar.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Timeline - Where It Lands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Tail of PI-2 + all of PI-3  ·  staged monthly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 |  Team Focus  -  Jul 10,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Jun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7328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Jul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05856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6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Aug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44383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3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Sep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82912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Oct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21440" y="1188720"/>
            <a:ext cx="12700" cy="123444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2441448"/>
            <a:ext cx="54864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Nov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188720"/>
            <a:ext cx="1280160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Segoe UI"/>
              </a:rPr>
              <a:t>Windows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7328" y="1243584"/>
            <a:ext cx="7628107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1243584"/>
            <a:ext cx="7518379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Delivery window   Jul 1 - Oct 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1613916"/>
            <a:ext cx="4065093" cy="292608"/>
          </a:xfrm>
          <a:prstGeom prst="rect">
            <a:avLst/>
          </a:prstGeom>
          <a:solidFill>
            <a:srgbClr val="6E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01952" y="1613916"/>
            <a:ext cx="3955365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PI-2  (-&gt; Aug 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55926" y="1984248"/>
            <a:ext cx="525341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9078" y="1984248"/>
            <a:ext cx="5143682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PI-3  Aug 5 - Oct 27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306324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223760"/>
                <a:gridCol w="2560320"/>
              </a:tblGrid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When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What's due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Lands 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Jul 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CMDB Governance (data dictionary incl. Databases; Data Cert all CI classes; ESS-02; SOX)  ·  CI Coverage foundation (Computers &amp; Servers precedence)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PI-2 Iter 2.5 / 2.6 (IP)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Aug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Network Gear (creds &amp; schedules)  ·  Service Mapping (initial maps)  ·  Legacy Platform (analysis) - staged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CI Coverage - Computers 90% managed  ·  Network Gear mandatory attributes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Oct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Qualys -&gt; ServiceNow live in PROD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CI Coverage - Servers 90%  ·  Network Gear 90%  ·  Service Mapping (10 apps)  ·  Legacy Platform (migration plan)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Oct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ATF Strategy (rollout plan)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Ongoing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ITSM Product Management &amp; Platform Support - monthly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PI-2 tail -&gt; 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Where to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Priorities for Development + supporting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CO6 Deliverables  |  Team Focus  -  Jul 10,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16736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Focus first: the Jul 31 items.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9105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CMDB Governance and CI Coverage foundation (Computers &amp; Servers precedence) are due first and land in PI-2 - keep these moving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57984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21408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Biggest PI-3 build: Discovery + Mapping.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32303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Network Gear, Service Mapping and the 90% coverage targets (Sep 30 / Oct 30) are the bulk of the work - discovery, credentials, and app-owner validation.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9232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62656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Unblock Qualys early.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73551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One-way feed to PROD by Oct 27 - the plugin blocker needs clearing before the build can finish.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803904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New to plan at PI-3 planning.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Legacy Platform Rationalization and ATF Strategy are greenfield - no stories yet; we scope and staff these at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81728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645152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Supporting lanes stand up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956048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ITSM Product Management and Platform Support are PO / BAU capacity, not core CMDB dev - flagged so they're on the radar.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22976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486400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79729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Jordan Yung is the CO6 SME; Joe Dames owns governance scope. Flag anything unclear to Manny.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