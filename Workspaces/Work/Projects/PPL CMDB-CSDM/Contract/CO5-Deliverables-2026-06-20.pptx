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CO5 Deliverables - Story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 i="0">
                <a:solidFill>
                  <a:srgbClr val="C9D6E6"/>
                </a:solidFill>
                <a:latin typeface="Segoe UI"/>
              </a:rPr>
              <a:t>Change Order #5  ·  per-deliverable feature &amp; story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343400"/>
            <a:ext cx="1069848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3 deliverables  ·  one slide each  ·  PI-2 features &amp; stories</a:t>
            </a:r>
          </a:p>
          <a:p>
            <a:pPr algn="l"/>
            <a:r>
              <a:rPr sz="1400" b="0" i="0">
                <a:solidFill>
                  <a:srgbClr val="C9D6E6"/>
                </a:solidFill>
                <a:latin typeface="Segoe UI"/>
              </a:rPr>
              <a:t>CO5  ·  Mar 31 - Jun 30, 2026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CO5 Deliverables -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3 contractual deliverables, all due Jun 30  ·  CO6 (draft) is the re-baselining vehicle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280160"/>
                <a:gridCol w="1645920"/>
                <a:gridCol w="2651760"/>
                <a:gridCol w="219456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Deliverable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CO5 Due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Stories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Hard gaps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CO6 (draft) date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1 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Segoe UI"/>
                        </a:rPr>
                        <a:t>Jun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D2D2D"/>
                          </a:solidFill>
                          <a:latin typeface="Segoe UI"/>
                        </a:rPr>
                        <a:t>~17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Segoe UI"/>
                        </a:rPr>
                        <a:t>G1 Databases · G5 CCB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Segoe UI"/>
                        </a:rPr>
                        <a:t>Jul 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2  Automated Data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Segoe UI"/>
                        </a:rPr>
                        <a:t>Jun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D2D2D"/>
                          </a:solidFill>
                          <a:latin typeface="Segoe UI"/>
                        </a:rPr>
                        <a:t>~9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Segoe UI"/>
                        </a:rPr>
                        <a:t>G2/G3 90% 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Segoe UI"/>
                        </a:rPr>
                        <a:t>Jul 31 / Sep 30 /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F3A5F"/>
                          </a:solidFill>
                          <a:latin typeface="Segoe UI"/>
                        </a:rPr>
                        <a:t>3  Other Enhancement (Qualys)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C0392B"/>
                          </a:solidFill>
                          <a:latin typeface="Segoe UI"/>
                        </a:rPr>
                        <a:t>Jun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 i="0">
                          <a:solidFill>
                            <a:srgbClr val="2D2D2D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Segoe UI"/>
                        </a:rPr>
                        <a:t>G4 BLOCKED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E8B57"/>
                          </a:solidFill>
                          <a:latin typeface="Segoe UI"/>
                        </a:rPr>
                        <a:t>Oct 27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886200"/>
            <a:ext cx="111556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 i="0">
                <a:solidFill>
                  <a:srgbClr val="2D2D2D"/>
                </a:solidFill>
                <a:latin typeface="Segoe UI"/>
              </a:rPr>
              <a:t>Hard gaps (G1-G5) = a CO5 acceptance item with NO story, or fully blocked.  CO6 (draft, unsigned) re-baselines all but G5 - contingent on signature before July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937760"/>
            <a:ext cx="11155680" cy="114300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029200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7A4F10"/>
                </a:solidFill>
                <a:latin typeface="Segoe UI"/>
              </a:rPr>
              <a:t>Governing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A4A2A"/>
                </a:solidFill>
                <a:latin typeface="Segoe UI"/>
              </a:rPr>
              <a:t>CO5 (signed 2026-05-26)  ·  term Mar 31 - Jun 30, 2026  ·  $533,775 June holdback released on final acceptance.  PI-2 runs to Aug 4 - stories in Iter 2.4/2.5/2.6 land after the 6/30 deadline.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1 -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Due Jun 30 (CO5)   ·   CO6 (draft) re-baselines to Jul 31   ·   Acceptance: only Data Cert is near acceptance;  Databases (G1) &amp; CCB (G5) are hard gaps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4297680"/>
                <a:gridCol w="137160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sub-item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1.1 Data Dictionary - Servers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1354797 Server Class Data &amp; Form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1421790 Gap Analysis (Validation) · 1454371 Extract w/o Support Grp (Active) · 1355167 spike (Active)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1.1 Data Dictionary - Computers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1354794 Computer Class Data &amp;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1313400 Asset Tags (Resolved) · 1399547 Shared Devices (Validation) · 1455858 Virtual Location (Active)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1.1 Data Dictionary - Business Apps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BA data-population cluster (no single feature)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1475582 Support Grps (Refine Rdy) · 1478286 Classification (Refine Rdy) · 1475584/85 (New, Manuel) · 1474892 (New)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Early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1.1 Data Dictionary - Databases  [G1]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STORY IN 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1.2 Data Certification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1247179 · 1402979 · 1402958 · 1371672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1402727 Dashboard (UAT signed, PROD 6/23) · 1435307 Pilot Changes (Validation) · 1402962/76/80/84/85 (Defining)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Near acceptance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1.3 ESS-02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under 1406668 (Removed)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1420244 ESS-02 Policy &amp; CMDB Alignment (Active - spike, analysis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Analysis only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1.4 SOX BA Review  (SOX only, not NERC/CIP)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1354797 /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1438967 (Closed/approved) · 1455827 SOX Notify (Refine Rdy, Iter 2.5) · 1399787 Full Access Grp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1.5 Monthly CCB + future-PI backlog  [G5]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1406668 - REMOVED in 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1406672/683/687 May/Jun/Jul CCB (New, under Removed feature) · 1339116 (Refine Rdy)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 - broken evidence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2 - Automated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Due Jun 30 (CO5)   ·   CO6 (draft): precedence/discovery -&gt; Jul 31, 90% coverage -&gt; Sep 30 / Oct 30   ·   Acceptance: precedence in Validation;  both 90% goals (G2/G3) have no story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429768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sub-item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2.1 Computers - SCCM/Discovery precedence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1354794 / SCCM Computer Class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1348712/716/717 (Resolved) · 1348715 Last-Seen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2.1 Computers - bulk Life Cycle Stage/Status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Computer Class 1354794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1402790 Retired Computers Lifecycle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2.1 Computers - 90% coverage validation  [G2]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MEASUREMENT STORY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2.2 Servers - SCCM/Discovery precedence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1356826 SCCM Server Class Precedence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1403759 / 1403760 / 1403762 / 1403763 (all Validation, approval gate cleared)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2.2 Servers - credentials (enables discovery)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1356646 / 1354797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1444864 Fix Creds Svr/DB/Net (Validation; 6 child tasks still Active) · 1459721 SNMP/MID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2.2 Servers - 90% non-NERC-CIP coverage  [G3]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MEASUREMENT 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2.3 Databases - enhanced Discovery (MS-SQL/Oracle)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1356646 / credential work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Oracle DB cred tasks under 1444864 (in progress, task-level only)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Task-level only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824728"/>
            <a:ext cx="11155680" cy="54864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861304"/>
            <a:ext cx="108813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5A4A2A"/>
                </a:solidFill>
                <a:latin typeface="Segoe UI"/>
              </a:rPr>
              <a:t>SOX indicators for Servers &amp; Databases are manually maintained - explicitly EXCLUDED from automated ingestion per CO5.  CO5-documented RISK: no scalable credential-distribution solution for target CIs.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Deliverable 3 - Other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15568"/>
            <a:ext cx="11155680" cy="45720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Due Jun 30 (CO5)   ·   CO6 (draft) ESCALATES evaluate -&gt; full one-way PROD integration, due Oct 27   ·   Acceptance: BLOCKED (G4)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55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468880"/>
                <a:gridCol w="4297680"/>
                <a:gridCol w="137160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sub-item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3  Evaluate ONE integration (Tanium OR Qualys)</a:t>
                      </a:r>
                    </a:p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     -&gt; team chose Qualys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Integration Qualys &amp; ServiceNow</a:t>
                      </a:r>
                    </a:p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(CMDB Data Read-Only) (PI2)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1428703 Install Plugin P1 (BLOCKED) · 1428704 Configure Integration P2 (BLOCKED) · 1234585 Data Scope spike (Ready, no parent) · 1465952 Plugin Replacement (Closed - may unblock) · 1383519 Qualys Dev/Support dep (Active)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BLOCKED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17296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Segoe UI"/>
              </a:rPr>
              <a:t>Detail: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57016"/>
            <a:ext cx="91440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35204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Blocker: Qualys replaced the plugin version; previous uninstalled, new one requested - pending vendor approval (Issue 1465952).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32504"/>
            <a:ext cx="91440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95928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1465952 now shows Closed in the 6/19 grid - MAY unblock 1428703/1428704, but story states were NOT auto-flipped. Confirm with Rich Santillo / Stan.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507992"/>
            <a:ext cx="91440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47141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CO5 only requires EVALUATE + document requirements for ONE integration - a lighter bar than full implementation.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83480"/>
            <a:ext cx="91440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946904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Tanium is the contractual alternative, but no Tanium stories exist - a pivot this late is unrealistic for 6/30.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58968"/>
            <a:ext cx="91440" cy="32918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42239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CO6 (draft) escalates this to a full one-way Qualys-&gt;ServiceNow PROD integration, due Oct 27 (PI-3).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Governance -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C9D6E6"/>
                </a:solidFill>
                <a:latin typeface="Segoe UI"/>
              </a:rPr>
              <a:t>Deliverable 1 broken down per CO5 sub-item  (1.1 - 1.5)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Governance 1.1 - Data Dictionary / Class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Define class attributes for the four in-scope CI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Data Dictionary / Class Attribute definitions for: Servers (Windows/Linux), Computers (Physical/Virtual), Business Applications, Databases.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CI Class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Servers (Win/Linux)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1354797 Server Class Data &amp; Form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1421790 Gap Analysis (Validation) · 1454371 Extract Servers w/o Support Grp (Active) · 1355167 Migrate BA to Svc Instance (Active)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Computers (Phys/Virtual)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1354794 Computer Class Data &amp;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1313400 Asset Tags (Resolved) · 1399547 Shared Devices (Validation) · 1455858 Virtual Location (Active) · 1407572 Auto-Populate Owner (Validation)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Business Applications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BA data-population cluster (no single feature)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1475582 Support Grps (Refine Rdy) · 1478286 Classification (Refine Rdy) · 1475584 Tech Owner Grp (New, Manuel) · 1475585 Approval Grps (New, Manuel) · 1474892 Value Stream (New)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Early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Databases  [G1]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STORY IN ADO - hard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44398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46227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(draft) 'CMDB Governance' lists Databases explicitly -&gt; re-baselines the full data dictionary to Jul 31. Closes hard gap G1 (if signed).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4748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41324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37667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Databases is the only CI class with zero story coverage - the clean contractual gap (G1).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3387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79729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Business App data-population is mostly New / Refinement Ready (Iter 2.4) - lands after the 6/30 deadline.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Governance 1.2 - Data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Strongest-covered governance sub-item; pilot deploying to PROD 6/23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Process Definition; Intake for New Data Certifications; End-to-end process flow overview; Pilot Release for the Business Application CI Class; Supporting User Documentation / KB Articles.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Process Definition &amp; framework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1247179 Pilot Functionality · 1402979 Impl Support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1435307 Data Cert Pilot Changes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Intake for new certifications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1371672 Governance Model (New BA Requests)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1455827 SOX Notify on Ownership Change (Refine Rdy, Iter 2.5)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E2E flow + pilot execution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1402958 Impl Planning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1402962 Kickoff · 1402976 Execute Policies · 1402980 Monitor · 1402984 Office Hours · 1402985 Feedback (Defining/New)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Pilot Release - Business App CI 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1402979 Impl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1402727 Dashboard (UAT signed 6/10, PROD 6/23) · 1402959 Pilot Group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Near acceptance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Supporting KB / User Docs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STORY - owner TBD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Soft gap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71830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73659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(draft) expands the pilot from Business App only to ALL CI classes -&gt; Jul 31.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2180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8756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65099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Pilot Release (Business App CI class) is the holdback-critical item: PROD deploy 6/23 -&gt; Todd validates 6/24-25 - acceptance evidence just before 6/30.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10819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607161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KB Articles / User Documentation has no story and no owner - confirm before acceptance.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Governance 1.3 - ESS-02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Cyber Security &amp; Compliance alignment - analysis only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ESS-02 Alignment with Cyber Security and Compliance.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ESS-02 policy &amp; CMDB alignment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under 1406668 (Removed)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1420244 ESS-02 Policy &amp; CMDB Alignment (Active - spike, 0 pts, Joe Dames)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Analysis only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279806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1635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(draft) carries ESS-02 under 'CMDB Governance' -&gt; Jul 31.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0156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6732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73075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Single Active spike, no implementation stories - confirm whether alignment = analysis-only (spike sufficient) or requires a deliverable artifact by deadline.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18795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15137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Open actions: engage Jason Dubreuil (Cyber/Compliance CCB member) on ESS-02; document the CMP.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08576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457200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Parent feature 1406668 is Removed in ADO - the same dead feature as the CCB stories (see 1.5).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29200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992624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'ESS-02' is not expanded in the contract - confirm the definition (likely 'Enterprise Security Standard') with Jason Dubreuil.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Governance 1.4 - SOX Business Application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Ensure SOX BAs identified in CMDB + correct update-rights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Support review of SOX Business Applications - ensure properly identified in CMDB and rules in place so the right users can update them. Applies to SOX data ONLY - not NERC/CIP compliance indicators.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SOX custom-fields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1354797 /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1438967 PMDB App Service SOX &amp; DR Customization (Closed/approved; edit rights -&gt; Cyber Risk &amp; DR)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SOX ownership-change notification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1371672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1455827 Notification for SOX Team on Ownership Changes (Refine Rdy, Iter 2.5)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At risk - 2.5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CI-owner access governance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(no feature home)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1399787 Add all CI-Owners to CMDB Full Access Group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89534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1363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(draft) carries SOX review under 'CMDB Governance' -&gt; Jul 31. Same SOX-only boundary (NERC/CIP excluded).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884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6460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2803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Contractual boundary: SOX data ONLY. NERC-CIP (Stream B, feature 1370224) is separate and NOT part of this acceptance item.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8523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2486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1455827 sits in Iter 2.5 (post-6/30) with an open Joe decision: PI-2 or PI-3? Resolve to avoid a deadline miss.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Governance 1.5 - Monthly CCB + Future-PI Backlog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Cadence is running, but the ADO evidence is broken (hard gap G5)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Facilitate Monthly CCB Meetings and create a backlog for future PIs.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Area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Monthly CCB facilitation  [G5]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1406668 CMDB Governance &amp; Monthly CCB - REMOVED in ADO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1406672 May CCB · 1406683 June CCB · 1406687 July CCB (all New, Joe; under Removed feature)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 - broken evidence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CI-owner governance (leavers)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1355888 Operational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1339116 Monitor / Update CI Owners Who Left PPL (Refine Rdy)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Backlog for future PIs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artifact not yet tracked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TBD</a:t>
                      </a:r>
                    </a:p>
                  </a:txBody>
                  <a:tcPr>
                    <a:solidFill>
                      <a:srgbClr val="8A929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89534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1363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NOT carried as a CO6 deliverable - only in the CMDB PO role text. Remains a CO5-only obligation.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884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6460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2803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CCB cadence IS happening: CCB meeting 6/16, CMDB Audit Sync 6/18, Manuel attending - but the feature that proves it (1406668) is marked Removed in ADO.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8523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2486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Action (high priority): un-Remove 1406668 OR re-parent the 3 CCB stories to a live feature, so the deliverable is demonstrable for acceptance.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05856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66928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Confirm the 'backlog for future PIs' artifact exists and is tracked.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Automated Data Ingestion -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C9D6E6"/>
                </a:solidFill>
                <a:latin typeface="Segoe UI"/>
              </a:rPr>
              <a:t>Deliverable 2 by sub-item (Computers / Servers / Databases)  +  a CO6 look-ahead: Network Gear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Data Ingestion 2.1 - Computers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SCCM/Discovery precedence + bulk life-cycle + 90%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SCCM/Discovery data precedence reconciliation &amp; updates; bulk updates for Life Cycle Stage &amp; Status (process defined by Asset Mgmt team); coverage validation - goal of 90% devices managed.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SCCM/Discovery precedence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1354794 Computer Class / SCCM Computer Class Precedence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1348712 Domain&amp;Network (Resolved) · 1348716 HW&amp;SW (Resolved) · 1348717 De-Prioritize SCCM (Resolved) · 1348715 Last-Seen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On track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Bulk Life Cycle Stage/Status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Computer Class 1354794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1402790 Update Lifecycle for Retired Computers (Closed)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Done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90% coverage validation  [G2]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MEASUREMENT STORY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89534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1363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'CI Coverage - Computers' -&gt; precedence &amp; life-cycle Jul 31, 90% coverage validation Sep 30. Closes G2 (if signed).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884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6460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2803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CO5 RISK: no reliable source to compare physical devices; only on-network devices are discovered.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8523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2486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Life Cycle process is an external dependency on the Asset Management team - not a team-owned story.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05856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66928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90% coverage has no measurement story (G2) - CO6 gives it a Sep 30 target.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Data Ingestion 2.2 -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SCCM/Discovery precedence + credentials + 90% non-NERC-CIP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SCCM/Discovery data precedence reconciliation &amp; updates; coverage validation - goal of 90% non-NERC-CIP devices discovered; SOX indicators manually maintained (excluded from automation).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SCCM/Discovery precedence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1356826 SCCM Server Class Precedence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1403763 HW&amp;SW (Validation) · 1403760 Domain&amp;Network (Validation) · 1403762 Last-Seen (Validation) · 1403759 Remove SCCM Attrs (Validation)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Credentials (enables discovery)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1356646 / 1354797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1444864 Fix Creds Svr/DB/Net (Validation; 6 child tasks still Active) · 1459721 SNMP/MID test (Validation)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90% non-NERC-CIP coverage  [G3]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- none -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 MEASUREMENT STORY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GAP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SOX indicators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Manually maintained - EXCLUDED from automation per CO5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Excluded</a:t>
                      </a:r>
                    </a:p>
                  </a:txBody>
                  <a:tcPr>
                    <a:solidFill>
                      <a:srgbClr val="8A929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44398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46227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'CI Coverage - Servers' -&gt; precedence &amp; enhanced DB discovery Jul 31, 90% coverage Oct 30. Closes G3 (if signed).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04748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41324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37667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SCCM precedence baseline RISK (Risk #12): no complete field-by-field precedence map - rework risk across stories.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3387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79729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Credential work gates discovery for servers AND databases; 6 tasks still Active in Iter 2.2.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254496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621792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90% non-NERC-CIP coverage has no measurement story (G3).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Data Ingestion 2.3 -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Enhanced Discovery for MS-SQL &amp; Oracle - credential-bound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CO5 requires:  Enhanced Discovery support for MS-SQL and Oracle databases (RISK - no scalable solution for the distribution of credentials to target CIs); SOX indicators manually maintained (excluded).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CO5 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Enhanced Discovery (MS-SQL/Oracle)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1356646 / credential work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Oracle DB cred tasks under 1444864 (GWIZ_MON_ORACLE_DB cred; PA Oracle DB discovery test) - task-level only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Task-level only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SOX indicators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Manually maintained - EXCLUDED from automation per CO5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Excluded</a:t>
                      </a:r>
                    </a:p>
                  </a:txBody>
                  <a:tcPr>
                    <a:solidFill>
                      <a:srgbClr val="8A929E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34670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36499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CO6 effect:  CO6 'CI Coverage - Servers' carries enhanced DB Discovery (MS-SQL/Oracle) -&gt; Jul 31 (same RISK language).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5020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1596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27939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CO5 RISK (verbatim): no scalable solution for the distribution of credentials to target CIs - your active credential/SolarWinds workstream.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73659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70001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No discrete 'enhanced DB Discovery' story - it lives only as credential tasks. Acceptance needs a demonstrable deliverable.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157216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12064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Discovery now surfacing Oracle DBs / listeners (6/9) after credential fixes - momentum is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Look-Ahead: Network Gear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NOT a CO5 deliverable - PI-2 Objective 1, formalized as a CO6 (draft)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15568"/>
            <a:ext cx="11155680" cy="56692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43000"/>
            <a:ext cx="1088136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7A4F10"/>
                </a:solidFill>
                <a:latin typeface="Segoe UI"/>
              </a:rPr>
              <a:t>CO6 (draft) requires:  Enable &amp; configure Network Gear Discovery; devices discovered &amp; populated in CMDB. Staged acceptance: creds configured/validated (excl. OT) &amp; schedules active Aug 31; mandatory attrs Sep 30; 90% coverage (business-owner validated) Oct 30.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828800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  <a:gridCol w="4480560"/>
                <a:gridCol w="1371600"/>
              </a:tblGrid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Component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PI-2 Feature(s)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Related stories (ID - status)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Network device coverage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1356646 Network Device Coverage Reconciliation - Group 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1402555 Identify CI Classes (Active spike) · 1402559 Compare CI Class Sources (New spike) · 1402572/574/575 discovery &amp; device config + rerun (New)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Credentials / SNMP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1356646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1444864 Fix Creds (Validation) · 1459721 SNMP/MID test (Validation)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8006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Stakeholder requirements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dependency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1383487 Network-gear stakeholder requirements to assess (New, Dan Carabelas)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New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895344"/>
            <a:ext cx="11155680" cy="457200"/>
          </a:xfrm>
          <a:prstGeom prst="rect">
            <a:avLst/>
          </a:prstGeom>
          <a:solidFill>
            <a:srgbClr val="E6F3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13632"/>
            <a:ext cx="108813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E5A38"/>
                </a:solidFill>
                <a:latin typeface="Segoe UI"/>
              </a:rPr>
              <a:t>Staged acceptance:  CO6 (draft) Deliverable #1 - Aug 31 / Sep 30 / Oct 30 (PI-3). 90% coverage business-owner validated by Oct 30. OT explicitly excluded.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98848"/>
            <a:ext cx="1115568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Segoe UI"/>
              </a:rPr>
              <a:t>Notes /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864608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828032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Network gear is a PI-2 objective (Obj 1) but was NOT a CO5 deliverable - CO6 makes it contractual.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285232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248656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Story scaffolding exists (spikes + config stories under 1356646) but no contractual acceptance is met yet.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705856"/>
            <a:ext cx="9144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669280"/>
            <a:ext cx="108813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Shown here as a precursor/bridge to CO6 - do not report as current CO5 scope.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Segoe UI"/>
              </a:rPr>
              <a:t>CO6 (Draft) - Net-New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657600"/>
            <a:ext cx="1069848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C9D6E6"/>
                </a:solidFill>
                <a:latin typeface="Segoe UI"/>
              </a:rPr>
              <a:t>TENTATIVE - based on the unsigned 3/27 draft.  To be updated once the signed contract is reviewed.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CO6 Net-New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Brand-new scope with no CO5 antecedent  -  6 items, mostly PI-3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11155680" cy="384048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115568"/>
            <a:ext cx="1088136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7A4F10"/>
                </a:solidFill>
                <a:latin typeface="Segoe UI"/>
              </a:rPr>
              <a:t>TENTATIVE  -  DRAFT / UNSIGNED (3/27).  Numbers, dates and scope will change once the signed contract is reviewed.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27632"/>
          <a:ext cx="11155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1554480"/>
                <a:gridCol w="2286000"/>
                <a:gridCol w="1737360"/>
              </a:tblGrid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CO6 Deliverable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What it adds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Due (draft)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Story status today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Segoe UI"/>
                        </a:rPr>
                        <a:t>Note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Network Gear Discovery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Discover &amp; populate network devices in CMDB (excl. OT); 90% coverage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Aug 31 -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Scaffolding under 1356646 (spikes + config stories)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See slide 16 look-ahead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Service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E2E maps for 10 priority business apps down to infra CIs; owner-validated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Aug 31 -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Wave features 1355866/68/71 + per-app stories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Was PI-2 obj; now contractual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Legacy Platform Rationalization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Analysis + migration plan: iTeam, DISCO/Cherwell, AIM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Aug 31 - Oct 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Only iTeam import 1452028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Cherwell/AIM 'if applicable' at PI-3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ITSM Product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New ITSM Product Owner role + ITSM workstream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Monthly Jul 31 -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None - owner 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Outside CMDB; ties to CR6 role seg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ATF Strategy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Automated Test Framework rollout plan across in-prod capabilities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Oct 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None - greenfield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Net-new analysis deliverable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8333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F3A5F"/>
                          </a:solidFill>
                          <a:latin typeface="Segoe UI"/>
                        </a:rPr>
                        <a:t>Platform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Dedicated BAU/DevOps team; 40 hrs stories/wk per member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Monthly Aug 31 - Oct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None - team size TBD ('XXX')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>Ongoing capacity, not finite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166360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Net-new != free: ITSM PM + Platform Support are ongoing-capacity commitments, not finite deliverables.  CO6 also RE-BASELINES the CO5 items (Governance, CI Coverage, Qualys) - those live in the gap-closure / timeline-shift maps, not here.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Sprints vs the 7/31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CO6 re-dates Governance &amp; CI Coverage to Jul 31 - but the sprint calendar tells a tighter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CO5 Deliverables  |  ADO 6/19 snapshot  -  Jun 20,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4937760"/>
                <a:gridCol w="320040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Iteration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Window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Relation to CO6 7/31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</a:rPr>
                        <a:t>Freeze overlay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2.3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Jun 10 - 23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Active now - last fully-open sprint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>
                    <a:solidFill>
                      <a:srgbClr val="2E8B57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2.4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Jun 24 - Jul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CO5 6/30 deadline here · clean dev window only Jun 24 - Jul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Dev freeze from Jul 4</a:t>
                      </a:r>
                    </a:p>
                  </a:txBody>
                  <a:tcPr>
                    <a:solidFill>
                      <a:srgbClr val="E08A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2.5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Jul 8 - 21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D2D2D"/>
                          </a:solidFill>
                          <a:latin typeface="Segoe UI"/>
                        </a:rPr>
                        <a:t>Runway to 7/31 - squeezed both ends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Dev freeze &lt;= Jul 18; Test freeze &gt;= Jul 18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1F3A5F"/>
                          </a:solidFill>
                          <a:latin typeface="Segoe UI"/>
                        </a:rPr>
                        <a:t>2.6 (IP)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D2D2D"/>
                          </a:solidFill>
                          <a:latin typeface="Segoe UI"/>
                        </a:rPr>
                        <a:t>Jul 22 - Aug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C0392B"/>
                          </a:solidFill>
                          <a:latin typeface="Segoe UI"/>
                        </a:rPr>
                        <a:t>7/31 LANDS HERE - IP iteration, not a delivery sprint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Segoe UI"/>
                        </a:rPr>
                        <a:t>Test freeze Jul 18 - Aug 15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3977639"/>
            <a:ext cx="11155680" cy="1051560"/>
          </a:xfrm>
          <a:prstGeom prst="rect">
            <a:avLst/>
          </a:prstGeom>
          <a:solidFill>
            <a:srgbClr val="FBEEDB"/>
          </a:solidFill>
          <a:ln w="9525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059936"/>
            <a:ext cx="1088136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7A4F10"/>
                </a:solidFill>
                <a:latin typeface="Segoe UI"/>
              </a:rPr>
              <a:t>Timeline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70832"/>
            <a:ext cx="1088136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5A4A2A"/>
                </a:solidFill>
                <a:latin typeface="Segoe UI"/>
              </a:rPr>
              <a:t>7/31 sits in the IP iteration, bracketed by two freezes.  The last realistic window to land a 7/31 deliverable is end of Iter 2.4 (~Jul 3, before the Dev freeze) - so CO6's 7/31 work must be substantially complete in Iter 2.3-2.4, not 'sometime in July.'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The 90% coverage items (Sep 30 / Oct 30) are the ones genuinely given room - PI-3, past the test freeze.  Open question: is the IP iteration (2.6) expected to carry CO6 acceptance, or should 7/31 work be pulled into 2.4/2.5 planning?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26480"/>
            <a:ext cx="1115568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Freeze source: Dev clone Jun 27 / upgrade Jul 4 (CHG70100870)  ·  Test freeze CHG70100865  -  see PI-2/Memory Risks #10/#11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