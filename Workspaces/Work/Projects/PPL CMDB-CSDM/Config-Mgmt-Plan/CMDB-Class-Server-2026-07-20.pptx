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115568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Segoe UI"/>
              </a:rPr>
              <a:t>CMDB Class  -  Server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03504"/>
            <a:ext cx="1115568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C9D6E6"/>
                </a:solidFill>
                <a:latin typeface="Segoe UI"/>
              </a:rPr>
              <a:t>Table: cmdb_ci_server   ·   Source: Server audit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91440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Segoe UI"/>
              </a:rPr>
              <a:t>PPL CMDB-CSDM  |  CI Class Reference (CMP Stage 1)  |  DRAFT - Jul 20,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9829800" y="274320"/>
            <a:ext cx="1847088" cy="402336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29800" y="274320"/>
            <a:ext cx="1847088" cy="40233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PROPOSED DRAFT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115568"/>
            <a:ext cx="11155680" cy="896112"/>
          </a:xfrm>
          <a:prstGeom prst="rect">
            <a:avLst/>
          </a:prstGeom>
          <a:solidFill>
            <a:srgbClr val="E9F0F8"/>
          </a:solidFill>
          <a:ln w="9525">
            <a:solidFill>
              <a:srgbClr val="2E6D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170432"/>
            <a:ext cx="3931920" cy="78638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50" b="1" i="0">
                <a:solidFill>
                  <a:srgbClr val="6B7280"/>
                </a:solidFill>
                <a:latin typeface="Segoe UI"/>
              </a:rPr>
              <a:t>CLASS OWNER</a:t>
            </a:r>
          </a:p>
          <a:p>
            <a:pPr algn="l"/>
            <a:r>
              <a:rPr sz="1250" b="1" i="0">
                <a:solidFill>
                  <a:srgbClr val="1F3A5F"/>
                </a:solidFill>
                <a:latin typeface="Segoe UI"/>
              </a:rPr>
              <a:t>Ray Reuter</a:t>
            </a:r>
          </a:p>
          <a:p>
            <a:pPr algn="l"/>
            <a:r>
              <a:rPr sz="850" b="0" i="1">
                <a:solidFill>
                  <a:srgbClr val="6B7280"/>
                </a:solidFill>
                <a:latin typeface="Segoe UI"/>
              </a:rPr>
              <a:t>CCB Class Manager - Servers &amp; Storage CIs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1170432"/>
            <a:ext cx="2834640" cy="78638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50" b="1" i="0">
                <a:solidFill>
                  <a:srgbClr val="6B7280"/>
                </a:solidFill>
                <a:latin typeface="Segoe UI"/>
              </a:rPr>
              <a:t>PARENT CLASS</a:t>
            </a:r>
          </a:p>
          <a:p>
            <a:pPr algn="l"/>
            <a:r>
              <a:rPr sz="1250" b="1" i="0">
                <a:solidFill>
                  <a:srgbClr val="1F3A5F"/>
                </a:solidFill>
                <a:latin typeface="Segoe UI"/>
              </a:rPr>
              <a:t>Computer  &gt;  Hardware  &gt;  CI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8120" y="1170432"/>
            <a:ext cx="1920240" cy="78638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50" b="1" i="0">
                <a:solidFill>
                  <a:srgbClr val="6B7280"/>
                </a:solidFill>
                <a:latin typeface="Segoe UI"/>
              </a:rPr>
              <a:t>ACTIVE CIS</a:t>
            </a:r>
          </a:p>
          <a:p>
            <a:pPr algn="l"/>
            <a:r>
              <a:rPr sz="1250" b="1" i="0">
                <a:solidFill>
                  <a:srgbClr val="1F3A5F"/>
                </a:solidFill>
                <a:latin typeface="Segoe UI"/>
              </a:rPr>
              <a:t>15,218 active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29800" y="1170432"/>
            <a:ext cx="1737360" cy="78638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50" b="1" i="0">
                <a:solidFill>
                  <a:srgbClr val="6B7280"/>
                </a:solidFill>
                <a:latin typeface="Segoe UI"/>
              </a:rPr>
              <a:t>AUDITED (PROPOSED)</a:t>
            </a:r>
          </a:p>
          <a:p>
            <a:pPr algn="l"/>
            <a:r>
              <a:rPr sz="1250" b="1" i="0">
                <a:solidFill>
                  <a:srgbClr val="1F3A5F"/>
                </a:solidFill>
                <a:latin typeface="Segoe UI"/>
              </a:rPr>
              <a:t>8 of 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048256"/>
            <a:ext cx="6812280" cy="25603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300" b="1" i="0">
                <a:solidFill>
                  <a:srgbClr val="1F3A5F"/>
                </a:solidFill>
                <a:latin typeface="Segoe UI"/>
              </a:rPr>
              <a:t>Managed Attributes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502920" y="2304288"/>
          <a:ext cx="681228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1783080"/>
                <a:gridCol w="1645920"/>
                <a:gridCol w="1188720"/>
                <a:gridCol w="777240"/>
              </a:tblGrid>
              <a:tr h="27432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Label</a:t>
                      </a:r>
                    </a:p>
                  </a:txBody>
                  <a:tcPr marL="63500" marR="63500" marT="25400" marB="254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Field name</a:t>
                      </a:r>
                    </a:p>
                  </a:txBody>
                  <a:tcPr marL="63500" marR="63500" marT="25400" marB="254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Type</a:t>
                      </a:r>
                    </a:p>
                  </a:txBody>
                  <a:tcPr marL="63500" marR="63500" marT="25400" marB="254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Requirement</a:t>
                      </a:r>
                    </a:p>
                  </a:txBody>
                  <a:tcPr marL="63500" marR="63500" marT="25400" marB="254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Audit</a:t>
                      </a:r>
                    </a:p>
                  </a:txBody>
                  <a:tcPr marL="63500" marR="63500" marT="25400" marB="25400">
                    <a:solidFill>
                      <a:srgbClr val="1F3A5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1F3A5F"/>
                          </a:solidFill>
                          <a:latin typeface="Segoe UI"/>
                        </a:rPr>
                        <a:t>CI Owner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E6DB4"/>
                          </a:solidFill>
                          <a:latin typeface="Consolas"/>
                        </a:rPr>
                        <a:t>owned_by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Reference -&gt; sys_user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C0392B"/>
                          </a:solidFill>
                          <a:latin typeface="Segoe UI"/>
                        </a:rPr>
                        <a:t>Required *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2E8B57"/>
                          </a:solidFill>
                          <a:latin typeface="Segoe UI"/>
                        </a:rPr>
                        <a:t>T*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1F3A5F"/>
                          </a:solidFill>
                          <a:latin typeface="Segoe UI"/>
                        </a:rPr>
                        <a:t>Technical Owner Group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E6DB4"/>
                          </a:solidFill>
                          <a:latin typeface="Consolas"/>
                        </a:rPr>
                        <a:t>u_technical_owner_group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Reference -&gt; sys_user_group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C0392B"/>
                          </a:solidFill>
                          <a:latin typeface="Segoe UI"/>
                        </a:rPr>
                        <a:t>Required *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2E8B57"/>
                          </a:solidFill>
                          <a:latin typeface="Segoe UI"/>
                        </a:rPr>
                        <a:t>T*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1F3A5F"/>
                          </a:solidFill>
                          <a:latin typeface="Segoe UI"/>
                        </a:rPr>
                        <a:t>Support Group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E6DB4"/>
                          </a:solidFill>
                          <a:latin typeface="Consolas"/>
                        </a:rPr>
                        <a:t>support_group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Reference -&gt; sys_user_group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C0392B"/>
                          </a:solidFill>
                          <a:latin typeface="Segoe UI"/>
                        </a:rPr>
                        <a:t>Required *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2E8B57"/>
                          </a:solidFill>
                          <a:latin typeface="Segoe UI"/>
                        </a:rPr>
                        <a:t>T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1F3A5F"/>
                          </a:solidFill>
                          <a:latin typeface="Segoe UI"/>
                        </a:rPr>
                        <a:t>Asset Tag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E6DB4"/>
                          </a:solidFill>
                          <a:latin typeface="Consolas"/>
                        </a:rPr>
                        <a:t>asset_tag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String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E08A00"/>
                          </a:solidFill>
                          <a:latin typeface="Segoe UI"/>
                        </a:rPr>
                        <a:t>Recommended *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6B7280"/>
                          </a:solidFill>
                          <a:latin typeface="Segoe UI"/>
                        </a:rPr>
                        <a:t>F*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1F3A5F"/>
                          </a:solidFill>
                          <a:latin typeface="Segoe UI"/>
                        </a:rPr>
                        <a:t>Value Stream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E6DB4"/>
                          </a:solidFill>
                          <a:latin typeface="Consolas"/>
                        </a:rPr>
                        <a:t>u_value_stream (?)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Reference (?)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C0392B"/>
                          </a:solidFill>
                          <a:latin typeface="Segoe UI"/>
                        </a:rPr>
                        <a:t>Required *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2E8B57"/>
                          </a:solidFill>
                          <a:latin typeface="Segoe UI"/>
                        </a:rPr>
                        <a:t>T*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1F3A5F"/>
                          </a:solidFill>
                          <a:latin typeface="Segoe UI"/>
                        </a:rPr>
                        <a:t>SOX Type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E6DB4"/>
                          </a:solidFill>
                          <a:latin typeface="Consolas"/>
                        </a:rPr>
                        <a:t>u_sox_type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Choice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E08A00"/>
                          </a:solidFill>
                          <a:latin typeface="Segoe UI"/>
                        </a:rPr>
                        <a:t>Recommended *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2E8B57"/>
                          </a:solidFill>
                          <a:latin typeface="Segoe UI"/>
                        </a:rPr>
                        <a:t>T*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1F3A5F"/>
                          </a:solidFill>
                          <a:latin typeface="Segoe UI"/>
                        </a:rPr>
                        <a:t>Classification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E6DB4"/>
                          </a:solidFill>
                          <a:latin typeface="Consolas"/>
                        </a:rPr>
                        <a:t>u_classification (?)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Choice (?)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C0392B"/>
                          </a:solidFill>
                          <a:latin typeface="Segoe UI"/>
                        </a:rPr>
                        <a:t>Required *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2E8B57"/>
                          </a:solidFill>
                          <a:latin typeface="Segoe UI"/>
                        </a:rPr>
                        <a:t>T*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1F3A5F"/>
                          </a:solidFill>
                          <a:latin typeface="Segoe UI"/>
                        </a:rPr>
                        <a:t>Location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E6DB4"/>
                          </a:solidFill>
                          <a:latin typeface="Consolas"/>
                        </a:rPr>
                        <a:t>location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Reference -&gt; cmn_location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C0392B"/>
                          </a:solidFill>
                          <a:latin typeface="Segoe UI"/>
                        </a:rPr>
                        <a:t>Required *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2E8B57"/>
                          </a:solidFill>
                          <a:latin typeface="Segoe UI"/>
                        </a:rPr>
                        <a:t>T*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1F3A5F"/>
                          </a:solidFill>
                          <a:latin typeface="Segoe UI"/>
                        </a:rPr>
                        <a:t>IP Address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E6DB4"/>
                          </a:solidFill>
                          <a:latin typeface="Consolas"/>
                        </a:rPr>
                        <a:t>ip_address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String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E08A00"/>
                          </a:solidFill>
                          <a:latin typeface="Segoe UI"/>
                        </a:rPr>
                        <a:t>Recommended *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2E8B57"/>
                          </a:solidFill>
                          <a:latin typeface="Segoe UI"/>
                        </a:rPr>
                        <a:t>T*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16" name="Rectangle 15"/>
          <p:cNvSpPr/>
          <p:nvPr/>
        </p:nvSpPr>
        <p:spPr>
          <a:xfrm>
            <a:off x="7589520" y="2048256"/>
            <a:ext cx="4069080" cy="292608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0" y="2048256"/>
            <a:ext cx="388620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Identification &amp; Reconciliation (IRE)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0" y="2414016"/>
            <a:ext cx="4069080" cy="2011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1" i="0">
                <a:solidFill>
                  <a:srgbClr val="1F3A5F"/>
                </a:solidFill>
                <a:latin typeface="Segoe UI"/>
              </a:rPr>
              <a:t>IDENTIFICATION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0" y="2615184"/>
            <a:ext cx="4069080" cy="2011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2D2D2D"/>
                </a:solidFill>
                <a:latin typeface="Segoe UI"/>
              </a:rPr>
              <a:t>Rule: PPL Server   ·   Type: Independent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7589520" y="2834640"/>
          <a:ext cx="4069080" cy="877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2514600"/>
                <a:gridCol w="960120"/>
              </a:tblGrid>
              <a:tr h="219456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FFFFFF"/>
                          </a:solidFill>
                          <a:latin typeface="Segoe UI"/>
                        </a:rPr>
                        <a:t>Pri</a:t>
                      </a:r>
                    </a:p>
                  </a:txBody>
                  <a:tcPr marL="63500" marR="63500" marT="25400" marB="254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FFFFFF"/>
                          </a:solidFill>
                          <a:latin typeface="Segoe UI"/>
                        </a:rPr>
                        <a:t>Criterion attributes</a:t>
                      </a:r>
                    </a:p>
                  </a:txBody>
                  <a:tcPr marL="63500" marR="63500" marT="25400" marB="254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FFFFFF"/>
                          </a:solidFill>
                          <a:latin typeface="Segoe UI"/>
                        </a:rPr>
                        <a:t>Match</a:t>
                      </a:r>
                    </a:p>
                  </a:txBody>
                  <a:tcPr marL="63500" marR="63500" marT="25400" marB="25400">
                    <a:solidFill>
                      <a:srgbClr val="1F3A5F"/>
                    </a:solidFill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2E6DB4"/>
                          </a:solidFill>
                          <a:latin typeface="Segoe UI"/>
                        </a:rPr>
                        <a:t>100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Serial number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6B7280"/>
                          </a:solidFill>
                          <a:latin typeface="Segoe UI"/>
                        </a:rPr>
                        <a:t>Standard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2E6DB4"/>
                          </a:solidFill>
                          <a:latin typeface="Segoe UI"/>
                        </a:rPr>
                        <a:t>200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Serial number (lookup table)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6B7280"/>
                          </a:solidFill>
                          <a:latin typeface="Segoe UI"/>
                        </a:rPr>
                        <a:t>Lookup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2E6DB4"/>
                          </a:solidFill>
                          <a:latin typeface="Segoe UI"/>
                        </a:rPr>
                        <a:t>300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Name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6B7280"/>
                          </a:solidFill>
                          <a:latin typeface="Segoe UI"/>
                        </a:rPr>
                        <a:t>Standard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7589520" y="3822192"/>
            <a:ext cx="4069080" cy="2011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1" i="0">
                <a:solidFill>
                  <a:srgbClr val="1F3A5F"/>
                </a:solidFill>
                <a:latin typeface="Segoe UI"/>
              </a:rPr>
              <a:t>RECONCILIATION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0" y="4023360"/>
            <a:ext cx="4069080" cy="2011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50" b="0" i="0">
                <a:solidFill>
                  <a:srgbClr val="2D2D2D"/>
                </a:solidFill>
                <a:latin typeface="Segoe UI"/>
              </a:rPr>
              <a:t>Created: 0 on class  ·  Derived: 5 (inherited from Computer / Hardware)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7589520" y="4242816"/>
          <a:ext cx="4069080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1234440"/>
                <a:gridCol w="2240280"/>
              </a:tblGrid>
              <a:tr h="219456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FFFFFF"/>
                          </a:solidFill>
                          <a:latin typeface="Segoe UI"/>
                        </a:rPr>
                        <a:t>Pri</a:t>
                      </a:r>
                    </a:p>
                  </a:txBody>
                  <a:tcPr marL="63500" marR="63500" marT="25400" marB="254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FFFFFF"/>
                          </a:solidFill>
                          <a:latin typeface="Segoe UI"/>
                        </a:rPr>
                        <a:t>Source</a:t>
                      </a:r>
                    </a:p>
                  </a:txBody>
                  <a:tcPr marL="63500" marR="63500" marT="25400" marB="254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FFFFFF"/>
                          </a:solidFill>
                          <a:latin typeface="Segoe UI"/>
                        </a:rPr>
                        <a:t>Attributes (winning source)</a:t>
                      </a:r>
                    </a:p>
                  </a:txBody>
                  <a:tcPr marL="63500" marR="63500" marT="25400" marB="25400">
                    <a:solidFill>
                      <a:srgbClr val="1F3A5F"/>
                    </a:solidFill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2E6DB4"/>
                          </a:solidFill>
                          <a:latin typeface="Segoe UI"/>
                        </a:rPr>
                        <a:t>80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1F3A5F"/>
                          </a:solidFill>
                          <a:latin typeface="Segoe UI"/>
                        </a:rPr>
                        <a:t>ServiceNow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00" b="0" i="0">
                          <a:solidFill>
                            <a:srgbClr val="2D2D2D"/>
                          </a:solidFill>
                          <a:latin typeface="Segoe UI"/>
                        </a:rPr>
                        <a:t>IP Address, MAC Address, OS Version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2E6DB4"/>
                          </a:solidFill>
                          <a:latin typeface="Segoe UI"/>
                        </a:rPr>
                        <a:t>90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1F3A5F"/>
                          </a:solidFill>
                          <a:latin typeface="Segoe UI"/>
                        </a:rPr>
                        <a:t>SG-SCCM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00" b="0" i="0">
                          <a:solidFill>
                            <a:srgbClr val="2D2D2D"/>
                          </a:solidFill>
                          <a:latin typeface="Segoe UI"/>
                        </a:rPr>
                        <a:t>CPU count, Disk space, Manufacturer, +more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2E6DB4"/>
                          </a:solidFill>
                          <a:latin typeface="Segoe UI"/>
                        </a:rPr>
                        <a:t>100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1F3A5F"/>
                          </a:solidFill>
                          <a:latin typeface="Segoe UI"/>
                        </a:rPr>
                        <a:t>ServiceNow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00" b="0" i="0">
                          <a:solidFill>
                            <a:srgbClr val="2D2D2D"/>
                          </a:solidFill>
                          <a:latin typeface="Segoe UI"/>
                        </a:rPr>
                        <a:t>All  (Hardware)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2E6DB4"/>
                          </a:solidFill>
                          <a:latin typeface="Segoe UI"/>
                        </a:rPr>
                        <a:t>100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1F3A5F"/>
                          </a:solidFill>
                          <a:latin typeface="Segoe UI"/>
                        </a:rPr>
                        <a:t>SG-SCCM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00" b="0" i="0">
                          <a:solidFill>
                            <a:srgbClr val="2D2D2D"/>
                          </a:solidFill>
                          <a:latin typeface="Segoe UI"/>
                        </a:rPr>
                        <a:t>Approval group, Asset, Assigned, +more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2E6DB4"/>
                          </a:solidFill>
                          <a:latin typeface="Segoe UI"/>
                        </a:rPr>
                        <a:t>200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1F3A5F"/>
                          </a:solidFill>
                          <a:latin typeface="Segoe UI"/>
                        </a:rPr>
                        <a:t>ServiceNow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00" b="0" i="0">
                          <a:solidFill>
                            <a:srgbClr val="2D2D2D"/>
                          </a:solidFill>
                          <a:latin typeface="Segoe UI"/>
                        </a:rPr>
                        <a:t>Approval group, Asset, Asset tag, +more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24" name="Rectangle 23"/>
          <p:cNvSpPr/>
          <p:nvPr/>
        </p:nvSpPr>
        <p:spPr>
          <a:xfrm>
            <a:off x="502920" y="5669280"/>
            <a:ext cx="11155680" cy="731520"/>
          </a:xfrm>
          <a:prstGeom prst="rect">
            <a:avLst/>
          </a:prstGeom>
          <a:solidFill>
            <a:srgbClr val="E9F0F8"/>
          </a:solidFill>
          <a:ln w="9525">
            <a:solidFill>
              <a:srgbClr val="2E6D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2920" y="5669280"/>
            <a:ext cx="73152" cy="731520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5669280"/>
            <a:ext cx="1097280" cy="7315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100" b="1" i="0">
                <a:solidFill>
                  <a:srgbClr val="1F3A5F"/>
                </a:solidFill>
                <a:latin typeface="Segoe UI"/>
              </a:rPr>
              <a:t>IRE</a:t>
            </a:r>
          </a:p>
          <a:p>
            <a:pPr algn="l"/>
            <a:r>
              <a:rPr sz="1100" b="1" i="0">
                <a:solidFill>
                  <a:srgbClr val="1F3A5F"/>
                </a:solidFill>
                <a:latin typeface="Segoe UI"/>
              </a:rPr>
              <a:t>Summary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28800" y="5705856"/>
            <a:ext cx="9692640" cy="40233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50" b="0" i="0">
                <a:solidFill>
                  <a:srgbClr val="2D2D2D"/>
                </a:solidFill>
                <a:latin typeface="Segoe UI"/>
              </a:rPr>
              <a:t>Servers are identified independently - Serial Number (Priority 100), a serial-number lookup (200), then Name (300) - never via a parent CI. No reconciliation rules are defined on the class itself; source precedence is inherited from the Computer / Hardware hierarchy, where SG-SCCM wins for hardware, asset and ownership attributes and ServiceNow Discovery wins for IP, MAC and OS.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28800" y="6126480"/>
            <a:ext cx="9692640" cy="256032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800" b="0" i="1">
                <a:solidFill>
                  <a:srgbClr val="6B7280"/>
                </a:solidFill>
                <a:latin typeface="Segoe UI"/>
              </a:rPr>
              <a:t>* = proposed, pending CCB (Support Group Audit is per the Stage 1 dictionary).   (?) = confirm technical field name in ServiceNow.   IRE reflects the as-built configuration, 2026-07-20.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