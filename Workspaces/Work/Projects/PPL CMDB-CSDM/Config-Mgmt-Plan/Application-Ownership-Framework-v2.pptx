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76" r:id="rId3"/>
    <p:sldId id="259" r:id="rId4"/>
    <p:sldId id="257" r:id="rId5"/>
    <p:sldId id="261" r:id="rId6"/>
    <p:sldId id="258" r:id="rId7"/>
    <p:sldId id="260" r:id="rId8"/>
    <p:sldId id="271" r:id="rId9"/>
    <p:sldId id="272" r:id="rId10"/>
    <p:sldId id="273" r:id="rId11"/>
    <p:sldId id="274" r:id="rId12"/>
    <p:sldId id="275"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5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0EF354-E324-482D-8B65-4A3D3C229577}" v="10" dt="2026-10-05T23:48:02.7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96" y="1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0255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230663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BFFFE2-73D9-16AC-1A58-AB7984E7683C}"/>
              </a:ext>
            </a:extLst>
          </p:cNvPr>
          <p:cNvSpPr txBox="1"/>
          <p:nvPr userDrawn="1">
            <p:extLst>
              <p:ext uri="{1162E1C5-73C7-4A58-AE30-91384D911F3F}">
                <p184:classification xmlns:p184="http://schemas.microsoft.com/office/powerpoint/2018/4/main" val="ftr"/>
              </p:ext>
            </p:extLst>
          </p:nvPr>
        </p:nvSpPr>
        <p:spPr>
          <a:xfrm>
            <a:off x="63500" y="6581140"/>
            <a:ext cx="1073150" cy="213360"/>
          </a:xfrm>
          <a:prstGeom prst="rect">
            <a:avLst/>
          </a:prstGeom>
        </p:spPr>
        <p:txBody>
          <a:bodyPr horzOverflow="overflow" lIns="0" tIns="0" rIns="0" bIns="0">
            <a:spAutoFit/>
          </a:bodyPr>
          <a:lstStyle/>
          <a:p>
            <a:pPr algn="l"/>
            <a:r>
              <a:rPr lang="en-US" sz="1400">
                <a:solidFill>
                  <a:srgbClr val="000000">
                    <a:alpha val="50000"/>
                  </a:srgbClr>
                </a:solidFill>
                <a:latin typeface="Aptos" panose="020B0004020202020204" pitchFamily="34" charset="0"/>
              </a:rPr>
              <a:t>Business Use</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489"/>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1489"/>
          </a:solidFill>
          <a:ln/>
        </p:spPr>
        <p:txBody>
          <a:bodyPr/>
          <a:lstStyle/>
          <a:p>
            <a:endParaRPr lang="en-US"/>
          </a:p>
        </p:txBody>
      </p:sp>
      <p:sp>
        <p:nvSpPr>
          <p:cNvPr id="24" name="Shape 22"/>
          <p:cNvSpPr/>
          <p:nvPr/>
        </p:nvSpPr>
        <p:spPr>
          <a:xfrm>
            <a:off x="749808" y="1280160"/>
            <a:ext cx="658368" cy="310896"/>
          </a:xfrm>
          <a:prstGeom prst="rect">
            <a:avLst/>
          </a:prstGeom>
          <a:solidFill>
            <a:srgbClr val="FFFFFF"/>
          </a:solidFill>
          <a:ln/>
        </p:spPr>
        <p:txBody>
          <a:bodyPr/>
          <a:lstStyle/>
          <a:p>
            <a:endParaRPr lang="en-US"/>
          </a:p>
        </p:txBody>
      </p:sp>
      <p:sp>
        <p:nvSpPr>
          <p:cNvPr id="25" name="Text 23"/>
          <p:cNvSpPr/>
          <p:nvPr/>
        </p:nvSpPr>
        <p:spPr>
          <a:xfrm>
            <a:off x="749808" y="1280160"/>
            <a:ext cx="658368" cy="310896"/>
          </a:xfrm>
          <a:prstGeom prst="rect">
            <a:avLst/>
          </a:prstGeom>
          <a:noFill/>
          <a:ln/>
        </p:spPr>
        <p:txBody>
          <a:bodyPr wrap="square" rtlCol="0" anchor="ctr"/>
          <a:lstStyle/>
          <a:p>
            <a:pPr marL="0" indent="0" algn="ctr">
              <a:buNone/>
            </a:pPr>
            <a:r>
              <a:rPr lang="en-US" sz="1500" b="1" kern="0" spc="100">
                <a:solidFill>
                  <a:srgbClr val="001489"/>
                </a:solidFill>
                <a:latin typeface="Arial" pitchFamily="34" charset="0"/>
                <a:ea typeface="Arial" pitchFamily="34" charset="-122"/>
                <a:cs typeface="Arial" pitchFamily="34" charset="-120"/>
              </a:rPr>
              <a:t>PPL</a:t>
            </a:r>
            <a:endParaRPr lang="en-US" sz="1500"/>
          </a:p>
        </p:txBody>
      </p:sp>
      <p:sp>
        <p:nvSpPr>
          <p:cNvPr id="26" name="Shape 24"/>
          <p:cNvSpPr/>
          <p:nvPr/>
        </p:nvSpPr>
        <p:spPr>
          <a:xfrm>
            <a:off x="548640" y="2148840"/>
            <a:ext cx="82296" cy="2286000"/>
          </a:xfrm>
          <a:prstGeom prst="rect">
            <a:avLst/>
          </a:prstGeom>
          <a:solidFill>
            <a:srgbClr val="0085CA"/>
          </a:solidFill>
          <a:ln/>
        </p:spPr>
        <p:txBody>
          <a:bodyPr/>
          <a:lstStyle/>
          <a:p>
            <a:endParaRPr lang="en-US"/>
          </a:p>
        </p:txBody>
      </p:sp>
      <p:sp>
        <p:nvSpPr>
          <p:cNvPr id="27" name="Text 25"/>
          <p:cNvSpPr/>
          <p:nvPr/>
        </p:nvSpPr>
        <p:spPr>
          <a:xfrm>
            <a:off x="777240" y="2148840"/>
            <a:ext cx="7315200" cy="320040"/>
          </a:xfrm>
          <a:prstGeom prst="rect">
            <a:avLst/>
          </a:prstGeom>
          <a:noFill/>
          <a:ln/>
        </p:spPr>
        <p:txBody>
          <a:bodyPr wrap="square" rtlCol="0" anchor="ctr"/>
          <a:lstStyle/>
          <a:p>
            <a:pPr marL="0" indent="0">
              <a:buNone/>
            </a:pPr>
            <a:r>
              <a:rPr lang="en-US" sz="1300" b="1" kern="0" spc="300">
                <a:solidFill>
                  <a:srgbClr val="8FC7EA"/>
                </a:solidFill>
                <a:latin typeface="Calibri" pitchFamily="34" charset="0"/>
                <a:ea typeface="Calibri" pitchFamily="34" charset="-122"/>
                <a:cs typeface="Calibri" pitchFamily="34" charset="-120"/>
              </a:rPr>
              <a:t>ENTERPRISE ARCHITECTURE  ·  GOVERNANCE</a:t>
            </a:r>
            <a:endParaRPr lang="en-US" sz="1300"/>
          </a:p>
        </p:txBody>
      </p:sp>
      <p:sp>
        <p:nvSpPr>
          <p:cNvPr id="28" name="Text 26"/>
          <p:cNvSpPr/>
          <p:nvPr/>
        </p:nvSpPr>
        <p:spPr>
          <a:xfrm>
            <a:off x="749808" y="2487168"/>
            <a:ext cx="7498080" cy="1737360"/>
          </a:xfrm>
          <a:prstGeom prst="rect">
            <a:avLst/>
          </a:prstGeom>
          <a:noFill/>
          <a:ln/>
        </p:spPr>
        <p:txBody>
          <a:bodyPr wrap="square" rtlCol="0" anchor="ctr"/>
          <a:lstStyle/>
          <a:p>
            <a:pPr marL="0" indent="0">
              <a:lnSpc>
                <a:spcPct val="100000"/>
              </a:lnSpc>
              <a:buNone/>
            </a:pPr>
            <a:r>
              <a:rPr lang="en-US" sz="3700" b="1">
                <a:solidFill>
                  <a:srgbClr val="FFFFFF"/>
                </a:solidFill>
                <a:latin typeface="Arial" pitchFamily="34" charset="0"/>
                <a:ea typeface="Arial" pitchFamily="34" charset="-122"/>
                <a:cs typeface="Arial" pitchFamily="34" charset="-120"/>
              </a:rPr>
              <a:t>Application Ownership</a:t>
            </a:r>
            <a:r>
              <a:rPr lang="en-US" sz="3700"/>
              <a:t> </a:t>
            </a:r>
            <a:r>
              <a:rPr lang="en-US" sz="3700" b="1">
                <a:solidFill>
                  <a:srgbClr val="FFFFFF"/>
                </a:solidFill>
                <a:latin typeface="Arial" pitchFamily="34" charset="0"/>
                <a:ea typeface="Arial" pitchFamily="34" charset="-122"/>
                <a:cs typeface="Arial" pitchFamily="34" charset="-120"/>
              </a:rPr>
              <a:t>Framework </a:t>
            </a:r>
            <a:endParaRPr lang="en-US" sz="3700"/>
          </a:p>
        </p:txBody>
      </p:sp>
      <p:sp>
        <p:nvSpPr>
          <p:cNvPr id="29" name="Text 27"/>
          <p:cNvSpPr/>
          <p:nvPr/>
        </p:nvSpPr>
        <p:spPr>
          <a:xfrm>
            <a:off x="777240" y="4343400"/>
            <a:ext cx="7315200" cy="1280160"/>
          </a:xfrm>
          <a:prstGeom prst="rect">
            <a:avLst/>
          </a:prstGeom>
          <a:noFill/>
          <a:ln/>
        </p:spPr>
        <p:txBody>
          <a:bodyPr wrap="square" rtlCol="0" anchor="ctr"/>
          <a:lstStyle/>
          <a:p>
            <a:pPr marL="0" indent="0">
              <a:lnSpc>
                <a:spcPct val="112000"/>
              </a:lnSpc>
              <a:buNone/>
            </a:pPr>
            <a:r>
              <a:rPr lang="en-US" sz="1400">
                <a:solidFill>
                  <a:srgbClr val="CFDCF0"/>
                </a:solidFill>
                <a:latin typeface="Calibri" pitchFamily="34" charset="0"/>
                <a:ea typeface="Calibri" pitchFamily="34" charset="-122"/>
                <a:cs typeface="Calibri" pitchFamily="34" charset="-120"/>
              </a:rPr>
              <a:t>A federated ownership model for every application type — SaaS, COTS, custom, ERP, integration, data &amp; AI, OT and legacy — aligned to PPL's Business and Tech Foundation Value Stream interaction model, and grounded in ISO 27001, ServiceNow CSDM and IT4IT industry practice.</a:t>
            </a:r>
            <a:endParaRPr lang="en-US" sz="1400"/>
          </a:p>
        </p:txBody>
      </p:sp>
      <p:sp>
        <p:nvSpPr>
          <p:cNvPr id="31" name="Text 29"/>
          <p:cNvSpPr/>
          <p:nvPr/>
        </p:nvSpPr>
        <p:spPr>
          <a:xfrm>
            <a:off x="777240" y="6172200"/>
            <a:ext cx="7315200" cy="274320"/>
          </a:xfrm>
          <a:prstGeom prst="rect">
            <a:avLst/>
          </a:prstGeom>
          <a:noFill/>
          <a:ln/>
        </p:spPr>
        <p:txBody>
          <a:bodyPr wrap="square" rtlCol="0" anchor="ctr"/>
          <a:lstStyle/>
          <a:p>
            <a:pPr marL="0" indent="0">
              <a:buNone/>
            </a:pPr>
            <a:r>
              <a:rPr lang="en-US" sz="1000">
                <a:solidFill>
                  <a:srgbClr val="6E86B5"/>
                </a:solidFill>
                <a:latin typeface="Calibri" pitchFamily="34" charset="0"/>
                <a:ea typeface="Calibri" pitchFamily="34" charset="-122"/>
                <a:cs typeface="Calibri" pitchFamily="34" charset="-120"/>
              </a:rPr>
              <a:t>Business Use            © PPL Corporation 2026</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78992"/>
          </a:xfrm>
          <a:prstGeom prst="rect">
            <a:avLst/>
          </a:prstGeom>
          <a:solidFill>
            <a:srgbClr val="001489"/>
          </a:solidFill>
          <a:ln/>
        </p:spPr>
        <p:txBody>
          <a:bodyPr/>
          <a:lstStyle/>
          <a:p>
            <a:endParaRPr lang="en-US"/>
          </a:p>
        </p:txBody>
      </p:sp>
      <p:sp>
        <p:nvSpPr>
          <p:cNvPr id="3" name="Shape 1"/>
          <p:cNvSpPr/>
          <p:nvPr/>
        </p:nvSpPr>
        <p:spPr>
          <a:xfrm>
            <a:off x="0" y="1078992"/>
            <a:ext cx="12188952" cy="54864"/>
          </a:xfrm>
          <a:prstGeom prst="rect">
            <a:avLst/>
          </a:prstGeom>
          <a:solidFill>
            <a:srgbClr val="0085CA"/>
          </a:solidFill>
          <a:ln/>
        </p:spPr>
        <p:txBody>
          <a:bodyPr/>
          <a:lstStyle/>
          <a:p>
            <a:endParaRPr lang="en-US"/>
          </a:p>
        </p:txBody>
      </p:sp>
      <p:sp>
        <p:nvSpPr>
          <p:cNvPr id="4" name="Text 2"/>
          <p:cNvSpPr/>
          <p:nvPr/>
        </p:nvSpPr>
        <p:spPr>
          <a:xfrm>
            <a:off x="457200" y="182880"/>
            <a:ext cx="10058400" cy="256032"/>
          </a:xfrm>
          <a:prstGeom prst="rect">
            <a:avLst/>
          </a:prstGeom>
          <a:noFill/>
          <a:ln/>
        </p:spPr>
        <p:txBody>
          <a:bodyPr wrap="square" rtlCol="0" anchor="ctr"/>
          <a:lstStyle/>
          <a:p>
            <a:pPr marL="0" indent="0">
              <a:buNone/>
            </a:pPr>
            <a:r>
              <a:rPr lang="en-US" sz="1100" b="1" kern="0" spc="300" dirty="0">
                <a:solidFill>
                  <a:srgbClr val="8FC7EA"/>
                </a:solidFill>
                <a:latin typeface="Calibri" pitchFamily="34" charset="0"/>
                <a:ea typeface="Calibri" pitchFamily="34" charset="-122"/>
                <a:cs typeface="Calibri" pitchFamily="34" charset="-120"/>
              </a:rPr>
              <a:t>THE AGENDA</a:t>
            </a:r>
            <a:endParaRPr lang="en-US" sz="1100" dirty="0"/>
          </a:p>
        </p:txBody>
      </p:sp>
      <p:sp>
        <p:nvSpPr>
          <p:cNvPr id="5" name="Text 3"/>
          <p:cNvSpPr/>
          <p:nvPr/>
        </p:nvSpPr>
        <p:spPr>
          <a:xfrm>
            <a:off x="457200" y="420624"/>
            <a:ext cx="10515600" cy="566928"/>
          </a:xfrm>
          <a:prstGeom prst="rect">
            <a:avLst/>
          </a:prstGeom>
          <a:noFill/>
          <a:ln/>
        </p:spPr>
        <p:txBody>
          <a:bodyPr wrap="square" rtlCol="0" anchor="ctr"/>
          <a:lstStyle/>
          <a:p>
            <a:pPr marL="0" indent="0">
              <a:buNone/>
            </a:pPr>
            <a:r>
              <a:rPr lang="en-US" sz="2300" b="1">
                <a:solidFill>
                  <a:srgbClr val="FFFFFF"/>
                </a:solidFill>
                <a:latin typeface="Arial" pitchFamily="34" charset="0"/>
                <a:ea typeface="Arial" pitchFamily="34" charset="-122"/>
                <a:cs typeface="Arial" pitchFamily="34" charset="-120"/>
              </a:rPr>
              <a:t>Agenda</a:t>
            </a:r>
            <a:endParaRPr lang="en-US" sz="2300" dirty="0"/>
          </a:p>
        </p:txBody>
      </p:sp>
      <p:sp>
        <p:nvSpPr>
          <p:cNvPr id="6" name="Shape 4"/>
          <p:cNvSpPr/>
          <p:nvPr/>
        </p:nvSpPr>
        <p:spPr>
          <a:xfrm>
            <a:off x="11073384" y="384048"/>
            <a:ext cx="658368" cy="310896"/>
          </a:xfrm>
          <a:prstGeom prst="rect">
            <a:avLst/>
          </a:prstGeom>
          <a:solidFill>
            <a:srgbClr val="FFFFFF"/>
          </a:solidFill>
          <a:ln/>
        </p:spPr>
        <p:txBody>
          <a:bodyPr/>
          <a:lstStyle/>
          <a:p>
            <a:endParaRPr lang="en-US"/>
          </a:p>
        </p:txBody>
      </p:sp>
      <p:sp>
        <p:nvSpPr>
          <p:cNvPr id="7" name="Text 5"/>
          <p:cNvSpPr/>
          <p:nvPr/>
        </p:nvSpPr>
        <p:spPr>
          <a:xfrm>
            <a:off x="11073384" y="384048"/>
            <a:ext cx="658368" cy="310896"/>
          </a:xfrm>
          <a:prstGeom prst="rect">
            <a:avLst/>
          </a:prstGeom>
          <a:noFill/>
          <a:ln/>
        </p:spPr>
        <p:txBody>
          <a:bodyPr wrap="square" rtlCol="0" anchor="ctr"/>
          <a:lstStyle/>
          <a:p>
            <a:pPr marL="0" indent="0" algn="ctr">
              <a:buNone/>
            </a:pPr>
            <a:r>
              <a:rPr lang="en-US" sz="1500" b="1" dirty="0">
                <a:solidFill>
                  <a:srgbClr val="001489"/>
                </a:solidFill>
                <a:latin typeface="Arial" pitchFamily="34" charset="0"/>
                <a:ea typeface="Arial" pitchFamily="34" charset="-122"/>
                <a:cs typeface="Arial" pitchFamily="34" charset="-120"/>
              </a:rPr>
              <a:t>PPL</a:t>
            </a:r>
            <a:endParaRPr lang="en-US" sz="1500" dirty="0"/>
          </a:p>
        </p:txBody>
      </p:sp>
      <p:sp>
        <p:nvSpPr>
          <p:cNvPr id="8" name="Text 6"/>
          <p:cNvSpPr/>
          <p:nvPr/>
        </p:nvSpPr>
        <p:spPr>
          <a:xfrm>
            <a:off x="3057361" y="1303020"/>
            <a:ext cx="6694715" cy="4910328"/>
          </a:xfrm>
          <a:prstGeom prst="rect">
            <a:avLst/>
          </a:prstGeom>
          <a:noFill/>
          <a:ln/>
        </p:spPr>
        <p:txBody>
          <a:bodyPr wrap="square" rtlCol="0" anchor="ctr"/>
          <a:lstStyle/>
          <a:p>
            <a:pPr>
              <a:lnSpc>
                <a:spcPct val="200000"/>
              </a:lnSpc>
            </a:pPr>
            <a:r>
              <a:rPr lang="en-US" b="1" dirty="0">
                <a:solidFill>
                  <a:srgbClr val="001489"/>
                </a:solidFill>
                <a:latin typeface="Arial" pitchFamily="34" charset="0"/>
                <a:cs typeface="Arial" pitchFamily="34" charset="-120"/>
              </a:rPr>
              <a:t>Application Taxonomy</a:t>
            </a:r>
          </a:p>
          <a:p>
            <a:pPr>
              <a:lnSpc>
                <a:spcPct val="200000"/>
              </a:lnSpc>
            </a:pPr>
            <a:r>
              <a:rPr lang="en-US" b="1" dirty="0">
                <a:solidFill>
                  <a:srgbClr val="001489"/>
                </a:solidFill>
                <a:latin typeface="Arial" pitchFamily="34" charset="0"/>
                <a:cs typeface="Arial" pitchFamily="34" charset="-120"/>
              </a:rPr>
              <a:t>Why App Ownership Framework is needed</a:t>
            </a:r>
          </a:p>
          <a:p>
            <a:pPr>
              <a:lnSpc>
                <a:spcPct val="200000"/>
              </a:lnSpc>
            </a:pPr>
            <a:r>
              <a:rPr lang="en-US" b="1" dirty="0">
                <a:solidFill>
                  <a:srgbClr val="001489"/>
                </a:solidFill>
                <a:latin typeface="Arial" pitchFamily="34" charset="0"/>
                <a:cs typeface="Arial" pitchFamily="34" charset="-120"/>
              </a:rPr>
              <a:t>Alignment with Business and Tech Foundation Model</a:t>
            </a:r>
          </a:p>
          <a:p>
            <a:pPr>
              <a:lnSpc>
                <a:spcPct val="200000"/>
              </a:lnSpc>
            </a:pPr>
            <a:r>
              <a:rPr lang="en-US" b="1" dirty="0">
                <a:solidFill>
                  <a:srgbClr val="001489"/>
                </a:solidFill>
                <a:latin typeface="Arial" pitchFamily="34" charset="0"/>
                <a:cs typeface="Arial" pitchFamily="34" charset="-120"/>
              </a:rPr>
              <a:t>Ownership Roles</a:t>
            </a:r>
          </a:p>
          <a:p>
            <a:pPr>
              <a:lnSpc>
                <a:spcPct val="200000"/>
              </a:lnSpc>
            </a:pPr>
            <a:r>
              <a:rPr lang="en-US" b="1" dirty="0">
                <a:solidFill>
                  <a:srgbClr val="001489"/>
                </a:solidFill>
                <a:latin typeface="Arial" pitchFamily="34" charset="0"/>
                <a:cs typeface="Arial" pitchFamily="34" charset="-120"/>
              </a:rPr>
              <a:t>Who Owns What – by Application Type</a:t>
            </a:r>
          </a:p>
          <a:p>
            <a:pPr>
              <a:lnSpc>
                <a:spcPct val="200000"/>
              </a:lnSpc>
            </a:pPr>
            <a:r>
              <a:rPr lang="en-US" b="1" dirty="0">
                <a:solidFill>
                  <a:srgbClr val="001489"/>
                </a:solidFill>
                <a:latin typeface="Arial" pitchFamily="34" charset="0"/>
                <a:cs typeface="Arial" pitchFamily="34" charset="-120"/>
              </a:rPr>
              <a:t>Role Cards</a:t>
            </a:r>
          </a:p>
          <a:p>
            <a:pPr>
              <a:lnSpc>
                <a:spcPct val="200000"/>
              </a:lnSpc>
            </a:pPr>
            <a:r>
              <a:rPr lang="en-US" b="1" dirty="0">
                <a:solidFill>
                  <a:srgbClr val="001489"/>
                </a:solidFill>
                <a:latin typeface="Arial" pitchFamily="34" charset="0"/>
                <a:cs typeface="Arial" pitchFamily="34" charset="-120"/>
              </a:rPr>
              <a:t>Governance Guardrails and Next Steps</a:t>
            </a:r>
          </a:p>
          <a:p>
            <a:endParaRPr lang="en-US" sz="1200" dirty="0"/>
          </a:p>
          <a:p>
            <a:endParaRPr lang="en-US" sz="1200" dirty="0"/>
          </a:p>
        </p:txBody>
      </p:sp>
      <p:sp>
        <p:nvSpPr>
          <p:cNvPr id="32" name="Text 30"/>
          <p:cNvSpPr/>
          <p:nvPr/>
        </p:nvSpPr>
        <p:spPr>
          <a:xfrm>
            <a:off x="2286000" y="6492240"/>
            <a:ext cx="5486400" cy="237744"/>
          </a:xfrm>
          <a:prstGeom prst="rect">
            <a:avLst/>
          </a:prstGeom>
          <a:noFill/>
          <a:ln/>
        </p:spPr>
        <p:txBody>
          <a:bodyPr wrap="square" rtlCol="0" anchor="ctr"/>
          <a:lstStyle/>
          <a:p>
            <a:pPr marL="0" indent="0">
              <a:buNone/>
            </a:pPr>
            <a:r>
              <a:rPr lang="en-US" sz="850" dirty="0">
                <a:solidFill>
                  <a:srgbClr val="6A6157"/>
                </a:solidFill>
                <a:latin typeface="Calibri" pitchFamily="34" charset="0"/>
                <a:ea typeface="Calibri" pitchFamily="34" charset="-122"/>
                <a:cs typeface="Calibri" pitchFamily="34" charset="-120"/>
              </a:rPr>
              <a:t>Application Ownership Governance</a:t>
            </a:r>
            <a:endParaRPr lang="en-US" sz="850" dirty="0"/>
          </a:p>
        </p:txBody>
      </p:sp>
      <p:sp>
        <p:nvSpPr>
          <p:cNvPr id="33" name="Text 31"/>
          <p:cNvSpPr/>
          <p:nvPr/>
        </p:nvSpPr>
        <p:spPr>
          <a:xfrm>
            <a:off x="7772400" y="6492240"/>
            <a:ext cx="3959352" cy="237744"/>
          </a:xfrm>
          <a:prstGeom prst="rect">
            <a:avLst/>
          </a:prstGeom>
          <a:noFill/>
          <a:ln/>
        </p:spPr>
        <p:txBody>
          <a:bodyPr wrap="square" rtlCol="0" anchor="ctr"/>
          <a:lstStyle/>
          <a:p>
            <a:pPr marL="0" indent="0" algn="r">
              <a:buNone/>
            </a:pPr>
            <a:r>
              <a:rPr lang="en-US" sz="850" dirty="0">
                <a:solidFill>
                  <a:srgbClr val="6A6157"/>
                </a:solidFill>
                <a:latin typeface="Calibri" pitchFamily="34" charset="0"/>
                <a:ea typeface="Calibri" pitchFamily="34" charset="-122"/>
                <a:cs typeface="Calibri" pitchFamily="34" charset="-120"/>
              </a:rPr>
              <a:t>© PPL Corporation 2026   |   1</a:t>
            </a:r>
            <a:endParaRPr lang="en-US" sz="850" dirty="0"/>
          </a:p>
        </p:txBody>
      </p:sp>
    </p:spTree>
    <p:extLst>
      <p:ext uri="{BB962C8B-B14F-4D97-AF65-F5344CB8AC3E}">
        <p14:creationId xmlns:p14="http://schemas.microsoft.com/office/powerpoint/2010/main" val="306360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ect">
            <a:avLst/>
          </a:prstGeom>
          <a:solidFill>
            <a:srgbClr val="001489"/>
          </a:solidFill>
          <a:ln/>
        </p:spPr>
        <p:txBody>
          <a:bodyPr/>
          <a:lstStyle/>
          <a:p>
            <a:endParaRPr lang="en-US"/>
          </a:p>
        </p:txBody>
      </p:sp>
      <p:sp>
        <p:nvSpPr>
          <p:cNvPr id="3" name="Shape 1"/>
          <p:cNvSpPr/>
          <p:nvPr/>
        </p:nvSpPr>
        <p:spPr>
          <a:xfrm>
            <a:off x="0" y="1078992"/>
            <a:ext cx="12188952" cy="54864"/>
          </a:xfrm>
          <a:prstGeom prst="rect">
            <a:avLst/>
          </a:prstGeom>
          <a:solidFill>
            <a:srgbClr val="0085CA"/>
          </a:solidFill>
          <a:ln/>
        </p:spPr>
        <p:txBody>
          <a:bodyPr/>
          <a:lstStyle/>
          <a:p>
            <a:endParaRPr lang="en-US"/>
          </a:p>
        </p:txBody>
      </p:sp>
      <p:sp>
        <p:nvSpPr>
          <p:cNvPr id="4" name="Text 2"/>
          <p:cNvSpPr/>
          <p:nvPr/>
        </p:nvSpPr>
        <p:spPr>
          <a:xfrm>
            <a:off x="457200" y="182880"/>
            <a:ext cx="10058400" cy="256032"/>
          </a:xfrm>
          <a:prstGeom prst="rect">
            <a:avLst/>
          </a:prstGeom>
          <a:noFill/>
          <a:ln/>
        </p:spPr>
        <p:txBody>
          <a:bodyPr wrap="square" rtlCol="0" anchor="ctr"/>
          <a:lstStyle/>
          <a:p>
            <a:pPr marL="0" indent="0">
              <a:buNone/>
            </a:pPr>
            <a:r>
              <a:rPr lang="en-US" sz="1100" b="1" kern="0" spc="300">
                <a:solidFill>
                  <a:srgbClr val="8FC7EA"/>
                </a:solidFill>
                <a:latin typeface="Calibri" pitchFamily="34" charset="0"/>
                <a:ea typeface="Calibri" pitchFamily="34" charset="-122"/>
                <a:cs typeface="Calibri" pitchFamily="34" charset="-120"/>
              </a:rPr>
              <a:t>THE LANDSCAPE</a:t>
            </a:r>
            <a:endParaRPr lang="en-US" sz="1100"/>
          </a:p>
        </p:txBody>
      </p:sp>
      <p:sp>
        <p:nvSpPr>
          <p:cNvPr id="5" name="Text 3"/>
          <p:cNvSpPr/>
          <p:nvPr/>
        </p:nvSpPr>
        <p:spPr>
          <a:xfrm>
            <a:off x="457200" y="420624"/>
            <a:ext cx="10607040" cy="566928"/>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Application taxonomy — all types, current &amp; future</a:t>
            </a:r>
            <a:endParaRPr lang="en-US" sz="2400" dirty="0"/>
          </a:p>
        </p:txBody>
      </p:sp>
      <p:sp>
        <p:nvSpPr>
          <p:cNvPr id="6" name="Shape 4"/>
          <p:cNvSpPr/>
          <p:nvPr/>
        </p:nvSpPr>
        <p:spPr>
          <a:xfrm>
            <a:off x="11073384" y="384048"/>
            <a:ext cx="658368" cy="310896"/>
          </a:xfrm>
          <a:prstGeom prst="rect">
            <a:avLst/>
          </a:prstGeom>
          <a:solidFill>
            <a:srgbClr val="FFFFFF"/>
          </a:solidFill>
          <a:ln/>
        </p:spPr>
        <p:txBody>
          <a:bodyPr/>
          <a:lstStyle/>
          <a:p>
            <a:endParaRPr lang="en-US"/>
          </a:p>
        </p:txBody>
      </p:sp>
      <p:sp>
        <p:nvSpPr>
          <p:cNvPr id="7" name="Text 5"/>
          <p:cNvSpPr/>
          <p:nvPr/>
        </p:nvSpPr>
        <p:spPr>
          <a:xfrm>
            <a:off x="11073384" y="384048"/>
            <a:ext cx="658368" cy="310896"/>
          </a:xfrm>
          <a:prstGeom prst="rect">
            <a:avLst/>
          </a:prstGeom>
          <a:noFill/>
          <a:ln/>
        </p:spPr>
        <p:txBody>
          <a:bodyPr wrap="square" rtlCol="0" anchor="ctr"/>
          <a:lstStyle/>
          <a:p>
            <a:pPr marL="0" indent="0" algn="ctr">
              <a:buNone/>
            </a:pPr>
            <a:r>
              <a:rPr lang="en-US" sz="1500" b="1" kern="0" spc="100">
                <a:solidFill>
                  <a:srgbClr val="001489"/>
                </a:solidFill>
                <a:latin typeface="Arial" pitchFamily="34" charset="0"/>
                <a:ea typeface="Arial" pitchFamily="34" charset="-122"/>
                <a:cs typeface="Arial" pitchFamily="34" charset="-120"/>
              </a:rPr>
              <a:t>PPL</a:t>
            </a:r>
            <a:endParaRPr lang="en-US" sz="1500"/>
          </a:p>
        </p:txBody>
      </p:sp>
      <p:sp>
        <p:nvSpPr>
          <p:cNvPr id="14" name="Shape 12"/>
          <p:cNvSpPr/>
          <p:nvPr/>
        </p:nvSpPr>
        <p:spPr>
          <a:xfrm>
            <a:off x="457200" y="1572768"/>
            <a:ext cx="2670048" cy="1371600"/>
          </a:xfrm>
          <a:prstGeom prst="rect">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15" name="Shape 13"/>
          <p:cNvSpPr/>
          <p:nvPr/>
        </p:nvSpPr>
        <p:spPr>
          <a:xfrm>
            <a:off x="457200" y="1572768"/>
            <a:ext cx="2670048" cy="109728"/>
          </a:xfrm>
          <a:prstGeom prst="rect">
            <a:avLst/>
          </a:prstGeom>
          <a:solidFill>
            <a:srgbClr val="0085CA"/>
          </a:solidFill>
          <a:ln/>
        </p:spPr>
        <p:txBody>
          <a:bodyPr/>
          <a:lstStyle/>
          <a:p>
            <a:endParaRPr lang="en-US"/>
          </a:p>
        </p:txBody>
      </p:sp>
      <p:sp>
        <p:nvSpPr>
          <p:cNvPr id="16" name="Text 14"/>
          <p:cNvSpPr/>
          <p:nvPr/>
        </p:nvSpPr>
        <p:spPr>
          <a:xfrm>
            <a:off x="566928" y="1773936"/>
            <a:ext cx="548640" cy="457200"/>
          </a:xfrm>
          <a:prstGeom prst="rect">
            <a:avLst/>
          </a:prstGeom>
          <a:noFill/>
          <a:ln/>
        </p:spPr>
        <p:txBody>
          <a:bodyPr wrap="square" rtlCol="0" anchor="ctr"/>
          <a:lstStyle/>
          <a:p>
            <a:pPr marL="0" indent="0">
              <a:buNone/>
            </a:pPr>
            <a:r>
              <a:rPr lang="en-US" sz="2200" b="1">
                <a:solidFill>
                  <a:srgbClr val="0085CA"/>
                </a:solidFill>
                <a:latin typeface="Arial" pitchFamily="34" charset="0"/>
                <a:ea typeface="Arial" pitchFamily="34" charset="-122"/>
                <a:cs typeface="Arial" pitchFamily="34" charset="-120"/>
              </a:rPr>
              <a:t>1</a:t>
            </a:r>
            <a:endParaRPr lang="en-US" sz="2200"/>
          </a:p>
        </p:txBody>
      </p:sp>
      <p:sp>
        <p:nvSpPr>
          <p:cNvPr id="17" name="Text 15"/>
          <p:cNvSpPr/>
          <p:nvPr/>
        </p:nvSpPr>
        <p:spPr>
          <a:xfrm>
            <a:off x="1115568" y="1792224"/>
            <a:ext cx="1920240" cy="566928"/>
          </a:xfrm>
          <a:prstGeom prst="rect">
            <a:avLst/>
          </a:prstGeom>
          <a:noFill/>
          <a:ln/>
        </p:spPr>
        <p:txBody>
          <a:bodyPr wrap="square" rtlCol="0" anchor="t"/>
          <a:lstStyle/>
          <a:p>
            <a:pPr marL="0" indent="0">
              <a:buNone/>
            </a:pPr>
            <a:r>
              <a:rPr lang="en-US" sz="1150" b="1">
                <a:solidFill>
                  <a:srgbClr val="001489"/>
                </a:solidFill>
                <a:latin typeface="Arial" pitchFamily="34" charset="0"/>
                <a:ea typeface="Arial" pitchFamily="34" charset="-122"/>
                <a:cs typeface="Arial" pitchFamily="34" charset="-120"/>
              </a:rPr>
              <a:t>Enterprise / ERP</a:t>
            </a:r>
            <a:endParaRPr lang="en-US" sz="1150"/>
          </a:p>
        </p:txBody>
      </p:sp>
      <p:sp>
        <p:nvSpPr>
          <p:cNvPr id="18" name="Text 16"/>
          <p:cNvSpPr/>
          <p:nvPr/>
        </p:nvSpPr>
        <p:spPr>
          <a:xfrm>
            <a:off x="603504" y="2414016"/>
            <a:ext cx="2423160" cy="457200"/>
          </a:xfrm>
          <a:prstGeom prst="rect">
            <a:avLst/>
          </a:prstGeom>
          <a:noFill/>
          <a:ln/>
        </p:spPr>
        <p:txBody>
          <a:bodyPr wrap="square" rtlCol="0" anchor="ctr"/>
          <a:lstStyle/>
          <a:p>
            <a:pPr marL="0" indent="0">
              <a:lnSpc>
                <a:spcPct val="100000"/>
              </a:lnSpc>
              <a:buNone/>
            </a:pPr>
            <a:r>
              <a:rPr lang="en-US" sz="950" i="1">
                <a:solidFill>
                  <a:srgbClr val="6A6157"/>
                </a:solidFill>
                <a:latin typeface="Calibri" pitchFamily="34" charset="0"/>
                <a:ea typeface="Calibri" pitchFamily="34" charset="-122"/>
                <a:cs typeface="Calibri" pitchFamily="34" charset="-120"/>
              </a:rPr>
              <a:t>SAP S/4HANA, HXM, Concur</a:t>
            </a:r>
            <a:endParaRPr lang="en-US" sz="950"/>
          </a:p>
        </p:txBody>
      </p:sp>
      <p:sp>
        <p:nvSpPr>
          <p:cNvPr id="19" name="Shape 17"/>
          <p:cNvSpPr/>
          <p:nvPr/>
        </p:nvSpPr>
        <p:spPr>
          <a:xfrm>
            <a:off x="3310128" y="1572768"/>
            <a:ext cx="2670048" cy="1371600"/>
          </a:xfrm>
          <a:prstGeom prst="rect">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20" name="Shape 18"/>
          <p:cNvSpPr/>
          <p:nvPr/>
        </p:nvSpPr>
        <p:spPr>
          <a:xfrm>
            <a:off x="3310128" y="1572768"/>
            <a:ext cx="2670048" cy="109728"/>
          </a:xfrm>
          <a:prstGeom prst="rect">
            <a:avLst/>
          </a:prstGeom>
          <a:solidFill>
            <a:srgbClr val="0085CA"/>
          </a:solidFill>
          <a:ln/>
        </p:spPr>
        <p:txBody>
          <a:bodyPr/>
          <a:lstStyle/>
          <a:p>
            <a:endParaRPr lang="en-US"/>
          </a:p>
        </p:txBody>
      </p:sp>
      <p:sp>
        <p:nvSpPr>
          <p:cNvPr id="21" name="Text 19"/>
          <p:cNvSpPr/>
          <p:nvPr/>
        </p:nvSpPr>
        <p:spPr>
          <a:xfrm>
            <a:off x="3419856" y="1773936"/>
            <a:ext cx="548640" cy="457200"/>
          </a:xfrm>
          <a:prstGeom prst="rect">
            <a:avLst/>
          </a:prstGeom>
          <a:noFill/>
          <a:ln/>
        </p:spPr>
        <p:txBody>
          <a:bodyPr wrap="square" rtlCol="0" anchor="ctr"/>
          <a:lstStyle/>
          <a:p>
            <a:pPr marL="0" indent="0">
              <a:buNone/>
            </a:pPr>
            <a:r>
              <a:rPr lang="en-US" sz="2200" b="1">
                <a:solidFill>
                  <a:srgbClr val="0085CA"/>
                </a:solidFill>
                <a:latin typeface="Arial" pitchFamily="34" charset="0"/>
                <a:ea typeface="Arial" pitchFamily="34" charset="-122"/>
                <a:cs typeface="Arial" pitchFamily="34" charset="-120"/>
              </a:rPr>
              <a:t>2</a:t>
            </a:r>
            <a:endParaRPr lang="en-US" sz="2200"/>
          </a:p>
        </p:txBody>
      </p:sp>
      <p:sp>
        <p:nvSpPr>
          <p:cNvPr id="22" name="Text 20"/>
          <p:cNvSpPr/>
          <p:nvPr/>
        </p:nvSpPr>
        <p:spPr>
          <a:xfrm>
            <a:off x="3968496" y="1792224"/>
            <a:ext cx="1920240" cy="566928"/>
          </a:xfrm>
          <a:prstGeom prst="rect">
            <a:avLst/>
          </a:prstGeom>
          <a:noFill/>
          <a:ln/>
        </p:spPr>
        <p:txBody>
          <a:bodyPr wrap="square" rtlCol="0" anchor="t"/>
          <a:lstStyle/>
          <a:p>
            <a:pPr marL="0" indent="0">
              <a:buNone/>
            </a:pPr>
            <a:r>
              <a:rPr lang="en-US" sz="1150" b="1">
                <a:solidFill>
                  <a:srgbClr val="001489"/>
                </a:solidFill>
                <a:latin typeface="Arial" pitchFamily="34" charset="0"/>
                <a:ea typeface="Arial" pitchFamily="34" charset="-122"/>
                <a:cs typeface="Arial" pitchFamily="34" charset="-120"/>
              </a:rPr>
              <a:t>On-Prem, COTS / Packaged</a:t>
            </a:r>
            <a:endParaRPr lang="en-US" sz="1150"/>
          </a:p>
        </p:txBody>
      </p:sp>
      <p:sp>
        <p:nvSpPr>
          <p:cNvPr id="23" name="Text 21"/>
          <p:cNvSpPr/>
          <p:nvPr/>
        </p:nvSpPr>
        <p:spPr>
          <a:xfrm>
            <a:off x="3456432" y="2414016"/>
            <a:ext cx="2423160" cy="457200"/>
          </a:xfrm>
          <a:prstGeom prst="rect">
            <a:avLst/>
          </a:prstGeom>
          <a:noFill/>
          <a:ln/>
        </p:spPr>
        <p:txBody>
          <a:bodyPr wrap="square" rtlCol="0" anchor="ctr"/>
          <a:lstStyle/>
          <a:p>
            <a:pPr marL="0" indent="0">
              <a:lnSpc>
                <a:spcPct val="100000"/>
              </a:lnSpc>
              <a:buNone/>
            </a:pPr>
            <a:r>
              <a:rPr lang="en-US" sz="950" i="1">
                <a:solidFill>
                  <a:srgbClr val="6A6157"/>
                </a:solidFill>
                <a:latin typeface="Calibri" pitchFamily="34" charset="0"/>
                <a:ea typeface="Calibri" pitchFamily="34" charset="-122"/>
                <a:cs typeface="Calibri" pitchFamily="34" charset="-120"/>
              </a:rPr>
              <a:t>PowerPlan, Infor FSM</a:t>
            </a:r>
            <a:endParaRPr lang="en-US" sz="950"/>
          </a:p>
        </p:txBody>
      </p:sp>
      <p:sp>
        <p:nvSpPr>
          <p:cNvPr id="24" name="Shape 22"/>
          <p:cNvSpPr/>
          <p:nvPr/>
        </p:nvSpPr>
        <p:spPr>
          <a:xfrm>
            <a:off x="6163056" y="1572768"/>
            <a:ext cx="2670048" cy="1371600"/>
          </a:xfrm>
          <a:prstGeom prst="rect">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25" name="Shape 23"/>
          <p:cNvSpPr/>
          <p:nvPr/>
        </p:nvSpPr>
        <p:spPr>
          <a:xfrm>
            <a:off x="6163056" y="1572768"/>
            <a:ext cx="2670048" cy="109728"/>
          </a:xfrm>
          <a:prstGeom prst="rect">
            <a:avLst/>
          </a:prstGeom>
          <a:solidFill>
            <a:srgbClr val="0085CA"/>
          </a:solidFill>
          <a:ln/>
        </p:spPr>
        <p:txBody>
          <a:bodyPr/>
          <a:lstStyle/>
          <a:p>
            <a:endParaRPr lang="en-US"/>
          </a:p>
        </p:txBody>
      </p:sp>
      <p:sp>
        <p:nvSpPr>
          <p:cNvPr id="26" name="Text 24"/>
          <p:cNvSpPr/>
          <p:nvPr/>
        </p:nvSpPr>
        <p:spPr>
          <a:xfrm>
            <a:off x="6272784" y="1773936"/>
            <a:ext cx="548640" cy="457200"/>
          </a:xfrm>
          <a:prstGeom prst="rect">
            <a:avLst/>
          </a:prstGeom>
          <a:noFill/>
          <a:ln/>
        </p:spPr>
        <p:txBody>
          <a:bodyPr wrap="square" rtlCol="0" anchor="ctr"/>
          <a:lstStyle/>
          <a:p>
            <a:pPr marL="0" indent="0">
              <a:buNone/>
            </a:pPr>
            <a:r>
              <a:rPr lang="en-US" sz="2200" b="1">
                <a:solidFill>
                  <a:srgbClr val="0085CA"/>
                </a:solidFill>
                <a:latin typeface="Arial" pitchFamily="34" charset="0"/>
                <a:ea typeface="Arial" pitchFamily="34" charset="-122"/>
                <a:cs typeface="Arial" pitchFamily="34" charset="-120"/>
              </a:rPr>
              <a:t>3</a:t>
            </a:r>
            <a:endParaRPr lang="en-US" sz="2200"/>
          </a:p>
        </p:txBody>
      </p:sp>
      <p:sp>
        <p:nvSpPr>
          <p:cNvPr id="27" name="Text 25"/>
          <p:cNvSpPr/>
          <p:nvPr/>
        </p:nvSpPr>
        <p:spPr>
          <a:xfrm>
            <a:off x="6821424" y="1792224"/>
            <a:ext cx="1920240" cy="566928"/>
          </a:xfrm>
          <a:prstGeom prst="rect">
            <a:avLst/>
          </a:prstGeom>
          <a:noFill/>
          <a:ln/>
        </p:spPr>
        <p:txBody>
          <a:bodyPr wrap="square" rtlCol="0" anchor="t"/>
          <a:lstStyle/>
          <a:p>
            <a:pPr marL="0" indent="0">
              <a:buNone/>
            </a:pPr>
            <a:r>
              <a:rPr lang="en-US" sz="1150" b="1">
                <a:solidFill>
                  <a:srgbClr val="001489"/>
                </a:solidFill>
                <a:latin typeface="Arial" pitchFamily="34" charset="0"/>
                <a:ea typeface="Arial" pitchFamily="34" charset="-122"/>
                <a:cs typeface="Arial" pitchFamily="34" charset="-120"/>
              </a:rPr>
              <a:t>SaaS / Multi-tenant Cloud</a:t>
            </a:r>
            <a:endParaRPr lang="en-US" sz="1150"/>
          </a:p>
        </p:txBody>
      </p:sp>
      <p:sp>
        <p:nvSpPr>
          <p:cNvPr id="28" name="Text 26"/>
          <p:cNvSpPr/>
          <p:nvPr/>
        </p:nvSpPr>
        <p:spPr>
          <a:xfrm>
            <a:off x="6309360" y="2414016"/>
            <a:ext cx="2423160" cy="457200"/>
          </a:xfrm>
          <a:prstGeom prst="rect">
            <a:avLst/>
          </a:prstGeom>
          <a:noFill/>
          <a:ln/>
        </p:spPr>
        <p:txBody>
          <a:bodyPr wrap="square" rtlCol="0" anchor="ctr"/>
          <a:lstStyle/>
          <a:p>
            <a:pPr marL="0" indent="0">
              <a:lnSpc>
                <a:spcPct val="100000"/>
              </a:lnSpc>
              <a:buNone/>
            </a:pPr>
            <a:r>
              <a:rPr lang="en-US" sz="950" i="1">
                <a:solidFill>
                  <a:srgbClr val="6A6157"/>
                </a:solidFill>
                <a:latin typeface="Calibri" pitchFamily="34" charset="0"/>
                <a:ea typeface="Calibri" pitchFamily="34" charset="-122"/>
                <a:cs typeface="Calibri" pitchFamily="34" charset="-120"/>
              </a:rPr>
              <a:t>Octave EAM, ServiceNow, S/4 HANA</a:t>
            </a:r>
            <a:endParaRPr lang="en-US" sz="950"/>
          </a:p>
        </p:txBody>
      </p:sp>
      <p:sp>
        <p:nvSpPr>
          <p:cNvPr id="29" name="Shape 27"/>
          <p:cNvSpPr/>
          <p:nvPr/>
        </p:nvSpPr>
        <p:spPr>
          <a:xfrm>
            <a:off x="9015984" y="1572768"/>
            <a:ext cx="2670048" cy="1371600"/>
          </a:xfrm>
          <a:prstGeom prst="rect">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30" name="Shape 28"/>
          <p:cNvSpPr/>
          <p:nvPr/>
        </p:nvSpPr>
        <p:spPr>
          <a:xfrm>
            <a:off x="9015984" y="1572768"/>
            <a:ext cx="2670048" cy="109728"/>
          </a:xfrm>
          <a:prstGeom prst="rect">
            <a:avLst/>
          </a:prstGeom>
          <a:solidFill>
            <a:srgbClr val="0085CA"/>
          </a:solidFill>
          <a:ln/>
        </p:spPr>
        <p:txBody>
          <a:bodyPr/>
          <a:lstStyle/>
          <a:p>
            <a:endParaRPr lang="en-US"/>
          </a:p>
        </p:txBody>
      </p:sp>
      <p:sp>
        <p:nvSpPr>
          <p:cNvPr id="31" name="Text 29"/>
          <p:cNvSpPr/>
          <p:nvPr/>
        </p:nvSpPr>
        <p:spPr>
          <a:xfrm>
            <a:off x="9125712" y="1773936"/>
            <a:ext cx="548640" cy="457200"/>
          </a:xfrm>
          <a:prstGeom prst="rect">
            <a:avLst/>
          </a:prstGeom>
          <a:noFill/>
          <a:ln/>
        </p:spPr>
        <p:txBody>
          <a:bodyPr wrap="square" rtlCol="0" anchor="ctr"/>
          <a:lstStyle/>
          <a:p>
            <a:pPr marL="0" indent="0">
              <a:buNone/>
            </a:pPr>
            <a:r>
              <a:rPr lang="en-US" sz="2200" b="1">
                <a:solidFill>
                  <a:srgbClr val="0085CA"/>
                </a:solidFill>
                <a:latin typeface="Arial" pitchFamily="34" charset="0"/>
                <a:ea typeface="Arial" pitchFamily="34" charset="-122"/>
                <a:cs typeface="Arial" pitchFamily="34" charset="-120"/>
              </a:rPr>
              <a:t>4</a:t>
            </a:r>
            <a:endParaRPr lang="en-US" sz="2200"/>
          </a:p>
        </p:txBody>
      </p:sp>
      <p:sp>
        <p:nvSpPr>
          <p:cNvPr id="32" name="Text 30"/>
          <p:cNvSpPr/>
          <p:nvPr/>
        </p:nvSpPr>
        <p:spPr>
          <a:xfrm>
            <a:off x="9674352" y="1792224"/>
            <a:ext cx="1920240" cy="566928"/>
          </a:xfrm>
          <a:prstGeom prst="rect">
            <a:avLst/>
          </a:prstGeom>
          <a:noFill/>
          <a:ln/>
        </p:spPr>
        <p:txBody>
          <a:bodyPr wrap="square" rtlCol="0" anchor="t"/>
          <a:lstStyle/>
          <a:p>
            <a:pPr marL="0" indent="0">
              <a:buNone/>
            </a:pPr>
            <a:r>
              <a:rPr lang="en-US" sz="1150" b="1">
                <a:solidFill>
                  <a:srgbClr val="001489"/>
                </a:solidFill>
                <a:latin typeface="Arial" pitchFamily="34" charset="0"/>
                <a:ea typeface="Arial" pitchFamily="34" charset="-122"/>
                <a:cs typeface="Arial" pitchFamily="34" charset="-120"/>
              </a:rPr>
              <a:t>Custom / Bespoke</a:t>
            </a:r>
            <a:endParaRPr lang="en-US" sz="1150"/>
          </a:p>
        </p:txBody>
      </p:sp>
      <p:sp>
        <p:nvSpPr>
          <p:cNvPr id="33" name="Text 31"/>
          <p:cNvSpPr/>
          <p:nvPr/>
        </p:nvSpPr>
        <p:spPr>
          <a:xfrm>
            <a:off x="9162288" y="2414016"/>
            <a:ext cx="2423160" cy="457200"/>
          </a:xfrm>
          <a:prstGeom prst="rect">
            <a:avLst/>
          </a:prstGeom>
          <a:noFill/>
          <a:ln/>
        </p:spPr>
        <p:txBody>
          <a:bodyPr wrap="square" rtlCol="0" anchor="ctr"/>
          <a:lstStyle/>
          <a:p>
            <a:pPr marL="0" indent="0">
              <a:lnSpc>
                <a:spcPct val="100000"/>
              </a:lnSpc>
              <a:buNone/>
            </a:pPr>
            <a:r>
              <a:rPr lang="en-US" sz="950" i="1">
                <a:solidFill>
                  <a:srgbClr val="6A6157"/>
                </a:solidFill>
                <a:latin typeface="Calibri" pitchFamily="34" charset="0"/>
                <a:ea typeface="Calibri" pitchFamily="34" charset="-122"/>
                <a:cs typeface="Calibri" pitchFamily="34" charset="-120"/>
              </a:rPr>
              <a:t>PA.NET, KY .NET, in-house apps</a:t>
            </a:r>
            <a:endParaRPr lang="en-US" sz="950"/>
          </a:p>
        </p:txBody>
      </p:sp>
      <p:sp>
        <p:nvSpPr>
          <p:cNvPr id="34" name="Shape 32"/>
          <p:cNvSpPr/>
          <p:nvPr/>
        </p:nvSpPr>
        <p:spPr>
          <a:xfrm>
            <a:off x="457200" y="3145536"/>
            <a:ext cx="2670048" cy="1371600"/>
          </a:xfrm>
          <a:prstGeom prst="rect">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35" name="Shape 33"/>
          <p:cNvSpPr/>
          <p:nvPr/>
        </p:nvSpPr>
        <p:spPr>
          <a:xfrm>
            <a:off x="457200" y="3145536"/>
            <a:ext cx="2670048" cy="109728"/>
          </a:xfrm>
          <a:prstGeom prst="rect">
            <a:avLst/>
          </a:prstGeom>
          <a:solidFill>
            <a:srgbClr val="817169"/>
          </a:solidFill>
          <a:ln/>
        </p:spPr>
        <p:txBody>
          <a:bodyPr/>
          <a:lstStyle/>
          <a:p>
            <a:endParaRPr lang="en-US"/>
          </a:p>
        </p:txBody>
      </p:sp>
      <p:sp>
        <p:nvSpPr>
          <p:cNvPr id="36" name="Text 34"/>
          <p:cNvSpPr/>
          <p:nvPr/>
        </p:nvSpPr>
        <p:spPr>
          <a:xfrm>
            <a:off x="566928" y="3346704"/>
            <a:ext cx="548640" cy="457200"/>
          </a:xfrm>
          <a:prstGeom prst="rect">
            <a:avLst/>
          </a:prstGeom>
          <a:noFill/>
          <a:ln/>
        </p:spPr>
        <p:txBody>
          <a:bodyPr wrap="square" rtlCol="0" anchor="ctr"/>
          <a:lstStyle/>
          <a:p>
            <a:pPr marL="0" indent="0">
              <a:buNone/>
            </a:pPr>
            <a:r>
              <a:rPr lang="en-US" sz="2200" b="1">
                <a:solidFill>
                  <a:srgbClr val="817169"/>
                </a:solidFill>
                <a:latin typeface="Arial" pitchFamily="34" charset="0"/>
                <a:ea typeface="Arial" pitchFamily="34" charset="-122"/>
                <a:cs typeface="Arial" pitchFamily="34" charset="-120"/>
              </a:rPr>
              <a:t>5</a:t>
            </a:r>
            <a:endParaRPr lang="en-US" sz="2200"/>
          </a:p>
        </p:txBody>
      </p:sp>
      <p:sp>
        <p:nvSpPr>
          <p:cNvPr id="37" name="Text 35"/>
          <p:cNvSpPr/>
          <p:nvPr/>
        </p:nvSpPr>
        <p:spPr>
          <a:xfrm>
            <a:off x="1115568" y="3364992"/>
            <a:ext cx="1920240" cy="566928"/>
          </a:xfrm>
          <a:prstGeom prst="rect">
            <a:avLst/>
          </a:prstGeom>
          <a:noFill/>
          <a:ln/>
        </p:spPr>
        <p:txBody>
          <a:bodyPr wrap="square" rtlCol="0" anchor="t"/>
          <a:lstStyle/>
          <a:p>
            <a:pPr marL="0" indent="0">
              <a:buNone/>
            </a:pPr>
            <a:r>
              <a:rPr lang="en-US" sz="1150" b="1">
                <a:solidFill>
                  <a:srgbClr val="001489"/>
                </a:solidFill>
                <a:latin typeface="Arial" pitchFamily="34" charset="0"/>
                <a:ea typeface="Arial" pitchFamily="34" charset="-122"/>
                <a:cs typeface="Arial" pitchFamily="34" charset="-120"/>
              </a:rPr>
              <a:t>Integration Platforms</a:t>
            </a:r>
            <a:endParaRPr lang="en-US" sz="1150"/>
          </a:p>
        </p:txBody>
      </p:sp>
      <p:sp>
        <p:nvSpPr>
          <p:cNvPr id="38" name="Text 36"/>
          <p:cNvSpPr/>
          <p:nvPr/>
        </p:nvSpPr>
        <p:spPr>
          <a:xfrm>
            <a:off x="603504" y="3986784"/>
            <a:ext cx="2423160" cy="457200"/>
          </a:xfrm>
          <a:prstGeom prst="rect">
            <a:avLst/>
          </a:prstGeom>
          <a:noFill/>
          <a:ln/>
        </p:spPr>
        <p:txBody>
          <a:bodyPr wrap="square" rtlCol="0" anchor="ctr"/>
          <a:lstStyle/>
          <a:p>
            <a:pPr marL="0" indent="0">
              <a:lnSpc>
                <a:spcPct val="100000"/>
              </a:lnSpc>
              <a:buNone/>
            </a:pPr>
            <a:r>
              <a:rPr lang="en-US" sz="950" i="1">
                <a:solidFill>
                  <a:srgbClr val="6A6157"/>
                </a:solidFill>
                <a:latin typeface="Calibri" pitchFamily="34" charset="0"/>
                <a:ea typeface="Calibri" pitchFamily="34" charset="-122"/>
                <a:cs typeface="Calibri" pitchFamily="34" charset="-120"/>
              </a:rPr>
              <a:t>LWC, SAP BTP, </a:t>
            </a:r>
            <a:r>
              <a:rPr lang="en-US" sz="950" i="1" err="1">
                <a:solidFill>
                  <a:srgbClr val="6A6157"/>
                </a:solidFill>
                <a:latin typeface="Calibri" pitchFamily="34" charset="0"/>
                <a:ea typeface="Calibri" pitchFamily="34" charset="-122"/>
                <a:cs typeface="Calibri" pitchFamily="34" charset="-120"/>
              </a:rPr>
              <a:t>GlobalScape</a:t>
            </a:r>
            <a:r>
              <a:rPr lang="en-US" sz="950" i="1">
                <a:solidFill>
                  <a:srgbClr val="6A6157"/>
                </a:solidFill>
                <a:latin typeface="Calibri" pitchFamily="34" charset="0"/>
                <a:ea typeface="Calibri" pitchFamily="34" charset="-122"/>
                <a:cs typeface="Calibri" pitchFamily="34" charset="-120"/>
              </a:rPr>
              <a:t>, </a:t>
            </a:r>
            <a:r>
              <a:rPr lang="en-US" sz="950" i="1" err="1">
                <a:solidFill>
                  <a:srgbClr val="6A6157"/>
                </a:solidFill>
                <a:latin typeface="Calibri" pitchFamily="34" charset="0"/>
                <a:ea typeface="Calibri" pitchFamily="34" charset="-122"/>
                <a:cs typeface="Calibri" pitchFamily="34" charset="-120"/>
              </a:rPr>
              <a:t>Webmethods</a:t>
            </a:r>
            <a:r>
              <a:rPr lang="en-US" sz="950" i="1">
                <a:solidFill>
                  <a:srgbClr val="6A6157"/>
                </a:solidFill>
                <a:latin typeface="Calibri" pitchFamily="34" charset="0"/>
                <a:ea typeface="Calibri" pitchFamily="34" charset="-122"/>
                <a:cs typeface="Calibri" pitchFamily="34" charset="-120"/>
              </a:rPr>
              <a:t>, APIMs</a:t>
            </a:r>
            <a:endParaRPr lang="en-US" sz="950"/>
          </a:p>
        </p:txBody>
      </p:sp>
      <p:sp>
        <p:nvSpPr>
          <p:cNvPr id="39" name="Shape 37"/>
          <p:cNvSpPr/>
          <p:nvPr/>
        </p:nvSpPr>
        <p:spPr>
          <a:xfrm>
            <a:off x="3310128" y="3145536"/>
            <a:ext cx="2670048" cy="1371600"/>
          </a:xfrm>
          <a:prstGeom prst="rect">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40" name="Shape 38"/>
          <p:cNvSpPr/>
          <p:nvPr/>
        </p:nvSpPr>
        <p:spPr>
          <a:xfrm>
            <a:off x="3310128" y="3145536"/>
            <a:ext cx="2670048" cy="109728"/>
          </a:xfrm>
          <a:prstGeom prst="rect">
            <a:avLst/>
          </a:prstGeom>
          <a:solidFill>
            <a:srgbClr val="007A99"/>
          </a:solidFill>
          <a:ln/>
        </p:spPr>
        <p:txBody>
          <a:bodyPr/>
          <a:lstStyle/>
          <a:p>
            <a:endParaRPr lang="en-US"/>
          </a:p>
        </p:txBody>
      </p:sp>
      <p:sp>
        <p:nvSpPr>
          <p:cNvPr id="41" name="Text 39"/>
          <p:cNvSpPr/>
          <p:nvPr/>
        </p:nvSpPr>
        <p:spPr>
          <a:xfrm>
            <a:off x="3419856" y="3346704"/>
            <a:ext cx="548640" cy="457200"/>
          </a:xfrm>
          <a:prstGeom prst="rect">
            <a:avLst/>
          </a:prstGeom>
          <a:noFill/>
          <a:ln/>
        </p:spPr>
        <p:txBody>
          <a:bodyPr wrap="square" rtlCol="0" anchor="ctr"/>
          <a:lstStyle/>
          <a:p>
            <a:pPr marL="0" indent="0">
              <a:buNone/>
            </a:pPr>
            <a:r>
              <a:rPr lang="en-US" sz="2200" b="1">
                <a:solidFill>
                  <a:srgbClr val="007A99"/>
                </a:solidFill>
                <a:latin typeface="Arial" pitchFamily="34" charset="0"/>
                <a:ea typeface="Arial" pitchFamily="34" charset="-122"/>
                <a:cs typeface="Arial" pitchFamily="34" charset="-120"/>
              </a:rPr>
              <a:t>6</a:t>
            </a:r>
            <a:endParaRPr lang="en-US" sz="2200"/>
          </a:p>
        </p:txBody>
      </p:sp>
      <p:sp>
        <p:nvSpPr>
          <p:cNvPr id="42" name="Text 40"/>
          <p:cNvSpPr/>
          <p:nvPr/>
        </p:nvSpPr>
        <p:spPr>
          <a:xfrm>
            <a:off x="3968496" y="3364992"/>
            <a:ext cx="1920240" cy="566928"/>
          </a:xfrm>
          <a:prstGeom prst="rect">
            <a:avLst/>
          </a:prstGeom>
          <a:noFill/>
          <a:ln/>
        </p:spPr>
        <p:txBody>
          <a:bodyPr wrap="square" rtlCol="0" anchor="t"/>
          <a:lstStyle/>
          <a:p>
            <a:pPr marL="0" indent="0">
              <a:buNone/>
            </a:pPr>
            <a:r>
              <a:rPr lang="en-US" sz="1150" b="1">
                <a:solidFill>
                  <a:srgbClr val="001489"/>
                </a:solidFill>
                <a:latin typeface="Arial" pitchFamily="34" charset="0"/>
                <a:ea typeface="Arial" pitchFamily="34" charset="-122"/>
                <a:cs typeface="Arial" pitchFamily="34" charset="-120"/>
              </a:rPr>
              <a:t>Data &amp; Analytics Platform</a:t>
            </a:r>
            <a:endParaRPr lang="en-US" sz="1150"/>
          </a:p>
        </p:txBody>
      </p:sp>
      <p:sp>
        <p:nvSpPr>
          <p:cNvPr id="43" name="Text 41"/>
          <p:cNvSpPr/>
          <p:nvPr/>
        </p:nvSpPr>
        <p:spPr>
          <a:xfrm>
            <a:off x="3456432" y="3986784"/>
            <a:ext cx="2423160" cy="457200"/>
          </a:xfrm>
          <a:prstGeom prst="rect">
            <a:avLst/>
          </a:prstGeom>
          <a:noFill/>
          <a:ln/>
        </p:spPr>
        <p:txBody>
          <a:bodyPr wrap="square" rtlCol="0" anchor="ctr"/>
          <a:lstStyle/>
          <a:p>
            <a:pPr marL="0" indent="0">
              <a:lnSpc>
                <a:spcPct val="100000"/>
              </a:lnSpc>
              <a:buNone/>
            </a:pPr>
            <a:r>
              <a:rPr lang="en-US" sz="950" i="1">
                <a:solidFill>
                  <a:srgbClr val="6A6157"/>
                </a:solidFill>
                <a:latin typeface="Calibri" pitchFamily="34" charset="0"/>
                <a:ea typeface="Calibri" pitchFamily="34" charset="-122"/>
                <a:cs typeface="Calibri" pitchFamily="34" charset="-120"/>
              </a:rPr>
              <a:t>Snowflake, Databricks, Datasphere</a:t>
            </a:r>
            <a:endParaRPr lang="en-US" sz="950"/>
          </a:p>
        </p:txBody>
      </p:sp>
      <p:sp>
        <p:nvSpPr>
          <p:cNvPr id="44" name="Shape 42"/>
          <p:cNvSpPr/>
          <p:nvPr/>
        </p:nvSpPr>
        <p:spPr>
          <a:xfrm>
            <a:off x="6163056" y="3145536"/>
            <a:ext cx="2670048" cy="1371600"/>
          </a:xfrm>
          <a:prstGeom prst="rect">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45" name="Shape 43"/>
          <p:cNvSpPr/>
          <p:nvPr/>
        </p:nvSpPr>
        <p:spPr>
          <a:xfrm>
            <a:off x="6163056" y="3145536"/>
            <a:ext cx="2670048" cy="109728"/>
          </a:xfrm>
          <a:prstGeom prst="rect">
            <a:avLst/>
          </a:prstGeom>
          <a:solidFill>
            <a:srgbClr val="007A99"/>
          </a:solidFill>
          <a:ln/>
        </p:spPr>
        <p:txBody>
          <a:bodyPr/>
          <a:lstStyle/>
          <a:p>
            <a:endParaRPr lang="en-US"/>
          </a:p>
        </p:txBody>
      </p:sp>
      <p:sp>
        <p:nvSpPr>
          <p:cNvPr id="46" name="Text 44"/>
          <p:cNvSpPr/>
          <p:nvPr/>
        </p:nvSpPr>
        <p:spPr>
          <a:xfrm>
            <a:off x="6272784" y="3346704"/>
            <a:ext cx="548640" cy="457200"/>
          </a:xfrm>
          <a:prstGeom prst="rect">
            <a:avLst/>
          </a:prstGeom>
          <a:noFill/>
          <a:ln/>
        </p:spPr>
        <p:txBody>
          <a:bodyPr wrap="square" rtlCol="0" anchor="ctr"/>
          <a:lstStyle/>
          <a:p>
            <a:pPr marL="0" indent="0">
              <a:buNone/>
            </a:pPr>
            <a:r>
              <a:rPr lang="en-US" sz="2200" b="1">
                <a:solidFill>
                  <a:srgbClr val="007A99"/>
                </a:solidFill>
                <a:latin typeface="Arial" pitchFamily="34" charset="0"/>
                <a:ea typeface="Arial" pitchFamily="34" charset="-122"/>
                <a:cs typeface="Arial" pitchFamily="34" charset="-120"/>
              </a:rPr>
              <a:t>7</a:t>
            </a:r>
            <a:endParaRPr lang="en-US" sz="2200"/>
          </a:p>
        </p:txBody>
      </p:sp>
      <p:sp>
        <p:nvSpPr>
          <p:cNvPr id="47" name="Text 45"/>
          <p:cNvSpPr/>
          <p:nvPr/>
        </p:nvSpPr>
        <p:spPr>
          <a:xfrm>
            <a:off x="6821424" y="3364992"/>
            <a:ext cx="1920240" cy="566928"/>
          </a:xfrm>
          <a:prstGeom prst="rect">
            <a:avLst/>
          </a:prstGeom>
          <a:noFill/>
          <a:ln/>
        </p:spPr>
        <p:txBody>
          <a:bodyPr wrap="square" rtlCol="0" anchor="t"/>
          <a:lstStyle/>
          <a:p>
            <a:pPr marL="0" indent="0">
              <a:buNone/>
            </a:pPr>
            <a:r>
              <a:rPr lang="en-US" sz="1150" b="1">
                <a:solidFill>
                  <a:srgbClr val="001489"/>
                </a:solidFill>
                <a:latin typeface="Arial" pitchFamily="34" charset="0"/>
                <a:ea typeface="Arial" pitchFamily="34" charset="-122"/>
                <a:cs typeface="Arial" pitchFamily="34" charset="-120"/>
              </a:rPr>
              <a:t>AI / Agentic Applications</a:t>
            </a:r>
            <a:endParaRPr lang="en-US" sz="1150"/>
          </a:p>
        </p:txBody>
      </p:sp>
      <p:sp>
        <p:nvSpPr>
          <p:cNvPr id="48" name="Text 46"/>
          <p:cNvSpPr/>
          <p:nvPr/>
        </p:nvSpPr>
        <p:spPr>
          <a:xfrm>
            <a:off x="6309360" y="3986784"/>
            <a:ext cx="2423160" cy="457200"/>
          </a:xfrm>
          <a:prstGeom prst="rect">
            <a:avLst/>
          </a:prstGeom>
          <a:noFill/>
          <a:ln/>
        </p:spPr>
        <p:txBody>
          <a:bodyPr wrap="square" rtlCol="0" anchor="ctr"/>
          <a:lstStyle/>
          <a:p>
            <a:r>
              <a:rPr lang="en-US" sz="950" i="1">
                <a:solidFill>
                  <a:srgbClr val="6A6157"/>
                </a:solidFill>
                <a:latin typeface="Calibri" pitchFamily="34" charset="0"/>
                <a:ea typeface="Calibri" pitchFamily="34" charset="-122"/>
                <a:cs typeface="Calibri" pitchFamily="34" charset="-120"/>
              </a:rPr>
              <a:t>Now Assist, Copilot, AI agents </a:t>
            </a:r>
            <a:endParaRPr lang="en-US" sz="950"/>
          </a:p>
        </p:txBody>
      </p:sp>
      <p:sp>
        <p:nvSpPr>
          <p:cNvPr id="49" name="Shape 47"/>
          <p:cNvSpPr/>
          <p:nvPr/>
        </p:nvSpPr>
        <p:spPr>
          <a:xfrm>
            <a:off x="9015984" y="3145536"/>
            <a:ext cx="2670048" cy="1371600"/>
          </a:xfrm>
          <a:prstGeom prst="rect">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50" name="Shape 48"/>
          <p:cNvSpPr/>
          <p:nvPr/>
        </p:nvSpPr>
        <p:spPr>
          <a:xfrm>
            <a:off x="9015984" y="3145536"/>
            <a:ext cx="2670048" cy="109728"/>
          </a:xfrm>
          <a:prstGeom prst="rect">
            <a:avLst/>
          </a:prstGeom>
          <a:solidFill>
            <a:srgbClr val="007A99"/>
          </a:solidFill>
          <a:ln/>
        </p:spPr>
        <p:txBody>
          <a:bodyPr/>
          <a:lstStyle/>
          <a:p>
            <a:endParaRPr lang="en-US"/>
          </a:p>
        </p:txBody>
      </p:sp>
      <p:sp>
        <p:nvSpPr>
          <p:cNvPr id="51" name="Text 49"/>
          <p:cNvSpPr/>
          <p:nvPr/>
        </p:nvSpPr>
        <p:spPr>
          <a:xfrm>
            <a:off x="9125712" y="3346704"/>
            <a:ext cx="548640" cy="457200"/>
          </a:xfrm>
          <a:prstGeom prst="rect">
            <a:avLst/>
          </a:prstGeom>
          <a:noFill/>
          <a:ln/>
        </p:spPr>
        <p:txBody>
          <a:bodyPr wrap="square" rtlCol="0" anchor="ctr"/>
          <a:lstStyle/>
          <a:p>
            <a:pPr marL="0" indent="0">
              <a:buNone/>
            </a:pPr>
            <a:r>
              <a:rPr lang="en-US" sz="2200" b="1">
                <a:solidFill>
                  <a:srgbClr val="007A99"/>
                </a:solidFill>
                <a:latin typeface="Arial" pitchFamily="34" charset="0"/>
                <a:ea typeface="Arial" pitchFamily="34" charset="-122"/>
                <a:cs typeface="Arial" pitchFamily="34" charset="-120"/>
              </a:rPr>
              <a:t>8</a:t>
            </a:r>
            <a:endParaRPr lang="en-US" sz="2200"/>
          </a:p>
        </p:txBody>
      </p:sp>
      <p:sp>
        <p:nvSpPr>
          <p:cNvPr id="52" name="Text 50"/>
          <p:cNvSpPr/>
          <p:nvPr/>
        </p:nvSpPr>
        <p:spPr>
          <a:xfrm>
            <a:off x="9674352" y="3364992"/>
            <a:ext cx="1920240" cy="566928"/>
          </a:xfrm>
          <a:prstGeom prst="rect">
            <a:avLst/>
          </a:prstGeom>
          <a:noFill/>
          <a:ln/>
        </p:spPr>
        <p:txBody>
          <a:bodyPr wrap="square" rtlCol="0" anchor="t"/>
          <a:lstStyle/>
          <a:p>
            <a:pPr marL="0" indent="0">
              <a:buNone/>
            </a:pPr>
            <a:r>
              <a:rPr lang="en-US" sz="1150" b="1">
                <a:solidFill>
                  <a:srgbClr val="001489"/>
                </a:solidFill>
                <a:latin typeface="Arial" pitchFamily="34" charset="0"/>
                <a:ea typeface="Arial" pitchFamily="34" charset="-122"/>
                <a:cs typeface="Arial" pitchFamily="34" charset="-120"/>
              </a:rPr>
              <a:t>Infrastructure Tooling / Platform Sv</a:t>
            </a:r>
            <a:endParaRPr lang="en-US" sz="1150"/>
          </a:p>
        </p:txBody>
      </p:sp>
      <p:sp>
        <p:nvSpPr>
          <p:cNvPr id="53" name="Text 51"/>
          <p:cNvSpPr/>
          <p:nvPr/>
        </p:nvSpPr>
        <p:spPr>
          <a:xfrm>
            <a:off x="9162288" y="3986784"/>
            <a:ext cx="2423160" cy="457200"/>
          </a:xfrm>
          <a:prstGeom prst="rect">
            <a:avLst/>
          </a:prstGeom>
          <a:noFill/>
          <a:ln/>
        </p:spPr>
        <p:txBody>
          <a:bodyPr wrap="square" rtlCol="0" anchor="ctr"/>
          <a:lstStyle/>
          <a:p>
            <a:pPr marL="0" indent="0">
              <a:lnSpc>
                <a:spcPct val="100000"/>
              </a:lnSpc>
              <a:buNone/>
            </a:pPr>
            <a:r>
              <a:rPr lang="en-US" sz="950" i="1">
                <a:solidFill>
                  <a:srgbClr val="6A6157"/>
                </a:solidFill>
                <a:latin typeface="Calibri" pitchFamily="34" charset="0"/>
                <a:ea typeface="Calibri" pitchFamily="34" charset="-122"/>
                <a:cs typeface="Calibri" pitchFamily="34" charset="-120"/>
              </a:rPr>
              <a:t>Azure, shared compute &amp; IaC</a:t>
            </a:r>
            <a:endParaRPr lang="en-US" sz="950"/>
          </a:p>
        </p:txBody>
      </p:sp>
      <p:sp>
        <p:nvSpPr>
          <p:cNvPr id="54" name="Shape 52"/>
          <p:cNvSpPr/>
          <p:nvPr/>
        </p:nvSpPr>
        <p:spPr>
          <a:xfrm>
            <a:off x="457200" y="4718304"/>
            <a:ext cx="2670048" cy="1371600"/>
          </a:xfrm>
          <a:prstGeom prst="rect">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55" name="Shape 53"/>
          <p:cNvSpPr/>
          <p:nvPr/>
        </p:nvSpPr>
        <p:spPr>
          <a:xfrm>
            <a:off x="457200" y="4718304"/>
            <a:ext cx="2670048" cy="109728"/>
          </a:xfrm>
          <a:prstGeom prst="rect">
            <a:avLst/>
          </a:prstGeom>
          <a:solidFill>
            <a:srgbClr val="007A99"/>
          </a:solidFill>
          <a:ln/>
        </p:spPr>
        <p:txBody>
          <a:bodyPr/>
          <a:lstStyle/>
          <a:p>
            <a:endParaRPr lang="en-US"/>
          </a:p>
        </p:txBody>
      </p:sp>
      <p:sp>
        <p:nvSpPr>
          <p:cNvPr id="56" name="Text 54"/>
          <p:cNvSpPr/>
          <p:nvPr/>
        </p:nvSpPr>
        <p:spPr>
          <a:xfrm>
            <a:off x="566928" y="4919472"/>
            <a:ext cx="548640" cy="457200"/>
          </a:xfrm>
          <a:prstGeom prst="rect">
            <a:avLst/>
          </a:prstGeom>
          <a:noFill/>
          <a:ln/>
        </p:spPr>
        <p:txBody>
          <a:bodyPr wrap="square" rtlCol="0" anchor="ctr"/>
          <a:lstStyle/>
          <a:p>
            <a:pPr marL="0" indent="0">
              <a:buNone/>
            </a:pPr>
            <a:r>
              <a:rPr lang="en-US" sz="2200" b="1">
                <a:solidFill>
                  <a:srgbClr val="007A99"/>
                </a:solidFill>
                <a:latin typeface="Arial" pitchFamily="34" charset="0"/>
                <a:ea typeface="Arial" pitchFamily="34" charset="-122"/>
                <a:cs typeface="Arial" pitchFamily="34" charset="-120"/>
              </a:rPr>
              <a:t>9</a:t>
            </a:r>
            <a:endParaRPr lang="en-US" sz="2200"/>
          </a:p>
        </p:txBody>
      </p:sp>
      <p:sp>
        <p:nvSpPr>
          <p:cNvPr id="57" name="Text 55"/>
          <p:cNvSpPr/>
          <p:nvPr/>
        </p:nvSpPr>
        <p:spPr>
          <a:xfrm>
            <a:off x="1115568" y="4937760"/>
            <a:ext cx="1920240" cy="566928"/>
          </a:xfrm>
          <a:prstGeom prst="rect">
            <a:avLst/>
          </a:prstGeom>
          <a:noFill/>
          <a:ln/>
        </p:spPr>
        <p:txBody>
          <a:bodyPr wrap="square" rtlCol="0" anchor="t"/>
          <a:lstStyle/>
          <a:p>
            <a:pPr marL="0" indent="0">
              <a:buNone/>
            </a:pPr>
            <a:r>
              <a:rPr lang="en-US" sz="1150" b="1">
                <a:solidFill>
                  <a:srgbClr val="001489"/>
                </a:solidFill>
                <a:latin typeface="Arial" pitchFamily="34" charset="0"/>
                <a:ea typeface="Arial" pitchFamily="34" charset="-122"/>
                <a:cs typeface="Arial" pitchFamily="34" charset="-120"/>
              </a:rPr>
              <a:t>Security Tooling</a:t>
            </a:r>
            <a:endParaRPr lang="en-US" sz="1150"/>
          </a:p>
        </p:txBody>
      </p:sp>
      <p:sp>
        <p:nvSpPr>
          <p:cNvPr id="58" name="Text 56"/>
          <p:cNvSpPr/>
          <p:nvPr/>
        </p:nvSpPr>
        <p:spPr>
          <a:xfrm>
            <a:off x="603504" y="5559552"/>
            <a:ext cx="2423160" cy="457200"/>
          </a:xfrm>
          <a:prstGeom prst="rect">
            <a:avLst/>
          </a:prstGeom>
          <a:noFill/>
          <a:ln/>
        </p:spPr>
        <p:txBody>
          <a:bodyPr wrap="square" rtlCol="0" anchor="ctr"/>
          <a:lstStyle/>
          <a:p>
            <a:pPr marL="0" indent="0">
              <a:lnSpc>
                <a:spcPct val="100000"/>
              </a:lnSpc>
              <a:buNone/>
            </a:pPr>
            <a:r>
              <a:rPr lang="en-US" sz="950" i="1">
                <a:solidFill>
                  <a:srgbClr val="6A6157"/>
                </a:solidFill>
                <a:latin typeface="Calibri" pitchFamily="34" charset="0"/>
                <a:ea typeface="Calibri" pitchFamily="34" charset="-122"/>
                <a:cs typeface="Calibri" pitchFamily="34" charset="-120"/>
              </a:rPr>
              <a:t>CyberArk PAM, SailPoint, KY AIM</a:t>
            </a:r>
            <a:endParaRPr lang="en-US" sz="950"/>
          </a:p>
        </p:txBody>
      </p:sp>
      <p:sp>
        <p:nvSpPr>
          <p:cNvPr id="59" name="Shape 57"/>
          <p:cNvSpPr/>
          <p:nvPr/>
        </p:nvSpPr>
        <p:spPr>
          <a:xfrm>
            <a:off x="3310128" y="4718304"/>
            <a:ext cx="2670048" cy="1371600"/>
          </a:xfrm>
          <a:prstGeom prst="rect">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60" name="Shape 58"/>
          <p:cNvSpPr/>
          <p:nvPr/>
        </p:nvSpPr>
        <p:spPr>
          <a:xfrm>
            <a:off x="3310128" y="4718304"/>
            <a:ext cx="2670048" cy="109728"/>
          </a:xfrm>
          <a:prstGeom prst="rect">
            <a:avLst/>
          </a:prstGeom>
          <a:solidFill>
            <a:srgbClr val="0085CA"/>
          </a:solidFill>
          <a:ln/>
        </p:spPr>
        <p:txBody>
          <a:bodyPr/>
          <a:lstStyle/>
          <a:p>
            <a:endParaRPr lang="en-US"/>
          </a:p>
        </p:txBody>
      </p:sp>
      <p:sp>
        <p:nvSpPr>
          <p:cNvPr id="61" name="Text 59"/>
          <p:cNvSpPr/>
          <p:nvPr/>
        </p:nvSpPr>
        <p:spPr>
          <a:xfrm>
            <a:off x="3419856" y="4919472"/>
            <a:ext cx="548640" cy="457200"/>
          </a:xfrm>
          <a:prstGeom prst="rect">
            <a:avLst/>
          </a:prstGeom>
          <a:noFill/>
          <a:ln/>
        </p:spPr>
        <p:txBody>
          <a:bodyPr wrap="square" rtlCol="0" anchor="ctr"/>
          <a:lstStyle/>
          <a:p>
            <a:pPr marL="0" indent="0">
              <a:buNone/>
            </a:pPr>
            <a:r>
              <a:rPr lang="en-US" sz="2200" b="1">
                <a:solidFill>
                  <a:srgbClr val="0085CA"/>
                </a:solidFill>
                <a:latin typeface="Arial" pitchFamily="34" charset="0"/>
                <a:ea typeface="Arial" pitchFamily="34" charset="-122"/>
                <a:cs typeface="Arial" pitchFamily="34" charset="-120"/>
              </a:rPr>
              <a:t>10</a:t>
            </a:r>
            <a:endParaRPr lang="en-US" sz="2200"/>
          </a:p>
        </p:txBody>
      </p:sp>
      <p:sp>
        <p:nvSpPr>
          <p:cNvPr id="62" name="Text 60"/>
          <p:cNvSpPr/>
          <p:nvPr/>
        </p:nvSpPr>
        <p:spPr>
          <a:xfrm>
            <a:off x="3968496" y="4937760"/>
            <a:ext cx="1920240" cy="566928"/>
          </a:xfrm>
          <a:prstGeom prst="rect">
            <a:avLst/>
          </a:prstGeom>
          <a:noFill/>
          <a:ln/>
        </p:spPr>
        <p:txBody>
          <a:bodyPr wrap="square" rtlCol="0" anchor="t"/>
          <a:lstStyle/>
          <a:p>
            <a:pPr marL="0" indent="0">
              <a:buNone/>
            </a:pPr>
            <a:r>
              <a:rPr lang="en-US" sz="1150" b="1">
                <a:solidFill>
                  <a:srgbClr val="001489"/>
                </a:solidFill>
                <a:latin typeface="Arial" pitchFamily="34" charset="0"/>
                <a:ea typeface="Arial" pitchFamily="34" charset="-122"/>
                <a:cs typeface="Arial" pitchFamily="34" charset="-120"/>
              </a:rPr>
              <a:t>OT / Embedded / Field</a:t>
            </a:r>
            <a:endParaRPr lang="en-US" sz="1150"/>
          </a:p>
        </p:txBody>
      </p:sp>
      <p:sp>
        <p:nvSpPr>
          <p:cNvPr id="63" name="Text 61"/>
          <p:cNvSpPr/>
          <p:nvPr/>
        </p:nvSpPr>
        <p:spPr>
          <a:xfrm>
            <a:off x="3456432" y="5559552"/>
            <a:ext cx="2423160" cy="457200"/>
          </a:xfrm>
          <a:prstGeom prst="rect">
            <a:avLst/>
          </a:prstGeom>
          <a:noFill/>
          <a:ln/>
        </p:spPr>
        <p:txBody>
          <a:bodyPr wrap="square" rtlCol="0" anchor="ctr"/>
          <a:lstStyle/>
          <a:p>
            <a:pPr marL="0" indent="0">
              <a:lnSpc>
                <a:spcPct val="100000"/>
              </a:lnSpc>
              <a:buNone/>
            </a:pPr>
            <a:r>
              <a:rPr lang="en-US" sz="950" i="1">
                <a:solidFill>
                  <a:srgbClr val="6A6157"/>
                </a:solidFill>
                <a:latin typeface="Calibri" pitchFamily="34" charset="0"/>
                <a:ea typeface="Calibri" pitchFamily="34" charset="-122"/>
                <a:cs typeface="Calibri" pitchFamily="34" charset="-120"/>
              </a:rPr>
              <a:t>ADMS, PLC / gas-control, Genetec</a:t>
            </a:r>
            <a:endParaRPr lang="en-US" sz="950"/>
          </a:p>
        </p:txBody>
      </p:sp>
      <p:sp>
        <p:nvSpPr>
          <p:cNvPr id="64" name="Shape 62"/>
          <p:cNvSpPr/>
          <p:nvPr/>
        </p:nvSpPr>
        <p:spPr>
          <a:xfrm>
            <a:off x="6163056" y="4718304"/>
            <a:ext cx="2670048" cy="1371600"/>
          </a:xfrm>
          <a:prstGeom prst="rect">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65" name="Shape 63"/>
          <p:cNvSpPr/>
          <p:nvPr/>
        </p:nvSpPr>
        <p:spPr>
          <a:xfrm>
            <a:off x="6163056" y="4718304"/>
            <a:ext cx="2670048" cy="109728"/>
          </a:xfrm>
          <a:prstGeom prst="rect">
            <a:avLst/>
          </a:prstGeom>
          <a:solidFill>
            <a:srgbClr val="817169"/>
          </a:solidFill>
          <a:ln/>
        </p:spPr>
        <p:txBody>
          <a:bodyPr/>
          <a:lstStyle/>
          <a:p>
            <a:endParaRPr lang="en-US"/>
          </a:p>
        </p:txBody>
      </p:sp>
      <p:sp>
        <p:nvSpPr>
          <p:cNvPr id="66" name="Text 64"/>
          <p:cNvSpPr/>
          <p:nvPr/>
        </p:nvSpPr>
        <p:spPr>
          <a:xfrm>
            <a:off x="6272784" y="4919472"/>
            <a:ext cx="548640" cy="457200"/>
          </a:xfrm>
          <a:prstGeom prst="rect">
            <a:avLst/>
          </a:prstGeom>
          <a:noFill/>
          <a:ln/>
        </p:spPr>
        <p:txBody>
          <a:bodyPr wrap="square" rtlCol="0" anchor="ctr"/>
          <a:lstStyle/>
          <a:p>
            <a:pPr marL="0" indent="0">
              <a:buNone/>
            </a:pPr>
            <a:r>
              <a:rPr lang="en-US" sz="2200" b="1">
                <a:solidFill>
                  <a:srgbClr val="817169"/>
                </a:solidFill>
                <a:latin typeface="Arial" pitchFamily="34" charset="0"/>
                <a:ea typeface="Arial" pitchFamily="34" charset="-122"/>
                <a:cs typeface="Arial" pitchFamily="34" charset="-120"/>
              </a:rPr>
              <a:t>11</a:t>
            </a:r>
            <a:endParaRPr lang="en-US" sz="2200"/>
          </a:p>
        </p:txBody>
      </p:sp>
      <p:sp>
        <p:nvSpPr>
          <p:cNvPr id="67" name="Text 65"/>
          <p:cNvSpPr/>
          <p:nvPr/>
        </p:nvSpPr>
        <p:spPr>
          <a:xfrm>
            <a:off x="6821424" y="4937760"/>
            <a:ext cx="1920240" cy="566928"/>
          </a:xfrm>
          <a:prstGeom prst="rect">
            <a:avLst/>
          </a:prstGeom>
          <a:noFill/>
          <a:ln/>
        </p:spPr>
        <p:txBody>
          <a:bodyPr wrap="square" rtlCol="0" anchor="t"/>
          <a:lstStyle/>
          <a:p>
            <a:pPr marL="0" indent="0">
              <a:buNone/>
            </a:pPr>
            <a:r>
              <a:rPr lang="en-US" sz="1150" b="1">
                <a:solidFill>
                  <a:srgbClr val="001489"/>
                </a:solidFill>
                <a:latin typeface="Arial" pitchFamily="34" charset="0"/>
                <a:ea typeface="Arial" pitchFamily="34" charset="-122"/>
                <a:cs typeface="Arial" pitchFamily="34" charset="-120"/>
              </a:rPr>
              <a:t>Legacy / End-of-Life</a:t>
            </a:r>
            <a:endParaRPr lang="en-US" sz="1150"/>
          </a:p>
        </p:txBody>
      </p:sp>
      <p:sp>
        <p:nvSpPr>
          <p:cNvPr id="68" name="Text 66"/>
          <p:cNvSpPr/>
          <p:nvPr/>
        </p:nvSpPr>
        <p:spPr>
          <a:xfrm>
            <a:off x="6309360" y="5559552"/>
            <a:ext cx="2423160" cy="457200"/>
          </a:xfrm>
          <a:prstGeom prst="rect">
            <a:avLst/>
          </a:prstGeom>
          <a:noFill/>
          <a:ln/>
        </p:spPr>
        <p:txBody>
          <a:bodyPr wrap="square" rtlCol="0" anchor="ctr"/>
          <a:lstStyle/>
          <a:p>
            <a:pPr marL="0" indent="0">
              <a:lnSpc>
                <a:spcPct val="100000"/>
              </a:lnSpc>
              <a:buNone/>
            </a:pPr>
            <a:r>
              <a:rPr lang="en-US" sz="950" i="1">
                <a:solidFill>
                  <a:srgbClr val="6A6157"/>
                </a:solidFill>
                <a:latin typeface="Calibri" pitchFamily="34" charset="0"/>
                <a:ea typeface="Calibri" pitchFamily="34" charset="-122"/>
                <a:cs typeface="Calibri" pitchFamily="34" charset="-120"/>
              </a:rPr>
              <a:t>7-R decommission candidates</a:t>
            </a:r>
            <a:endParaRPr lang="en-US" sz="950"/>
          </a:p>
        </p:txBody>
      </p:sp>
      <p:sp>
        <p:nvSpPr>
          <p:cNvPr id="69" name="Shape 67"/>
          <p:cNvSpPr/>
          <p:nvPr/>
        </p:nvSpPr>
        <p:spPr>
          <a:xfrm>
            <a:off x="9015984" y="4718304"/>
            <a:ext cx="2670048" cy="1371600"/>
          </a:xfrm>
          <a:prstGeom prst="rect">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70" name="Shape 68"/>
          <p:cNvSpPr/>
          <p:nvPr/>
        </p:nvSpPr>
        <p:spPr>
          <a:xfrm>
            <a:off x="9015984" y="4718304"/>
            <a:ext cx="2670048" cy="109728"/>
          </a:xfrm>
          <a:prstGeom prst="rect">
            <a:avLst/>
          </a:prstGeom>
          <a:solidFill>
            <a:srgbClr val="007A99"/>
          </a:solidFill>
          <a:ln/>
        </p:spPr>
        <p:txBody>
          <a:bodyPr/>
          <a:lstStyle/>
          <a:p>
            <a:endParaRPr lang="en-US"/>
          </a:p>
        </p:txBody>
      </p:sp>
      <p:sp>
        <p:nvSpPr>
          <p:cNvPr id="71" name="Text 69"/>
          <p:cNvSpPr/>
          <p:nvPr/>
        </p:nvSpPr>
        <p:spPr>
          <a:xfrm>
            <a:off x="9125712" y="4919472"/>
            <a:ext cx="548640" cy="457200"/>
          </a:xfrm>
          <a:prstGeom prst="rect">
            <a:avLst/>
          </a:prstGeom>
          <a:noFill/>
          <a:ln/>
        </p:spPr>
        <p:txBody>
          <a:bodyPr wrap="square" rtlCol="0" anchor="ctr"/>
          <a:lstStyle/>
          <a:p>
            <a:pPr marL="0" indent="0">
              <a:buNone/>
            </a:pPr>
            <a:r>
              <a:rPr lang="en-US" sz="2200" b="1">
                <a:solidFill>
                  <a:srgbClr val="007A99"/>
                </a:solidFill>
                <a:latin typeface="Arial" pitchFamily="34" charset="0"/>
                <a:ea typeface="Arial" pitchFamily="34" charset="-122"/>
                <a:cs typeface="Arial" pitchFamily="34" charset="-120"/>
              </a:rPr>
              <a:t>12</a:t>
            </a:r>
            <a:endParaRPr lang="en-US" sz="2200"/>
          </a:p>
        </p:txBody>
      </p:sp>
      <p:sp>
        <p:nvSpPr>
          <p:cNvPr id="72" name="Text 70"/>
          <p:cNvSpPr/>
          <p:nvPr/>
        </p:nvSpPr>
        <p:spPr>
          <a:xfrm>
            <a:off x="9674352" y="4937760"/>
            <a:ext cx="1920240" cy="566928"/>
          </a:xfrm>
          <a:prstGeom prst="rect">
            <a:avLst/>
          </a:prstGeom>
          <a:noFill/>
          <a:ln/>
        </p:spPr>
        <p:txBody>
          <a:bodyPr wrap="square" rtlCol="0" anchor="t"/>
          <a:lstStyle/>
          <a:p>
            <a:pPr marL="0" indent="0">
              <a:buNone/>
            </a:pPr>
            <a:r>
              <a:rPr lang="en-US" sz="1150" b="1">
                <a:solidFill>
                  <a:srgbClr val="001489"/>
                </a:solidFill>
                <a:latin typeface="Arial" pitchFamily="34" charset="0"/>
                <a:ea typeface="Arial" pitchFamily="34" charset="-122"/>
                <a:cs typeface="Arial" pitchFamily="34" charset="-120"/>
              </a:rPr>
              <a:t>Reporting / BI Assets</a:t>
            </a:r>
            <a:endParaRPr lang="en-US" sz="1150"/>
          </a:p>
        </p:txBody>
      </p:sp>
      <p:sp>
        <p:nvSpPr>
          <p:cNvPr id="73" name="Text 71"/>
          <p:cNvSpPr/>
          <p:nvPr/>
        </p:nvSpPr>
        <p:spPr>
          <a:xfrm>
            <a:off x="9162288" y="5559552"/>
            <a:ext cx="2423160" cy="457200"/>
          </a:xfrm>
          <a:prstGeom prst="rect">
            <a:avLst/>
          </a:prstGeom>
          <a:noFill/>
          <a:ln/>
        </p:spPr>
        <p:txBody>
          <a:bodyPr wrap="square" rtlCol="0" anchor="ctr"/>
          <a:lstStyle/>
          <a:p>
            <a:pPr marL="0" indent="0">
              <a:lnSpc>
                <a:spcPct val="100000"/>
              </a:lnSpc>
              <a:buNone/>
            </a:pPr>
            <a:r>
              <a:rPr lang="en-US" sz="950" i="1">
                <a:solidFill>
                  <a:srgbClr val="6A6157"/>
                </a:solidFill>
                <a:latin typeface="Calibri" pitchFamily="34" charset="0"/>
                <a:ea typeface="Calibri" pitchFamily="34" charset="-122"/>
                <a:cs typeface="Calibri" pitchFamily="34" charset="-120"/>
              </a:rPr>
              <a:t>Power BI, business-built reports</a:t>
            </a:r>
            <a:endParaRPr lang="en-US" sz="950"/>
          </a:p>
        </p:txBody>
      </p:sp>
      <p:sp>
        <p:nvSpPr>
          <p:cNvPr id="74" name="Text 72"/>
          <p:cNvSpPr/>
          <p:nvPr/>
        </p:nvSpPr>
        <p:spPr>
          <a:xfrm>
            <a:off x="457200" y="6473952"/>
            <a:ext cx="2011680" cy="256032"/>
          </a:xfrm>
          <a:prstGeom prst="rect">
            <a:avLst/>
          </a:prstGeom>
          <a:noFill/>
          <a:ln/>
        </p:spPr>
        <p:txBody>
          <a:bodyPr wrap="square" rtlCol="0" anchor="ctr"/>
          <a:lstStyle/>
          <a:p>
            <a:pPr marL="0" indent="0" algn="l">
              <a:buNone/>
            </a:pPr>
            <a:r>
              <a:rPr lang="en-US" sz="850" i="1">
                <a:solidFill>
                  <a:srgbClr val="6A6157"/>
                </a:solidFill>
                <a:latin typeface="Calibri" pitchFamily="34" charset="0"/>
                <a:ea typeface="Calibri" pitchFamily="34" charset="-122"/>
                <a:cs typeface="Calibri" pitchFamily="34" charset="-120"/>
              </a:rPr>
              <a:t>Business Use</a:t>
            </a:r>
            <a:endParaRPr lang="en-US" sz="850"/>
          </a:p>
        </p:txBody>
      </p:sp>
      <p:sp>
        <p:nvSpPr>
          <p:cNvPr id="75" name="Text 73"/>
          <p:cNvSpPr/>
          <p:nvPr/>
        </p:nvSpPr>
        <p:spPr>
          <a:xfrm>
            <a:off x="2468880" y="6473952"/>
            <a:ext cx="5029200" cy="256032"/>
          </a:xfrm>
          <a:prstGeom prst="rect">
            <a:avLst/>
          </a:prstGeom>
          <a:noFill/>
          <a:ln/>
        </p:spPr>
        <p:txBody>
          <a:bodyPr wrap="square" rtlCol="0" anchor="ctr"/>
          <a:lstStyle/>
          <a:p>
            <a:pPr marL="0" indent="0" algn="l">
              <a:buNone/>
            </a:pPr>
            <a:r>
              <a:rPr lang="en-US" sz="850">
                <a:solidFill>
                  <a:srgbClr val="6A6157"/>
                </a:solidFill>
                <a:latin typeface="Calibri" pitchFamily="34" charset="0"/>
                <a:ea typeface="Calibri" pitchFamily="34" charset="-122"/>
                <a:cs typeface="Calibri" pitchFamily="34" charset="-120"/>
              </a:rPr>
              <a:t>Application Ownership Governance</a:t>
            </a:r>
            <a:endParaRPr lang="en-US" sz="850"/>
          </a:p>
        </p:txBody>
      </p:sp>
      <p:sp>
        <p:nvSpPr>
          <p:cNvPr id="76" name="Text 74"/>
          <p:cNvSpPr/>
          <p:nvPr/>
        </p:nvSpPr>
        <p:spPr>
          <a:xfrm>
            <a:off x="7772400" y="6473952"/>
            <a:ext cx="3959352" cy="256032"/>
          </a:xfrm>
          <a:prstGeom prst="rect">
            <a:avLst/>
          </a:prstGeom>
          <a:noFill/>
          <a:ln/>
        </p:spPr>
        <p:txBody>
          <a:bodyPr wrap="square" rtlCol="0" anchor="ctr"/>
          <a:lstStyle/>
          <a:p>
            <a:pPr marL="0" indent="0" algn="r">
              <a:buNone/>
            </a:pPr>
            <a:r>
              <a:rPr lang="en-US" sz="850">
                <a:solidFill>
                  <a:srgbClr val="6A6157"/>
                </a:solidFill>
                <a:latin typeface="Calibri" pitchFamily="34" charset="0"/>
                <a:ea typeface="Calibri" pitchFamily="34" charset="-122"/>
                <a:cs typeface="Calibri" pitchFamily="34" charset="-120"/>
              </a:rPr>
              <a:t>© PPL Corporation 2026   |   5</a:t>
            </a:r>
            <a:endParaRPr lang="en-US" sz="8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ect">
            <a:avLst/>
          </a:prstGeom>
          <a:solidFill>
            <a:srgbClr val="001489"/>
          </a:solidFill>
          <a:ln/>
        </p:spPr>
        <p:txBody>
          <a:bodyPr/>
          <a:lstStyle/>
          <a:p>
            <a:endParaRPr lang="en-US"/>
          </a:p>
        </p:txBody>
      </p:sp>
      <p:sp>
        <p:nvSpPr>
          <p:cNvPr id="3" name="Shape 1"/>
          <p:cNvSpPr/>
          <p:nvPr/>
        </p:nvSpPr>
        <p:spPr>
          <a:xfrm>
            <a:off x="0" y="1078992"/>
            <a:ext cx="12188952" cy="54864"/>
          </a:xfrm>
          <a:prstGeom prst="rect">
            <a:avLst/>
          </a:prstGeom>
          <a:solidFill>
            <a:srgbClr val="0085CA"/>
          </a:solidFill>
          <a:ln/>
        </p:spPr>
        <p:txBody>
          <a:bodyPr/>
          <a:lstStyle/>
          <a:p>
            <a:endParaRPr lang="en-US"/>
          </a:p>
        </p:txBody>
      </p:sp>
      <p:sp>
        <p:nvSpPr>
          <p:cNvPr id="4" name="Text 2"/>
          <p:cNvSpPr/>
          <p:nvPr/>
        </p:nvSpPr>
        <p:spPr>
          <a:xfrm>
            <a:off x="457200" y="182880"/>
            <a:ext cx="10058400" cy="256032"/>
          </a:xfrm>
          <a:prstGeom prst="rect">
            <a:avLst/>
          </a:prstGeom>
          <a:noFill/>
          <a:ln/>
        </p:spPr>
        <p:txBody>
          <a:bodyPr wrap="square" rtlCol="0" anchor="ctr"/>
          <a:lstStyle/>
          <a:p>
            <a:pPr marL="0" indent="0">
              <a:buNone/>
            </a:pPr>
            <a:r>
              <a:rPr lang="en-US" sz="1100" b="1" kern="0" spc="300">
                <a:solidFill>
                  <a:srgbClr val="8FC7EA"/>
                </a:solidFill>
                <a:latin typeface="Calibri" pitchFamily="34" charset="0"/>
                <a:ea typeface="Calibri" pitchFamily="34" charset="-122"/>
                <a:cs typeface="Calibri" pitchFamily="34" charset="-120"/>
              </a:rPr>
              <a:t>THE SITUATION</a:t>
            </a:r>
            <a:endParaRPr lang="en-US" sz="1100"/>
          </a:p>
        </p:txBody>
      </p:sp>
      <p:sp>
        <p:nvSpPr>
          <p:cNvPr id="5" name="Text 3"/>
          <p:cNvSpPr/>
          <p:nvPr/>
        </p:nvSpPr>
        <p:spPr>
          <a:xfrm>
            <a:off x="457200" y="420624"/>
            <a:ext cx="10607040" cy="566928"/>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Why an App ownership decision framework is needed</a:t>
            </a:r>
            <a:endParaRPr lang="en-US" sz="2400" dirty="0"/>
          </a:p>
        </p:txBody>
      </p:sp>
      <p:sp>
        <p:nvSpPr>
          <p:cNvPr id="6" name="Shape 4"/>
          <p:cNvSpPr/>
          <p:nvPr/>
        </p:nvSpPr>
        <p:spPr>
          <a:xfrm>
            <a:off x="11073384" y="384048"/>
            <a:ext cx="658368" cy="310896"/>
          </a:xfrm>
          <a:prstGeom prst="rect">
            <a:avLst/>
          </a:prstGeom>
          <a:solidFill>
            <a:srgbClr val="FFFFFF"/>
          </a:solidFill>
          <a:ln/>
        </p:spPr>
        <p:txBody>
          <a:bodyPr/>
          <a:lstStyle/>
          <a:p>
            <a:endParaRPr lang="en-US"/>
          </a:p>
        </p:txBody>
      </p:sp>
      <p:sp>
        <p:nvSpPr>
          <p:cNvPr id="7" name="Text 5"/>
          <p:cNvSpPr/>
          <p:nvPr/>
        </p:nvSpPr>
        <p:spPr>
          <a:xfrm>
            <a:off x="11073384" y="384048"/>
            <a:ext cx="658368" cy="310896"/>
          </a:xfrm>
          <a:prstGeom prst="rect">
            <a:avLst/>
          </a:prstGeom>
          <a:noFill/>
          <a:ln/>
        </p:spPr>
        <p:txBody>
          <a:bodyPr wrap="square" rtlCol="0" anchor="ctr"/>
          <a:lstStyle/>
          <a:p>
            <a:pPr marL="0" indent="0" algn="ctr">
              <a:buNone/>
            </a:pPr>
            <a:r>
              <a:rPr lang="en-US" sz="1500" b="1" kern="0" spc="100">
                <a:solidFill>
                  <a:srgbClr val="001489"/>
                </a:solidFill>
                <a:latin typeface="Arial" pitchFamily="34" charset="0"/>
                <a:ea typeface="Arial" pitchFamily="34" charset="-122"/>
                <a:cs typeface="Arial" pitchFamily="34" charset="-120"/>
              </a:rPr>
              <a:t>PPL</a:t>
            </a:r>
            <a:endParaRPr lang="en-US" sz="1500"/>
          </a:p>
        </p:txBody>
      </p:sp>
      <p:sp>
        <p:nvSpPr>
          <p:cNvPr id="8" name="Shape 6"/>
          <p:cNvSpPr/>
          <p:nvPr/>
        </p:nvSpPr>
        <p:spPr>
          <a:xfrm>
            <a:off x="457200" y="1426464"/>
            <a:ext cx="3566160" cy="2148840"/>
          </a:xfrm>
          <a:prstGeom prst="rect">
            <a:avLst/>
          </a:prstGeom>
          <a:solidFill>
            <a:srgbClr val="F4F8FC"/>
          </a:solidFill>
          <a:ln w="12700">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9" name="Shape 7"/>
          <p:cNvSpPr/>
          <p:nvPr/>
        </p:nvSpPr>
        <p:spPr>
          <a:xfrm>
            <a:off x="457200" y="1426464"/>
            <a:ext cx="91440" cy="2148840"/>
          </a:xfrm>
          <a:prstGeom prst="rect">
            <a:avLst/>
          </a:prstGeom>
          <a:solidFill>
            <a:srgbClr val="F2A900"/>
          </a:solidFill>
          <a:ln/>
        </p:spPr>
        <p:txBody>
          <a:bodyPr/>
          <a:lstStyle/>
          <a:p>
            <a:endParaRPr lang="en-US"/>
          </a:p>
        </p:txBody>
      </p:sp>
      <p:sp>
        <p:nvSpPr>
          <p:cNvPr id="10" name="Text 8"/>
          <p:cNvSpPr/>
          <p:nvPr/>
        </p:nvSpPr>
        <p:spPr>
          <a:xfrm>
            <a:off x="731521" y="1609344"/>
            <a:ext cx="3154680" cy="594360"/>
          </a:xfrm>
          <a:prstGeom prst="rect">
            <a:avLst/>
          </a:prstGeom>
          <a:noFill/>
          <a:ln/>
        </p:spPr>
        <p:txBody>
          <a:bodyPr wrap="square" rtlCol="0" anchor="t"/>
          <a:lstStyle/>
          <a:p>
            <a:pPr marL="0" indent="0">
              <a:buNone/>
            </a:pPr>
            <a:r>
              <a:rPr lang="en-US" sz="1500" b="1" dirty="0">
                <a:solidFill>
                  <a:srgbClr val="001489"/>
                </a:solidFill>
                <a:latin typeface="Arial" pitchFamily="34" charset="0"/>
                <a:ea typeface="Arial" pitchFamily="34" charset="-122"/>
                <a:cs typeface="Arial" pitchFamily="34" charset="-120"/>
              </a:rPr>
              <a:t>Ownership drifted after re-org</a:t>
            </a:r>
            <a:endParaRPr lang="en-US" sz="1500" dirty="0"/>
          </a:p>
        </p:txBody>
      </p:sp>
      <p:sp>
        <p:nvSpPr>
          <p:cNvPr id="11" name="Text 9"/>
          <p:cNvSpPr/>
          <p:nvPr/>
        </p:nvSpPr>
        <p:spPr>
          <a:xfrm>
            <a:off x="731521" y="2295144"/>
            <a:ext cx="3154680" cy="1188720"/>
          </a:xfrm>
          <a:prstGeom prst="rect">
            <a:avLst/>
          </a:prstGeom>
          <a:noFill/>
          <a:ln/>
        </p:spPr>
        <p:txBody>
          <a:bodyPr wrap="square" rtlCol="0" anchor="ctr"/>
          <a:lstStyle/>
          <a:p>
            <a:pPr marL="0" indent="0">
              <a:lnSpc>
                <a:spcPct val="108000"/>
              </a:lnSpc>
              <a:buNone/>
            </a:pPr>
            <a:r>
              <a:rPr lang="en-US" sz="1150">
                <a:solidFill>
                  <a:srgbClr val="2C2826"/>
                </a:solidFill>
                <a:latin typeface="Calibri" pitchFamily="34" charset="0"/>
                <a:ea typeface="Calibri" pitchFamily="34" charset="-122"/>
                <a:cs typeface="Calibri" pitchFamily="34" charset="-120"/>
              </a:rPr>
              <a:t>Two years of reorganization left no clean application ownership matrix — owners change on immediate need, not by design.</a:t>
            </a:r>
            <a:endParaRPr lang="en-US" sz="1150"/>
          </a:p>
        </p:txBody>
      </p:sp>
      <p:sp>
        <p:nvSpPr>
          <p:cNvPr id="12" name="Shape 10"/>
          <p:cNvSpPr/>
          <p:nvPr/>
        </p:nvSpPr>
        <p:spPr>
          <a:xfrm>
            <a:off x="4270248" y="1426464"/>
            <a:ext cx="3566160" cy="2148840"/>
          </a:xfrm>
          <a:prstGeom prst="rect">
            <a:avLst/>
          </a:prstGeom>
          <a:solidFill>
            <a:srgbClr val="F4F8FC"/>
          </a:solidFill>
          <a:ln w="12700">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13" name="Shape 11"/>
          <p:cNvSpPr/>
          <p:nvPr/>
        </p:nvSpPr>
        <p:spPr>
          <a:xfrm>
            <a:off x="4270248" y="1426464"/>
            <a:ext cx="91439" cy="2148840"/>
          </a:xfrm>
          <a:prstGeom prst="rect">
            <a:avLst/>
          </a:prstGeom>
          <a:solidFill>
            <a:srgbClr val="0085CA"/>
          </a:solidFill>
          <a:ln/>
        </p:spPr>
        <p:txBody>
          <a:bodyPr/>
          <a:lstStyle/>
          <a:p>
            <a:endParaRPr lang="en-US"/>
          </a:p>
        </p:txBody>
      </p:sp>
      <p:sp>
        <p:nvSpPr>
          <p:cNvPr id="14" name="Text 12"/>
          <p:cNvSpPr/>
          <p:nvPr/>
        </p:nvSpPr>
        <p:spPr>
          <a:xfrm>
            <a:off x="4544569" y="1609344"/>
            <a:ext cx="3154680" cy="594360"/>
          </a:xfrm>
          <a:prstGeom prst="rect">
            <a:avLst/>
          </a:prstGeom>
          <a:noFill/>
          <a:ln/>
        </p:spPr>
        <p:txBody>
          <a:bodyPr wrap="square" rtlCol="0" anchor="t"/>
          <a:lstStyle/>
          <a:p>
            <a:pPr marL="0" indent="0">
              <a:buNone/>
            </a:pPr>
            <a:r>
              <a:rPr lang="en-US" sz="1500" b="1">
                <a:solidFill>
                  <a:srgbClr val="001489"/>
                </a:solidFill>
                <a:latin typeface="Arial" pitchFamily="34" charset="0"/>
                <a:ea typeface="Arial" pitchFamily="34" charset="-122"/>
                <a:cs typeface="Arial" pitchFamily="34" charset="-120"/>
              </a:rPr>
              <a:t>No rule for 'who owns what'</a:t>
            </a:r>
            <a:endParaRPr lang="en-US" sz="1500"/>
          </a:p>
        </p:txBody>
      </p:sp>
      <p:sp>
        <p:nvSpPr>
          <p:cNvPr id="15" name="Text 13"/>
          <p:cNvSpPr/>
          <p:nvPr/>
        </p:nvSpPr>
        <p:spPr>
          <a:xfrm>
            <a:off x="4544569" y="2295144"/>
            <a:ext cx="3154680" cy="1188720"/>
          </a:xfrm>
          <a:prstGeom prst="rect">
            <a:avLst/>
          </a:prstGeom>
          <a:noFill/>
          <a:ln/>
        </p:spPr>
        <p:txBody>
          <a:bodyPr wrap="square" rtlCol="0" anchor="ctr"/>
          <a:lstStyle/>
          <a:p>
            <a:pPr>
              <a:lnSpc>
                <a:spcPct val="108000"/>
              </a:lnSpc>
            </a:pPr>
            <a:r>
              <a:rPr lang="en-US" sz="1150">
                <a:solidFill>
                  <a:srgbClr val="2C2826"/>
                </a:solidFill>
                <a:latin typeface="Calibri" pitchFamily="34" charset="0"/>
                <a:ea typeface="Calibri" pitchFamily="34" charset="-122"/>
                <a:cs typeface="Calibri" pitchFamily="34" charset="-120"/>
              </a:rPr>
              <a:t>Mixed bag of ownership is applied across value streams (e.g. </a:t>
            </a:r>
            <a:r>
              <a:rPr lang="en-US" sz="1150" err="1">
                <a:solidFill>
                  <a:srgbClr val="2C2826"/>
                </a:solidFill>
                <a:latin typeface="Calibri" pitchFamily="34" charset="0"/>
                <a:ea typeface="Calibri" pitchFamily="34" charset="-122"/>
                <a:cs typeface="Calibri" pitchFamily="34" charset="-120"/>
              </a:rPr>
              <a:t>Webmethods</a:t>
            </a:r>
            <a:r>
              <a:rPr lang="en-US" sz="1150">
                <a:solidFill>
                  <a:srgbClr val="2C2826"/>
                </a:solidFill>
                <a:latin typeface="Calibri" pitchFamily="34" charset="0"/>
                <a:ea typeface="Calibri" pitchFamily="34" charset="-122"/>
                <a:cs typeface="Calibri" pitchFamily="34" charset="-120"/>
              </a:rPr>
              <a:t> vs </a:t>
            </a:r>
            <a:r>
              <a:rPr lang="en-US" sz="1150" err="1">
                <a:solidFill>
                  <a:srgbClr val="2C2826"/>
                </a:solidFill>
                <a:latin typeface="Calibri" pitchFamily="34" charset="0"/>
                <a:ea typeface="Calibri" pitchFamily="34" charset="-122"/>
                <a:cs typeface="Calibri" pitchFamily="34" charset="-120"/>
              </a:rPr>
              <a:t>GlobalScape</a:t>
            </a:r>
            <a:r>
              <a:rPr lang="en-US" sz="1150">
                <a:solidFill>
                  <a:srgbClr val="2C2826"/>
                </a:solidFill>
                <a:latin typeface="Calibri" pitchFamily="34" charset="0"/>
                <a:ea typeface="Calibri" pitchFamily="34" charset="-122"/>
                <a:cs typeface="Calibri" pitchFamily="34" charset="-120"/>
              </a:rPr>
              <a:t>, PVCS vs ADO, KY AIM vs SailPoint)</a:t>
            </a:r>
            <a:endParaRPr lang="en-US" sz="1150"/>
          </a:p>
        </p:txBody>
      </p:sp>
      <p:sp>
        <p:nvSpPr>
          <p:cNvPr id="20" name="Shape 18"/>
          <p:cNvSpPr/>
          <p:nvPr/>
        </p:nvSpPr>
        <p:spPr>
          <a:xfrm>
            <a:off x="457200" y="3840480"/>
            <a:ext cx="11274552" cy="457200"/>
          </a:xfrm>
          <a:prstGeom prst="rect">
            <a:avLst/>
          </a:prstGeom>
          <a:solidFill>
            <a:srgbClr val="001489"/>
          </a:solidFill>
          <a:ln/>
        </p:spPr>
        <p:txBody>
          <a:bodyPr/>
          <a:lstStyle/>
          <a:p>
            <a:endParaRPr lang="en-US"/>
          </a:p>
        </p:txBody>
      </p:sp>
      <p:sp>
        <p:nvSpPr>
          <p:cNvPr id="21" name="Text 19"/>
          <p:cNvSpPr/>
          <p:nvPr/>
        </p:nvSpPr>
        <p:spPr>
          <a:xfrm>
            <a:off x="640080" y="3840480"/>
            <a:ext cx="10972800" cy="457200"/>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WHAT 'GOOD' LOOKS LIKE — every application has a named Business Owner and a named IT / Technical Owner, mapped to one Home Value Stream, registered in APO → CMDB.</a:t>
            </a:r>
            <a:endParaRPr lang="en-US" sz="1200"/>
          </a:p>
        </p:txBody>
      </p:sp>
      <p:sp>
        <p:nvSpPr>
          <p:cNvPr id="22" name="Shape 20"/>
          <p:cNvSpPr/>
          <p:nvPr/>
        </p:nvSpPr>
        <p:spPr>
          <a:xfrm>
            <a:off x="457200" y="4526280"/>
            <a:ext cx="3566160" cy="1600200"/>
          </a:xfrm>
          <a:prstGeom prst="roundRect">
            <a:avLst>
              <a:gd name="adj" fmla="val 3429"/>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23" name="Text 21"/>
          <p:cNvSpPr/>
          <p:nvPr/>
        </p:nvSpPr>
        <p:spPr>
          <a:xfrm>
            <a:off x="685800" y="4663440"/>
            <a:ext cx="3200400" cy="228600"/>
          </a:xfrm>
          <a:prstGeom prst="rect">
            <a:avLst/>
          </a:prstGeom>
          <a:noFill/>
          <a:ln/>
        </p:spPr>
        <p:txBody>
          <a:bodyPr wrap="square" rtlCol="0" anchor="ctr"/>
          <a:lstStyle/>
          <a:p>
            <a:pPr marL="0" indent="0">
              <a:buNone/>
            </a:pPr>
            <a:r>
              <a:rPr lang="en-US" sz="850" b="1" kern="0" spc="200">
                <a:solidFill>
                  <a:srgbClr val="F2A900"/>
                </a:solidFill>
                <a:latin typeface="Calibri" pitchFamily="34" charset="0"/>
                <a:ea typeface="Calibri" pitchFamily="34" charset="-122"/>
                <a:cs typeface="Calibri" pitchFamily="34" charset="-120"/>
              </a:rPr>
              <a:t>INDUSTRY ANCHOR</a:t>
            </a:r>
            <a:endParaRPr lang="en-US" sz="850"/>
          </a:p>
        </p:txBody>
      </p:sp>
      <p:sp>
        <p:nvSpPr>
          <p:cNvPr id="24" name="Text 22"/>
          <p:cNvSpPr/>
          <p:nvPr/>
        </p:nvSpPr>
        <p:spPr>
          <a:xfrm>
            <a:off x="685800" y="4864608"/>
            <a:ext cx="3200400" cy="365760"/>
          </a:xfrm>
          <a:prstGeom prst="rect">
            <a:avLst/>
          </a:prstGeom>
          <a:noFill/>
          <a:ln/>
        </p:spPr>
        <p:txBody>
          <a:bodyPr wrap="square" rtlCol="0" anchor="ctr"/>
          <a:lstStyle/>
          <a:p>
            <a:pPr marL="0" indent="0">
              <a:buNone/>
            </a:pPr>
            <a:r>
              <a:rPr lang="en-US" sz="1350" b="1">
                <a:solidFill>
                  <a:srgbClr val="007A99"/>
                </a:solidFill>
                <a:latin typeface="Arial" pitchFamily="34" charset="0"/>
                <a:ea typeface="Arial" pitchFamily="34" charset="-122"/>
                <a:cs typeface="Arial" pitchFamily="34" charset="-120"/>
              </a:rPr>
              <a:t>ISO / IEC 27001 A.5.9</a:t>
            </a:r>
            <a:endParaRPr lang="en-US" sz="1350"/>
          </a:p>
        </p:txBody>
      </p:sp>
      <p:sp>
        <p:nvSpPr>
          <p:cNvPr id="25" name="Text 23"/>
          <p:cNvSpPr/>
          <p:nvPr/>
        </p:nvSpPr>
        <p:spPr>
          <a:xfrm>
            <a:off x="685800" y="5257800"/>
            <a:ext cx="3200400" cy="777240"/>
          </a:xfrm>
          <a:prstGeom prst="rect">
            <a:avLst/>
          </a:prstGeom>
          <a:noFill/>
          <a:ln/>
        </p:spPr>
        <p:txBody>
          <a:bodyPr wrap="square" rtlCol="0" anchor="ctr"/>
          <a:lstStyle/>
          <a:p>
            <a:pPr marL="0" indent="0">
              <a:lnSpc>
                <a:spcPct val="105000"/>
              </a:lnSpc>
              <a:buNone/>
            </a:pPr>
            <a:r>
              <a:rPr lang="en-US" sz="1050">
                <a:solidFill>
                  <a:srgbClr val="2C2826"/>
                </a:solidFill>
                <a:latin typeface="Calibri" pitchFamily="34" charset="0"/>
                <a:ea typeface="Calibri" pitchFamily="34" charset="-122"/>
                <a:cs typeface="Calibri" pitchFamily="34" charset="-120"/>
              </a:rPr>
              <a:t>Every information asset has a named owner accountable for classification, risk and review — ownership ≠ administration.</a:t>
            </a:r>
            <a:endParaRPr lang="en-US" sz="1050"/>
          </a:p>
        </p:txBody>
      </p:sp>
      <p:sp>
        <p:nvSpPr>
          <p:cNvPr id="26" name="Shape 24"/>
          <p:cNvSpPr/>
          <p:nvPr/>
        </p:nvSpPr>
        <p:spPr>
          <a:xfrm>
            <a:off x="4270248" y="4526280"/>
            <a:ext cx="3566160" cy="1600200"/>
          </a:xfrm>
          <a:prstGeom prst="roundRect">
            <a:avLst>
              <a:gd name="adj" fmla="val 3429"/>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27" name="Text 25"/>
          <p:cNvSpPr/>
          <p:nvPr/>
        </p:nvSpPr>
        <p:spPr>
          <a:xfrm>
            <a:off x="4498848" y="4663440"/>
            <a:ext cx="3200400" cy="228600"/>
          </a:xfrm>
          <a:prstGeom prst="rect">
            <a:avLst/>
          </a:prstGeom>
          <a:noFill/>
          <a:ln/>
        </p:spPr>
        <p:txBody>
          <a:bodyPr wrap="square" rtlCol="0" anchor="ctr"/>
          <a:lstStyle/>
          <a:p>
            <a:pPr marL="0" indent="0">
              <a:buNone/>
            </a:pPr>
            <a:r>
              <a:rPr lang="en-US" sz="850" b="1" kern="0" spc="200">
                <a:solidFill>
                  <a:srgbClr val="F2A900"/>
                </a:solidFill>
                <a:latin typeface="Calibri" pitchFamily="34" charset="0"/>
                <a:ea typeface="Calibri" pitchFamily="34" charset="-122"/>
                <a:cs typeface="Calibri" pitchFamily="34" charset="-120"/>
              </a:rPr>
              <a:t>INDUSTRY ANCHOR</a:t>
            </a:r>
            <a:endParaRPr lang="en-US" sz="850"/>
          </a:p>
        </p:txBody>
      </p:sp>
      <p:sp>
        <p:nvSpPr>
          <p:cNvPr id="28" name="Text 26"/>
          <p:cNvSpPr/>
          <p:nvPr/>
        </p:nvSpPr>
        <p:spPr>
          <a:xfrm>
            <a:off x="4498848" y="4864608"/>
            <a:ext cx="3200400" cy="365760"/>
          </a:xfrm>
          <a:prstGeom prst="rect">
            <a:avLst/>
          </a:prstGeom>
          <a:noFill/>
          <a:ln/>
        </p:spPr>
        <p:txBody>
          <a:bodyPr wrap="square" rtlCol="0" anchor="ctr"/>
          <a:lstStyle/>
          <a:p>
            <a:pPr marL="0" indent="0">
              <a:buNone/>
            </a:pPr>
            <a:r>
              <a:rPr lang="en-US" sz="1350" b="1">
                <a:solidFill>
                  <a:srgbClr val="007A99"/>
                </a:solidFill>
                <a:latin typeface="Arial" pitchFamily="34" charset="0"/>
                <a:ea typeface="Arial" pitchFamily="34" charset="-122"/>
                <a:cs typeface="Arial" pitchFamily="34" charset="-120"/>
              </a:rPr>
              <a:t>ServiceNow CSDM</a:t>
            </a:r>
            <a:endParaRPr lang="en-US" sz="1350"/>
          </a:p>
        </p:txBody>
      </p:sp>
      <p:sp>
        <p:nvSpPr>
          <p:cNvPr id="29" name="Text 27"/>
          <p:cNvSpPr/>
          <p:nvPr/>
        </p:nvSpPr>
        <p:spPr>
          <a:xfrm>
            <a:off x="4498848" y="5257800"/>
            <a:ext cx="3200400" cy="777240"/>
          </a:xfrm>
          <a:prstGeom prst="rect">
            <a:avLst/>
          </a:prstGeom>
          <a:noFill/>
          <a:ln/>
        </p:spPr>
        <p:txBody>
          <a:bodyPr wrap="square" rtlCol="0" anchor="ctr"/>
          <a:lstStyle/>
          <a:p>
            <a:pPr marL="0" indent="0">
              <a:lnSpc>
                <a:spcPct val="105000"/>
              </a:lnSpc>
              <a:buNone/>
            </a:pPr>
            <a:r>
              <a:rPr lang="en-US" sz="1050">
                <a:solidFill>
                  <a:srgbClr val="2C2826"/>
                </a:solidFill>
                <a:latin typeface="Calibri" pitchFamily="34" charset="0"/>
                <a:ea typeface="Calibri" pitchFamily="34" charset="-122"/>
                <a:cs typeface="Calibri" pitchFamily="34" charset="-120"/>
              </a:rPr>
              <a:t>Business Application carries both a Business Owner and an IT / Technical Owner as distinct, mandatory roles.</a:t>
            </a:r>
            <a:endParaRPr lang="en-US" sz="1050"/>
          </a:p>
        </p:txBody>
      </p:sp>
      <p:sp>
        <p:nvSpPr>
          <p:cNvPr id="30" name="Shape 28"/>
          <p:cNvSpPr/>
          <p:nvPr/>
        </p:nvSpPr>
        <p:spPr>
          <a:xfrm>
            <a:off x="8083296" y="4526280"/>
            <a:ext cx="3566160" cy="1600200"/>
          </a:xfrm>
          <a:prstGeom prst="roundRect">
            <a:avLst>
              <a:gd name="adj" fmla="val 3429"/>
            </a:avLst>
          </a:prstGeom>
          <a:solidFill>
            <a:srgbClr val="FFFFFF"/>
          </a:solidFill>
          <a:ln w="15875">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31" name="Text 29"/>
          <p:cNvSpPr/>
          <p:nvPr/>
        </p:nvSpPr>
        <p:spPr>
          <a:xfrm>
            <a:off x="8311896" y="4663440"/>
            <a:ext cx="3200400" cy="228600"/>
          </a:xfrm>
          <a:prstGeom prst="rect">
            <a:avLst/>
          </a:prstGeom>
          <a:noFill/>
          <a:ln/>
        </p:spPr>
        <p:txBody>
          <a:bodyPr wrap="square" rtlCol="0" anchor="ctr"/>
          <a:lstStyle/>
          <a:p>
            <a:pPr marL="0" indent="0">
              <a:buNone/>
            </a:pPr>
            <a:r>
              <a:rPr lang="en-US" sz="850" b="1" kern="0" spc="200">
                <a:solidFill>
                  <a:srgbClr val="F2A900"/>
                </a:solidFill>
                <a:latin typeface="Calibri" pitchFamily="34" charset="0"/>
                <a:ea typeface="Calibri" pitchFamily="34" charset="-122"/>
                <a:cs typeface="Calibri" pitchFamily="34" charset="-120"/>
              </a:rPr>
              <a:t>INDUSTRY ANCHOR</a:t>
            </a:r>
            <a:endParaRPr lang="en-US" sz="850"/>
          </a:p>
        </p:txBody>
      </p:sp>
      <p:sp>
        <p:nvSpPr>
          <p:cNvPr id="32" name="Text 30"/>
          <p:cNvSpPr/>
          <p:nvPr/>
        </p:nvSpPr>
        <p:spPr>
          <a:xfrm>
            <a:off x="8311896" y="4864608"/>
            <a:ext cx="3200400" cy="365760"/>
          </a:xfrm>
          <a:prstGeom prst="rect">
            <a:avLst/>
          </a:prstGeom>
          <a:noFill/>
          <a:ln/>
        </p:spPr>
        <p:txBody>
          <a:bodyPr wrap="square" rtlCol="0" anchor="ctr"/>
          <a:lstStyle/>
          <a:p>
            <a:pPr marL="0" indent="0">
              <a:buNone/>
            </a:pPr>
            <a:r>
              <a:rPr lang="en-US" sz="1350" b="1">
                <a:solidFill>
                  <a:srgbClr val="007A99"/>
                </a:solidFill>
                <a:latin typeface="Arial" pitchFamily="34" charset="0"/>
                <a:ea typeface="Arial" pitchFamily="34" charset="-122"/>
                <a:cs typeface="Arial" pitchFamily="34" charset="-120"/>
              </a:rPr>
              <a:t>IT4IT + Plan-Build-Run</a:t>
            </a:r>
            <a:endParaRPr lang="en-US" sz="1350"/>
          </a:p>
        </p:txBody>
      </p:sp>
      <p:sp>
        <p:nvSpPr>
          <p:cNvPr id="33" name="Text 31"/>
          <p:cNvSpPr/>
          <p:nvPr/>
        </p:nvSpPr>
        <p:spPr>
          <a:xfrm>
            <a:off x="8311896" y="5257800"/>
            <a:ext cx="3200400" cy="777240"/>
          </a:xfrm>
          <a:prstGeom prst="rect">
            <a:avLst/>
          </a:prstGeom>
          <a:noFill/>
          <a:ln/>
        </p:spPr>
        <p:txBody>
          <a:bodyPr wrap="square" rtlCol="0" anchor="ctr"/>
          <a:lstStyle/>
          <a:p>
            <a:pPr marL="0" indent="0">
              <a:lnSpc>
                <a:spcPct val="105000"/>
              </a:lnSpc>
              <a:buNone/>
            </a:pPr>
            <a:r>
              <a:rPr lang="en-US" sz="1050">
                <a:solidFill>
                  <a:srgbClr val="2C2826"/>
                </a:solidFill>
                <a:latin typeface="Calibri" pitchFamily="34" charset="0"/>
                <a:ea typeface="Calibri" pitchFamily="34" charset="-122"/>
                <a:cs typeface="Calibri" pitchFamily="34" charset="-120"/>
              </a:rPr>
              <a:t>Ownership follows the service lifecycle: business intent (Plan) → build (Solution/System Architect) → run (Support / Ops).</a:t>
            </a:r>
            <a:endParaRPr lang="en-US" sz="1050"/>
          </a:p>
        </p:txBody>
      </p:sp>
      <p:sp>
        <p:nvSpPr>
          <p:cNvPr id="34" name="Text 32"/>
          <p:cNvSpPr/>
          <p:nvPr/>
        </p:nvSpPr>
        <p:spPr>
          <a:xfrm>
            <a:off x="457200" y="6473952"/>
            <a:ext cx="2011680" cy="256032"/>
          </a:xfrm>
          <a:prstGeom prst="rect">
            <a:avLst/>
          </a:prstGeom>
          <a:noFill/>
          <a:ln/>
        </p:spPr>
        <p:txBody>
          <a:bodyPr wrap="square" rtlCol="0" anchor="ctr"/>
          <a:lstStyle/>
          <a:p>
            <a:pPr marL="0" indent="0" algn="l">
              <a:buNone/>
            </a:pPr>
            <a:r>
              <a:rPr lang="en-US" sz="850" i="1">
                <a:solidFill>
                  <a:srgbClr val="6A6157"/>
                </a:solidFill>
                <a:latin typeface="Calibri" pitchFamily="34" charset="0"/>
                <a:ea typeface="Calibri" pitchFamily="34" charset="-122"/>
                <a:cs typeface="Calibri" pitchFamily="34" charset="-120"/>
              </a:rPr>
              <a:t>Business Use</a:t>
            </a:r>
            <a:endParaRPr lang="en-US" sz="850"/>
          </a:p>
        </p:txBody>
      </p:sp>
      <p:sp>
        <p:nvSpPr>
          <p:cNvPr id="35" name="Text 33"/>
          <p:cNvSpPr/>
          <p:nvPr/>
        </p:nvSpPr>
        <p:spPr>
          <a:xfrm>
            <a:off x="2468880" y="6473952"/>
            <a:ext cx="5029200" cy="256032"/>
          </a:xfrm>
          <a:prstGeom prst="rect">
            <a:avLst/>
          </a:prstGeom>
          <a:noFill/>
          <a:ln/>
        </p:spPr>
        <p:txBody>
          <a:bodyPr wrap="square" rtlCol="0" anchor="ctr"/>
          <a:lstStyle/>
          <a:p>
            <a:pPr marL="0" indent="0" algn="l">
              <a:buNone/>
            </a:pPr>
            <a:r>
              <a:rPr lang="en-US" sz="850">
                <a:solidFill>
                  <a:srgbClr val="6A6157"/>
                </a:solidFill>
                <a:latin typeface="Calibri" pitchFamily="34" charset="0"/>
                <a:ea typeface="Calibri" pitchFamily="34" charset="-122"/>
                <a:cs typeface="Calibri" pitchFamily="34" charset="-120"/>
              </a:rPr>
              <a:t>Application Ownership Governance</a:t>
            </a:r>
            <a:endParaRPr lang="en-US" sz="850"/>
          </a:p>
        </p:txBody>
      </p:sp>
      <p:sp>
        <p:nvSpPr>
          <p:cNvPr id="36" name="Text 34"/>
          <p:cNvSpPr/>
          <p:nvPr/>
        </p:nvSpPr>
        <p:spPr>
          <a:xfrm>
            <a:off x="7772400" y="6473952"/>
            <a:ext cx="3959352" cy="256032"/>
          </a:xfrm>
          <a:prstGeom prst="rect">
            <a:avLst/>
          </a:prstGeom>
          <a:noFill/>
          <a:ln/>
        </p:spPr>
        <p:txBody>
          <a:bodyPr wrap="square" rtlCol="0" anchor="ctr"/>
          <a:lstStyle/>
          <a:p>
            <a:pPr marL="0" indent="0" algn="r">
              <a:buNone/>
            </a:pPr>
            <a:r>
              <a:rPr lang="en-US" sz="850">
                <a:solidFill>
                  <a:srgbClr val="6A6157"/>
                </a:solidFill>
                <a:latin typeface="Calibri" pitchFamily="34" charset="0"/>
                <a:ea typeface="Calibri" pitchFamily="34" charset="-122"/>
                <a:cs typeface="Calibri" pitchFamily="34" charset="-120"/>
              </a:rPr>
              <a:t>© PPL Corporation 2026   |   2</a:t>
            </a:r>
            <a:endParaRPr lang="en-US" sz="850"/>
          </a:p>
        </p:txBody>
      </p:sp>
      <p:sp>
        <p:nvSpPr>
          <p:cNvPr id="37" name="Shape 14">
            <a:extLst>
              <a:ext uri="{FF2B5EF4-FFF2-40B4-BE49-F238E27FC236}">
                <a16:creationId xmlns:a16="http://schemas.microsoft.com/office/drawing/2014/main" id="{CC256E1B-5F7B-30EA-F507-B9453B1DE769}"/>
              </a:ext>
            </a:extLst>
          </p:cNvPr>
          <p:cNvSpPr/>
          <p:nvPr/>
        </p:nvSpPr>
        <p:spPr>
          <a:xfrm>
            <a:off x="8083296" y="1426464"/>
            <a:ext cx="3566159" cy="2148840"/>
          </a:xfrm>
          <a:prstGeom prst="rect">
            <a:avLst/>
          </a:prstGeom>
          <a:solidFill>
            <a:srgbClr val="F4F8FC"/>
          </a:solidFill>
          <a:ln w="12700">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38" name="Shape 15">
            <a:extLst>
              <a:ext uri="{FF2B5EF4-FFF2-40B4-BE49-F238E27FC236}">
                <a16:creationId xmlns:a16="http://schemas.microsoft.com/office/drawing/2014/main" id="{3745E80D-88BD-8839-50ED-89BA8666552F}"/>
              </a:ext>
            </a:extLst>
          </p:cNvPr>
          <p:cNvSpPr/>
          <p:nvPr/>
        </p:nvSpPr>
        <p:spPr>
          <a:xfrm>
            <a:off x="8083296" y="1426464"/>
            <a:ext cx="91439" cy="2148840"/>
          </a:xfrm>
          <a:prstGeom prst="rect">
            <a:avLst/>
          </a:prstGeom>
          <a:solidFill>
            <a:srgbClr val="007A99"/>
          </a:solidFill>
          <a:ln/>
        </p:spPr>
        <p:txBody>
          <a:bodyPr/>
          <a:lstStyle/>
          <a:p>
            <a:endParaRPr lang="en-US"/>
          </a:p>
        </p:txBody>
      </p:sp>
      <p:sp>
        <p:nvSpPr>
          <p:cNvPr id="39" name="Text 16">
            <a:extLst>
              <a:ext uri="{FF2B5EF4-FFF2-40B4-BE49-F238E27FC236}">
                <a16:creationId xmlns:a16="http://schemas.microsoft.com/office/drawing/2014/main" id="{DF37C426-3EA6-BC9F-6564-42A364F08280}"/>
              </a:ext>
            </a:extLst>
          </p:cNvPr>
          <p:cNvSpPr/>
          <p:nvPr/>
        </p:nvSpPr>
        <p:spPr>
          <a:xfrm>
            <a:off x="8357617" y="1609344"/>
            <a:ext cx="3154678" cy="594360"/>
          </a:xfrm>
          <a:prstGeom prst="rect">
            <a:avLst/>
          </a:prstGeom>
          <a:noFill/>
          <a:ln/>
        </p:spPr>
        <p:txBody>
          <a:bodyPr wrap="square" rtlCol="0" anchor="t"/>
          <a:lstStyle/>
          <a:p>
            <a:pPr marL="0" indent="0">
              <a:buNone/>
            </a:pPr>
            <a:r>
              <a:rPr lang="en-US" sz="1500" b="1">
                <a:solidFill>
                  <a:srgbClr val="001489"/>
                </a:solidFill>
                <a:latin typeface="Arial" pitchFamily="34" charset="0"/>
                <a:ea typeface="Arial" pitchFamily="34" charset="-122"/>
                <a:cs typeface="Arial" pitchFamily="34" charset="-120"/>
              </a:rPr>
              <a:t>Gaps create real risk</a:t>
            </a:r>
            <a:endParaRPr lang="en-US" sz="1500"/>
          </a:p>
        </p:txBody>
      </p:sp>
      <p:sp>
        <p:nvSpPr>
          <p:cNvPr id="40" name="Text 17">
            <a:extLst>
              <a:ext uri="{FF2B5EF4-FFF2-40B4-BE49-F238E27FC236}">
                <a16:creationId xmlns:a16="http://schemas.microsoft.com/office/drawing/2014/main" id="{F81C3AB8-6F59-95D7-7042-0FA396A6F8B5}"/>
              </a:ext>
            </a:extLst>
          </p:cNvPr>
          <p:cNvSpPr/>
          <p:nvPr/>
        </p:nvSpPr>
        <p:spPr>
          <a:xfrm>
            <a:off x="8357617" y="2295144"/>
            <a:ext cx="3154678" cy="1188720"/>
          </a:xfrm>
          <a:prstGeom prst="rect">
            <a:avLst/>
          </a:prstGeom>
          <a:noFill/>
          <a:ln/>
        </p:spPr>
        <p:txBody>
          <a:bodyPr wrap="square" rtlCol="0" anchor="ctr"/>
          <a:lstStyle/>
          <a:p>
            <a:pPr marL="0" indent="0">
              <a:lnSpc>
                <a:spcPct val="108000"/>
              </a:lnSpc>
              <a:buNone/>
            </a:pPr>
            <a:r>
              <a:rPr lang="en-US" sz="1150">
                <a:solidFill>
                  <a:srgbClr val="2C2826"/>
                </a:solidFill>
                <a:latin typeface="Calibri" pitchFamily="34" charset="0"/>
                <a:ea typeface="Calibri" pitchFamily="34" charset="-122"/>
                <a:cs typeface="Calibri" pitchFamily="34" charset="-120"/>
              </a:rPr>
              <a:t>Unowned apps (e.g. legacy .NET) surface only when something breaks, is audited, or must be decommissioned.</a:t>
            </a:r>
            <a:endParaRPr lang="en-US" sz="11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ect">
            <a:avLst/>
          </a:prstGeom>
          <a:solidFill>
            <a:srgbClr val="001489"/>
          </a:solidFill>
          <a:ln/>
        </p:spPr>
        <p:txBody>
          <a:bodyPr/>
          <a:lstStyle/>
          <a:p>
            <a:endParaRPr lang="en-US"/>
          </a:p>
        </p:txBody>
      </p:sp>
      <p:sp>
        <p:nvSpPr>
          <p:cNvPr id="3" name="Shape 1"/>
          <p:cNvSpPr/>
          <p:nvPr/>
        </p:nvSpPr>
        <p:spPr>
          <a:xfrm>
            <a:off x="0" y="1078992"/>
            <a:ext cx="12188952" cy="54864"/>
          </a:xfrm>
          <a:prstGeom prst="rect">
            <a:avLst/>
          </a:prstGeom>
          <a:solidFill>
            <a:srgbClr val="0085CA"/>
          </a:solidFill>
          <a:ln/>
        </p:spPr>
        <p:txBody>
          <a:bodyPr/>
          <a:lstStyle/>
          <a:p>
            <a:endParaRPr lang="en-US"/>
          </a:p>
        </p:txBody>
      </p:sp>
      <p:sp>
        <p:nvSpPr>
          <p:cNvPr id="4" name="Text 2"/>
          <p:cNvSpPr/>
          <p:nvPr/>
        </p:nvSpPr>
        <p:spPr>
          <a:xfrm>
            <a:off x="457200" y="182880"/>
            <a:ext cx="10058400" cy="256032"/>
          </a:xfrm>
          <a:prstGeom prst="rect">
            <a:avLst/>
          </a:prstGeom>
          <a:noFill/>
          <a:ln/>
        </p:spPr>
        <p:txBody>
          <a:bodyPr wrap="square" rtlCol="0" anchor="ctr"/>
          <a:lstStyle/>
          <a:p>
            <a:pPr marL="0" indent="0">
              <a:buNone/>
            </a:pPr>
            <a:r>
              <a:rPr lang="en-US" sz="1100" b="1" kern="0" spc="300">
                <a:solidFill>
                  <a:srgbClr val="8FC7EA"/>
                </a:solidFill>
                <a:latin typeface="Calibri" pitchFamily="34" charset="0"/>
                <a:ea typeface="Calibri" pitchFamily="34" charset="-122"/>
                <a:cs typeface="Calibri" pitchFamily="34" charset="-120"/>
              </a:rPr>
              <a:t>ALIGNMENT</a:t>
            </a:r>
            <a:endParaRPr lang="en-US" sz="1100"/>
          </a:p>
        </p:txBody>
      </p:sp>
      <p:sp>
        <p:nvSpPr>
          <p:cNvPr id="5" name="Text 3"/>
          <p:cNvSpPr/>
          <p:nvPr/>
        </p:nvSpPr>
        <p:spPr>
          <a:xfrm>
            <a:off x="457200" y="420624"/>
            <a:ext cx="10607040" cy="566928"/>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Mapped to the Business &amp; Tech Foundation interaction model</a:t>
            </a:r>
            <a:endParaRPr lang="en-US" sz="2400" dirty="0"/>
          </a:p>
        </p:txBody>
      </p:sp>
      <p:sp>
        <p:nvSpPr>
          <p:cNvPr id="6" name="Shape 4"/>
          <p:cNvSpPr/>
          <p:nvPr/>
        </p:nvSpPr>
        <p:spPr>
          <a:xfrm>
            <a:off x="11073384" y="384048"/>
            <a:ext cx="658368" cy="310896"/>
          </a:xfrm>
          <a:prstGeom prst="rect">
            <a:avLst/>
          </a:prstGeom>
          <a:solidFill>
            <a:srgbClr val="FFFFFF"/>
          </a:solidFill>
          <a:ln/>
        </p:spPr>
        <p:txBody>
          <a:bodyPr/>
          <a:lstStyle/>
          <a:p>
            <a:endParaRPr lang="en-US"/>
          </a:p>
        </p:txBody>
      </p:sp>
      <p:sp>
        <p:nvSpPr>
          <p:cNvPr id="7" name="Text 5"/>
          <p:cNvSpPr/>
          <p:nvPr/>
        </p:nvSpPr>
        <p:spPr>
          <a:xfrm>
            <a:off x="11073384" y="384048"/>
            <a:ext cx="658368" cy="310896"/>
          </a:xfrm>
          <a:prstGeom prst="rect">
            <a:avLst/>
          </a:prstGeom>
          <a:noFill/>
          <a:ln/>
        </p:spPr>
        <p:txBody>
          <a:bodyPr wrap="square" rtlCol="0" anchor="ctr"/>
          <a:lstStyle/>
          <a:p>
            <a:pPr marL="0" indent="0" algn="ctr">
              <a:buNone/>
            </a:pPr>
            <a:r>
              <a:rPr lang="en-US" sz="1500" b="1" kern="0" spc="100">
                <a:solidFill>
                  <a:srgbClr val="001489"/>
                </a:solidFill>
                <a:latin typeface="Arial" pitchFamily="34" charset="0"/>
                <a:ea typeface="Arial" pitchFamily="34" charset="-122"/>
                <a:cs typeface="Arial" pitchFamily="34" charset="-120"/>
              </a:rPr>
              <a:t>PPL</a:t>
            </a:r>
            <a:endParaRPr lang="en-US" sz="1500"/>
          </a:p>
        </p:txBody>
      </p:sp>
      <p:sp>
        <p:nvSpPr>
          <p:cNvPr id="8" name="Text 6"/>
          <p:cNvSpPr/>
          <p:nvPr/>
        </p:nvSpPr>
        <p:spPr>
          <a:xfrm>
            <a:off x="457200" y="1298448"/>
            <a:ext cx="11338560" cy="274320"/>
          </a:xfrm>
          <a:prstGeom prst="rect">
            <a:avLst/>
          </a:prstGeom>
          <a:noFill/>
          <a:ln/>
        </p:spPr>
        <p:txBody>
          <a:bodyPr wrap="square" rtlCol="0" anchor="ctr"/>
          <a:lstStyle/>
          <a:p>
            <a:pPr marL="0" indent="0">
              <a:buNone/>
            </a:pPr>
            <a:r>
              <a:rPr lang="en-US" sz="1100" b="1" kern="0" spc="100">
                <a:solidFill>
                  <a:srgbClr val="0085CA"/>
                </a:solidFill>
                <a:latin typeface="Calibri" pitchFamily="34" charset="0"/>
                <a:ea typeface="Calibri" pitchFamily="34" charset="-122"/>
                <a:cs typeface="Calibri" pitchFamily="34" charset="-120"/>
              </a:rPr>
              <a:t>VERTICAL — BUSINESS VALUE STREAMS  ·  own BUSINESS ownership of their apps</a:t>
            </a:r>
            <a:endParaRPr lang="en-US" sz="1100"/>
          </a:p>
        </p:txBody>
      </p:sp>
      <p:sp>
        <p:nvSpPr>
          <p:cNvPr id="9" name="Shape 7"/>
          <p:cNvSpPr/>
          <p:nvPr/>
        </p:nvSpPr>
        <p:spPr>
          <a:xfrm>
            <a:off x="457200" y="1609344"/>
            <a:ext cx="2670048" cy="1051560"/>
          </a:xfrm>
          <a:prstGeom prst="rect">
            <a:avLst/>
          </a:prstGeom>
          <a:solidFill>
            <a:srgbClr val="0085CA"/>
          </a:solidFill>
          <a:ln/>
          <a:effectLst>
            <a:outerShdw blurRad="88900" dist="38100" dir="8100000" algn="bl" rotWithShape="0">
              <a:srgbClr val="0B1730">
                <a:alpha val="16000"/>
              </a:srgbClr>
            </a:outerShdw>
          </a:effectLst>
        </p:spPr>
        <p:txBody>
          <a:bodyPr/>
          <a:lstStyle/>
          <a:p>
            <a:endParaRPr lang="en-US"/>
          </a:p>
        </p:txBody>
      </p:sp>
      <p:sp>
        <p:nvSpPr>
          <p:cNvPr id="10" name="Text 8"/>
          <p:cNvSpPr/>
          <p:nvPr/>
        </p:nvSpPr>
        <p:spPr>
          <a:xfrm>
            <a:off x="548640" y="1609344"/>
            <a:ext cx="2487168" cy="105156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Advanced Customer Ops</a:t>
            </a:r>
            <a:endParaRPr lang="en-US" sz="1200"/>
          </a:p>
          <a:p>
            <a:pPr marL="0" indent="0" algn="ctr">
              <a:buNone/>
            </a:pPr>
            <a:r>
              <a:rPr lang="en-US" sz="1200" b="1">
                <a:solidFill>
                  <a:srgbClr val="FFFFFF"/>
                </a:solidFill>
                <a:latin typeface="Calibri" pitchFamily="34" charset="0"/>
                <a:ea typeface="Calibri" pitchFamily="34" charset="-122"/>
                <a:cs typeface="Calibri" pitchFamily="34" charset="-120"/>
              </a:rPr>
              <a:t>&amp; Engagement</a:t>
            </a:r>
            <a:endParaRPr lang="en-US" sz="1200"/>
          </a:p>
        </p:txBody>
      </p:sp>
      <p:sp>
        <p:nvSpPr>
          <p:cNvPr id="11" name="Text 9"/>
          <p:cNvSpPr/>
          <p:nvPr/>
        </p:nvSpPr>
        <p:spPr>
          <a:xfrm>
            <a:off x="548640" y="2377440"/>
            <a:ext cx="2487168" cy="256032"/>
          </a:xfrm>
          <a:prstGeom prst="rect">
            <a:avLst/>
          </a:prstGeom>
          <a:noFill/>
          <a:ln/>
        </p:spPr>
        <p:txBody>
          <a:bodyPr wrap="square" rtlCol="0" anchor="ctr"/>
          <a:lstStyle/>
          <a:p>
            <a:pPr marL="0" indent="0" algn="ctr">
              <a:buNone/>
            </a:pPr>
            <a:r>
              <a:rPr lang="en-US" sz="900" i="1">
                <a:solidFill>
                  <a:srgbClr val="D7E4F7"/>
                </a:solidFill>
                <a:latin typeface="Calibri" pitchFamily="34" charset="0"/>
                <a:ea typeface="Calibri" pitchFamily="34" charset="-122"/>
                <a:cs typeface="Calibri" pitchFamily="34" charset="-120"/>
              </a:rPr>
              <a:t>Business Owner</a:t>
            </a:r>
            <a:endParaRPr lang="en-US" sz="900"/>
          </a:p>
        </p:txBody>
      </p:sp>
      <p:sp>
        <p:nvSpPr>
          <p:cNvPr id="12" name="Shape 10"/>
          <p:cNvSpPr/>
          <p:nvPr/>
        </p:nvSpPr>
        <p:spPr>
          <a:xfrm>
            <a:off x="3310128" y="1609344"/>
            <a:ext cx="2670048" cy="1051560"/>
          </a:xfrm>
          <a:prstGeom prst="rect">
            <a:avLst/>
          </a:prstGeom>
          <a:solidFill>
            <a:srgbClr val="0085CA"/>
          </a:solidFill>
          <a:ln/>
          <a:effectLst>
            <a:outerShdw blurRad="88900" dist="38100" dir="8100000" algn="bl" rotWithShape="0">
              <a:srgbClr val="0B1730">
                <a:alpha val="16000"/>
              </a:srgbClr>
            </a:outerShdw>
          </a:effectLst>
        </p:spPr>
        <p:txBody>
          <a:bodyPr/>
          <a:lstStyle/>
          <a:p>
            <a:endParaRPr lang="en-US"/>
          </a:p>
        </p:txBody>
      </p:sp>
      <p:sp>
        <p:nvSpPr>
          <p:cNvPr id="13" name="Text 11"/>
          <p:cNvSpPr/>
          <p:nvPr/>
        </p:nvSpPr>
        <p:spPr>
          <a:xfrm>
            <a:off x="3401568" y="1609344"/>
            <a:ext cx="2487168" cy="105156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NextGen Enterprise</a:t>
            </a:r>
            <a:endParaRPr lang="en-US" sz="1200"/>
          </a:p>
          <a:p>
            <a:pPr marL="0" indent="0" algn="ctr">
              <a:buNone/>
            </a:pPr>
            <a:r>
              <a:rPr lang="en-US" sz="1200" b="1">
                <a:solidFill>
                  <a:srgbClr val="FFFFFF"/>
                </a:solidFill>
                <a:latin typeface="Calibri" pitchFamily="34" charset="0"/>
                <a:ea typeface="Calibri" pitchFamily="34" charset="-122"/>
                <a:cs typeface="Calibri" pitchFamily="34" charset="-120"/>
              </a:rPr>
              <a:t>Technology</a:t>
            </a:r>
            <a:endParaRPr lang="en-US" sz="1200"/>
          </a:p>
        </p:txBody>
      </p:sp>
      <p:sp>
        <p:nvSpPr>
          <p:cNvPr id="14" name="Text 12"/>
          <p:cNvSpPr/>
          <p:nvPr/>
        </p:nvSpPr>
        <p:spPr>
          <a:xfrm>
            <a:off x="3401568" y="2377440"/>
            <a:ext cx="2487168" cy="256032"/>
          </a:xfrm>
          <a:prstGeom prst="rect">
            <a:avLst/>
          </a:prstGeom>
          <a:noFill/>
          <a:ln/>
        </p:spPr>
        <p:txBody>
          <a:bodyPr wrap="square" rtlCol="0" anchor="ctr"/>
          <a:lstStyle/>
          <a:p>
            <a:pPr marL="0" indent="0" algn="ctr">
              <a:buNone/>
            </a:pPr>
            <a:r>
              <a:rPr lang="en-US" sz="900" i="1">
                <a:solidFill>
                  <a:srgbClr val="D7E4F7"/>
                </a:solidFill>
                <a:latin typeface="Calibri" pitchFamily="34" charset="0"/>
                <a:ea typeface="Calibri" pitchFamily="34" charset="-122"/>
                <a:cs typeface="Calibri" pitchFamily="34" charset="-120"/>
              </a:rPr>
              <a:t>Business Owner</a:t>
            </a:r>
            <a:endParaRPr lang="en-US" sz="900"/>
          </a:p>
        </p:txBody>
      </p:sp>
      <p:sp>
        <p:nvSpPr>
          <p:cNvPr id="15" name="Shape 13"/>
          <p:cNvSpPr/>
          <p:nvPr/>
        </p:nvSpPr>
        <p:spPr>
          <a:xfrm>
            <a:off x="6163056" y="1609344"/>
            <a:ext cx="2670048" cy="1051560"/>
          </a:xfrm>
          <a:prstGeom prst="rect">
            <a:avLst/>
          </a:prstGeom>
          <a:solidFill>
            <a:srgbClr val="0085CA"/>
          </a:solidFill>
          <a:ln/>
          <a:effectLst>
            <a:outerShdw blurRad="88900" dist="38100" dir="8100000" algn="bl" rotWithShape="0">
              <a:srgbClr val="0B1730">
                <a:alpha val="16000"/>
              </a:srgbClr>
            </a:outerShdw>
          </a:effectLst>
        </p:spPr>
        <p:txBody>
          <a:bodyPr/>
          <a:lstStyle/>
          <a:p>
            <a:endParaRPr lang="en-US"/>
          </a:p>
        </p:txBody>
      </p:sp>
      <p:sp>
        <p:nvSpPr>
          <p:cNvPr id="16" name="Text 14"/>
          <p:cNvSpPr/>
          <p:nvPr/>
        </p:nvSpPr>
        <p:spPr>
          <a:xfrm>
            <a:off x="6254496" y="1609344"/>
            <a:ext cx="2487168" cy="105156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Field &amp; Colleague</a:t>
            </a:r>
            <a:endParaRPr lang="en-US" sz="1200"/>
          </a:p>
          <a:p>
            <a:pPr marL="0" indent="0" algn="ctr">
              <a:buNone/>
            </a:pPr>
            <a:r>
              <a:rPr lang="en-US" sz="1200" b="1">
                <a:solidFill>
                  <a:srgbClr val="FFFFFF"/>
                </a:solidFill>
                <a:latin typeface="Calibri" pitchFamily="34" charset="0"/>
                <a:ea typeface="Calibri" pitchFamily="34" charset="-122"/>
                <a:cs typeface="Calibri" pitchFamily="34" charset="-120"/>
              </a:rPr>
              <a:t>Technology</a:t>
            </a:r>
            <a:endParaRPr lang="en-US" sz="1200"/>
          </a:p>
        </p:txBody>
      </p:sp>
      <p:sp>
        <p:nvSpPr>
          <p:cNvPr id="17" name="Text 15"/>
          <p:cNvSpPr/>
          <p:nvPr/>
        </p:nvSpPr>
        <p:spPr>
          <a:xfrm>
            <a:off x="6254496" y="2377440"/>
            <a:ext cx="2487168" cy="256032"/>
          </a:xfrm>
          <a:prstGeom prst="rect">
            <a:avLst/>
          </a:prstGeom>
          <a:noFill/>
          <a:ln/>
        </p:spPr>
        <p:txBody>
          <a:bodyPr wrap="square" rtlCol="0" anchor="ctr"/>
          <a:lstStyle/>
          <a:p>
            <a:pPr marL="0" indent="0" algn="ctr">
              <a:buNone/>
            </a:pPr>
            <a:r>
              <a:rPr lang="en-US" sz="900" i="1">
                <a:solidFill>
                  <a:srgbClr val="D7E4F7"/>
                </a:solidFill>
                <a:latin typeface="Calibri" pitchFamily="34" charset="0"/>
                <a:ea typeface="Calibri" pitchFamily="34" charset="-122"/>
                <a:cs typeface="Calibri" pitchFamily="34" charset="-120"/>
              </a:rPr>
              <a:t>Business Owner</a:t>
            </a:r>
            <a:endParaRPr lang="en-US" sz="900"/>
          </a:p>
        </p:txBody>
      </p:sp>
      <p:sp>
        <p:nvSpPr>
          <p:cNvPr id="18" name="Shape 16"/>
          <p:cNvSpPr/>
          <p:nvPr/>
        </p:nvSpPr>
        <p:spPr>
          <a:xfrm>
            <a:off x="9015984" y="1609344"/>
            <a:ext cx="2670048" cy="1051560"/>
          </a:xfrm>
          <a:prstGeom prst="rect">
            <a:avLst/>
          </a:prstGeom>
          <a:solidFill>
            <a:srgbClr val="0085CA"/>
          </a:solidFill>
          <a:ln/>
          <a:effectLst>
            <a:outerShdw blurRad="88900" dist="38100" dir="8100000" algn="bl" rotWithShape="0">
              <a:srgbClr val="0B1730">
                <a:alpha val="16000"/>
              </a:srgbClr>
            </a:outerShdw>
          </a:effectLst>
        </p:spPr>
        <p:txBody>
          <a:bodyPr/>
          <a:lstStyle/>
          <a:p>
            <a:endParaRPr lang="en-US"/>
          </a:p>
        </p:txBody>
      </p:sp>
      <p:sp>
        <p:nvSpPr>
          <p:cNvPr id="19" name="Text 17"/>
          <p:cNvSpPr/>
          <p:nvPr/>
        </p:nvSpPr>
        <p:spPr>
          <a:xfrm>
            <a:off x="9107424" y="1609344"/>
            <a:ext cx="2487168" cy="105156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Grid &amp; Pipeline</a:t>
            </a:r>
            <a:endParaRPr lang="en-US" sz="1200"/>
          </a:p>
          <a:p>
            <a:pPr marL="0" indent="0" algn="ctr">
              <a:buNone/>
            </a:pPr>
            <a:r>
              <a:rPr lang="en-US" sz="1200" b="1">
                <a:solidFill>
                  <a:srgbClr val="FFFFFF"/>
                </a:solidFill>
                <a:latin typeface="Calibri" pitchFamily="34" charset="0"/>
                <a:ea typeface="Calibri" pitchFamily="34" charset="-122"/>
                <a:cs typeface="Calibri" pitchFamily="34" charset="-120"/>
              </a:rPr>
              <a:t>of the Future</a:t>
            </a:r>
            <a:endParaRPr lang="en-US" sz="1200"/>
          </a:p>
        </p:txBody>
      </p:sp>
      <p:sp>
        <p:nvSpPr>
          <p:cNvPr id="20" name="Text 18"/>
          <p:cNvSpPr/>
          <p:nvPr/>
        </p:nvSpPr>
        <p:spPr>
          <a:xfrm>
            <a:off x="9107424" y="2377440"/>
            <a:ext cx="2487168" cy="256032"/>
          </a:xfrm>
          <a:prstGeom prst="rect">
            <a:avLst/>
          </a:prstGeom>
          <a:noFill/>
          <a:ln/>
        </p:spPr>
        <p:txBody>
          <a:bodyPr wrap="square" rtlCol="0" anchor="ctr"/>
          <a:lstStyle/>
          <a:p>
            <a:pPr marL="0" indent="0" algn="ctr">
              <a:buNone/>
            </a:pPr>
            <a:r>
              <a:rPr lang="en-US" sz="900" i="1">
                <a:solidFill>
                  <a:srgbClr val="D7E4F7"/>
                </a:solidFill>
                <a:latin typeface="Calibri" pitchFamily="34" charset="0"/>
                <a:ea typeface="Calibri" pitchFamily="34" charset="-122"/>
                <a:cs typeface="Calibri" pitchFamily="34" charset="-120"/>
              </a:rPr>
              <a:t>Business Owner</a:t>
            </a:r>
            <a:endParaRPr lang="en-US" sz="900"/>
          </a:p>
        </p:txBody>
      </p:sp>
      <p:sp>
        <p:nvSpPr>
          <p:cNvPr id="21" name="Text 19"/>
          <p:cNvSpPr/>
          <p:nvPr/>
        </p:nvSpPr>
        <p:spPr>
          <a:xfrm>
            <a:off x="457200" y="2724912"/>
            <a:ext cx="11338560" cy="219456"/>
          </a:xfrm>
          <a:prstGeom prst="rect">
            <a:avLst/>
          </a:prstGeom>
          <a:noFill/>
          <a:ln/>
        </p:spPr>
        <p:txBody>
          <a:bodyPr wrap="square" rtlCol="0" anchor="ctr"/>
          <a:lstStyle/>
          <a:p>
            <a:pPr marL="0" indent="0" algn="ctr">
              <a:buNone/>
            </a:pPr>
            <a:r>
              <a:rPr lang="en-US" sz="950" i="1">
                <a:solidFill>
                  <a:srgbClr val="6A6157"/>
                </a:solidFill>
                <a:latin typeface="Calibri" pitchFamily="34" charset="0"/>
                <a:ea typeface="Calibri" pitchFamily="34" charset="-122"/>
                <a:cs typeface="Calibri" pitchFamily="34" charset="-120"/>
              </a:rPr>
              <a:t>Business Owner accountable  ·  app 'homed' to one vertical stream</a:t>
            </a:r>
            <a:endParaRPr lang="en-US" sz="950"/>
          </a:p>
        </p:txBody>
      </p:sp>
      <p:sp>
        <p:nvSpPr>
          <p:cNvPr id="22" name="Text 20"/>
          <p:cNvSpPr/>
          <p:nvPr/>
        </p:nvSpPr>
        <p:spPr>
          <a:xfrm>
            <a:off x="457200" y="3035808"/>
            <a:ext cx="11338560" cy="274320"/>
          </a:xfrm>
          <a:prstGeom prst="rect">
            <a:avLst/>
          </a:prstGeom>
          <a:noFill/>
          <a:ln/>
        </p:spPr>
        <p:txBody>
          <a:bodyPr wrap="square" rtlCol="0" anchor="ctr"/>
          <a:lstStyle/>
          <a:p>
            <a:pPr marL="0" indent="0">
              <a:buNone/>
            </a:pPr>
            <a:r>
              <a:rPr lang="en-US" sz="1100" b="1" kern="0" spc="100">
                <a:solidFill>
                  <a:srgbClr val="007A99"/>
                </a:solidFill>
                <a:latin typeface="Calibri" pitchFamily="34" charset="0"/>
                <a:ea typeface="Calibri" pitchFamily="34" charset="-122"/>
                <a:cs typeface="Calibri" pitchFamily="34" charset="-120"/>
              </a:rPr>
              <a:t>HORIZONTAL — TECH FOUNDATION VALUE STREAMS  ·  own TECHNICAL ownership of shared services</a:t>
            </a:r>
            <a:endParaRPr lang="en-US" sz="1100"/>
          </a:p>
        </p:txBody>
      </p:sp>
      <p:sp>
        <p:nvSpPr>
          <p:cNvPr id="23" name="Shape 21"/>
          <p:cNvSpPr/>
          <p:nvPr/>
        </p:nvSpPr>
        <p:spPr>
          <a:xfrm>
            <a:off x="457200" y="3346704"/>
            <a:ext cx="3566160" cy="914400"/>
          </a:xfrm>
          <a:prstGeom prst="rect">
            <a:avLst/>
          </a:prstGeom>
          <a:solidFill>
            <a:srgbClr val="007A99"/>
          </a:solidFill>
          <a:ln/>
          <a:effectLst>
            <a:outerShdw blurRad="88900" dist="38100" dir="8100000" algn="bl" rotWithShape="0">
              <a:srgbClr val="0B1730">
                <a:alpha val="16000"/>
              </a:srgbClr>
            </a:outerShdw>
          </a:effectLst>
        </p:spPr>
        <p:txBody>
          <a:bodyPr/>
          <a:lstStyle/>
          <a:p>
            <a:endParaRPr lang="en-US"/>
          </a:p>
        </p:txBody>
      </p:sp>
      <p:sp>
        <p:nvSpPr>
          <p:cNvPr id="24" name="Text 22"/>
          <p:cNvSpPr/>
          <p:nvPr/>
        </p:nvSpPr>
        <p:spPr>
          <a:xfrm>
            <a:off x="640080" y="3419856"/>
            <a:ext cx="3200400" cy="365760"/>
          </a:xfrm>
          <a:prstGeom prst="rect">
            <a:avLst/>
          </a:prstGeom>
          <a:noFill/>
          <a:ln/>
        </p:spPr>
        <p:txBody>
          <a:bodyPr wrap="square" rtlCol="0" anchor="ctr"/>
          <a:lstStyle/>
          <a:p>
            <a:pPr marL="0" indent="0">
              <a:buNone/>
            </a:pPr>
            <a:r>
              <a:rPr lang="en-US" sz="1400" b="1">
                <a:solidFill>
                  <a:srgbClr val="FFFFFF"/>
                </a:solidFill>
                <a:latin typeface="Arial" pitchFamily="34" charset="0"/>
                <a:ea typeface="Arial" pitchFamily="34" charset="-122"/>
                <a:cs typeface="Arial" pitchFamily="34" charset="-120"/>
              </a:rPr>
              <a:t>Infrastructure &amp; Operations</a:t>
            </a:r>
            <a:endParaRPr lang="en-US" sz="1400"/>
          </a:p>
        </p:txBody>
      </p:sp>
      <p:sp>
        <p:nvSpPr>
          <p:cNvPr id="25" name="Text 23"/>
          <p:cNvSpPr/>
          <p:nvPr/>
        </p:nvSpPr>
        <p:spPr>
          <a:xfrm>
            <a:off x="640080" y="3803904"/>
            <a:ext cx="3200400" cy="384048"/>
          </a:xfrm>
          <a:prstGeom prst="rect">
            <a:avLst/>
          </a:prstGeom>
          <a:noFill/>
          <a:ln/>
        </p:spPr>
        <p:txBody>
          <a:bodyPr wrap="square" rtlCol="0" anchor="ctr"/>
          <a:lstStyle/>
          <a:p>
            <a:pPr marL="0" indent="0">
              <a:buNone/>
            </a:pPr>
            <a:r>
              <a:rPr lang="en-US" sz="1000">
                <a:solidFill>
                  <a:srgbClr val="D4EEEA"/>
                </a:solidFill>
                <a:latin typeface="Calibri" pitchFamily="34" charset="0"/>
                <a:ea typeface="Calibri" pitchFamily="34" charset="-122"/>
                <a:cs typeface="Calibri" pitchFamily="34" charset="-120"/>
              </a:rPr>
              <a:t>Hosting · Platform Eng · IaC · environments</a:t>
            </a:r>
            <a:endParaRPr lang="en-US" sz="1000"/>
          </a:p>
        </p:txBody>
      </p:sp>
      <p:sp>
        <p:nvSpPr>
          <p:cNvPr id="26" name="Shape 24"/>
          <p:cNvSpPr/>
          <p:nvPr/>
        </p:nvSpPr>
        <p:spPr>
          <a:xfrm>
            <a:off x="4270248" y="3346704"/>
            <a:ext cx="3566160" cy="914400"/>
          </a:xfrm>
          <a:prstGeom prst="rect">
            <a:avLst/>
          </a:prstGeom>
          <a:solidFill>
            <a:srgbClr val="007A99"/>
          </a:solidFill>
          <a:ln/>
          <a:effectLst>
            <a:outerShdw blurRad="88900" dist="38100" dir="8100000" algn="bl" rotWithShape="0">
              <a:srgbClr val="0B1730">
                <a:alpha val="16000"/>
              </a:srgbClr>
            </a:outerShdw>
          </a:effectLst>
        </p:spPr>
        <p:txBody>
          <a:bodyPr/>
          <a:lstStyle/>
          <a:p>
            <a:endParaRPr lang="en-US"/>
          </a:p>
        </p:txBody>
      </p:sp>
      <p:sp>
        <p:nvSpPr>
          <p:cNvPr id="27" name="Text 25"/>
          <p:cNvSpPr/>
          <p:nvPr/>
        </p:nvSpPr>
        <p:spPr>
          <a:xfrm>
            <a:off x="4453128" y="3419856"/>
            <a:ext cx="3200400" cy="365760"/>
          </a:xfrm>
          <a:prstGeom prst="rect">
            <a:avLst/>
          </a:prstGeom>
          <a:noFill/>
          <a:ln/>
        </p:spPr>
        <p:txBody>
          <a:bodyPr wrap="square" rtlCol="0" anchor="ctr"/>
          <a:lstStyle/>
          <a:p>
            <a:pPr marL="0" indent="0">
              <a:buNone/>
            </a:pPr>
            <a:r>
              <a:rPr lang="en-US" sz="1400" b="1">
                <a:solidFill>
                  <a:srgbClr val="FFFFFF"/>
                </a:solidFill>
                <a:latin typeface="Arial" pitchFamily="34" charset="0"/>
                <a:ea typeface="Arial" pitchFamily="34" charset="-122"/>
                <a:cs typeface="Arial" pitchFamily="34" charset="-120"/>
              </a:rPr>
              <a:t>Data &amp; AI</a:t>
            </a:r>
            <a:endParaRPr lang="en-US" sz="1400"/>
          </a:p>
        </p:txBody>
      </p:sp>
      <p:sp>
        <p:nvSpPr>
          <p:cNvPr id="28" name="Text 26"/>
          <p:cNvSpPr/>
          <p:nvPr/>
        </p:nvSpPr>
        <p:spPr>
          <a:xfrm>
            <a:off x="4453128" y="3803904"/>
            <a:ext cx="3200400" cy="384048"/>
          </a:xfrm>
          <a:prstGeom prst="rect">
            <a:avLst/>
          </a:prstGeom>
          <a:noFill/>
          <a:ln/>
        </p:spPr>
        <p:txBody>
          <a:bodyPr wrap="square" rtlCol="0" anchor="ctr"/>
          <a:lstStyle/>
          <a:p>
            <a:pPr marL="0" indent="0">
              <a:buNone/>
            </a:pPr>
            <a:r>
              <a:rPr lang="en-US" sz="1000">
                <a:solidFill>
                  <a:srgbClr val="D4EEEA"/>
                </a:solidFill>
                <a:latin typeface="Calibri" pitchFamily="34" charset="0"/>
                <a:ea typeface="Calibri" pitchFamily="34" charset="-122"/>
                <a:cs typeface="Calibri" pitchFamily="34" charset="-120"/>
              </a:rPr>
              <a:t>Data platforms · analytics · AI / agentic</a:t>
            </a:r>
            <a:endParaRPr lang="en-US" sz="1000"/>
          </a:p>
        </p:txBody>
      </p:sp>
      <p:sp>
        <p:nvSpPr>
          <p:cNvPr id="29" name="Shape 27"/>
          <p:cNvSpPr/>
          <p:nvPr/>
        </p:nvSpPr>
        <p:spPr>
          <a:xfrm>
            <a:off x="8083296" y="3346704"/>
            <a:ext cx="3566160" cy="914400"/>
          </a:xfrm>
          <a:prstGeom prst="rect">
            <a:avLst/>
          </a:prstGeom>
          <a:solidFill>
            <a:srgbClr val="007A99"/>
          </a:solidFill>
          <a:ln/>
          <a:effectLst>
            <a:outerShdw blurRad="88900" dist="38100" dir="8100000" algn="bl" rotWithShape="0">
              <a:srgbClr val="0B1730">
                <a:alpha val="16000"/>
              </a:srgbClr>
            </a:outerShdw>
          </a:effectLst>
        </p:spPr>
        <p:txBody>
          <a:bodyPr/>
          <a:lstStyle/>
          <a:p>
            <a:endParaRPr lang="en-US"/>
          </a:p>
        </p:txBody>
      </p:sp>
      <p:sp>
        <p:nvSpPr>
          <p:cNvPr id="30" name="Text 28"/>
          <p:cNvSpPr/>
          <p:nvPr/>
        </p:nvSpPr>
        <p:spPr>
          <a:xfrm>
            <a:off x="8266176" y="3419856"/>
            <a:ext cx="3200400" cy="365760"/>
          </a:xfrm>
          <a:prstGeom prst="rect">
            <a:avLst/>
          </a:prstGeom>
          <a:noFill/>
          <a:ln/>
        </p:spPr>
        <p:txBody>
          <a:bodyPr wrap="square" rtlCol="0" anchor="ctr"/>
          <a:lstStyle/>
          <a:p>
            <a:pPr marL="0" indent="0">
              <a:buNone/>
            </a:pPr>
            <a:r>
              <a:rPr lang="en-US" sz="1400" b="1">
                <a:solidFill>
                  <a:srgbClr val="FFFFFF"/>
                </a:solidFill>
                <a:latin typeface="Arial" pitchFamily="34" charset="0"/>
                <a:ea typeface="Arial" pitchFamily="34" charset="-122"/>
                <a:cs typeface="Arial" pitchFamily="34" charset="-120"/>
              </a:rPr>
              <a:t>Cybersecurity</a:t>
            </a:r>
            <a:endParaRPr lang="en-US" sz="1400"/>
          </a:p>
        </p:txBody>
      </p:sp>
      <p:sp>
        <p:nvSpPr>
          <p:cNvPr id="31" name="Text 29"/>
          <p:cNvSpPr/>
          <p:nvPr/>
        </p:nvSpPr>
        <p:spPr>
          <a:xfrm>
            <a:off x="8266176" y="3803904"/>
            <a:ext cx="3200400" cy="384048"/>
          </a:xfrm>
          <a:prstGeom prst="rect">
            <a:avLst/>
          </a:prstGeom>
          <a:noFill/>
          <a:ln/>
        </p:spPr>
        <p:txBody>
          <a:bodyPr wrap="square" rtlCol="0" anchor="ctr"/>
          <a:lstStyle/>
          <a:p>
            <a:pPr marL="0" indent="0">
              <a:buNone/>
            </a:pPr>
            <a:r>
              <a:rPr lang="en-US" sz="1000">
                <a:solidFill>
                  <a:srgbClr val="D4EEEA"/>
                </a:solidFill>
                <a:latin typeface="Calibri" pitchFamily="34" charset="0"/>
                <a:ea typeface="Calibri" pitchFamily="34" charset="-122"/>
                <a:cs typeface="Calibri" pitchFamily="34" charset="-120"/>
              </a:rPr>
              <a:t>Security baselines · IAM · SOC · controls</a:t>
            </a:r>
            <a:endParaRPr lang="en-US" sz="1000"/>
          </a:p>
        </p:txBody>
      </p:sp>
      <p:sp>
        <p:nvSpPr>
          <p:cNvPr id="32" name="Shape 30"/>
          <p:cNvSpPr/>
          <p:nvPr/>
        </p:nvSpPr>
        <p:spPr>
          <a:xfrm>
            <a:off x="457200" y="4462272"/>
            <a:ext cx="11365992" cy="841248"/>
          </a:xfrm>
          <a:prstGeom prst="rect">
            <a:avLst/>
          </a:prstGeom>
          <a:solidFill>
            <a:srgbClr val="817169"/>
          </a:solidFill>
          <a:ln/>
          <a:effectLst>
            <a:outerShdw blurRad="88900" dist="38100" dir="8100000" algn="bl" rotWithShape="0">
              <a:srgbClr val="0B1730">
                <a:alpha val="16000"/>
              </a:srgbClr>
            </a:outerShdw>
          </a:effectLst>
        </p:spPr>
        <p:txBody>
          <a:bodyPr/>
          <a:lstStyle/>
          <a:p>
            <a:endParaRPr lang="en-US"/>
          </a:p>
        </p:txBody>
      </p:sp>
      <p:sp>
        <p:nvSpPr>
          <p:cNvPr id="33" name="Text 31"/>
          <p:cNvSpPr/>
          <p:nvPr/>
        </p:nvSpPr>
        <p:spPr>
          <a:xfrm>
            <a:off x="640080" y="4553712"/>
            <a:ext cx="10972800" cy="274320"/>
          </a:xfrm>
          <a:prstGeom prst="rect">
            <a:avLst/>
          </a:prstGeom>
          <a:noFill/>
          <a:ln/>
        </p:spPr>
        <p:txBody>
          <a:bodyPr wrap="square" rtlCol="0" anchor="ctr"/>
          <a:lstStyle/>
          <a:p>
            <a:pPr marL="0" indent="0">
              <a:buNone/>
            </a:pPr>
            <a:r>
              <a:rPr lang="en-US" sz="1100" b="1" kern="0" spc="100">
                <a:solidFill>
                  <a:srgbClr val="F0EBE6"/>
                </a:solidFill>
                <a:latin typeface="Calibri" pitchFamily="34" charset="0"/>
                <a:ea typeface="Calibri" pitchFamily="34" charset="-122"/>
                <a:cs typeface="Calibri" pitchFamily="34" charset="-120"/>
              </a:rPr>
              <a:t>ENABLING FUNCTION — ENTERPRISE &amp; BUSINESS ARCHITECTURE</a:t>
            </a:r>
            <a:endParaRPr lang="en-US" sz="1100"/>
          </a:p>
        </p:txBody>
      </p:sp>
      <p:sp>
        <p:nvSpPr>
          <p:cNvPr id="34" name="Text 32"/>
          <p:cNvSpPr/>
          <p:nvPr/>
        </p:nvSpPr>
        <p:spPr>
          <a:xfrm>
            <a:off x="640080" y="4809744"/>
            <a:ext cx="10972800" cy="457200"/>
          </a:xfrm>
          <a:prstGeom prst="rect">
            <a:avLst/>
          </a:prstGeom>
          <a:noFill/>
          <a:ln/>
        </p:spPr>
        <p:txBody>
          <a:bodyPr wrap="square" rtlCol="0" anchor="ctr"/>
          <a:lstStyle/>
          <a:p>
            <a:pPr marL="0" indent="0">
              <a:lnSpc>
                <a:spcPct val="102000"/>
              </a:lnSpc>
              <a:buNone/>
            </a:pPr>
            <a:r>
              <a:rPr lang="en-US" sz="1050">
                <a:solidFill>
                  <a:srgbClr val="FFFFFF"/>
                </a:solidFill>
                <a:latin typeface="Calibri" pitchFamily="34" charset="0"/>
                <a:ea typeface="Calibri" pitchFamily="34" charset="-122"/>
                <a:cs typeface="Calibri" pitchFamily="34" charset="-120"/>
              </a:rPr>
              <a:t>Owns the decision rights (RAPID / RACI), standards, taxonomy and the APO → CMDB system of record. Sets 'who owns what' — does not own day-to-day run. Resolves cross-value-stream ownership via the ARB / Cross-VS Architecture Sync.</a:t>
            </a:r>
            <a:endParaRPr lang="en-US" sz="1050"/>
          </a:p>
        </p:txBody>
      </p:sp>
      <p:sp>
        <p:nvSpPr>
          <p:cNvPr id="35" name="Shape 33"/>
          <p:cNvSpPr/>
          <p:nvPr/>
        </p:nvSpPr>
        <p:spPr>
          <a:xfrm>
            <a:off x="457200" y="5468112"/>
            <a:ext cx="11365992" cy="658368"/>
          </a:xfrm>
          <a:prstGeom prst="rect">
            <a:avLst/>
          </a:prstGeom>
          <a:solidFill>
            <a:srgbClr val="001489"/>
          </a:solidFill>
          <a:ln/>
        </p:spPr>
        <p:txBody>
          <a:bodyPr/>
          <a:lstStyle/>
          <a:p>
            <a:endParaRPr lang="en-US"/>
          </a:p>
        </p:txBody>
      </p:sp>
      <p:sp>
        <p:nvSpPr>
          <p:cNvPr id="36" name="Text 34"/>
          <p:cNvSpPr/>
          <p:nvPr/>
        </p:nvSpPr>
        <p:spPr>
          <a:xfrm>
            <a:off x="640080" y="5468112"/>
            <a:ext cx="10972800" cy="658368"/>
          </a:xfrm>
          <a:prstGeom prst="rect">
            <a:avLst/>
          </a:prstGeom>
          <a:noFill/>
          <a:ln/>
        </p:spPr>
        <p:txBody>
          <a:bodyPr wrap="square" rtlCol="0" anchor="ctr"/>
          <a:lstStyle/>
          <a:p>
            <a:pPr marL="0" indent="0">
              <a:lnSpc>
                <a:spcPct val="102000"/>
              </a:lnSpc>
              <a:buNone/>
            </a:pPr>
            <a:r>
              <a:rPr lang="en-US" sz="1050" b="1">
                <a:solidFill>
                  <a:srgbClr val="F2A900"/>
                </a:solidFill>
                <a:latin typeface="Calibri" pitchFamily="34" charset="0"/>
                <a:ea typeface="Calibri" pitchFamily="34" charset="-122"/>
                <a:cs typeface="Calibri" pitchFamily="34" charset="-120"/>
              </a:rPr>
              <a:t>GOVERNING RULE:  </a:t>
            </a:r>
            <a:r>
              <a:rPr lang="en-US" sz="1050">
                <a:solidFill>
                  <a:srgbClr val="FFFFFF"/>
                </a:solidFill>
                <a:latin typeface="Calibri" pitchFamily="34" charset="0"/>
                <a:ea typeface="Calibri" pitchFamily="34" charset="-122"/>
                <a:cs typeface="Calibri" pitchFamily="34" charset="-120"/>
              </a:rPr>
              <a:t>Every app has ONE Business Owner (A) + ONE IT Owner (R). Business apps: owner in a vertical stream. IT-owned tools: owner in the consuming IT function, run by Tech Foundation.</a:t>
            </a:r>
            <a:endParaRPr lang="en-US" sz="1050"/>
          </a:p>
        </p:txBody>
      </p:sp>
      <p:sp>
        <p:nvSpPr>
          <p:cNvPr id="37" name="Text 35"/>
          <p:cNvSpPr/>
          <p:nvPr/>
        </p:nvSpPr>
        <p:spPr>
          <a:xfrm>
            <a:off x="457200" y="6473952"/>
            <a:ext cx="2011680" cy="256032"/>
          </a:xfrm>
          <a:prstGeom prst="rect">
            <a:avLst/>
          </a:prstGeom>
          <a:noFill/>
          <a:ln/>
        </p:spPr>
        <p:txBody>
          <a:bodyPr wrap="square" rtlCol="0" anchor="ctr"/>
          <a:lstStyle/>
          <a:p>
            <a:pPr marL="0" indent="0" algn="l">
              <a:buNone/>
            </a:pPr>
            <a:r>
              <a:rPr lang="en-US" sz="850" i="1">
                <a:solidFill>
                  <a:srgbClr val="6A6157"/>
                </a:solidFill>
                <a:latin typeface="Calibri" pitchFamily="34" charset="0"/>
                <a:ea typeface="Calibri" pitchFamily="34" charset="-122"/>
                <a:cs typeface="Calibri" pitchFamily="34" charset="-120"/>
              </a:rPr>
              <a:t>Business Use</a:t>
            </a:r>
            <a:endParaRPr lang="en-US" sz="850"/>
          </a:p>
        </p:txBody>
      </p:sp>
      <p:sp>
        <p:nvSpPr>
          <p:cNvPr id="38" name="Text 36"/>
          <p:cNvSpPr/>
          <p:nvPr/>
        </p:nvSpPr>
        <p:spPr>
          <a:xfrm>
            <a:off x="2468880" y="6473952"/>
            <a:ext cx="5029200" cy="256032"/>
          </a:xfrm>
          <a:prstGeom prst="rect">
            <a:avLst/>
          </a:prstGeom>
          <a:noFill/>
          <a:ln/>
        </p:spPr>
        <p:txBody>
          <a:bodyPr wrap="square" rtlCol="0" anchor="ctr"/>
          <a:lstStyle/>
          <a:p>
            <a:pPr marL="0" indent="0" algn="l">
              <a:buNone/>
            </a:pPr>
            <a:r>
              <a:rPr lang="en-US" sz="850">
                <a:solidFill>
                  <a:srgbClr val="6A6157"/>
                </a:solidFill>
                <a:latin typeface="Calibri" pitchFamily="34" charset="0"/>
                <a:ea typeface="Calibri" pitchFamily="34" charset="-122"/>
                <a:cs typeface="Calibri" pitchFamily="34" charset="-120"/>
              </a:rPr>
              <a:t>Application Ownership Governance</a:t>
            </a:r>
            <a:endParaRPr lang="en-US" sz="850"/>
          </a:p>
        </p:txBody>
      </p:sp>
      <p:sp>
        <p:nvSpPr>
          <p:cNvPr id="39" name="Text 37"/>
          <p:cNvSpPr/>
          <p:nvPr/>
        </p:nvSpPr>
        <p:spPr>
          <a:xfrm>
            <a:off x="7772400" y="6473952"/>
            <a:ext cx="3959352" cy="256032"/>
          </a:xfrm>
          <a:prstGeom prst="rect">
            <a:avLst/>
          </a:prstGeom>
          <a:noFill/>
          <a:ln/>
        </p:spPr>
        <p:txBody>
          <a:bodyPr wrap="square" rtlCol="0" anchor="ctr"/>
          <a:lstStyle/>
          <a:p>
            <a:pPr marL="0" indent="0" algn="r">
              <a:buNone/>
            </a:pPr>
            <a:r>
              <a:rPr lang="en-US" sz="850">
                <a:solidFill>
                  <a:srgbClr val="6A6157"/>
                </a:solidFill>
                <a:latin typeface="Calibri" pitchFamily="34" charset="0"/>
                <a:ea typeface="Calibri" pitchFamily="34" charset="-122"/>
                <a:cs typeface="Calibri" pitchFamily="34" charset="-120"/>
              </a:rPr>
              <a:t>© PPL Corporation 2026   |   7</a:t>
            </a:r>
            <a:endParaRPr lang="en-US" sz="8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ect">
            <a:avLst/>
          </a:prstGeom>
          <a:solidFill>
            <a:srgbClr val="001489"/>
          </a:solidFill>
          <a:ln/>
        </p:spPr>
        <p:txBody>
          <a:bodyPr/>
          <a:lstStyle/>
          <a:p>
            <a:endParaRPr lang="en-US"/>
          </a:p>
        </p:txBody>
      </p:sp>
      <p:sp>
        <p:nvSpPr>
          <p:cNvPr id="3" name="Shape 1"/>
          <p:cNvSpPr/>
          <p:nvPr/>
        </p:nvSpPr>
        <p:spPr>
          <a:xfrm>
            <a:off x="0" y="1078992"/>
            <a:ext cx="12188952" cy="54864"/>
          </a:xfrm>
          <a:prstGeom prst="rect">
            <a:avLst/>
          </a:prstGeom>
          <a:solidFill>
            <a:srgbClr val="0085CA"/>
          </a:solidFill>
          <a:ln/>
        </p:spPr>
        <p:txBody>
          <a:bodyPr/>
          <a:lstStyle/>
          <a:p>
            <a:endParaRPr lang="en-US"/>
          </a:p>
        </p:txBody>
      </p:sp>
      <p:sp>
        <p:nvSpPr>
          <p:cNvPr id="4" name="Text 2"/>
          <p:cNvSpPr/>
          <p:nvPr/>
        </p:nvSpPr>
        <p:spPr>
          <a:xfrm>
            <a:off x="457200" y="182880"/>
            <a:ext cx="10058400" cy="256032"/>
          </a:xfrm>
          <a:prstGeom prst="rect">
            <a:avLst/>
          </a:prstGeom>
          <a:noFill/>
          <a:ln/>
        </p:spPr>
        <p:txBody>
          <a:bodyPr wrap="square" rtlCol="0" anchor="ctr"/>
          <a:lstStyle/>
          <a:p>
            <a:pPr marL="0" indent="0">
              <a:buNone/>
            </a:pPr>
            <a:r>
              <a:rPr lang="en-US" sz="1100" b="1" kern="0" spc="300">
                <a:solidFill>
                  <a:srgbClr val="8FC7EA"/>
                </a:solidFill>
                <a:latin typeface="Calibri" pitchFamily="34" charset="0"/>
                <a:ea typeface="Calibri" pitchFamily="34" charset="-122"/>
                <a:cs typeface="Calibri" pitchFamily="34" charset="-120"/>
              </a:rPr>
              <a:t>THE ROLES</a:t>
            </a:r>
            <a:endParaRPr lang="en-US" sz="1100"/>
          </a:p>
        </p:txBody>
      </p:sp>
      <p:sp>
        <p:nvSpPr>
          <p:cNvPr id="5" name="Text 3"/>
          <p:cNvSpPr/>
          <p:nvPr/>
        </p:nvSpPr>
        <p:spPr>
          <a:xfrm>
            <a:off x="457200" y="420624"/>
            <a:ext cx="10607040" cy="566928"/>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Ownership roles — accountable, standardized, non-overlapping</a:t>
            </a:r>
            <a:endParaRPr lang="en-US" sz="2400" dirty="0"/>
          </a:p>
        </p:txBody>
      </p:sp>
      <p:sp>
        <p:nvSpPr>
          <p:cNvPr id="6" name="Shape 4"/>
          <p:cNvSpPr/>
          <p:nvPr/>
        </p:nvSpPr>
        <p:spPr>
          <a:xfrm>
            <a:off x="11073384" y="384048"/>
            <a:ext cx="658368" cy="310896"/>
          </a:xfrm>
          <a:prstGeom prst="rect">
            <a:avLst/>
          </a:prstGeom>
          <a:solidFill>
            <a:srgbClr val="FFFFFF"/>
          </a:solidFill>
          <a:ln/>
        </p:spPr>
        <p:txBody>
          <a:bodyPr/>
          <a:lstStyle/>
          <a:p>
            <a:endParaRPr lang="en-US"/>
          </a:p>
        </p:txBody>
      </p:sp>
      <p:sp>
        <p:nvSpPr>
          <p:cNvPr id="7" name="Text 5"/>
          <p:cNvSpPr/>
          <p:nvPr/>
        </p:nvSpPr>
        <p:spPr>
          <a:xfrm>
            <a:off x="11073384" y="384048"/>
            <a:ext cx="658368" cy="310896"/>
          </a:xfrm>
          <a:prstGeom prst="rect">
            <a:avLst/>
          </a:prstGeom>
          <a:noFill/>
          <a:ln/>
        </p:spPr>
        <p:txBody>
          <a:bodyPr wrap="square" rtlCol="0" anchor="ctr"/>
          <a:lstStyle/>
          <a:p>
            <a:pPr marL="0" indent="0" algn="ctr">
              <a:buNone/>
            </a:pPr>
            <a:r>
              <a:rPr lang="en-US" sz="1500" b="1" kern="0" spc="100">
                <a:solidFill>
                  <a:srgbClr val="001489"/>
                </a:solidFill>
                <a:latin typeface="Arial" pitchFamily="34" charset="0"/>
                <a:ea typeface="Arial" pitchFamily="34" charset="-122"/>
                <a:cs typeface="Arial" pitchFamily="34" charset="-120"/>
              </a:rPr>
              <a:t>PPL</a:t>
            </a:r>
            <a:endParaRPr lang="en-US" sz="1500"/>
          </a:p>
        </p:txBody>
      </p:sp>
      <p:sp>
        <p:nvSpPr>
          <p:cNvPr id="8" name="Shape 6"/>
          <p:cNvSpPr/>
          <p:nvPr/>
        </p:nvSpPr>
        <p:spPr>
          <a:xfrm>
            <a:off x="457200" y="1371600"/>
            <a:ext cx="5394960" cy="1417320"/>
          </a:xfrm>
          <a:prstGeom prst="rect">
            <a:avLst/>
          </a:prstGeom>
          <a:solidFill>
            <a:srgbClr val="0085CA"/>
          </a:solidFill>
          <a:ln/>
          <a:effectLst>
            <a:outerShdw blurRad="88900" dist="38100" dir="8100000" algn="bl" rotWithShape="0">
              <a:srgbClr val="0B1730">
                <a:alpha val="16000"/>
              </a:srgbClr>
            </a:outerShdw>
          </a:effectLst>
        </p:spPr>
        <p:txBody>
          <a:bodyPr/>
          <a:lstStyle/>
          <a:p>
            <a:endParaRPr lang="en-US"/>
          </a:p>
        </p:txBody>
      </p:sp>
      <p:sp>
        <p:nvSpPr>
          <p:cNvPr id="9" name="Text 7"/>
          <p:cNvSpPr/>
          <p:nvPr/>
        </p:nvSpPr>
        <p:spPr>
          <a:xfrm>
            <a:off x="731520" y="1481328"/>
            <a:ext cx="3840480" cy="457200"/>
          </a:xfrm>
          <a:prstGeom prst="rect">
            <a:avLst/>
          </a:prstGeom>
          <a:noFill/>
          <a:ln/>
        </p:spPr>
        <p:txBody>
          <a:bodyPr wrap="square" rtlCol="0" anchor="ctr"/>
          <a:lstStyle/>
          <a:p>
            <a:pPr marL="0" indent="0">
              <a:buNone/>
            </a:pPr>
            <a:r>
              <a:rPr lang="en-US" sz="1900" b="1">
                <a:solidFill>
                  <a:srgbClr val="FFFFFF"/>
                </a:solidFill>
                <a:latin typeface="Arial" pitchFamily="34" charset="0"/>
                <a:ea typeface="Arial" pitchFamily="34" charset="-122"/>
                <a:cs typeface="Arial" pitchFamily="34" charset="-120"/>
              </a:rPr>
              <a:t>Business Owner</a:t>
            </a:r>
            <a:endParaRPr lang="en-US" sz="1900"/>
          </a:p>
        </p:txBody>
      </p:sp>
      <p:sp>
        <p:nvSpPr>
          <p:cNvPr id="10" name="Text 8"/>
          <p:cNvSpPr/>
          <p:nvPr/>
        </p:nvSpPr>
        <p:spPr>
          <a:xfrm>
            <a:off x="4434840" y="1517904"/>
            <a:ext cx="1325880" cy="320040"/>
          </a:xfrm>
          <a:prstGeom prst="rect">
            <a:avLst/>
          </a:prstGeom>
          <a:solidFill>
            <a:srgbClr val="FFFFFF"/>
          </a:solidFill>
          <a:ln/>
        </p:spPr>
        <p:txBody>
          <a:bodyPr wrap="square" rtlCol="0" anchor="ctr"/>
          <a:lstStyle/>
          <a:p>
            <a:pPr marL="0" indent="0" algn="ctr">
              <a:buNone/>
            </a:pPr>
            <a:r>
              <a:rPr lang="en-US" sz="1100" b="1">
                <a:solidFill>
                  <a:srgbClr val="001489"/>
                </a:solidFill>
                <a:latin typeface="Calibri" pitchFamily="34" charset="0"/>
                <a:ea typeface="Calibri" pitchFamily="34" charset="-122"/>
                <a:cs typeface="Calibri" pitchFamily="34" charset="-120"/>
              </a:rPr>
              <a:t>Accountable (A)</a:t>
            </a:r>
            <a:endParaRPr lang="en-US" sz="1100"/>
          </a:p>
        </p:txBody>
      </p:sp>
      <p:sp>
        <p:nvSpPr>
          <p:cNvPr id="11" name="Text 9"/>
          <p:cNvSpPr/>
          <p:nvPr/>
        </p:nvSpPr>
        <p:spPr>
          <a:xfrm>
            <a:off x="731520" y="1938528"/>
            <a:ext cx="4892040" cy="777240"/>
          </a:xfrm>
          <a:prstGeom prst="rect">
            <a:avLst/>
          </a:prstGeom>
          <a:noFill/>
          <a:ln/>
        </p:spPr>
        <p:txBody>
          <a:bodyPr wrap="square" rtlCol="0" anchor="ctr"/>
          <a:lstStyle/>
          <a:p>
            <a:pPr marL="0" indent="0">
              <a:lnSpc>
                <a:spcPct val="106000"/>
              </a:lnSpc>
              <a:buNone/>
            </a:pPr>
            <a:r>
              <a:rPr lang="en-US" sz="1200">
                <a:solidFill>
                  <a:srgbClr val="EAF1FB"/>
                </a:solidFill>
                <a:latin typeface="Calibri" pitchFamily="34" charset="0"/>
                <a:ea typeface="Calibri" pitchFamily="34" charset="-122"/>
                <a:cs typeface="Calibri" pitchFamily="34" charset="-120"/>
              </a:rPr>
              <a:t>Owns business value, criticality, data classification and risk. Business apps: VS / LOB leader. IT-owned tools: IT leader who knows how the tool is used. Funds the app.</a:t>
            </a:r>
            <a:endParaRPr lang="en-US" sz="1200"/>
          </a:p>
        </p:txBody>
      </p:sp>
      <p:sp>
        <p:nvSpPr>
          <p:cNvPr id="12" name="Shape 10"/>
          <p:cNvSpPr/>
          <p:nvPr/>
        </p:nvSpPr>
        <p:spPr>
          <a:xfrm>
            <a:off x="6089904" y="1371600"/>
            <a:ext cx="5394960" cy="1417320"/>
          </a:xfrm>
          <a:prstGeom prst="rect">
            <a:avLst/>
          </a:prstGeom>
          <a:solidFill>
            <a:srgbClr val="007A99"/>
          </a:solidFill>
          <a:ln/>
          <a:effectLst>
            <a:outerShdw blurRad="88900" dist="38100" dir="8100000" algn="bl" rotWithShape="0">
              <a:srgbClr val="0B1730">
                <a:alpha val="16000"/>
              </a:srgbClr>
            </a:outerShdw>
          </a:effectLst>
        </p:spPr>
        <p:txBody>
          <a:bodyPr/>
          <a:lstStyle/>
          <a:p>
            <a:endParaRPr lang="en-US"/>
          </a:p>
        </p:txBody>
      </p:sp>
      <p:sp>
        <p:nvSpPr>
          <p:cNvPr id="13" name="Text 11"/>
          <p:cNvSpPr/>
          <p:nvPr/>
        </p:nvSpPr>
        <p:spPr>
          <a:xfrm>
            <a:off x="6364224" y="1481328"/>
            <a:ext cx="3840480" cy="457200"/>
          </a:xfrm>
          <a:prstGeom prst="rect">
            <a:avLst/>
          </a:prstGeom>
          <a:noFill/>
          <a:ln/>
        </p:spPr>
        <p:txBody>
          <a:bodyPr wrap="square" rtlCol="0" anchor="ctr"/>
          <a:lstStyle/>
          <a:p>
            <a:pPr marL="0" indent="0">
              <a:buNone/>
            </a:pPr>
            <a:r>
              <a:rPr lang="en-US" sz="1900" b="1">
                <a:solidFill>
                  <a:srgbClr val="FFFFFF"/>
                </a:solidFill>
                <a:latin typeface="Arial" pitchFamily="34" charset="0"/>
                <a:ea typeface="Arial" pitchFamily="34" charset="-122"/>
                <a:cs typeface="Arial" pitchFamily="34" charset="-120"/>
              </a:rPr>
              <a:t>IT / Technical Owner</a:t>
            </a:r>
            <a:endParaRPr lang="en-US" sz="1900"/>
          </a:p>
        </p:txBody>
      </p:sp>
      <p:sp>
        <p:nvSpPr>
          <p:cNvPr id="14" name="Text 12"/>
          <p:cNvSpPr/>
          <p:nvPr/>
        </p:nvSpPr>
        <p:spPr>
          <a:xfrm>
            <a:off x="10067544" y="1517904"/>
            <a:ext cx="1325880" cy="320040"/>
          </a:xfrm>
          <a:prstGeom prst="rect">
            <a:avLst/>
          </a:prstGeom>
          <a:solidFill>
            <a:srgbClr val="FFFFFF"/>
          </a:solidFill>
          <a:ln/>
        </p:spPr>
        <p:txBody>
          <a:bodyPr wrap="square" rtlCol="0" anchor="ctr"/>
          <a:lstStyle/>
          <a:p>
            <a:pPr marL="0" indent="0" algn="ctr">
              <a:buNone/>
            </a:pPr>
            <a:r>
              <a:rPr lang="en-US" sz="1100" b="1">
                <a:solidFill>
                  <a:srgbClr val="001489"/>
                </a:solidFill>
                <a:latin typeface="Calibri" pitchFamily="34" charset="0"/>
                <a:ea typeface="Calibri" pitchFamily="34" charset="-122"/>
                <a:cs typeface="Calibri" pitchFamily="34" charset="-120"/>
              </a:rPr>
              <a:t>Responsible (R)</a:t>
            </a:r>
            <a:endParaRPr lang="en-US" sz="1100"/>
          </a:p>
        </p:txBody>
      </p:sp>
      <p:sp>
        <p:nvSpPr>
          <p:cNvPr id="15" name="Text 13"/>
          <p:cNvSpPr/>
          <p:nvPr/>
        </p:nvSpPr>
        <p:spPr>
          <a:xfrm>
            <a:off x="6364224" y="1938528"/>
            <a:ext cx="4892040" cy="777240"/>
          </a:xfrm>
          <a:prstGeom prst="rect">
            <a:avLst/>
          </a:prstGeom>
          <a:noFill/>
          <a:ln/>
        </p:spPr>
        <p:txBody>
          <a:bodyPr wrap="square" rtlCol="0" anchor="ctr"/>
          <a:lstStyle/>
          <a:p>
            <a:pPr marL="0" indent="0">
              <a:lnSpc>
                <a:spcPct val="106000"/>
              </a:lnSpc>
              <a:buNone/>
            </a:pPr>
            <a:r>
              <a:rPr lang="en-US" sz="1200">
                <a:solidFill>
                  <a:srgbClr val="EAF1FB"/>
                </a:solidFill>
                <a:latin typeface="Calibri" pitchFamily="34" charset="0"/>
                <a:ea typeface="Calibri" pitchFamily="34" charset="-122"/>
                <a:cs typeface="Calibri" pitchFamily="34" charset="-120"/>
              </a:rPr>
              <a:t>Owns technical health, lifecycle, integration and support; A for technical decisions only. Business apps: VS IT. IT-owned tools: Tech Foundation.</a:t>
            </a:r>
            <a:endParaRPr lang="en-US" sz="1200"/>
          </a:p>
        </p:txBody>
      </p:sp>
      <p:sp>
        <p:nvSpPr>
          <p:cNvPr id="16" name="Text 14"/>
          <p:cNvSpPr/>
          <p:nvPr/>
        </p:nvSpPr>
        <p:spPr>
          <a:xfrm>
            <a:off x="457200" y="2999232"/>
            <a:ext cx="11338560" cy="274320"/>
          </a:xfrm>
          <a:prstGeom prst="rect">
            <a:avLst/>
          </a:prstGeom>
          <a:noFill/>
          <a:ln/>
        </p:spPr>
        <p:txBody>
          <a:bodyPr wrap="square" rtlCol="0" anchor="ctr"/>
          <a:lstStyle/>
          <a:p>
            <a:pPr marL="0" indent="0">
              <a:buNone/>
            </a:pPr>
            <a:r>
              <a:rPr lang="en-US" sz="1600" b="1" kern="0" spc="100">
                <a:solidFill>
                  <a:srgbClr val="001489"/>
                </a:solidFill>
                <a:latin typeface="Calibri" pitchFamily="34" charset="0"/>
                <a:ea typeface="Calibri" pitchFamily="34" charset="-122"/>
                <a:cs typeface="Calibri" pitchFamily="34" charset="-120"/>
              </a:rPr>
              <a:t>SUPPORTING / CONSULTED OWNERS — engaged </a:t>
            </a:r>
            <a:r>
              <a:rPr lang="en-US" sz="1600" b="1" u="sng" kern="0" spc="100">
                <a:solidFill>
                  <a:srgbClr val="001489"/>
                </a:solidFill>
                <a:latin typeface="Calibri" pitchFamily="34" charset="0"/>
                <a:ea typeface="Calibri" pitchFamily="34" charset="-122"/>
                <a:cs typeface="Calibri" pitchFamily="34" charset="-120"/>
              </a:rPr>
              <a:t>based on</a:t>
            </a:r>
            <a:r>
              <a:rPr lang="en-US" sz="1600" b="1" kern="0" spc="100">
                <a:solidFill>
                  <a:srgbClr val="001489"/>
                </a:solidFill>
                <a:latin typeface="Calibri" pitchFamily="34" charset="0"/>
                <a:ea typeface="Calibri" pitchFamily="34" charset="-122"/>
                <a:cs typeface="Calibri" pitchFamily="34" charset="-120"/>
              </a:rPr>
              <a:t> the application's type, data and lifecycle stage</a:t>
            </a:r>
            <a:endParaRPr lang="en-US" sz="1600"/>
          </a:p>
        </p:txBody>
      </p:sp>
      <p:sp>
        <p:nvSpPr>
          <p:cNvPr id="17" name="Shape 15"/>
          <p:cNvSpPr/>
          <p:nvPr/>
        </p:nvSpPr>
        <p:spPr>
          <a:xfrm>
            <a:off x="457200" y="3364992"/>
            <a:ext cx="3566160" cy="1234440"/>
          </a:xfrm>
          <a:prstGeom prst="rect">
            <a:avLst/>
          </a:prstGeom>
          <a:solidFill>
            <a:srgbClr val="F4F8FC"/>
          </a:solidFill>
          <a:ln w="12700">
            <a:solidFill>
              <a:srgbClr val="CFE3F5"/>
            </a:solidFill>
            <a:prstDash val="solid"/>
          </a:ln>
        </p:spPr>
        <p:txBody>
          <a:bodyPr/>
          <a:lstStyle/>
          <a:p>
            <a:endParaRPr lang="en-US"/>
          </a:p>
        </p:txBody>
      </p:sp>
      <p:sp>
        <p:nvSpPr>
          <p:cNvPr id="18" name="Shape 16"/>
          <p:cNvSpPr/>
          <p:nvPr/>
        </p:nvSpPr>
        <p:spPr>
          <a:xfrm>
            <a:off x="658368" y="3584448"/>
            <a:ext cx="384048" cy="384048"/>
          </a:xfrm>
          <a:prstGeom prst="ellipse">
            <a:avLst/>
          </a:prstGeom>
          <a:solidFill>
            <a:srgbClr val="817169"/>
          </a:solidFill>
          <a:ln/>
        </p:spPr>
        <p:txBody>
          <a:bodyPr/>
          <a:lstStyle/>
          <a:p>
            <a:endParaRPr lang="en-US"/>
          </a:p>
        </p:txBody>
      </p:sp>
      <p:sp>
        <p:nvSpPr>
          <p:cNvPr id="19" name="Text 17"/>
          <p:cNvSpPr/>
          <p:nvPr/>
        </p:nvSpPr>
        <p:spPr>
          <a:xfrm>
            <a:off x="658368" y="3584448"/>
            <a:ext cx="384048" cy="384048"/>
          </a:xfrm>
          <a:prstGeom prst="rect">
            <a:avLst/>
          </a:prstGeom>
          <a:noFill/>
          <a:ln/>
        </p:spPr>
        <p:txBody>
          <a:bodyPr wrap="square" rtlCol="0" anchor="ctr"/>
          <a:lstStyle/>
          <a:p>
            <a:pPr marL="0" indent="0" algn="ctr">
              <a:buNone/>
            </a:pPr>
            <a:r>
              <a:rPr lang="en-US" sz="1500" b="1">
                <a:solidFill>
                  <a:srgbClr val="FFFFFF"/>
                </a:solidFill>
                <a:latin typeface="Arial" pitchFamily="34" charset="0"/>
                <a:ea typeface="Arial" pitchFamily="34" charset="-122"/>
                <a:cs typeface="Arial" pitchFamily="34" charset="-120"/>
              </a:rPr>
              <a:t>A</a:t>
            </a:r>
            <a:endParaRPr lang="en-US" sz="1500"/>
          </a:p>
        </p:txBody>
      </p:sp>
      <p:sp>
        <p:nvSpPr>
          <p:cNvPr id="20" name="Text 18"/>
          <p:cNvSpPr/>
          <p:nvPr/>
        </p:nvSpPr>
        <p:spPr>
          <a:xfrm>
            <a:off x="1170432" y="3511296"/>
            <a:ext cx="2743200" cy="320040"/>
          </a:xfrm>
          <a:prstGeom prst="rect">
            <a:avLst/>
          </a:prstGeom>
          <a:noFill/>
          <a:ln/>
        </p:spPr>
        <p:txBody>
          <a:bodyPr wrap="square" rtlCol="0" anchor="ctr"/>
          <a:lstStyle/>
          <a:p>
            <a:pPr marL="0" indent="0">
              <a:buNone/>
            </a:pPr>
            <a:r>
              <a:rPr lang="en-US" sz="1300" b="1">
                <a:solidFill>
                  <a:srgbClr val="001489"/>
                </a:solidFill>
                <a:latin typeface="Arial" pitchFamily="34" charset="0"/>
                <a:ea typeface="Arial" pitchFamily="34" charset="-122"/>
                <a:cs typeface="Arial" pitchFamily="34" charset="-120"/>
              </a:rPr>
              <a:t>Product Manager</a:t>
            </a:r>
            <a:endParaRPr lang="en-US" sz="1300"/>
          </a:p>
        </p:txBody>
      </p:sp>
      <p:sp>
        <p:nvSpPr>
          <p:cNvPr id="21" name="Text 19"/>
          <p:cNvSpPr/>
          <p:nvPr/>
        </p:nvSpPr>
        <p:spPr>
          <a:xfrm>
            <a:off x="1170432" y="3840480"/>
            <a:ext cx="2743200" cy="658368"/>
          </a:xfrm>
          <a:prstGeom prst="rect">
            <a:avLst/>
          </a:prstGeom>
          <a:noFill/>
          <a:ln/>
        </p:spPr>
        <p:txBody>
          <a:bodyPr wrap="square" rtlCol="0" anchor="ctr"/>
          <a:lstStyle/>
          <a:p>
            <a:pPr marL="0" indent="0">
              <a:lnSpc>
                <a:spcPct val="103000"/>
              </a:lnSpc>
              <a:buNone/>
            </a:pPr>
            <a:r>
              <a:rPr lang="en-US" sz="1000">
                <a:solidFill>
                  <a:srgbClr val="2C2826"/>
                </a:solidFill>
                <a:latin typeface="Calibri" pitchFamily="34" charset="0"/>
                <a:ea typeface="Calibri" pitchFamily="34" charset="-122"/>
                <a:cs typeface="Calibri" pitchFamily="34" charset="-120"/>
              </a:rPr>
              <a:t>Product roadmap &amp; business-SME bridge; drives LPM progression and enhancements. </a:t>
            </a:r>
            <a:endParaRPr lang="en-US" sz="1000"/>
          </a:p>
        </p:txBody>
      </p:sp>
      <p:sp>
        <p:nvSpPr>
          <p:cNvPr id="22" name="Shape 20"/>
          <p:cNvSpPr/>
          <p:nvPr/>
        </p:nvSpPr>
        <p:spPr>
          <a:xfrm>
            <a:off x="4270248" y="3364992"/>
            <a:ext cx="3566160" cy="1234440"/>
          </a:xfrm>
          <a:prstGeom prst="rect">
            <a:avLst/>
          </a:prstGeom>
          <a:solidFill>
            <a:srgbClr val="F4F8FC"/>
          </a:solidFill>
          <a:ln w="12700">
            <a:solidFill>
              <a:srgbClr val="CFE3F5"/>
            </a:solidFill>
            <a:prstDash val="solid"/>
          </a:ln>
        </p:spPr>
        <p:txBody>
          <a:bodyPr/>
          <a:lstStyle/>
          <a:p>
            <a:endParaRPr lang="en-US"/>
          </a:p>
        </p:txBody>
      </p:sp>
      <p:sp>
        <p:nvSpPr>
          <p:cNvPr id="23" name="Shape 21"/>
          <p:cNvSpPr/>
          <p:nvPr/>
        </p:nvSpPr>
        <p:spPr>
          <a:xfrm>
            <a:off x="4471416" y="3584448"/>
            <a:ext cx="384048" cy="384048"/>
          </a:xfrm>
          <a:prstGeom prst="ellipse">
            <a:avLst/>
          </a:prstGeom>
          <a:solidFill>
            <a:srgbClr val="007A99"/>
          </a:solidFill>
          <a:ln/>
        </p:spPr>
        <p:txBody>
          <a:bodyPr/>
          <a:lstStyle/>
          <a:p>
            <a:endParaRPr lang="en-US"/>
          </a:p>
        </p:txBody>
      </p:sp>
      <p:sp>
        <p:nvSpPr>
          <p:cNvPr id="24" name="Text 22"/>
          <p:cNvSpPr/>
          <p:nvPr/>
        </p:nvSpPr>
        <p:spPr>
          <a:xfrm>
            <a:off x="4471416" y="3584448"/>
            <a:ext cx="384048" cy="384048"/>
          </a:xfrm>
          <a:prstGeom prst="rect">
            <a:avLst/>
          </a:prstGeom>
          <a:noFill/>
          <a:ln/>
        </p:spPr>
        <p:txBody>
          <a:bodyPr wrap="square" rtlCol="0" anchor="ctr"/>
          <a:lstStyle/>
          <a:p>
            <a:pPr marL="0" indent="0" algn="ctr">
              <a:buNone/>
            </a:pPr>
            <a:r>
              <a:rPr lang="en-US" sz="1500" b="1">
                <a:solidFill>
                  <a:srgbClr val="FFFFFF"/>
                </a:solidFill>
                <a:latin typeface="Arial" pitchFamily="34" charset="0"/>
                <a:ea typeface="Arial" pitchFamily="34" charset="-122"/>
                <a:cs typeface="Arial" pitchFamily="34" charset="-120"/>
              </a:rPr>
              <a:t>B</a:t>
            </a:r>
            <a:endParaRPr lang="en-US" sz="1500"/>
          </a:p>
        </p:txBody>
      </p:sp>
      <p:sp>
        <p:nvSpPr>
          <p:cNvPr id="25" name="Text 23"/>
          <p:cNvSpPr/>
          <p:nvPr/>
        </p:nvSpPr>
        <p:spPr>
          <a:xfrm>
            <a:off x="4983480" y="3511296"/>
            <a:ext cx="2743200" cy="320040"/>
          </a:xfrm>
          <a:prstGeom prst="rect">
            <a:avLst/>
          </a:prstGeom>
          <a:noFill/>
          <a:ln/>
        </p:spPr>
        <p:txBody>
          <a:bodyPr wrap="square" rtlCol="0" anchor="ctr"/>
          <a:lstStyle/>
          <a:p>
            <a:pPr marL="0" indent="0">
              <a:buNone/>
            </a:pPr>
            <a:r>
              <a:rPr lang="en-US" sz="1300" b="1" dirty="0">
                <a:solidFill>
                  <a:srgbClr val="001489"/>
                </a:solidFill>
                <a:latin typeface="Arial" pitchFamily="34" charset="0"/>
                <a:ea typeface="Arial" pitchFamily="34" charset="-122"/>
                <a:cs typeface="Arial" pitchFamily="34" charset="-120"/>
              </a:rPr>
              <a:t>Data Platform </a:t>
            </a:r>
            <a:endParaRPr lang="en-US" sz="1300" dirty="0"/>
          </a:p>
        </p:txBody>
      </p:sp>
      <p:sp>
        <p:nvSpPr>
          <p:cNvPr id="26" name="Text 24"/>
          <p:cNvSpPr/>
          <p:nvPr/>
        </p:nvSpPr>
        <p:spPr>
          <a:xfrm>
            <a:off x="4983480" y="3840480"/>
            <a:ext cx="2743200" cy="658368"/>
          </a:xfrm>
          <a:prstGeom prst="rect">
            <a:avLst/>
          </a:prstGeom>
          <a:noFill/>
          <a:ln/>
        </p:spPr>
        <p:txBody>
          <a:bodyPr wrap="square" rtlCol="0" anchor="ctr"/>
          <a:lstStyle/>
          <a:p>
            <a:pPr marL="0" indent="0">
              <a:lnSpc>
                <a:spcPct val="103000"/>
              </a:lnSpc>
              <a:buNone/>
            </a:pPr>
            <a:r>
              <a:rPr lang="en-US" sz="1000">
                <a:solidFill>
                  <a:srgbClr val="2C2826"/>
                </a:solidFill>
                <a:latin typeface="Calibri" pitchFamily="34" charset="0"/>
                <a:ea typeface="Calibri" pitchFamily="34" charset="-122"/>
                <a:cs typeface="Calibri" pitchFamily="34" charset="-120"/>
              </a:rPr>
              <a:t>Stewardship, retention &amp; disposition; recommends classification (Business Owner decides).</a:t>
            </a:r>
            <a:endParaRPr lang="en-US" sz="1000"/>
          </a:p>
        </p:txBody>
      </p:sp>
      <p:sp>
        <p:nvSpPr>
          <p:cNvPr id="27" name="Shape 25"/>
          <p:cNvSpPr/>
          <p:nvPr/>
        </p:nvSpPr>
        <p:spPr>
          <a:xfrm>
            <a:off x="8083296" y="3364992"/>
            <a:ext cx="3566160" cy="1234440"/>
          </a:xfrm>
          <a:prstGeom prst="rect">
            <a:avLst/>
          </a:prstGeom>
          <a:solidFill>
            <a:srgbClr val="F4F8FC"/>
          </a:solidFill>
          <a:ln w="12700">
            <a:solidFill>
              <a:srgbClr val="CFE3F5"/>
            </a:solidFill>
            <a:prstDash val="solid"/>
          </a:ln>
        </p:spPr>
        <p:txBody>
          <a:bodyPr/>
          <a:lstStyle/>
          <a:p>
            <a:endParaRPr lang="en-US"/>
          </a:p>
        </p:txBody>
      </p:sp>
      <p:sp>
        <p:nvSpPr>
          <p:cNvPr id="28" name="Shape 26"/>
          <p:cNvSpPr/>
          <p:nvPr/>
        </p:nvSpPr>
        <p:spPr>
          <a:xfrm>
            <a:off x="8284464" y="3584448"/>
            <a:ext cx="384048" cy="384048"/>
          </a:xfrm>
          <a:prstGeom prst="ellipse">
            <a:avLst/>
          </a:prstGeom>
          <a:solidFill>
            <a:srgbClr val="34557F"/>
          </a:solidFill>
          <a:ln/>
        </p:spPr>
        <p:txBody>
          <a:bodyPr/>
          <a:lstStyle/>
          <a:p>
            <a:endParaRPr lang="en-US"/>
          </a:p>
        </p:txBody>
      </p:sp>
      <p:sp>
        <p:nvSpPr>
          <p:cNvPr id="29" name="Text 27"/>
          <p:cNvSpPr/>
          <p:nvPr/>
        </p:nvSpPr>
        <p:spPr>
          <a:xfrm>
            <a:off x="8284464" y="3584448"/>
            <a:ext cx="384048" cy="384048"/>
          </a:xfrm>
          <a:prstGeom prst="rect">
            <a:avLst/>
          </a:prstGeom>
          <a:noFill/>
          <a:ln/>
        </p:spPr>
        <p:txBody>
          <a:bodyPr wrap="square" rtlCol="0" anchor="ctr"/>
          <a:lstStyle/>
          <a:p>
            <a:pPr marL="0" indent="0" algn="ctr">
              <a:buNone/>
            </a:pPr>
            <a:r>
              <a:rPr lang="en-US" sz="1500" b="1">
                <a:solidFill>
                  <a:srgbClr val="FFFFFF"/>
                </a:solidFill>
                <a:latin typeface="Arial" pitchFamily="34" charset="0"/>
                <a:ea typeface="Arial" pitchFamily="34" charset="-122"/>
                <a:cs typeface="Arial" pitchFamily="34" charset="-120"/>
              </a:rPr>
              <a:t>C</a:t>
            </a:r>
            <a:endParaRPr lang="en-US" sz="1500"/>
          </a:p>
        </p:txBody>
      </p:sp>
      <p:sp>
        <p:nvSpPr>
          <p:cNvPr id="30" name="Text 28"/>
          <p:cNvSpPr/>
          <p:nvPr/>
        </p:nvSpPr>
        <p:spPr>
          <a:xfrm>
            <a:off x="8796528" y="3511296"/>
            <a:ext cx="2743200" cy="320040"/>
          </a:xfrm>
          <a:prstGeom prst="rect">
            <a:avLst/>
          </a:prstGeom>
          <a:noFill/>
          <a:ln/>
        </p:spPr>
        <p:txBody>
          <a:bodyPr wrap="square" rtlCol="0" anchor="ctr"/>
          <a:lstStyle/>
          <a:p>
            <a:pPr marL="0" indent="0">
              <a:buNone/>
            </a:pPr>
            <a:r>
              <a:rPr lang="en-US" sz="1300" b="1">
                <a:solidFill>
                  <a:srgbClr val="001489"/>
                </a:solidFill>
                <a:latin typeface="Arial" pitchFamily="34" charset="0"/>
                <a:ea typeface="Arial" pitchFamily="34" charset="-122"/>
                <a:cs typeface="Arial" pitchFamily="34" charset="-120"/>
              </a:rPr>
              <a:t>Solution / Domain Architect</a:t>
            </a:r>
            <a:endParaRPr lang="en-US" sz="1300"/>
          </a:p>
        </p:txBody>
      </p:sp>
      <p:sp>
        <p:nvSpPr>
          <p:cNvPr id="31" name="Text 29"/>
          <p:cNvSpPr/>
          <p:nvPr/>
        </p:nvSpPr>
        <p:spPr>
          <a:xfrm>
            <a:off x="8796528" y="3840480"/>
            <a:ext cx="2743200" cy="658368"/>
          </a:xfrm>
          <a:prstGeom prst="rect">
            <a:avLst/>
          </a:prstGeom>
          <a:noFill/>
          <a:ln/>
        </p:spPr>
        <p:txBody>
          <a:bodyPr wrap="square" rtlCol="0" anchor="ctr"/>
          <a:lstStyle/>
          <a:p>
            <a:pPr marL="0" indent="0">
              <a:lnSpc>
                <a:spcPct val="103000"/>
              </a:lnSpc>
              <a:buNone/>
            </a:pPr>
            <a:r>
              <a:rPr lang="en-US" sz="1000">
                <a:solidFill>
                  <a:srgbClr val="2C2826"/>
                </a:solidFill>
                <a:latin typeface="Calibri" pitchFamily="34" charset="0"/>
                <a:ea typeface="Calibri" pitchFamily="34" charset="-122"/>
                <a:cs typeface="Calibri" pitchFamily="34" charset="-120"/>
              </a:rPr>
              <a:t>Design authority; 'what &amp; why' (Domain) and 'how' (Solution) per value stream.</a:t>
            </a:r>
            <a:endParaRPr lang="en-US" sz="1000"/>
          </a:p>
        </p:txBody>
      </p:sp>
      <p:sp>
        <p:nvSpPr>
          <p:cNvPr id="32" name="Shape 30"/>
          <p:cNvSpPr/>
          <p:nvPr/>
        </p:nvSpPr>
        <p:spPr>
          <a:xfrm>
            <a:off x="457201" y="4754880"/>
            <a:ext cx="2638874" cy="1234440"/>
          </a:xfrm>
          <a:prstGeom prst="rect">
            <a:avLst/>
          </a:prstGeom>
          <a:solidFill>
            <a:srgbClr val="F4F8FC"/>
          </a:solidFill>
          <a:ln w="12700">
            <a:solidFill>
              <a:srgbClr val="CFE3F5"/>
            </a:solidFill>
            <a:prstDash val="solid"/>
          </a:ln>
        </p:spPr>
        <p:txBody>
          <a:bodyPr/>
          <a:lstStyle/>
          <a:p>
            <a:endParaRPr lang="en-US"/>
          </a:p>
        </p:txBody>
      </p:sp>
      <p:sp>
        <p:nvSpPr>
          <p:cNvPr id="33" name="Shape 31"/>
          <p:cNvSpPr/>
          <p:nvPr/>
        </p:nvSpPr>
        <p:spPr>
          <a:xfrm>
            <a:off x="658368" y="4974336"/>
            <a:ext cx="384048" cy="384048"/>
          </a:xfrm>
          <a:prstGeom prst="ellipse">
            <a:avLst/>
          </a:prstGeom>
          <a:solidFill>
            <a:srgbClr val="34557F"/>
          </a:solidFill>
          <a:ln/>
        </p:spPr>
        <p:txBody>
          <a:bodyPr/>
          <a:lstStyle/>
          <a:p>
            <a:endParaRPr lang="en-US"/>
          </a:p>
        </p:txBody>
      </p:sp>
      <p:sp>
        <p:nvSpPr>
          <p:cNvPr id="34" name="Text 32"/>
          <p:cNvSpPr/>
          <p:nvPr/>
        </p:nvSpPr>
        <p:spPr>
          <a:xfrm>
            <a:off x="658368" y="4974336"/>
            <a:ext cx="384048" cy="384048"/>
          </a:xfrm>
          <a:prstGeom prst="rect">
            <a:avLst/>
          </a:prstGeom>
          <a:noFill/>
          <a:ln/>
        </p:spPr>
        <p:txBody>
          <a:bodyPr wrap="square" rtlCol="0" anchor="ctr"/>
          <a:lstStyle/>
          <a:p>
            <a:pPr marL="0" indent="0" algn="ctr">
              <a:buNone/>
            </a:pPr>
            <a:r>
              <a:rPr lang="en-US" sz="1500" b="1">
                <a:solidFill>
                  <a:srgbClr val="FFFFFF"/>
                </a:solidFill>
                <a:latin typeface="Arial" pitchFamily="34" charset="0"/>
                <a:ea typeface="Arial" pitchFamily="34" charset="-122"/>
                <a:cs typeface="Arial" pitchFamily="34" charset="-120"/>
              </a:rPr>
              <a:t>D</a:t>
            </a:r>
            <a:endParaRPr lang="en-US" sz="1500"/>
          </a:p>
        </p:txBody>
      </p:sp>
      <p:sp>
        <p:nvSpPr>
          <p:cNvPr id="35" name="Text 33"/>
          <p:cNvSpPr/>
          <p:nvPr/>
        </p:nvSpPr>
        <p:spPr>
          <a:xfrm>
            <a:off x="1170432" y="4901184"/>
            <a:ext cx="1925642" cy="320040"/>
          </a:xfrm>
          <a:prstGeom prst="rect">
            <a:avLst/>
          </a:prstGeom>
          <a:noFill/>
          <a:ln/>
        </p:spPr>
        <p:txBody>
          <a:bodyPr wrap="square" rtlCol="0" anchor="ctr"/>
          <a:lstStyle/>
          <a:p>
            <a:pPr marL="0" indent="0">
              <a:buNone/>
            </a:pPr>
            <a:r>
              <a:rPr lang="en-US" sz="1300" b="1">
                <a:solidFill>
                  <a:srgbClr val="001489"/>
                </a:solidFill>
                <a:latin typeface="Arial" pitchFamily="34" charset="0"/>
                <a:ea typeface="Arial" pitchFamily="34" charset="-122"/>
                <a:cs typeface="Arial" pitchFamily="34" charset="-120"/>
              </a:rPr>
              <a:t>Security SME</a:t>
            </a:r>
            <a:endParaRPr lang="en-US" sz="1300"/>
          </a:p>
        </p:txBody>
      </p:sp>
      <p:sp>
        <p:nvSpPr>
          <p:cNvPr id="36" name="Text 34"/>
          <p:cNvSpPr/>
          <p:nvPr/>
        </p:nvSpPr>
        <p:spPr>
          <a:xfrm>
            <a:off x="1170432" y="5230368"/>
            <a:ext cx="1779656" cy="658368"/>
          </a:xfrm>
          <a:prstGeom prst="rect">
            <a:avLst/>
          </a:prstGeom>
          <a:noFill/>
          <a:ln/>
        </p:spPr>
        <p:txBody>
          <a:bodyPr wrap="square" rtlCol="0" anchor="ctr"/>
          <a:lstStyle/>
          <a:p>
            <a:pPr marL="0" indent="0">
              <a:lnSpc>
                <a:spcPct val="103000"/>
              </a:lnSpc>
              <a:buNone/>
            </a:pPr>
            <a:r>
              <a:rPr lang="en-US" sz="1000" dirty="0">
                <a:solidFill>
                  <a:srgbClr val="2C2826"/>
                </a:solidFill>
                <a:latin typeface="Calibri" pitchFamily="34" charset="0"/>
                <a:ea typeface="Calibri" pitchFamily="34" charset="-122"/>
                <a:cs typeface="Calibri" pitchFamily="34" charset="-120"/>
              </a:rPr>
              <a:t>Security baselines, IAM/SSO, SOX / NERC-CIP / BCSI. Security tools: independent IT Risk / GRC reviewer.</a:t>
            </a:r>
            <a:endParaRPr lang="en-US" sz="1000" dirty="0"/>
          </a:p>
        </p:txBody>
      </p:sp>
      <p:sp>
        <p:nvSpPr>
          <p:cNvPr id="37" name="Shape 35"/>
          <p:cNvSpPr/>
          <p:nvPr/>
        </p:nvSpPr>
        <p:spPr>
          <a:xfrm>
            <a:off x="3176419" y="4754880"/>
            <a:ext cx="2596378" cy="1234440"/>
          </a:xfrm>
          <a:prstGeom prst="rect">
            <a:avLst/>
          </a:prstGeom>
          <a:solidFill>
            <a:srgbClr val="F4F8FC"/>
          </a:solidFill>
          <a:ln w="12700">
            <a:solidFill>
              <a:srgbClr val="CFE3F5"/>
            </a:solidFill>
            <a:prstDash val="solid"/>
          </a:ln>
        </p:spPr>
        <p:txBody>
          <a:bodyPr/>
          <a:lstStyle/>
          <a:p>
            <a:endParaRPr lang="en-US"/>
          </a:p>
        </p:txBody>
      </p:sp>
      <p:sp>
        <p:nvSpPr>
          <p:cNvPr id="38" name="Shape 36"/>
          <p:cNvSpPr/>
          <p:nvPr/>
        </p:nvSpPr>
        <p:spPr>
          <a:xfrm>
            <a:off x="3377587" y="4974336"/>
            <a:ext cx="384048" cy="384048"/>
          </a:xfrm>
          <a:prstGeom prst="ellipse">
            <a:avLst/>
          </a:prstGeom>
          <a:solidFill>
            <a:srgbClr val="007A99"/>
          </a:solidFill>
          <a:ln/>
        </p:spPr>
        <p:txBody>
          <a:bodyPr/>
          <a:lstStyle/>
          <a:p>
            <a:endParaRPr lang="en-US"/>
          </a:p>
        </p:txBody>
      </p:sp>
      <p:sp>
        <p:nvSpPr>
          <p:cNvPr id="39" name="Text 37"/>
          <p:cNvSpPr/>
          <p:nvPr/>
        </p:nvSpPr>
        <p:spPr>
          <a:xfrm>
            <a:off x="3377587" y="4974336"/>
            <a:ext cx="384048" cy="384048"/>
          </a:xfrm>
          <a:prstGeom prst="rect">
            <a:avLst/>
          </a:prstGeom>
          <a:noFill/>
          <a:ln/>
        </p:spPr>
        <p:txBody>
          <a:bodyPr wrap="square" rtlCol="0" anchor="ctr"/>
          <a:lstStyle/>
          <a:p>
            <a:pPr marL="0" indent="0" algn="ctr">
              <a:buNone/>
            </a:pPr>
            <a:r>
              <a:rPr lang="en-US" sz="1500" b="1">
                <a:solidFill>
                  <a:srgbClr val="FFFFFF"/>
                </a:solidFill>
                <a:latin typeface="Arial" pitchFamily="34" charset="0"/>
                <a:ea typeface="Arial" pitchFamily="34" charset="-122"/>
                <a:cs typeface="Arial" pitchFamily="34" charset="-120"/>
              </a:rPr>
              <a:t>E</a:t>
            </a:r>
            <a:endParaRPr lang="en-US" sz="1500"/>
          </a:p>
        </p:txBody>
      </p:sp>
      <p:sp>
        <p:nvSpPr>
          <p:cNvPr id="40" name="Text 38"/>
          <p:cNvSpPr/>
          <p:nvPr/>
        </p:nvSpPr>
        <p:spPr>
          <a:xfrm>
            <a:off x="3889651" y="4901184"/>
            <a:ext cx="1960784" cy="320040"/>
          </a:xfrm>
          <a:prstGeom prst="rect">
            <a:avLst/>
          </a:prstGeom>
          <a:noFill/>
          <a:ln/>
        </p:spPr>
        <p:txBody>
          <a:bodyPr wrap="square" rtlCol="0" anchor="ctr"/>
          <a:lstStyle/>
          <a:p>
            <a:pPr marL="0" indent="0">
              <a:buNone/>
            </a:pPr>
            <a:r>
              <a:rPr lang="en-US" sz="1300" b="1">
                <a:solidFill>
                  <a:srgbClr val="001489"/>
                </a:solidFill>
                <a:latin typeface="Arial" pitchFamily="34" charset="0"/>
                <a:ea typeface="Arial" pitchFamily="34" charset="-122"/>
                <a:cs typeface="Arial" pitchFamily="34" charset="-120"/>
              </a:rPr>
              <a:t>Infra / Platform SME</a:t>
            </a:r>
            <a:endParaRPr lang="en-US" sz="1300"/>
          </a:p>
        </p:txBody>
      </p:sp>
      <p:sp>
        <p:nvSpPr>
          <p:cNvPr id="41" name="Text 39"/>
          <p:cNvSpPr/>
          <p:nvPr/>
        </p:nvSpPr>
        <p:spPr>
          <a:xfrm>
            <a:off x="3889651" y="5230368"/>
            <a:ext cx="1782356" cy="658368"/>
          </a:xfrm>
          <a:prstGeom prst="rect">
            <a:avLst/>
          </a:prstGeom>
          <a:noFill/>
          <a:ln/>
        </p:spPr>
        <p:txBody>
          <a:bodyPr wrap="square" rtlCol="0" anchor="ctr"/>
          <a:lstStyle/>
          <a:p>
            <a:pPr marL="0" indent="0">
              <a:lnSpc>
                <a:spcPct val="103000"/>
              </a:lnSpc>
              <a:buNone/>
            </a:pPr>
            <a:r>
              <a:rPr lang="en-US" sz="1000">
                <a:solidFill>
                  <a:srgbClr val="2C2826"/>
                </a:solidFill>
                <a:latin typeface="Calibri" pitchFamily="34" charset="0"/>
                <a:ea typeface="Calibri" pitchFamily="34" charset="-122"/>
                <a:cs typeface="Calibri" pitchFamily="34" charset="-120"/>
              </a:rPr>
              <a:t>Hosting, golden images, IaC, environments &amp; non-functional standards.</a:t>
            </a:r>
            <a:endParaRPr lang="en-US" sz="1000"/>
          </a:p>
        </p:txBody>
      </p:sp>
      <p:sp>
        <p:nvSpPr>
          <p:cNvPr id="42" name="Shape 40"/>
          <p:cNvSpPr/>
          <p:nvPr/>
        </p:nvSpPr>
        <p:spPr>
          <a:xfrm>
            <a:off x="8777032" y="4754880"/>
            <a:ext cx="2855343" cy="1234440"/>
          </a:xfrm>
          <a:prstGeom prst="rect">
            <a:avLst/>
          </a:prstGeom>
          <a:solidFill>
            <a:srgbClr val="F4F8FC"/>
          </a:solidFill>
          <a:ln w="12700">
            <a:solidFill>
              <a:srgbClr val="CFE3F5"/>
            </a:solidFill>
            <a:prstDash val="solid"/>
          </a:ln>
        </p:spPr>
        <p:txBody>
          <a:bodyPr/>
          <a:lstStyle/>
          <a:p>
            <a:endParaRPr lang="en-US"/>
          </a:p>
        </p:txBody>
      </p:sp>
      <p:sp>
        <p:nvSpPr>
          <p:cNvPr id="43" name="Shape 41"/>
          <p:cNvSpPr/>
          <p:nvPr/>
        </p:nvSpPr>
        <p:spPr>
          <a:xfrm>
            <a:off x="8978200" y="4974336"/>
            <a:ext cx="384048" cy="384048"/>
          </a:xfrm>
          <a:prstGeom prst="ellipse">
            <a:avLst/>
          </a:prstGeom>
          <a:solidFill>
            <a:srgbClr val="0085CA"/>
          </a:solidFill>
          <a:ln/>
        </p:spPr>
        <p:txBody>
          <a:bodyPr/>
          <a:lstStyle/>
          <a:p>
            <a:endParaRPr lang="en-US"/>
          </a:p>
        </p:txBody>
      </p:sp>
      <p:sp>
        <p:nvSpPr>
          <p:cNvPr id="44" name="Text 42"/>
          <p:cNvSpPr/>
          <p:nvPr/>
        </p:nvSpPr>
        <p:spPr>
          <a:xfrm>
            <a:off x="8978200" y="4974336"/>
            <a:ext cx="384048" cy="384048"/>
          </a:xfrm>
          <a:prstGeom prst="rect">
            <a:avLst/>
          </a:prstGeom>
          <a:noFill/>
          <a:ln/>
        </p:spPr>
        <p:txBody>
          <a:bodyPr wrap="square" rtlCol="0" anchor="ctr"/>
          <a:lstStyle/>
          <a:p>
            <a:pPr marL="0" indent="0" algn="ctr">
              <a:buNone/>
            </a:pPr>
            <a:r>
              <a:rPr lang="en-US" sz="1500" b="1">
                <a:solidFill>
                  <a:srgbClr val="FFFFFF"/>
                </a:solidFill>
                <a:latin typeface="Arial" pitchFamily="34" charset="0"/>
                <a:ea typeface="Arial" pitchFamily="34" charset="-122"/>
                <a:cs typeface="Arial" pitchFamily="34" charset="-120"/>
              </a:rPr>
              <a:t>G</a:t>
            </a:r>
            <a:endParaRPr lang="en-US" sz="1500"/>
          </a:p>
        </p:txBody>
      </p:sp>
      <p:sp>
        <p:nvSpPr>
          <p:cNvPr id="45" name="Text 43"/>
          <p:cNvSpPr/>
          <p:nvPr/>
        </p:nvSpPr>
        <p:spPr>
          <a:xfrm>
            <a:off x="9490264" y="4901184"/>
            <a:ext cx="2088799" cy="320040"/>
          </a:xfrm>
          <a:prstGeom prst="rect">
            <a:avLst/>
          </a:prstGeom>
          <a:noFill/>
          <a:ln/>
        </p:spPr>
        <p:txBody>
          <a:bodyPr wrap="square" rtlCol="0" anchor="ctr"/>
          <a:lstStyle/>
          <a:p>
            <a:pPr marL="0" indent="0">
              <a:buNone/>
            </a:pPr>
            <a:r>
              <a:rPr lang="en-US" sz="1300" b="1">
                <a:solidFill>
                  <a:srgbClr val="001489"/>
                </a:solidFill>
                <a:latin typeface="Arial" pitchFamily="34" charset="0"/>
                <a:ea typeface="Arial" pitchFamily="34" charset="-122"/>
                <a:cs typeface="Arial" pitchFamily="34" charset="-120"/>
              </a:rPr>
              <a:t>Vendor / Partner Manager</a:t>
            </a:r>
            <a:endParaRPr lang="en-US" sz="1300"/>
          </a:p>
        </p:txBody>
      </p:sp>
      <p:sp>
        <p:nvSpPr>
          <p:cNvPr id="46" name="Text 44"/>
          <p:cNvSpPr/>
          <p:nvPr/>
        </p:nvSpPr>
        <p:spPr>
          <a:xfrm>
            <a:off x="9490264" y="5230368"/>
            <a:ext cx="2196417" cy="658368"/>
          </a:xfrm>
          <a:prstGeom prst="rect">
            <a:avLst/>
          </a:prstGeom>
          <a:noFill/>
          <a:ln/>
        </p:spPr>
        <p:txBody>
          <a:bodyPr wrap="square" rtlCol="0" anchor="ctr"/>
          <a:lstStyle/>
          <a:p>
            <a:pPr marL="0" indent="0">
              <a:lnSpc>
                <a:spcPct val="103000"/>
              </a:lnSpc>
              <a:buNone/>
            </a:pPr>
            <a:r>
              <a:rPr lang="en-US" sz="1000">
                <a:solidFill>
                  <a:srgbClr val="2C2826"/>
                </a:solidFill>
                <a:latin typeface="Calibri" pitchFamily="34" charset="0"/>
                <a:ea typeface="Calibri" pitchFamily="34" charset="-122"/>
                <a:cs typeface="Calibri" pitchFamily="34" charset="-120"/>
              </a:rPr>
              <a:t>Contracts, licensing, SLAs, runbooks  &amp; lifecycle for SaaS / COTS suppliers.</a:t>
            </a:r>
            <a:endParaRPr lang="en-US" sz="1000"/>
          </a:p>
        </p:txBody>
      </p:sp>
      <p:sp>
        <p:nvSpPr>
          <p:cNvPr id="47" name="Text 45"/>
          <p:cNvSpPr/>
          <p:nvPr/>
        </p:nvSpPr>
        <p:spPr>
          <a:xfrm>
            <a:off x="457200" y="6473952"/>
            <a:ext cx="2011680" cy="256032"/>
          </a:xfrm>
          <a:prstGeom prst="rect">
            <a:avLst/>
          </a:prstGeom>
          <a:noFill/>
          <a:ln/>
        </p:spPr>
        <p:txBody>
          <a:bodyPr wrap="square" rtlCol="0" anchor="ctr"/>
          <a:lstStyle/>
          <a:p>
            <a:pPr marL="0" indent="0" algn="l">
              <a:buNone/>
            </a:pPr>
            <a:r>
              <a:rPr lang="en-US" sz="850" i="1">
                <a:solidFill>
                  <a:srgbClr val="6A6157"/>
                </a:solidFill>
                <a:latin typeface="Calibri" pitchFamily="34" charset="0"/>
                <a:ea typeface="Calibri" pitchFamily="34" charset="-122"/>
                <a:cs typeface="Calibri" pitchFamily="34" charset="-120"/>
              </a:rPr>
              <a:t>Business Use</a:t>
            </a:r>
            <a:endParaRPr lang="en-US" sz="850"/>
          </a:p>
        </p:txBody>
      </p:sp>
      <p:sp>
        <p:nvSpPr>
          <p:cNvPr id="48" name="Text 46"/>
          <p:cNvSpPr/>
          <p:nvPr/>
        </p:nvSpPr>
        <p:spPr>
          <a:xfrm>
            <a:off x="2468880" y="6473952"/>
            <a:ext cx="5029200" cy="256032"/>
          </a:xfrm>
          <a:prstGeom prst="rect">
            <a:avLst/>
          </a:prstGeom>
          <a:noFill/>
          <a:ln/>
        </p:spPr>
        <p:txBody>
          <a:bodyPr wrap="square" rtlCol="0" anchor="ctr"/>
          <a:lstStyle/>
          <a:p>
            <a:pPr marL="0" indent="0" algn="l">
              <a:buNone/>
            </a:pPr>
            <a:r>
              <a:rPr lang="en-US" sz="850">
                <a:solidFill>
                  <a:srgbClr val="6A6157"/>
                </a:solidFill>
                <a:latin typeface="Calibri" pitchFamily="34" charset="0"/>
                <a:ea typeface="Calibri" pitchFamily="34" charset="-122"/>
                <a:cs typeface="Calibri" pitchFamily="34" charset="-120"/>
              </a:rPr>
              <a:t>Application Ownership Governance</a:t>
            </a:r>
            <a:endParaRPr lang="en-US" sz="850"/>
          </a:p>
        </p:txBody>
      </p:sp>
      <p:sp>
        <p:nvSpPr>
          <p:cNvPr id="49" name="Text 47"/>
          <p:cNvSpPr/>
          <p:nvPr/>
        </p:nvSpPr>
        <p:spPr>
          <a:xfrm>
            <a:off x="7772400" y="6473952"/>
            <a:ext cx="3959352" cy="256032"/>
          </a:xfrm>
          <a:prstGeom prst="rect">
            <a:avLst/>
          </a:prstGeom>
          <a:noFill/>
          <a:ln/>
        </p:spPr>
        <p:txBody>
          <a:bodyPr wrap="square" rtlCol="0" anchor="ctr"/>
          <a:lstStyle/>
          <a:p>
            <a:pPr marL="0" indent="0" algn="r">
              <a:buNone/>
            </a:pPr>
            <a:r>
              <a:rPr lang="en-US" sz="850">
                <a:solidFill>
                  <a:srgbClr val="6A6157"/>
                </a:solidFill>
                <a:latin typeface="Calibri" pitchFamily="34" charset="0"/>
                <a:ea typeface="Calibri" pitchFamily="34" charset="-122"/>
                <a:cs typeface="Calibri" pitchFamily="34" charset="-120"/>
              </a:rPr>
              <a:t>© PPL Corporation 2026   |   4</a:t>
            </a:r>
            <a:endParaRPr lang="en-US" sz="850"/>
          </a:p>
        </p:txBody>
      </p:sp>
      <p:sp>
        <p:nvSpPr>
          <p:cNvPr id="60" name="Shape 35">
            <a:extLst>
              <a:ext uri="{FF2B5EF4-FFF2-40B4-BE49-F238E27FC236}">
                <a16:creationId xmlns:a16="http://schemas.microsoft.com/office/drawing/2014/main" id="{8AAF3FF8-E539-E1CE-7F8D-C9B7C72C541E}"/>
              </a:ext>
            </a:extLst>
          </p:cNvPr>
          <p:cNvSpPr/>
          <p:nvPr/>
        </p:nvSpPr>
        <p:spPr>
          <a:xfrm>
            <a:off x="5924588" y="4754880"/>
            <a:ext cx="2596378" cy="1234440"/>
          </a:xfrm>
          <a:prstGeom prst="rect">
            <a:avLst/>
          </a:prstGeom>
          <a:solidFill>
            <a:srgbClr val="F4F8FC"/>
          </a:solidFill>
          <a:ln w="12700">
            <a:solidFill>
              <a:srgbClr val="CFE3F5"/>
            </a:solidFill>
            <a:prstDash val="solid"/>
          </a:ln>
        </p:spPr>
        <p:txBody>
          <a:bodyPr/>
          <a:lstStyle/>
          <a:p>
            <a:endParaRPr lang="en-US"/>
          </a:p>
        </p:txBody>
      </p:sp>
      <p:sp>
        <p:nvSpPr>
          <p:cNvPr id="61" name="Shape 36">
            <a:extLst>
              <a:ext uri="{FF2B5EF4-FFF2-40B4-BE49-F238E27FC236}">
                <a16:creationId xmlns:a16="http://schemas.microsoft.com/office/drawing/2014/main" id="{CF25932F-FFCE-9C7D-AD67-5751039A5711}"/>
              </a:ext>
            </a:extLst>
          </p:cNvPr>
          <p:cNvSpPr/>
          <p:nvPr/>
        </p:nvSpPr>
        <p:spPr>
          <a:xfrm>
            <a:off x="6125756" y="4974336"/>
            <a:ext cx="384048" cy="384048"/>
          </a:xfrm>
          <a:prstGeom prst="ellipse">
            <a:avLst/>
          </a:prstGeom>
          <a:solidFill>
            <a:srgbClr val="007A99"/>
          </a:solidFill>
          <a:ln/>
        </p:spPr>
        <p:txBody>
          <a:bodyPr/>
          <a:lstStyle/>
          <a:p>
            <a:endParaRPr lang="en-US"/>
          </a:p>
        </p:txBody>
      </p:sp>
      <p:sp>
        <p:nvSpPr>
          <p:cNvPr id="62" name="Text 37">
            <a:extLst>
              <a:ext uri="{FF2B5EF4-FFF2-40B4-BE49-F238E27FC236}">
                <a16:creationId xmlns:a16="http://schemas.microsoft.com/office/drawing/2014/main" id="{0CAC6DB5-2D4D-2B0F-151C-A84021B2720B}"/>
              </a:ext>
            </a:extLst>
          </p:cNvPr>
          <p:cNvSpPr/>
          <p:nvPr/>
        </p:nvSpPr>
        <p:spPr>
          <a:xfrm>
            <a:off x="6125756" y="4974336"/>
            <a:ext cx="384048" cy="384048"/>
          </a:xfrm>
          <a:prstGeom prst="rect">
            <a:avLst/>
          </a:prstGeom>
          <a:noFill/>
          <a:ln/>
        </p:spPr>
        <p:txBody>
          <a:bodyPr wrap="square" rtlCol="0" anchor="ctr"/>
          <a:lstStyle/>
          <a:p>
            <a:pPr marL="0" indent="0" algn="ctr">
              <a:buNone/>
            </a:pPr>
            <a:r>
              <a:rPr lang="en-US" sz="1500" b="1">
                <a:solidFill>
                  <a:srgbClr val="FFFFFF"/>
                </a:solidFill>
                <a:latin typeface="Arial" pitchFamily="34" charset="0"/>
                <a:ea typeface="Arial" pitchFamily="34" charset="-122"/>
                <a:cs typeface="Arial" pitchFamily="34" charset="-120"/>
              </a:rPr>
              <a:t>F</a:t>
            </a:r>
            <a:endParaRPr lang="en-US" sz="1500"/>
          </a:p>
        </p:txBody>
      </p:sp>
      <p:sp>
        <p:nvSpPr>
          <p:cNvPr id="63" name="Text 38">
            <a:extLst>
              <a:ext uri="{FF2B5EF4-FFF2-40B4-BE49-F238E27FC236}">
                <a16:creationId xmlns:a16="http://schemas.microsoft.com/office/drawing/2014/main" id="{FA56779F-3A67-7ED6-A909-B6895CDC5399}"/>
              </a:ext>
            </a:extLst>
          </p:cNvPr>
          <p:cNvSpPr/>
          <p:nvPr/>
        </p:nvSpPr>
        <p:spPr>
          <a:xfrm>
            <a:off x="6637820" y="4901184"/>
            <a:ext cx="1960784" cy="320040"/>
          </a:xfrm>
          <a:prstGeom prst="rect">
            <a:avLst/>
          </a:prstGeom>
          <a:noFill/>
          <a:ln/>
        </p:spPr>
        <p:txBody>
          <a:bodyPr wrap="square" rtlCol="0" anchor="ctr"/>
          <a:lstStyle/>
          <a:p>
            <a:pPr marL="0" indent="0">
              <a:buNone/>
            </a:pPr>
            <a:r>
              <a:rPr lang="en-US" sz="1300" b="1">
                <a:solidFill>
                  <a:srgbClr val="001489"/>
                </a:solidFill>
                <a:latin typeface="Arial" pitchFamily="34" charset="0"/>
                <a:ea typeface="Arial" pitchFamily="34" charset="-122"/>
                <a:cs typeface="Arial" pitchFamily="34" charset="-120"/>
              </a:rPr>
              <a:t>Enterprise Architecture</a:t>
            </a:r>
            <a:endParaRPr lang="en-US" sz="1300"/>
          </a:p>
        </p:txBody>
      </p:sp>
      <p:sp>
        <p:nvSpPr>
          <p:cNvPr id="64" name="Text 39">
            <a:extLst>
              <a:ext uri="{FF2B5EF4-FFF2-40B4-BE49-F238E27FC236}">
                <a16:creationId xmlns:a16="http://schemas.microsoft.com/office/drawing/2014/main" id="{633E89ED-E91F-D61B-E478-A4394AE1855D}"/>
              </a:ext>
            </a:extLst>
          </p:cNvPr>
          <p:cNvSpPr/>
          <p:nvPr/>
        </p:nvSpPr>
        <p:spPr>
          <a:xfrm>
            <a:off x="6637820" y="5230368"/>
            <a:ext cx="1782356" cy="658368"/>
          </a:xfrm>
          <a:prstGeom prst="rect">
            <a:avLst/>
          </a:prstGeom>
          <a:noFill/>
          <a:ln/>
        </p:spPr>
        <p:txBody>
          <a:bodyPr wrap="square" rtlCol="0" anchor="ctr"/>
          <a:lstStyle/>
          <a:p>
            <a:pPr marL="0" indent="0">
              <a:lnSpc>
                <a:spcPct val="103000"/>
              </a:lnSpc>
              <a:buNone/>
            </a:pPr>
            <a:r>
              <a:rPr lang="en-US" sz="1000" dirty="0">
                <a:solidFill>
                  <a:srgbClr val="2C2826"/>
                </a:solidFill>
                <a:latin typeface="Calibri" pitchFamily="34" charset="0"/>
                <a:ea typeface="Calibri" pitchFamily="34" charset="-122"/>
                <a:cs typeface="Calibri" pitchFamily="34" charset="-120"/>
              </a:rPr>
              <a:t>Architecture guidelines and future-state alignment; sets standards, does not run platforms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ect">
            <a:avLst/>
          </a:prstGeom>
          <a:solidFill>
            <a:srgbClr val="001489"/>
          </a:solidFill>
          <a:ln/>
        </p:spPr>
        <p:txBody>
          <a:bodyPr/>
          <a:lstStyle/>
          <a:p>
            <a:endParaRPr lang="en-US"/>
          </a:p>
        </p:txBody>
      </p:sp>
      <p:sp>
        <p:nvSpPr>
          <p:cNvPr id="3" name="Shape 1"/>
          <p:cNvSpPr/>
          <p:nvPr/>
        </p:nvSpPr>
        <p:spPr>
          <a:xfrm>
            <a:off x="0" y="1078992"/>
            <a:ext cx="12188952" cy="54864"/>
          </a:xfrm>
          <a:prstGeom prst="rect">
            <a:avLst/>
          </a:prstGeom>
          <a:solidFill>
            <a:srgbClr val="0085CA"/>
          </a:solidFill>
          <a:ln/>
        </p:spPr>
        <p:txBody>
          <a:bodyPr/>
          <a:lstStyle/>
          <a:p>
            <a:endParaRPr lang="en-US"/>
          </a:p>
        </p:txBody>
      </p:sp>
      <p:sp>
        <p:nvSpPr>
          <p:cNvPr id="4" name="Text 2"/>
          <p:cNvSpPr/>
          <p:nvPr/>
        </p:nvSpPr>
        <p:spPr>
          <a:xfrm>
            <a:off x="457200" y="182880"/>
            <a:ext cx="10058400" cy="256032"/>
          </a:xfrm>
          <a:prstGeom prst="rect">
            <a:avLst/>
          </a:prstGeom>
          <a:noFill/>
          <a:ln/>
        </p:spPr>
        <p:txBody>
          <a:bodyPr wrap="square" rtlCol="0" anchor="ctr"/>
          <a:lstStyle/>
          <a:p>
            <a:pPr marL="0" indent="0">
              <a:buNone/>
            </a:pPr>
            <a:r>
              <a:rPr lang="en-US" sz="1100" b="1" kern="0" spc="300">
                <a:solidFill>
                  <a:srgbClr val="8FC7EA"/>
                </a:solidFill>
                <a:latin typeface="Calibri" pitchFamily="34" charset="0"/>
                <a:ea typeface="Calibri" pitchFamily="34" charset="-122"/>
                <a:cs typeface="Calibri" pitchFamily="34" charset="-120"/>
              </a:rPr>
              <a:t>THE DECISION MATRIX</a:t>
            </a:r>
            <a:endParaRPr lang="en-US" sz="1100"/>
          </a:p>
        </p:txBody>
      </p:sp>
      <p:sp>
        <p:nvSpPr>
          <p:cNvPr id="5" name="Text 3"/>
          <p:cNvSpPr/>
          <p:nvPr/>
        </p:nvSpPr>
        <p:spPr>
          <a:xfrm>
            <a:off x="457200" y="420624"/>
            <a:ext cx="10607040" cy="566928"/>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Who owns what — by application type</a:t>
            </a:r>
            <a:endParaRPr lang="en-US" sz="2400" dirty="0"/>
          </a:p>
        </p:txBody>
      </p:sp>
      <p:sp>
        <p:nvSpPr>
          <p:cNvPr id="6" name="Shape 4"/>
          <p:cNvSpPr/>
          <p:nvPr/>
        </p:nvSpPr>
        <p:spPr>
          <a:xfrm>
            <a:off x="11073384" y="384048"/>
            <a:ext cx="658368" cy="310896"/>
          </a:xfrm>
          <a:prstGeom prst="rect">
            <a:avLst/>
          </a:prstGeom>
          <a:solidFill>
            <a:srgbClr val="FFFFFF"/>
          </a:solidFill>
          <a:ln/>
        </p:spPr>
        <p:txBody>
          <a:bodyPr/>
          <a:lstStyle/>
          <a:p>
            <a:endParaRPr lang="en-US"/>
          </a:p>
        </p:txBody>
      </p:sp>
      <p:sp>
        <p:nvSpPr>
          <p:cNvPr id="7" name="Text 5"/>
          <p:cNvSpPr/>
          <p:nvPr/>
        </p:nvSpPr>
        <p:spPr>
          <a:xfrm>
            <a:off x="11073384" y="384048"/>
            <a:ext cx="658368" cy="310896"/>
          </a:xfrm>
          <a:prstGeom prst="rect">
            <a:avLst/>
          </a:prstGeom>
          <a:noFill/>
          <a:ln/>
        </p:spPr>
        <p:txBody>
          <a:bodyPr wrap="square" rtlCol="0" anchor="ctr"/>
          <a:lstStyle/>
          <a:p>
            <a:pPr marL="0" indent="0" algn="ctr">
              <a:buNone/>
            </a:pPr>
            <a:r>
              <a:rPr lang="en-US" sz="1500" b="1" kern="0" spc="100">
                <a:solidFill>
                  <a:srgbClr val="001489"/>
                </a:solidFill>
                <a:latin typeface="Arial" pitchFamily="34" charset="0"/>
                <a:ea typeface="Arial" pitchFamily="34" charset="-122"/>
                <a:cs typeface="Arial" pitchFamily="34" charset="-120"/>
              </a:rPr>
              <a:t>PPL</a:t>
            </a:r>
            <a:endParaRPr lang="en-US" sz="1500"/>
          </a:p>
        </p:txBody>
      </p:sp>
      <p:graphicFrame>
        <p:nvGraphicFramePr>
          <p:cNvPr id="8" name="Table 0"/>
          <p:cNvGraphicFramePr>
            <a:graphicFrameLocks noGrp="1"/>
          </p:cNvGraphicFramePr>
          <p:nvPr>
            <p:extLst>
              <p:ext uri="{D42A27DB-BD31-4B8C-83A1-F6EECF244321}">
                <p14:modId xmlns:p14="http://schemas.microsoft.com/office/powerpoint/2010/main" val="1163927317"/>
              </p:ext>
            </p:extLst>
          </p:nvPr>
        </p:nvGraphicFramePr>
        <p:xfrm>
          <a:off x="365760" y="1298448"/>
          <a:ext cx="11457432" cy="4114561"/>
        </p:xfrm>
        <a:graphic>
          <a:graphicData uri="http://schemas.openxmlformats.org/drawingml/2006/table">
            <a:tbl>
              <a:tblPr/>
              <a:tblGrid>
                <a:gridCol w="214884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2404872">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283243">
                <a:tc>
                  <a:txBody>
                    <a:bodyPr/>
                    <a:lstStyle/>
                    <a:p>
                      <a:pPr marL="0" indent="0" algn="ctr">
                        <a:buNone/>
                      </a:pPr>
                      <a:r>
                        <a:rPr lang="en-US" sz="1050" b="1">
                          <a:solidFill>
                            <a:srgbClr val="FFFFFF"/>
                          </a:solidFill>
                          <a:latin typeface="Calibri" pitchFamily="34" charset="0"/>
                          <a:ea typeface="Calibri" pitchFamily="34" charset="-122"/>
                          <a:cs typeface="Calibri" pitchFamily="34" charset="-120"/>
                        </a:rPr>
                        <a:t>Application Type</a:t>
                      </a:r>
                      <a:endParaRPr lang="en-US" sz="10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1489"/>
                    </a:solidFill>
                  </a:tcPr>
                </a:tc>
                <a:tc>
                  <a:txBody>
                    <a:bodyPr/>
                    <a:lstStyle/>
                    <a:p>
                      <a:pPr marL="0" indent="0" algn="ctr">
                        <a:buNone/>
                      </a:pPr>
                      <a:r>
                        <a:rPr lang="en-US" sz="1050" b="1">
                          <a:solidFill>
                            <a:srgbClr val="FFFFFF"/>
                          </a:solidFill>
                          <a:latin typeface="Calibri" pitchFamily="34" charset="0"/>
                          <a:ea typeface="Calibri" pitchFamily="34" charset="-122"/>
                          <a:cs typeface="Calibri" pitchFamily="34" charset="-120"/>
                        </a:rPr>
                        <a:t>Business Owner  (A)</a:t>
                      </a:r>
                      <a:endParaRPr lang="en-US" sz="10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1489"/>
                    </a:solidFill>
                  </a:tcPr>
                </a:tc>
                <a:tc>
                  <a:txBody>
                    <a:bodyPr/>
                    <a:lstStyle/>
                    <a:p>
                      <a:pPr marL="0" indent="0" algn="ctr">
                        <a:buNone/>
                      </a:pPr>
                      <a:r>
                        <a:rPr lang="en-US" sz="1050" b="1">
                          <a:solidFill>
                            <a:srgbClr val="FFFFFF"/>
                          </a:solidFill>
                          <a:latin typeface="Calibri" pitchFamily="34" charset="0"/>
                          <a:ea typeface="Calibri" pitchFamily="34" charset="-122"/>
                          <a:cs typeface="Calibri" pitchFamily="34" charset="-120"/>
                        </a:rPr>
                        <a:t>IT / Technical Owner  (R)</a:t>
                      </a:r>
                      <a:endParaRPr lang="en-US" sz="10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1489"/>
                    </a:solidFill>
                  </a:tcPr>
                </a:tc>
                <a:tc>
                  <a:txBody>
                    <a:bodyPr/>
                    <a:lstStyle/>
                    <a:p>
                      <a:pPr marL="0" indent="0" algn="ctr">
                        <a:buNone/>
                      </a:pPr>
                      <a:r>
                        <a:rPr lang="en-US" sz="1050" b="1">
                          <a:solidFill>
                            <a:srgbClr val="FFFFFF"/>
                          </a:solidFill>
                          <a:latin typeface="Calibri" pitchFamily="34" charset="0"/>
                          <a:ea typeface="Calibri" pitchFamily="34" charset="-122"/>
                          <a:cs typeface="Calibri" pitchFamily="34" charset="-120"/>
                        </a:rPr>
                        <a:t>Key Supporting Owners  (C)</a:t>
                      </a:r>
                      <a:endParaRPr lang="en-US" sz="10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1489"/>
                    </a:solidFill>
                  </a:tcPr>
                </a:tc>
                <a:tc>
                  <a:txBody>
                    <a:bodyPr/>
                    <a:lstStyle/>
                    <a:p>
                      <a:pPr marL="0" indent="0" algn="ctr">
                        <a:buNone/>
                      </a:pPr>
                      <a:r>
                        <a:rPr lang="en-US" sz="1050" b="1">
                          <a:solidFill>
                            <a:srgbClr val="FFFFFF"/>
                          </a:solidFill>
                          <a:latin typeface="Calibri" pitchFamily="34" charset="0"/>
                          <a:ea typeface="Calibri" pitchFamily="34" charset="-122"/>
                          <a:cs typeface="Calibri" pitchFamily="34" charset="-120"/>
                        </a:rPr>
                        <a:t>Home Value Stream</a:t>
                      </a:r>
                      <a:endParaRPr lang="en-US" sz="10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1489"/>
                    </a:solidFill>
                  </a:tcPr>
                </a:tc>
                <a:extLst>
                  <a:ext uri="{0D108BD9-81ED-4DB2-BD59-A6C34878D82A}">
                    <a16:rowId xmlns:a16="http://schemas.microsoft.com/office/drawing/2014/main" val="10000"/>
                  </a:ext>
                </a:extLst>
              </a:tr>
              <a:tr h="349888">
                <a:tc>
                  <a:txBody>
                    <a:bodyPr/>
                    <a:lstStyle/>
                    <a:p>
                      <a:pPr marL="0" indent="0" algn="l">
                        <a:buNone/>
                      </a:pPr>
                      <a:r>
                        <a:rPr lang="en-US" sz="900" b="1" dirty="0">
                          <a:solidFill>
                            <a:srgbClr val="2C2826"/>
                          </a:solidFill>
                          <a:latin typeface="Calibri" pitchFamily="34" charset="0"/>
                          <a:ea typeface="Calibri" pitchFamily="34" charset="-122"/>
                          <a:cs typeface="Calibri" pitchFamily="34" charset="-120"/>
                        </a:rPr>
                        <a:t>1  ERP / Enterprise </a:t>
                      </a:r>
                      <a:r>
                        <a:rPr lang="en-US" sz="900" b="1" dirty="0">
                          <a:solidFill>
                            <a:srgbClr val="FF0000"/>
                          </a:solidFill>
                          <a:latin typeface="Calibri" pitchFamily="34" charset="0"/>
                          <a:ea typeface="Calibri" pitchFamily="34" charset="-122"/>
                          <a:cs typeface="Calibri" pitchFamily="34" charset="-120"/>
                        </a:rPr>
                        <a:t>Platform</a:t>
                      </a:r>
                      <a:endParaRPr lang="en-US" sz="900" dirty="0">
                        <a:solidFill>
                          <a:srgbClr val="FF0000"/>
                        </a:solidFill>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Enterprise VS Business Lead (Finance / SCM / HR process owners)</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Enterprise VS IT Lead + Solution Architect</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Product Mgr · Data · Security · Integration CoE</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ctr">
                        <a:buNone/>
                      </a:pPr>
                      <a:r>
                        <a:rPr lang="en-US" sz="850" b="1">
                          <a:solidFill>
                            <a:srgbClr val="FFFFFF"/>
                          </a:solidFill>
                          <a:latin typeface="Calibri" pitchFamily="34" charset="0"/>
                          <a:ea typeface="Calibri" pitchFamily="34" charset="-122"/>
                          <a:cs typeface="Calibri" pitchFamily="34" charset="-120"/>
                        </a:rPr>
                        <a:t>NextGen Enterprise</a:t>
                      </a:r>
                      <a:endParaRPr lang="en-US" sz="8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85CA"/>
                    </a:solidFill>
                  </a:tcPr>
                </a:tc>
                <a:extLst>
                  <a:ext uri="{0D108BD9-81ED-4DB2-BD59-A6C34878D82A}">
                    <a16:rowId xmlns:a16="http://schemas.microsoft.com/office/drawing/2014/main" val="10001"/>
                  </a:ext>
                </a:extLst>
              </a:tr>
              <a:tr h="299904">
                <a:tc>
                  <a:txBody>
                    <a:bodyPr/>
                    <a:lstStyle/>
                    <a:p>
                      <a:pPr marL="0" indent="0" algn="l">
                        <a:buNone/>
                      </a:pPr>
                      <a:r>
                        <a:rPr lang="en-US" sz="900" b="1">
                          <a:solidFill>
                            <a:srgbClr val="2C2826"/>
                          </a:solidFill>
                          <a:latin typeface="Calibri" pitchFamily="34" charset="0"/>
                          <a:ea typeface="Calibri" pitchFamily="34" charset="-122"/>
                          <a:cs typeface="Calibri" pitchFamily="34" charset="-120"/>
                        </a:rPr>
                        <a:t>2  COTS / Packaged</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Owning business function lead</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VS IT / Application Owner</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Vendor Mgr · Infra · Security</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ctr">
                        <a:buNone/>
                      </a:pPr>
                      <a:r>
                        <a:rPr lang="en-US" sz="850" b="1">
                          <a:solidFill>
                            <a:srgbClr val="FFFFFF"/>
                          </a:solidFill>
                          <a:latin typeface="Calibri" pitchFamily="34" charset="0"/>
                          <a:ea typeface="Calibri" pitchFamily="34" charset="-122"/>
                          <a:cs typeface="Calibri" pitchFamily="34" charset="-120"/>
                        </a:rPr>
                        <a:t>Aligned Business VS</a:t>
                      </a:r>
                      <a:endParaRPr lang="en-US" sz="8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85CA"/>
                    </a:solidFill>
                  </a:tcPr>
                </a:tc>
                <a:extLst>
                  <a:ext uri="{0D108BD9-81ED-4DB2-BD59-A6C34878D82A}">
                    <a16:rowId xmlns:a16="http://schemas.microsoft.com/office/drawing/2014/main" val="10002"/>
                  </a:ext>
                </a:extLst>
              </a:tr>
              <a:tr h="299904">
                <a:tc>
                  <a:txBody>
                    <a:bodyPr/>
                    <a:lstStyle/>
                    <a:p>
                      <a:pPr marL="0" indent="0" algn="l">
                        <a:buNone/>
                      </a:pPr>
                      <a:r>
                        <a:rPr lang="en-US" sz="900" b="1">
                          <a:solidFill>
                            <a:srgbClr val="2C2826"/>
                          </a:solidFill>
                          <a:latin typeface="Calibri" pitchFamily="34" charset="0"/>
                          <a:ea typeface="Calibri" pitchFamily="34" charset="-122"/>
                          <a:cs typeface="Calibri" pitchFamily="34" charset="-120"/>
                        </a:rPr>
                        <a:t>3  SaaS / Cloud</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Business function / department head</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VS IT Owner (config, access, integration)</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Vendor/Partner Mgr · Security (SSO/IAM)</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ctr">
                        <a:buNone/>
                      </a:pPr>
                      <a:r>
                        <a:rPr lang="en-US" sz="850" b="1">
                          <a:solidFill>
                            <a:srgbClr val="FFFFFF"/>
                          </a:solidFill>
                          <a:latin typeface="Calibri" pitchFamily="34" charset="0"/>
                          <a:ea typeface="Calibri" pitchFamily="34" charset="-122"/>
                          <a:cs typeface="Calibri" pitchFamily="34" charset="-120"/>
                        </a:rPr>
                        <a:t>Aligned Business VS</a:t>
                      </a:r>
                      <a:endParaRPr lang="en-US" sz="8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85CA"/>
                    </a:solidFill>
                  </a:tcPr>
                </a:tc>
                <a:extLst>
                  <a:ext uri="{0D108BD9-81ED-4DB2-BD59-A6C34878D82A}">
                    <a16:rowId xmlns:a16="http://schemas.microsoft.com/office/drawing/2014/main" val="10003"/>
                  </a:ext>
                </a:extLst>
              </a:tr>
              <a:tr h="299904">
                <a:tc>
                  <a:txBody>
                    <a:bodyPr/>
                    <a:lstStyle/>
                    <a:p>
                      <a:pPr marL="0" indent="0" algn="l">
                        <a:buNone/>
                      </a:pPr>
                      <a:r>
                        <a:rPr lang="en-US" sz="900" b="1">
                          <a:solidFill>
                            <a:srgbClr val="2C2826"/>
                          </a:solidFill>
                          <a:latin typeface="Calibri" pitchFamily="34" charset="0"/>
                          <a:ea typeface="Calibri" pitchFamily="34" charset="-122"/>
                          <a:cs typeface="Calibri" pitchFamily="34" charset="-120"/>
                        </a:rPr>
                        <a:t>4  Custom / Bespoke</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Sponsoring business function</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VS IT Owner + System Architect / Dev</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Security · Infra · EA (tech-debt)</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ctr">
                        <a:buNone/>
                      </a:pPr>
                      <a:r>
                        <a:rPr lang="en-US" sz="850" b="1">
                          <a:solidFill>
                            <a:srgbClr val="FFFFFF"/>
                          </a:solidFill>
                          <a:latin typeface="Calibri" pitchFamily="34" charset="0"/>
                          <a:ea typeface="Calibri" pitchFamily="34" charset="-122"/>
                          <a:cs typeface="Calibri" pitchFamily="34" charset="-120"/>
                        </a:rPr>
                        <a:t>Aligned Business VS</a:t>
                      </a:r>
                      <a:endParaRPr lang="en-US" sz="8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85CA"/>
                    </a:solidFill>
                  </a:tcPr>
                </a:tc>
                <a:extLst>
                  <a:ext uri="{0D108BD9-81ED-4DB2-BD59-A6C34878D82A}">
                    <a16:rowId xmlns:a16="http://schemas.microsoft.com/office/drawing/2014/main" val="10004"/>
                  </a:ext>
                </a:extLst>
              </a:tr>
              <a:tr h="333227">
                <a:tc>
                  <a:txBody>
                    <a:bodyPr/>
                    <a:lstStyle/>
                    <a:p>
                      <a:pPr marL="0" indent="0" algn="l">
                        <a:buNone/>
                      </a:pPr>
                      <a:r>
                        <a:rPr lang="en-US" sz="900" b="1">
                          <a:solidFill>
                            <a:srgbClr val="2C2826"/>
                          </a:solidFill>
                          <a:latin typeface="Calibri" pitchFamily="34" charset="0"/>
                          <a:ea typeface="Calibri" pitchFamily="34" charset="-122"/>
                          <a:cs typeface="Calibri" pitchFamily="34" charset="-120"/>
                        </a:rPr>
                        <a:t>5  Integration</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Integration lead (IT-owned tool); consuming VSs = C</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Integration CoE run team (EA sets standards)</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Infra · Security · Domain Architects</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ctr">
                        <a:buNone/>
                      </a:pPr>
                      <a:r>
                        <a:rPr lang="en-US" sz="850" b="1">
                          <a:solidFill>
                            <a:srgbClr val="FFFFFF"/>
                          </a:solidFill>
                          <a:latin typeface="Calibri" pitchFamily="34" charset="0"/>
                          <a:ea typeface="Calibri" pitchFamily="34" charset="-122"/>
                          <a:cs typeface="Calibri" pitchFamily="34" charset="-120"/>
                        </a:rPr>
                        <a:t>EA / Enabling (H)</a:t>
                      </a:r>
                      <a:endParaRPr lang="en-US" sz="8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817169"/>
                    </a:solidFill>
                  </a:tcPr>
                </a:tc>
                <a:extLst>
                  <a:ext uri="{0D108BD9-81ED-4DB2-BD59-A6C34878D82A}">
                    <a16:rowId xmlns:a16="http://schemas.microsoft.com/office/drawing/2014/main" val="10005"/>
                  </a:ext>
                </a:extLst>
              </a:tr>
              <a:tr h="299904">
                <a:tc>
                  <a:txBody>
                    <a:bodyPr/>
                    <a:lstStyle/>
                    <a:p>
                      <a:pPr marL="0" indent="0" algn="l">
                        <a:buNone/>
                      </a:pPr>
                      <a:r>
                        <a:rPr lang="en-US" sz="900" b="1">
                          <a:solidFill>
                            <a:srgbClr val="2C2826"/>
                          </a:solidFill>
                          <a:latin typeface="Calibri" pitchFamily="34" charset="0"/>
                          <a:ea typeface="Calibri" pitchFamily="34" charset="-122"/>
                          <a:cs typeface="Calibri" pitchFamily="34" charset="-120"/>
                        </a:rPr>
                        <a:t>6  Data &amp; Analytics</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Platform: Data &amp; AI lead. Data products: domain owner</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Data &amp; AI Value Stream</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Architecture (standards) · Security</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ctr">
                        <a:buNone/>
                      </a:pPr>
                      <a:r>
                        <a:rPr lang="en-US" sz="850" b="1">
                          <a:solidFill>
                            <a:srgbClr val="FFFFFF"/>
                          </a:solidFill>
                          <a:latin typeface="Calibri" pitchFamily="34" charset="0"/>
                          <a:ea typeface="Calibri" pitchFamily="34" charset="-122"/>
                          <a:cs typeface="Calibri" pitchFamily="34" charset="-120"/>
                        </a:rPr>
                        <a:t>Data &amp; AI (TF)</a:t>
                      </a:r>
                      <a:endParaRPr lang="en-US" sz="8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7A99"/>
                    </a:solidFill>
                  </a:tcPr>
                </a:tc>
                <a:extLst>
                  <a:ext uri="{0D108BD9-81ED-4DB2-BD59-A6C34878D82A}">
                    <a16:rowId xmlns:a16="http://schemas.microsoft.com/office/drawing/2014/main" val="10006"/>
                  </a:ext>
                </a:extLst>
              </a:tr>
              <a:tr h="299904">
                <a:tc>
                  <a:txBody>
                    <a:bodyPr/>
                    <a:lstStyle/>
                    <a:p>
                      <a:pPr marL="0" indent="0" algn="l">
                        <a:buNone/>
                      </a:pPr>
                      <a:r>
                        <a:rPr lang="en-US" sz="900" b="1">
                          <a:solidFill>
                            <a:srgbClr val="2C2826"/>
                          </a:solidFill>
                          <a:latin typeface="Calibri" pitchFamily="34" charset="0"/>
                          <a:ea typeface="Calibri" pitchFamily="34" charset="-122"/>
                          <a:cs typeface="Calibri" pitchFamily="34" charset="-120"/>
                        </a:rPr>
                        <a:t>7  AI / Agentic</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Business sponsor of the use case</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Data &amp; AI VS + AI CoE</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Security · EA · Compliance (AIGC)</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ctr">
                        <a:buNone/>
                      </a:pPr>
                      <a:r>
                        <a:rPr lang="en-US" sz="850" b="1">
                          <a:solidFill>
                            <a:srgbClr val="FFFFFF"/>
                          </a:solidFill>
                          <a:latin typeface="Calibri" pitchFamily="34" charset="0"/>
                          <a:ea typeface="Calibri" pitchFamily="34" charset="-122"/>
                          <a:cs typeface="Calibri" pitchFamily="34" charset="-120"/>
                        </a:rPr>
                        <a:t>Data &amp; AI + AI Gov</a:t>
                      </a:r>
                      <a:endParaRPr lang="en-US" sz="8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7A99"/>
                    </a:solidFill>
                  </a:tcPr>
                </a:tc>
                <a:extLst>
                  <a:ext uri="{0D108BD9-81ED-4DB2-BD59-A6C34878D82A}">
                    <a16:rowId xmlns:a16="http://schemas.microsoft.com/office/drawing/2014/main" val="10007"/>
                  </a:ext>
                </a:extLst>
              </a:tr>
              <a:tr h="299904">
                <a:tc>
                  <a:txBody>
                    <a:bodyPr/>
                    <a:lstStyle/>
                    <a:p>
                      <a:pPr marL="0" indent="0" algn="l">
                        <a:buNone/>
                      </a:pPr>
                      <a:r>
                        <a:rPr lang="en-US" sz="900" b="1" dirty="0">
                          <a:solidFill>
                            <a:srgbClr val="2C2826"/>
                          </a:solidFill>
                          <a:latin typeface="Calibri" pitchFamily="34" charset="0"/>
                          <a:ea typeface="Calibri" pitchFamily="34" charset="-122"/>
                          <a:cs typeface="Calibri" pitchFamily="34" charset="-120"/>
                        </a:rPr>
                        <a:t>8  Infrastructure Tooling / </a:t>
                      </a:r>
                      <a:r>
                        <a:rPr lang="en-US" sz="900" b="1" dirty="0">
                          <a:solidFill>
                            <a:srgbClr val="FF0000"/>
                          </a:solidFill>
                          <a:latin typeface="Calibri" pitchFamily="34" charset="0"/>
                          <a:ea typeface="Calibri" pitchFamily="34" charset="-122"/>
                          <a:cs typeface="Calibri" pitchFamily="34" charset="-120"/>
                        </a:rPr>
                        <a:t>Platform</a:t>
                      </a:r>
                      <a:endParaRPr lang="en-US" sz="900" dirty="0">
                        <a:solidFill>
                          <a:srgbClr val="FF0000"/>
                        </a:solidFill>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Infra &amp; Operations leadership (IT)</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Platform Engineering / Infra &amp; Ops</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Security · Enterprise Architecture</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ctr">
                        <a:buNone/>
                      </a:pPr>
                      <a:r>
                        <a:rPr lang="en-US" sz="850" b="1">
                          <a:solidFill>
                            <a:srgbClr val="FFFFFF"/>
                          </a:solidFill>
                          <a:latin typeface="Calibri" pitchFamily="34" charset="0"/>
                          <a:ea typeface="Calibri" pitchFamily="34" charset="-122"/>
                          <a:cs typeface="Calibri" pitchFamily="34" charset="-120"/>
                        </a:rPr>
                        <a:t>Infra &amp; Ops (TF)</a:t>
                      </a:r>
                      <a:endParaRPr lang="en-US" sz="8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7A99"/>
                    </a:solidFill>
                  </a:tcPr>
                </a:tc>
                <a:extLst>
                  <a:ext uri="{0D108BD9-81ED-4DB2-BD59-A6C34878D82A}">
                    <a16:rowId xmlns:a16="http://schemas.microsoft.com/office/drawing/2014/main" val="10008"/>
                  </a:ext>
                </a:extLst>
              </a:tr>
              <a:tr h="299904">
                <a:tc>
                  <a:txBody>
                    <a:bodyPr/>
                    <a:lstStyle/>
                    <a:p>
                      <a:pPr marL="0" indent="0" algn="l">
                        <a:buNone/>
                      </a:pPr>
                      <a:r>
                        <a:rPr lang="en-US" sz="900" b="1">
                          <a:solidFill>
                            <a:srgbClr val="2C2826"/>
                          </a:solidFill>
                          <a:latin typeface="Calibri" pitchFamily="34" charset="0"/>
                          <a:ea typeface="Calibri" pitchFamily="34" charset="-122"/>
                          <a:cs typeface="Calibri" pitchFamily="34" charset="-120"/>
                        </a:rPr>
                        <a:t>9  Security Tooling </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Cybersecurity leadership</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Cybersecurity Value Stream</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Infra · IAM · EA</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ctr">
                        <a:buNone/>
                      </a:pPr>
                      <a:r>
                        <a:rPr lang="en-US" sz="850" b="1">
                          <a:solidFill>
                            <a:srgbClr val="FFFFFF"/>
                          </a:solidFill>
                          <a:latin typeface="Calibri" pitchFamily="34" charset="0"/>
                          <a:ea typeface="Calibri" pitchFamily="34" charset="-122"/>
                          <a:cs typeface="Calibri" pitchFamily="34" charset="-120"/>
                        </a:rPr>
                        <a:t>Cybersecurity (TF)</a:t>
                      </a:r>
                      <a:endParaRPr lang="en-US" sz="8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7A99"/>
                    </a:solidFill>
                  </a:tcPr>
                </a:tc>
                <a:extLst>
                  <a:ext uri="{0D108BD9-81ED-4DB2-BD59-A6C34878D82A}">
                    <a16:rowId xmlns:a16="http://schemas.microsoft.com/office/drawing/2014/main" val="10009"/>
                  </a:ext>
                </a:extLst>
              </a:tr>
              <a:tr h="333227">
                <a:tc>
                  <a:txBody>
                    <a:bodyPr/>
                    <a:lstStyle/>
                    <a:p>
                      <a:pPr marL="0" indent="0" algn="l">
                        <a:buNone/>
                      </a:pPr>
                      <a:r>
                        <a:rPr lang="en-US" sz="900" b="1">
                          <a:solidFill>
                            <a:srgbClr val="2C2826"/>
                          </a:solidFill>
                          <a:latin typeface="Calibri" pitchFamily="34" charset="0"/>
                          <a:ea typeface="Calibri" pitchFamily="34" charset="-122"/>
                          <a:cs typeface="Calibri" pitchFamily="34" charset="-120"/>
                        </a:rPr>
                        <a:t>10  OT / Embedded / Field</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Operations business owner (Grid / Field)</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OT / Field IT Owner — must be named*</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OT Security · Infra · Vendor</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ctr">
                        <a:buNone/>
                      </a:pPr>
                      <a:r>
                        <a:rPr lang="en-US" sz="850" b="1">
                          <a:solidFill>
                            <a:srgbClr val="FFFFFF"/>
                          </a:solidFill>
                          <a:latin typeface="Calibri" pitchFamily="34" charset="0"/>
                          <a:ea typeface="Calibri" pitchFamily="34" charset="-122"/>
                          <a:cs typeface="Calibri" pitchFamily="34" charset="-120"/>
                        </a:rPr>
                        <a:t>Grid / Field</a:t>
                      </a:r>
                      <a:endParaRPr lang="en-US" sz="8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85CA"/>
                    </a:solidFill>
                  </a:tcPr>
                </a:tc>
                <a:extLst>
                  <a:ext uri="{0D108BD9-81ED-4DB2-BD59-A6C34878D82A}">
                    <a16:rowId xmlns:a16="http://schemas.microsoft.com/office/drawing/2014/main" val="10010"/>
                  </a:ext>
                </a:extLst>
              </a:tr>
              <a:tr h="349888">
                <a:tc>
                  <a:txBody>
                    <a:bodyPr/>
                    <a:lstStyle/>
                    <a:p>
                      <a:pPr marL="0" indent="0" algn="l">
                        <a:buNone/>
                      </a:pPr>
                      <a:r>
                        <a:rPr lang="en-US" sz="900" b="1">
                          <a:solidFill>
                            <a:schemeClr val="tx1"/>
                          </a:solidFill>
                          <a:latin typeface="Calibri" pitchFamily="34" charset="0"/>
                          <a:ea typeface="Calibri" pitchFamily="34" charset="-122"/>
                          <a:cs typeface="Calibri" pitchFamily="34" charset="-120"/>
                        </a:rPr>
                        <a:t>11  Legacy / End-of-Life</a:t>
                      </a:r>
                      <a:endParaRPr lang="en-US" sz="900">
                        <a:solidFill>
                          <a:schemeClr val="tx1"/>
                        </a:solidFill>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chemeClr val="tx1"/>
                          </a:solidFill>
                          <a:latin typeface="Calibri" pitchFamily="34" charset="0"/>
                          <a:ea typeface="Calibri" pitchFamily="34" charset="-122"/>
                          <a:cs typeface="Calibri" pitchFamily="34" charset="-120"/>
                        </a:rPr>
                        <a:t>Retiring business function</a:t>
                      </a:r>
                      <a:endParaRPr lang="en-US" sz="900">
                        <a:solidFill>
                          <a:schemeClr val="tx1"/>
                        </a:solidFill>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chemeClr val="tx1"/>
                          </a:solidFill>
                          <a:latin typeface="Calibri" pitchFamily="34" charset="0"/>
                          <a:ea typeface="Calibri" pitchFamily="34" charset="-122"/>
                          <a:cs typeface="Calibri" pitchFamily="34" charset="-120"/>
                        </a:rPr>
                        <a:t>IT Owner + Product Mgr (R decom; BO = A)</a:t>
                      </a:r>
                      <a:endParaRPr lang="en-US" sz="900">
                        <a:solidFill>
                          <a:schemeClr val="tx1"/>
                        </a:solidFill>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chemeClr val="tx1"/>
                          </a:solidFill>
                          <a:latin typeface="Calibri" pitchFamily="34" charset="0"/>
                          <a:ea typeface="Calibri" pitchFamily="34" charset="-122"/>
                          <a:cs typeface="Calibri" pitchFamily="34" charset="-120"/>
                        </a:rPr>
                        <a:t>Data · Security · Infra · Supply Chain · EA</a:t>
                      </a:r>
                      <a:endParaRPr lang="en-US" sz="900">
                        <a:solidFill>
                          <a:schemeClr val="tx1"/>
                        </a:solidFill>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ctr">
                        <a:buNone/>
                      </a:pPr>
                      <a:r>
                        <a:rPr lang="en-US" sz="850" b="1">
                          <a:solidFill>
                            <a:srgbClr val="FFFFFF"/>
                          </a:solidFill>
                          <a:latin typeface="Calibri" pitchFamily="34" charset="0"/>
                          <a:ea typeface="Calibri" pitchFamily="34" charset="-122"/>
                          <a:cs typeface="Calibri" pitchFamily="34" charset="-120"/>
                        </a:rPr>
                        <a:t>Business VS + EA</a:t>
                      </a:r>
                      <a:endParaRPr lang="en-US" sz="85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817169"/>
                    </a:solidFill>
                  </a:tcPr>
                </a:tc>
                <a:extLst>
                  <a:ext uri="{0D108BD9-81ED-4DB2-BD59-A6C34878D82A}">
                    <a16:rowId xmlns:a16="http://schemas.microsoft.com/office/drawing/2014/main" val="10011"/>
                  </a:ext>
                </a:extLst>
              </a:tr>
              <a:tr h="349888">
                <a:tc>
                  <a:txBody>
                    <a:bodyPr/>
                    <a:lstStyle/>
                    <a:p>
                      <a:pPr marL="0" indent="0" algn="l">
                        <a:buNone/>
                      </a:pPr>
                      <a:r>
                        <a:rPr lang="en-US" sz="900" b="1">
                          <a:solidFill>
                            <a:srgbClr val="2C2826"/>
                          </a:solidFill>
                          <a:latin typeface="Calibri" pitchFamily="34" charset="0"/>
                          <a:ea typeface="Calibri" pitchFamily="34" charset="-122"/>
                          <a:cs typeface="Calibri" pitchFamily="34" charset="-120"/>
                        </a:rPr>
                        <a:t>12  Reporting / BI Assets</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Business function / department head</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VS IT / Application Owner</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indent="0" algn="l">
                        <a:buNone/>
                      </a:pPr>
                      <a:r>
                        <a:rPr lang="en-US" sz="900">
                          <a:solidFill>
                            <a:srgbClr val="2C2826"/>
                          </a:solidFill>
                          <a:latin typeface="Calibri" pitchFamily="34" charset="0"/>
                          <a:ea typeface="Calibri" pitchFamily="34" charset="-122"/>
                          <a:cs typeface="Calibri" pitchFamily="34" charset="-120"/>
                        </a:rPr>
                        <a:t>Security · Domain Architects · Data</a:t>
                      </a:r>
                      <a:endParaRPr lang="en-US" sz="90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50" b="1" dirty="0">
                          <a:solidFill>
                            <a:srgbClr val="FFFFFF"/>
                          </a:solidFill>
                          <a:latin typeface="Calibri" pitchFamily="34" charset="0"/>
                          <a:ea typeface="Calibri" pitchFamily="34" charset="-122"/>
                          <a:cs typeface="Calibri" pitchFamily="34" charset="-120"/>
                        </a:rPr>
                        <a:t>Aligned Business VS</a:t>
                      </a:r>
                      <a:endParaRPr lang="en-US" sz="850" dirty="0">
                        <a:latin typeface="Calibri" charset="0"/>
                        <a:ea typeface="Calibri" charset="0"/>
                        <a:cs typeface="Calibri" charset="0"/>
                      </a:endParaRPr>
                    </a:p>
                  </a:txBody>
                  <a:tcPr anchor="ctr">
                    <a:lnL w="6350" cap="flat" cmpd="sng" algn="ctr">
                      <a:solidFill>
                        <a:srgbClr val="C9D6E8"/>
                      </a:solidFill>
                      <a:prstDash val="solid"/>
                      <a:round/>
                      <a:headEnd type="none" w="med" len="med"/>
                      <a:tailEnd type="none" w="med" len="med"/>
                    </a:lnL>
                    <a:lnR w="6350" cap="flat" cmpd="sng" algn="ctr">
                      <a:solidFill>
                        <a:srgbClr val="C9D6E8"/>
                      </a:solidFill>
                      <a:prstDash val="solid"/>
                      <a:round/>
                      <a:headEnd type="none" w="med" len="med"/>
                      <a:tailEnd type="none" w="med" len="med"/>
                    </a:lnR>
                    <a:lnT w="6350" cap="flat" cmpd="sng" algn="ctr">
                      <a:solidFill>
                        <a:srgbClr val="C9D6E8"/>
                      </a:solidFill>
                      <a:prstDash val="solid"/>
                      <a:round/>
                      <a:headEnd type="none" w="med" len="med"/>
                      <a:tailEnd type="none" w="med" len="med"/>
                    </a:lnT>
                    <a:lnB w="6350" cap="flat" cmpd="sng" algn="ctr">
                      <a:solidFill>
                        <a:srgbClr val="C9D6E8"/>
                      </a:solidFill>
                      <a:prstDash val="solid"/>
                      <a:round/>
                      <a:headEnd type="none" w="med" len="med"/>
                      <a:tailEnd type="none" w="med" len="med"/>
                    </a:lnB>
                    <a:solidFill>
                      <a:srgbClr val="0085CA"/>
                    </a:solidFill>
                  </a:tcPr>
                </a:tc>
                <a:extLst>
                  <a:ext uri="{0D108BD9-81ED-4DB2-BD59-A6C34878D82A}">
                    <a16:rowId xmlns:a16="http://schemas.microsoft.com/office/drawing/2014/main" val="2865513401"/>
                  </a:ext>
                </a:extLst>
              </a:tr>
            </a:tbl>
          </a:graphicData>
        </a:graphic>
      </p:graphicFrame>
      <p:sp>
        <p:nvSpPr>
          <p:cNvPr id="9" name="Text 6"/>
          <p:cNvSpPr/>
          <p:nvPr/>
        </p:nvSpPr>
        <p:spPr>
          <a:xfrm>
            <a:off x="365760" y="6199632"/>
            <a:ext cx="8686800" cy="256032"/>
          </a:xfrm>
          <a:prstGeom prst="rect">
            <a:avLst/>
          </a:prstGeom>
          <a:noFill/>
          <a:ln/>
        </p:spPr>
        <p:txBody>
          <a:bodyPr wrap="square" rtlCol="0" anchor="ctr"/>
          <a:lstStyle/>
          <a:p>
            <a:pPr marL="0" indent="0">
              <a:buNone/>
            </a:pPr>
            <a:r>
              <a:rPr lang="en-US" sz="900" i="1">
                <a:solidFill>
                  <a:srgbClr val="6A6157"/>
                </a:solidFill>
                <a:latin typeface="Calibri" pitchFamily="34" charset="0"/>
                <a:ea typeface="Calibri" pitchFamily="34" charset="-122"/>
                <a:cs typeface="Calibri" pitchFamily="34" charset="-120"/>
              </a:rPr>
              <a:t>A = Accountable   ·   C = Consulted   ·   (TF) = Tech Foundation Value Stream   ·   (H) = Horizontal / shared service</a:t>
            </a:r>
            <a:endParaRPr lang="en-US" sz="900"/>
          </a:p>
        </p:txBody>
      </p:sp>
      <p:sp>
        <p:nvSpPr>
          <p:cNvPr id="11" name="Text 8"/>
          <p:cNvSpPr/>
          <p:nvPr/>
        </p:nvSpPr>
        <p:spPr>
          <a:xfrm>
            <a:off x="457200" y="6473952"/>
            <a:ext cx="2011680" cy="256032"/>
          </a:xfrm>
          <a:prstGeom prst="rect">
            <a:avLst/>
          </a:prstGeom>
          <a:noFill/>
          <a:ln/>
        </p:spPr>
        <p:txBody>
          <a:bodyPr wrap="square" rtlCol="0" anchor="ctr"/>
          <a:lstStyle/>
          <a:p>
            <a:pPr marL="0" indent="0" algn="l">
              <a:buNone/>
            </a:pPr>
            <a:r>
              <a:rPr lang="en-US" sz="850" i="1">
                <a:solidFill>
                  <a:srgbClr val="6A6157"/>
                </a:solidFill>
                <a:latin typeface="Calibri" pitchFamily="34" charset="0"/>
                <a:ea typeface="Calibri" pitchFamily="34" charset="-122"/>
                <a:cs typeface="Calibri" pitchFamily="34" charset="-120"/>
              </a:rPr>
              <a:t>Business Use</a:t>
            </a:r>
            <a:endParaRPr lang="en-US" sz="850"/>
          </a:p>
        </p:txBody>
      </p:sp>
      <p:sp>
        <p:nvSpPr>
          <p:cNvPr id="12" name="Text 9"/>
          <p:cNvSpPr/>
          <p:nvPr/>
        </p:nvSpPr>
        <p:spPr>
          <a:xfrm>
            <a:off x="2468880" y="6473952"/>
            <a:ext cx="5029200" cy="256032"/>
          </a:xfrm>
          <a:prstGeom prst="rect">
            <a:avLst/>
          </a:prstGeom>
          <a:noFill/>
          <a:ln/>
        </p:spPr>
        <p:txBody>
          <a:bodyPr wrap="square" rtlCol="0" anchor="ctr"/>
          <a:lstStyle/>
          <a:p>
            <a:pPr marL="0" indent="0" algn="l">
              <a:buNone/>
            </a:pPr>
            <a:r>
              <a:rPr lang="en-US" sz="850">
                <a:solidFill>
                  <a:srgbClr val="6A6157"/>
                </a:solidFill>
                <a:latin typeface="Calibri" pitchFamily="34" charset="0"/>
                <a:ea typeface="Calibri" pitchFamily="34" charset="-122"/>
                <a:cs typeface="Calibri" pitchFamily="34" charset="-120"/>
              </a:rPr>
              <a:t>Application Ownership Governance</a:t>
            </a:r>
            <a:endParaRPr lang="en-US" sz="850"/>
          </a:p>
        </p:txBody>
      </p:sp>
      <p:sp>
        <p:nvSpPr>
          <p:cNvPr id="13" name="Text 10"/>
          <p:cNvSpPr/>
          <p:nvPr/>
        </p:nvSpPr>
        <p:spPr>
          <a:xfrm>
            <a:off x="7772400" y="6473952"/>
            <a:ext cx="3959352" cy="256032"/>
          </a:xfrm>
          <a:prstGeom prst="rect">
            <a:avLst/>
          </a:prstGeom>
          <a:noFill/>
          <a:ln/>
        </p:spPr>
        <p:txBody>
          <a:bodyPr wrap="square" rtlCol="0" anchor="ctr"/>
          <a:lstStyle/>
          <a:p>
            <a:pPr marL="0" indent="0" algn="r">
              <a:buNone/>
            </a:pPr>
            <a:r>
              <a:rPr lang="en-US" sz="850">
                <a:solidFill>
                  <a:srgbClr val="6A6157"/>
                </a:solidFill>
                <a:latin typeface="Calibri" pitchFamily="34" charset="0"/>
                <a:ea typeface="Calibri" pitchFamily="34" charset="-122"/>
                <a:cs typeface="Calibri" pitchFamily="34" charset="-120"/>
              </a:rPr>
              <a:t>© PPL Corporation 2026   |   6</a:t>
            </a:r>
            <a:endParaRPr lang="en-US" sz="850"/>
          </a:p>
        </p:txBody>
      </p:sp>
      <p:sp>
        <p:nvSpPr>
          <p:cNvPr id="15" name="TextBox 14">
            <a:extLst>
              <a:ext uri="{FF2B5EF4-FFF2-40B4-BE49-F238E27FC236}">
                <a16:creationId xmlns:a16="http://schemas.microsoft.com/office/drawing/2014/main" id="{5B13B30E-3463-B104-BF99-F0E12730B510}"/>
              </a:ext>
            </a:extLst>
          </p:cNvPr>
          <p:cNvSpPr txBox="1"/>
          <p:nvPr/>
        </p:nvSpPr>
        <p:spPr>
          <a:xfrm>
            <a:off x="365760" y="5525736"/>
            <a:ext cx="8686800" cy="600164"/>
          </a:xfrm>
          <a:prstGeom prst="rect">
            <a:avLst/>
          </a:prstGeom>
          <a:noFill/>
        </p:spPr>
        <p:txBody>
          <a:bodyPr wrap="square">
            <a:spAutoFit/>
          </a:bodyPr>
          <a:lstStyle/>
          <a:p>
            <a:r>
              <a:rPr lang="en-US" sz="1100" b="1" dirty="0">
                <a:solidFill>
                  <a:srgbClr val="FF0000"/>
                </a:solidFill>
                <a:latin typeface="Calibri" pitchFamily="34" charset="0"/>
                <a:ea typeface="Calibri" pitchFamily="34" charset="-122"/>
                <a:cs typeface="Calibri" pitchFamily="34" charset="-120"/>
              </a:rPr>
              <a:t>Platform </a:t>
            </a:r>
            <a:r>
              <a:rPr lang="en-US" sz="1100" dirty="0">
                <a:latin typeface="Calibri" pitchFamily="34" charset="0"/>
                <a:ea typeface="Calibri" pitchFamily="34" charset="-122"/>
                <a:cs typeface="Calibri" pitchFamily="34" charset="-120"/>
              </a:rPr>
              <a:t>ownership decision:</a:t>
            </a:r>
          </a:p>
          <a:p>
            <a:pPr marL="228600" indent="-228600">
              <a:buAutoNum type="alphaUcPeriod"/>
            </a:pPr>
            <a:r>
              <a:rPr lang="en-US" sz="1100" b="1" dirty="0">
                <a:latin typeface="Calibri" pitchFamily="34" charset="0"/>
                <a:ea typeface="Calibri" pitchFamily="34" charset="-122"/>
                <a:cs typeface="Calibri" pitchFamily="34" charset="-120"/>
              </a:rPr>
              <a:t>IT Ownership: </a:t>
            </a:r>
            <a:r>
              <a:rPr lang="en-US" sz="1100" dirty="0">
                <a:latin typeface="Calibri" pitchFamily="34" charset="0"/>
                <a:ea typeface="Calibri" pitchFamily="34" charset="-122"/>
                <a:cs typeface="Calibri" pitchFamily="34" charset="-120"/>
              </a:rPr>
              <a:t>Align with Enterprise VS AND/OR Infrastructure VS</a:t>
            </a:r>
          </a:p>
          <a:p>
            <a:pPr marL="228600" indent="-228600">
              <a:buAutoNum type="alphaUcPeriod"/>
            </a:pPr>
            <a:r>
              <a:rPr lang="en-US" sz="1100" b="1" dirty="0">
                <a:latin typeface="Calibri" pitchFamily="34" charset="0"/>
                <a:ea typeface="Calibri" pitchFamily="34" charset="-122"/>
                <a:cs typeface="Calibri" pitchFamily="34" charset="-120"/>
              </a:rPr>
              <a:t>Business Ownership: </a:t>
            </a:r>
            <a:r>
              <a:rPr lang="en-US" sz="1100" dirty="0">
                <a:latin typeface="Calibri" pitchFamily="34" charset="0"/>
                <a:ea typeface="Calibri" pitchFamily="34" charset="-122"/>
                <a:cs typeface="Calibri" pitchFamily="34" charset="-120"/>
              </a:rPr>
              <a:t>Align with largest stakeholder VS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78992"/>
          </a:xfrm>
          <a:prstGeom prst="rect">
            <a:avLst/>
          </a:prstGeom>
          <a:solidFill>
            <a:srgbClr val="001489"/>
          </a:solidFill>
          <a:ln/>
        </p:spPr>
        <p:txBody>
          <a:bodyPr/>
          <a:lstStyle/>
          <a:p>
            <a:endParaRPr lang="en-US"/>
          </a:p>
        </p:txBody>
      </p:sp>
      <p:sp>
        <p:nvSpPr>
          <p:cNvPr id="3" name="Shape 1"/>
          <p:cNvSpPr/>
          <p:nvPr/>
        </p:nvSpPr>
        <p:spPr>
          <a:xfrm>
            <a:off x="0" y="1078992"/>
            <a:ext cx="12188952" cy="54864"/>
          </a:xfrm>
          <a:prstGeom prst="rect">
            <a:avLst/>
          </a:prstGeom>
          <a:solidFill>
            <a:srgbClr val="0085CA"/>
          </a:solidFill>
          <a:ln/>
        </p:spPr>
        <p:txBody>
          <a:bodyPr/>
          <a:lstStyle/>
          <a:p>
            <a:endParaRPr lang="en-US"/>
          </a:p>
        </p:txBody>
      </p:sp>
      <p:sp>
        <p:nvSpPr>
          <p:cNvPr id="4" name="Text 2"/>
          <p:cNvSpPr/>
          <p:nvPr/>
        </p:nvSpPr>
        <p:spPr>
          <a:xfrm>
            <a:off x="457200" y="182880"/>
            <a:ext cx="10058400" cy="256032"/>
          </a:xfrm>
          <a:prstGeom prst="rect">
            <a:avLst/>
          </a:prstGeom>
          <a:noFill/>
          <a:ln/>
        </p:spPr>
        <p:txBody>
          <a:bodyPr wrap="square" rtlCol="0" anchor="ctr"/>
          <a:lstStyle/>
          <a:p>
            <a:pPr marL="0" indent="0">
              <a:buNone/>
            </a:pPr>
            <a:r>
              <a:rPr lang="en-US" sz="1100" b="1" kern="0" spc="300" dirty="0">
                <a:solidFill>
                  <a:srgbClr val="8FC7EA"/>
                </a:solidFill>
                <a:latin typeface="Calibri" pitchFamily="34" charset="0"/>
                <a:ea typeface="Calibri" pitchFamily="34" charset="-122"/>
                <a:cs typeface="Calibri" pitchFamily="34" charset="-120"/>
              </a:rPr>
              <a:t>ROLE CARDS</a:t>
            </a:r>
            <a:endParaRPr lang="en-US" sz="1100" dirty="0"/>
          </a:p>
        </p:txBody>
      </p:sp>
      <p:sp>
        <p:nvSpPr>
          <p:cNvPr id="5" name="Text 3"/>
          <p:cNvSpPr/>
          <p:nvPr/>
        </p:nvSpPr>
        <p:spPr>
          <a:xfrm>
            <a:off x="457200" y="420624"/>
            <a:ext cx="10515600" cy="566928"/>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Two ownership modes: business-owned app vs IT-owned tool</a:t>
            </a:r>
            <a:endParaRPr lang="en-US" sz="2300" dirty="0"/>
          </a:p>
        </p:txBody>
      </p:sp>
      <p:sp>
        <p:nvSpPr>
          <p:cNvPr id="6" name="Shape 4"/>
          <p:cNvSpPr/>
          <p:nvPr/>
        </p:nvSpPr>
        <p:spPr>
          <a:xfrm>
            <a:off x="11073384" y="384048"/>
            <a:ext cx="658368" cy="310896"/>
          </a:xfrm>
          <a:prstGeom prst="rect">
            <a:avLst/>
          </a:prstGeom>
          <a:solidFill>
            <a:srgbClr val="FFFFFF"/>
          </a:solidFill>
          <a:ln/>
        </p:spPr>
        <p:txBody>
          <a:bodyPr/>
          <a:lstStyle/>
          <a:p>
            <a:endParaRPr lang="en-US"/>
          </a:p>
        </p:txBody>
      </p:sp>
      <p:sp>
        <p:nvSpPr>
          <p:cNvPr id="7" name="Text 5"/>
          <p:cNvSpPr/>
          <p:nvPr/>
        </p:nvSpPr>
        <p:spPr>
          <a:xfrm>
            <a:off x="11073384" y="384048"/>
            <a:ext cx="658368" cy="310896"/>
          </a:xfrm>
          <a:prstGeom prst="rect">
            <a:avLst/>
          </a:prstGeom>
          <a:noFill/>
          <a:ln/>
        </p:spPr>
        <p:txBody>
          <a:bodyPr wrap="square" rtlCol="0" anchor="ctr"/>
          <a:lstStyle/>
          <a:p>
            <a:pPr marL="0" indent="0" algn="ctr">
              <a:buNone/>
            </a:pPr>
            <a:r>
              <a:rPr lang="en-US" sz="1500" b="1" dirty="0">
                <a:solidFill>
                  <a:srgbClr val="001489"/>
                </a:solidFill>
                <a:latin typeface="Arial" pitchFamily="34" charset="0"/>
                <a:ea typeface="Arial" pitchFamily="34" charset="-122"/>
                <a:cs typeface="Arial" pitchFamily="34" charset="-120"/>
              </a:rPr>
              <a:t>PPL</a:t>
            </a:r>
            <a:endParaRPr lang="en-US" sz="1500" dirty="0"/>
          </a:p>
        </p:txBody>
      </p:sp>
      <p:sp>
        <p:nvSpPr>
          <p:cNvPr id="8" name="Text 6"/>
          <p:cNvSpPr/>
          <p:nvPr/>
        </p:nvSpPr>
        <p:spPr>
          <a:xfrm>
            <a:off x="457200" y="1261872"/>
            <a:ext cx="11247120" cy="411480"/>
          </a:xfrm>
          <a:prstGeom prst="rect">
            <a:avLst/>
          </a:prstGeom>
          <a:noFill/>
          <a:ln/>
        </p:spPr>
        <p:txBody>
          <a:bodyPr wrap="square" rtlCol="0" anchor="ctr"/>
          <a:lstStyle/>
          <a:p>
            <a:pPr marL="0" indent="0">
              <a:buNone/>
            </a:pPr>
            <a:r>
              <a:rPr lang="en-US" sz="1200" dirty="0">
                <a:solidFill>
                  <a:srgbClr val="2C2826"/>
                </a:solidFill>
                <a:latin typeface="Calibri" pitchFamily="34" charset="0"/>
                <a:ea typeface="Calibri" pitchFamily="34" charset="-122"/>
                <a:cs typeface="Calibri" pitchFamily="34" charset="-120"/>
              </a:rPr>
              <a:t>Every application still needs one named Business Owner (A) and one IT / Technical Owner (R). The difference is who fills the Business Owner seat.</a:t>
            </a:r>
            <a:endParaRPr lang="en-US" sz="1200" dirty="0"/>
          </a:p>
        </p:txBody>
      </p:sp>
      <p:sp>
        <p:nvSpPr>
          <p:cNvPr id="9" name="Shape 7"/>
          <p:cNvSpPr/>
          <p:nvPr/>
        </p:nvSpPr>
        <p:spPr>
          <a:xfrm>
            <a:off x="457200" y="1783080"/>
            <a:ext cx="5486400" cy="2514600"/>
          </a:xfrm>
          <a:prstGeom prst="rect">
            <a:avLst/>
          </a:prstGeom>
          <a:solidFill>
            <a:srgbClr val="F4F8FC"/>
          </a:solidFill>
          <a:ln w="12700">
            <a:solidFill>
              <a:srgbClr val="CFE3F5"/>
            </a:solidFill>
            <a:prstDash val="solid"/>
          </a:ln>
          <a:effectLst>
            <a:outerShdw blurRad="76200" dist="25400" dir="8100000" algn="bl" rotWithShape="0">
              <a:srgbClr val="0B1730">
                <a:alpha val="14000"/>
              </a:srgbClr>
            </a:outerShdw>
          </a:effectLst>
        </p:spPr>
        <p:txBody>
          <a:bodyPr/>
          <a:lstStyle/>
          <a:p>
            <a:endParaRPr lang="en-US"/>
          </a:p>
        </p:txBody>
      </p:sp>
      <p:sp>
        <p:nvSpPr>
          <p:cNvPr id="10" name="Shape 8"/>
          <p:cNvSpPr/>
          <p:nvPr/>
        </p:nvSpPr>
        <p:spPr>
          <a:xfrm>
            <a:off x="457200" y="1783080"/>
            <a:ext cx="5486400" cy="411480"/>
          </a:xfrm>
          <a:prstGeom prst="rect">
            <a:avLst/>
          </a:prstGeom>
          <a:solidFill>
            <a:srgbClr val="0085CA"/>
          </a:solidFill>
          <a:ln/>
        </p:spPr>
        <p:txBody>
          <a:bodyPr/>
          <a:lstStyle/>
          <a:p>
            <a:endParaRPr lang="en-US"/>
          </a:p>
        </p:txBody>
      </p:sp>
      <p:sp>
        <p:nvSpPr>
          <p:cNvPr id="11" name="Text 9"/>
          <p:cNvSpPr/>
          <p:nvPr/>
        </p:nvSpPr>
        <p:spPr>
          <a:xfrm>
            <a:off x="640080" y="1783080"/>
            <a:ext cx="5120640"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MODE 1 · BUSINESS-OWNED APPLICATION</a:t>
            </a:r>
            <a:endParaRPr lang="en-US" sz="1300" dirty="0"/>
          </a:p>
        </p:txBody>
      </p:sp>
      <p:sp>
        <p:nvSpPr>
          <p:cNvPr id="12" name="Text 10"/>
          <p:cNvSpPr/>
          <p:nvPr/>
        </p:nvSpPr>
        <p:spPr>
          <a:xfrm>
            <a:off x="685800" y="2240280"/>
            <a:ext cx="5029200" cy="548640"/>
          </a:xfrm>
          <a:prstGeom prst="rect">
            <a:avLst/>
          </a:prstGeom>
          <a:noFill/>
          <a:ln/>
        </p:spPr>
        <p:txBody>
          <a:bodyPr wrap="square" rtlCol="0" anchor="ctr"/>
          <a:lstStyle/>
          <a:p>
            <a:pPr marL="0" indent="0">
              <a:buNone/>
            </a:pPr>
            <a:r>
              <a:rPr lang="en-US" sz="1100" i="1" dirty="0">
                <a:solidFill>
                  <a:srgbClr val="6A6157"/>
                </a:solidFill>
                <a:latin typeface="Calibri" pitchFamily="34" charset="0"/>
                <a:ea typeface="Calibri" pitchFamily="34" charset="-122"/>
                <a:cs typeface="Calibri" pitchFamily="34" charset="-120"/>
              </a:rPr>
              <a:t>Supports a business process or capability (e.g. SAP S/4HANA, Octave EAM, PowerPlan, ADMS, Power BI business reports).</a:t>
            </a:r>
            <a:endParaRPr lang="en-US" sz="1100" dirty="0"/>
          </a:p>
        </p:txBody>
      </p:sp>
      <p:sp>
        <p:nvSpPr>
          <p:cNvPr id="13" name="Text 11"/>
          <p:cNvSpPr/>
          <p:nvPr/>
        </p:nvSpPr>
        <p:spPr>
          <a:xfrm>
            <a:off x="685800" y="2788920"/>
            <a:ext cx="5029200" cy="1463040"/>
          </a:xfrm>
          <a:prstGeom prst="rect">
            <a:avLst/>
          </a:prstGeom>
          <a:noFill/>
          <a:ln/>
        </p:spPr>
        <p:txBody>
          <a:bodyPr wrap="square" rtlCol="0" anchor="t"/>
          <a:lstStyle/>
          <a:p>
            <a:pPr marL="342900" indent="-342900">
              <a:spcAft>
                <a:spcPts val="600"/>
              </a:spcAft>
              <a:buSzPct val="100000"/>
              <a:buChar char="•"/>
            </a:pPr>
            <a:r>
              <a:rPr lang="en-US" sz="1080" dirty="0">
                <a:solidFill>
                  <a:srgbClr val="2C2826"/>
                </a:solidFill>
                <a:latin typeface="Calibri" pitchFamily="34" charset="0"/>
                <a:ea typeface="Calibri" pitchFamily="34" charset="-122"/>
                <a:cs typeface="Calibri" pitchFamily="34" charset="-120"/>
              </a:rPr>
              <a:t>Business Owner = business process / function leader in the Business Value Stream or LOB</a:t>
            </a:r>
            <a:endParaRPr lang="en-US" sz="1080" dirty="0"/>
          </a:p>
          <a:p>
            <a:pPr marL="342900" indent="-342900">
              <a:spcAft>
                <a:spcPts val="600"/>
              </a:spcAft>
              <a:buSzPct val="100000"/>
              <a:buChar char="•"/>
            </a:pPr>
            <a:r>
              <a:rPr lang="en-US" sz="1080" dirty="0">
                <a:solidFill>
                  <a:srgbClr val="2C2826"/>
                </a:solidFill>
                <a:latin typeface="Calibri" pitchFamily="34" charset="0"/>
                <a:ea typeface="Calibri" pitchFamily="34" charset="-122"/>
                <a:cs typeface="Calibri" pitchFamily="34" charset="-120"/>
              </a:rPr>
              <a:t>IT Owner = VS IT / application owner</a:t>
            </a:r>
            <a:endParaRPr lang="en-US" sz="1080" dirty="0"/>
          </a:p>
          <a:p>
            <a:pPr marL="342900" indent="-342900">
              <a:spcAft>
                <a:spcPts val="600"/>
              </a:spcAft>
              <a:buSzPct val="100000"/>
              <a:buChar char="•"/>
            </a:pPr>
            <a:r>
              <a:rPr lang="en-US" sz="1080" dirty="0">
                <a:solidFill>
                  <a:srgbClr val="2C2826"/>
                </a:solidFill>
                <a:latin typeface="Calibri" pitchFamily="34" charset="0"/>
                <a:ea typeface="Calibri" pitchFamily="34" charset="-122"/>
                <a:cs typeface="Calibri" pitchFamily="34" charset="-120"/>
              </a:rPr>
              <a:t>Funding, priority and value decisions sit with the business</a:t>
            </a:r>
            <a:endParaRPr lang="en-US" sz="1080" dirty="0"/>
          </a:p>
        </p:txBody>
      </p:sp>
      <p:sp>
        <p:nvSpPr>
          <p:cNvPr id="14" name="Shape 12"/>
          <p:cNvSpPr/>
          <p:nvPr/>
        </p:nvSpPr>
        <p:spPr>
          <a:xfrm>
            <a:off x="6126480" y="1783080"/>
            <a:ext cx="5486400" cy="2514600"/>
          </a:xfrm>
          <a:prstGeom prst="rect">
            <a:avLst/>
          </a:prstGeom>
          <a:solidFill>
            <a:srgbClr val="F4F8FC"/>
          </a:solidFill>
          <a:ln w="12700">
            <a:solidFill>
              <a:srgbClr val="CFE3F5"/>
            </a:solidFill>
            <a:prstDash val="solid"/>
          </a:ln>
          <a:effectLst>
            <a:outerShdw blurRad="76200" dist="25400" dir="8100000" algn="bl" rotWithShape="0">
              <a:srgbClr val="0B1730">
                <a:alpha val="14000"/>
              </a:srgbClr>
            </a:outerShdw>
          </a:effectLst>
        </p:spPr>
        <p:txBody>
          <a:bodyPr/>
          <a:lstStyle/>
          <a:p>
            <a:endParaRPr lang="en-US"/>
          </a:p>
        </p:txBody>
      </p:sp>
      <p:sp>
        <p:nvSpPr>
          <p:cNvPr id="15" name="Shape 13"/>
          <p:cNvSpPr/>
          <p:nvPr/>
        </p:nvSpPr>
        <p:spPr>
          <a:xfrm>
            <a:off x="6126480" y="1783080"/>
            <a:ext cx="5486400" cy="411480"/>
          </a:xfrm>
          <a:prstGeom prst="rect">
            <a:avLst/>
          </a:prstGeom>
          <a:solidFill>
            <a:srgbClr val="007A99"/>
          </a:solidFill>
          <a:ln/>
        </p:spPr>
        <p:txBody>
          <a:bodyPr/>
          <a:lstStyle/>
          <a:p>
            <a:endParaRPr lang="en-US"/>
          </a:p>
        </p:txBody>
      </p:sp>
      <p:sp>
        <p:nvSpPr>
          <p:cNvPr id="16" name="Text 14"/>
          <p:cNvSpPr/>
          <p:nvPr/>
        </p:nvSpPr>
        <p:spPr>
          <a:xfrm>
            <a:off x="6309360" y="1783080"/>
            <a:ext cx="5120640" cy="41148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MODE 2 · IT-OWNED TOOL</a:t>
            </a:r>
            <a:endParaRPr lang="en-US" sz="1300" dirty="0"/>
          </a:p>
        </p:txBody>
      </p:sp>
      <p:sp>
        <p:nvSpPr>
          <p:cNvPr id="17" name="Text 15"/>
          <p:cNvSpPr/>
          <p:nvPr/>
        </p:nvSpPr>
        <p:spPr>
          <a:xfrm>
            <a:off x="6355080" y="2240280"/>
            <a:ext cx="5029200" cy="548640"/>
          </a:xfrm>
          <a:prstGeom prst="rect">
            <a:avLst/>
          </a:prstGeom>
          <a:noFill/>
          <a:ln/>
        </p:spPr>
        <p:txBody>
          <a:bodyPr wrap="square" rtlCol="0" anchor="ctr"/>
          <a:lstStyle/>
          <a:p>
            <a:pPr marL="0" indent="0">
              <a:buNone/>
            </a:pPr>
            <a:r>
              <a:rPr lang="en-US" sz="1100" i="1" dirty="0">
                <a:solidFill>
                  <a:srgbClr val="6A6157"/>
                </a:solidFill>
                <a:latin typeface="Calibri" pitchFamily="34" charset="0"/>
                <a:ea typeface="Calibri" pitchFamily="34" charset="-122"/>
                <a:cs typeface="Calibri" pitchFamily="34" charset="-120"/>
              </a:rPr>
              <a:t>A tool used inside IT to build, run, secure or integrate (e.g. ADO / PVCS, GlobalScape, webMethods, CyberArk, SailPoint, Azure tooling).</a:t>
            </a:r>
            <a:endParaRPr lang="en-US" sz="1100" dirty="0"/>
          </a:p>
        </p:txBody>
      </p:sp>
      <p:sp>
        <p:nvSpPr>
          <p:cNvPr id="18" name="Text 16"/>
          <p:cNvSpPr/>
          <p:nvPr/>
        </p:nvSpPr>
        <p:spPr>
          <a:xfrm>
            <a:off x="6355080" y="2788920"/>
            <a:ext cx="5029200" cy="1463040"/>
          </a:xfrm>
          <a:prstGeom prst="rect">
            <a:avLst/>
          </a:prstGeom>
          <a:noFill/>
          <a:ln/>
        </p:spPr>
        <p:txBody>
          <a:bodyPr wrap="square" rtlCol="0" anchor="t"/>
          <a:lstStyle/>
          <a:p>
            <a:pPr marL="342900" indent="-342900">
              <a:spcAft>
                <a:spcPts val="600"/>
              </a:spcAft>
              <a:buSzPct val="100000"/>
              <a:buChar char="•"/>
            </a:pPr>
            <a:r>
              <a:rPr lang="en-US" sz="1080" dirty="0">
                <a:solidFill>
                  <a:srgbClr val="2C2826"/>
                </a:solidFill>
                <a:latin typeface="Calibri" pitchFamily="34" charset="0"/>
                <a:ea typeface="Calibri" pitchFamily="34" charset="-122"/>
                <a:cs typeface="Calibri" pitchFamily="34" charset="-120"/>
              </a:rPr>
              <a:t>Business Owner = the IT leader who knows how the tool is used (lead of its main user community, e.g. DevOps practice lead for ADO)</a:t>
            </a:r>
            <a:endParaRPr lang="en-US" sz="1080" dirty="0"/>
          </a:p>
          <a:p>
            <a:pPr marL="342900" indent="-342900">
              <a:spcAft>
                <a:spcPts val="600"/>
              </a:spcAft>
              <a:buSzPct val="100000"/>
              <a:buChar char="•"/>
            </a:pPr>
            <a:r>
              <a:rPr lang="en-US" sz="1080" dirty="0">
                <a:solidFill>
                  <a:srgbClr val="2C2826"/>
                </a:solidFill>
                <a:latin typeface="Calibri" pitchFamily="34" charset="0"/>
                <a:ea typeface="Calibri" pitchFamily="34" charset="-122"/>
                <a:cs typeface="Calibri" pitchFamily="34" charset="-120"/>
              </a:rPr>
              <a:t>IT Owner = Tech Foundation team that runs the platform</a:t>
            </a:r>
            <a:endParaRPr lang="en-US" sz="1080" dirty="0"/>
          </a:p>
          <a:p>
            <a:pPr marL="342900" indent="-342900">
              <a:spcAft>
                <a:spcPts val="600"/>
              </a:spcAft>
              <a:buSzPct val="100000"/>
              <a:buChar char="•"/>
            </a:pPr>
            <a:r>
              <a:rPr lang="en-US" sz="1080" dirty="0">
                <a:solidFill>
                  <a:srgbClr val="2C2826"/>
                </a:solidFill>
                <a:latin typeface="Calibri" pitchFamily="34" charset="0"/>
                <a:ea typeface="Calibri" pitchFamily="34" charset="-122"/>
                <a:cs typeface="Calibri" pitchFamily="34" charset="-120"/>
              </a:rPr>
              <a:t>Funding and priority decisions sit with the consuming IT function</a:t>
            </a:r>
            <a:endParaRPr lang="en-US" sz="1080" dirty="0"/>
          </a:p>
        </p:txBody>
      </p:sp>
      <p:sp>
        <p:nvSpPr>
          <p:cNvPr id="19" name="Shape 17"/>
          <p:cNvSpPr/>
          <p:nvPr/>
        </p:nvSpPr>
        <p:spPr>
          <a:xfrm>
            <a:off x="457200" y="4480560"/>
            <a:ext cx="2724912" cy="1874520"/>
          </a:xfrm>
          <a:prstGeom prst="rect">
            <a:avLst/>
          </a:prstGeom>
          <a:solidFill>
            <a:srgbClr val="001489"/>
          </a:solidFill>
          <a:ln/>
          <a:effectLst>
            <a:outerShdw blurRad="76200" dist="25400" dir="8100000" algn="bl" rotWithShape="0">
              <a:srgbClr val="0B1730">
                <a:alpha val="14000"/>
              </a:srgbClr>
            </a:outerShdw>
          </a:effectLst>
        </p:spPr>
        <p:txBody>
          <a:bodyPr/>
          <a:lstStyle/>
          <a:p>
            <a:endParaRPr lang="en-US"/>
          </a:p>
        </p:txBody>
      </p:sp>
      <p:sp>
        <p:nvSpPr>
          <p:cNvPr id="20" name="Text 18"/>
          <p:cNvSpPr/>
          <p:nvPr/>
        </p:nvSpPr>
        <p:spPr>
          <a:xfrm>
            <a:off x="594360" y="4553712"/>
            <a:ext cx="2468880" cy="274320"/>
          </a:xfrm>
          <a:prstGeom prst="rect">
            <a:avLst/>
          </a:prstGeom>
          <a:noFill/>
          <a:ln/>
        </p:spPr>
        <p:txBody>
          <a:bodyPr wrap="square" rtlCol="0" anchor="ctr"/>
          <a:lstStyle/>
          <a:p>
            <a:pPr marL="0" indent="0">
              <a:buNone/>
            </a:pPr>
            <a:r>
              <a:rPr lang="en-US" sz="1000" b="1" kern="0" spc="200" dirty="0">
                <a:solidFill>
                  <a:srgbClr val="F2A900"/>
                </a:solidFill>
                <a:latin typeface="Calibri" pitchFamily="34" charset="0"/>
                <a:ea typeface="Calibri" pitchFamily="34" charset="-122"/>
                <a:cs typeface="Calibri" pitchFamily="34" charset="-120"/>
              </a:rPr>
              <a:t>MODE TEST</a:t>
            </a:r>
            <a:endParaRPr lang="en-US" sz="1000" dirty="0"/>
          </a:p>
        </p:txBody>
      </p:sp>
      <p:sp>
        <p:nvSpPr>
          <p:cNvPr id="21" name="Text 19"/>
          <p:cNvSpPr/>
          <p:nvPr/>
        </p:nvSpPr>
        <p:spPr>
          <a:xfrm>
            <a:off x="594360" y="4828032"/>
            <a:ext cx="2468880" cy="1481328"/>
          </a:xfrm>
          <a:prstGeom prst="rect">
            <a:avLst/>
          </a:prstGeom>
          <a:noFill/>
          <a:ln/>
        </p:spPr>
        <p:txBody>
          <a:bodyPr wrap="square" rtlCol="0" anchor="t"/>
          <a:lstStyle/>
          <a:p>
            <a:pPr marL="0" indent="0">
              <a:buNone/>
            </a:pPr>
            <a:r>
              <a:rPr lang="en-US" sz="960" dirty="0">
                <a:solidFill>
                  <a:srgbClr val="FFFFFF"/>
                </a:solidFill>
                <a:latin typeface="Calibri" pitchFamily="34" charset="0"/>
                <a:ea typeface="Calibri" pitchFamily="34" charset="-122"/>
                <a:cs typeface="Calibri" pitchFamily="34" charset="-120"/>
              </a:rPr>
              <a:t>Do the primary users run a business process (Mode 1) or build, run, secure or integrate technology (Mode 2)? Platforms hosting business content are Mode 2; the content (report, data product, interface) is its own Mode 1 CI.</a:t>
            </a:r>
            <a:endParaRPr lang="en-US" sz="960" dirty="0"/>
          </a:p>
        </p:txBody>
      </p:sp>
      <p:sp>
        <p:nvSpPr>
          <p:cNvPr id="22" name="Shape 20"/>
          <p:cNvSpPr/>
          <p:nvPr/>
        </p:nvSpPr>
        <p:spPr>
          <a:xfrm>
            <a:off x="3310128" y="4480560"/>
            <a:ext cx="2724912" cy="1874520"/>
          </a:xfrm>
          <a:prstGeom prst="rect">
            <a:avLst/>
          </a:prstGeom>
          <a:solidFill>
            <a:srgbClr val="001489"/>
          </a:solidFill>
          <a:ln/>
          <a:effectLst>
            <a:outerShdw blurRad="76200" dist="25400" dir="8100000" algn="bl" rotWithShape="0">
              <a:srgbClr val="0B1730">
                <a:alpha val="14000"/>
              </a:srgbClr>
            </a:outerShdw>
          </a:effectLst>
        </p:spPr>
        <p:txBody>
          <a:bodyPr/>
          <a:lstStyle/>
          <a:p>
            <a:endParaRPr lang="en-US"/>
          </a:p>
        </p:txBody>
      </p:sp>
      <p:sp>
        <p:nvSpPr>
          <p:cNvPr id="23" name="Text 21"/>
          <p:cNvSpPr/>
          <p:nvPr/>
        </p:nvSpPr>
        <p:spPr>
          <a:xfrm>
            <a:off x="3447288" y="4553712"/>
            <a:ext cx="2468880" cy="274320"/>
          </a:xfrm>
          <a:prstGeom prst="rect">
            <a:avLst/>
          </a:prstGeom>
          <a:noFill/>
          <a:ln/>
        </p:spPr>
        <p:txBody>
          <a:bodyPr wrap="square" rtlCol="0" anchor="ctr"/>
          <a:lstStyle/>
          <a:p>
            <a:pPr marL="0" indent="0">
              <a:buNone/>
            </a:pPr>
            <a:r>
              <a:rPr lang="en-US" sz="1000" b="1" kern="0" spc="200" dirty="0">
                <a:solidFill>
                  <a:srgbClr val="F2A900"/>
                </a:solidFill>
                <a:latin typeface="Calibri" pitchFamily="34" charset="0"/>
                <a:ea typeface="Calibri" pitchFamily="34" charset="-122"/>
                <a:cs typeface="Calibri" pitchFamily="34" charset="-120"/>
              </a:rPr>
              <a:t>TIEBREAKER</a:t>
            </a:r>
            <a:endParaRPr lang="en-US" sz="1000" dirty="0"/>
          </a:p>
        </p:txBody>
      </p:sp>
      <p:sp>
        <p:nvSpPr>
          <p:cNvPr id="24" name="Text 22"/>
          <p:cNvSpPr/>
          <p:nvPr/>
        </p:nvSpPr>
        <p:spPr>
          <a:xfrm>
            <a:off x="3447288" y="4828032"/>
            <a:ext cx="2468880" cy="1481328"/>
          </a:xfrm>
          <a:prstGeom prst="rect">
            <a:avLst/>
          </a:prstGeom>
          <a:noFill/>
          <a:ln/>
        </p:spPr>
        <p:txBody>
          <a:bodyPr wrap="square" rtlCol="0" anchor="t"/>
          <a:lstStyle/>
          <a:p>
            <a:pPr marL="0" indent="0">
              <a:buNone/>
            </a:pPr>
            <a:r>
              <a:rPr lang="en-US" sz="960" dirty="0">
                <a:solidFill>
                  <a:srgbClr val="FFFFFF"/>
                </a:solidFill>
                <a:latin typeface="Calibri" pitchFamily="34" charset="0"/>
                <a:ea typeface="Calibri" pitchFamily="34" charset="-122"/>
                <a:cs typeface="Calibri" pitchFamily="34" charset="-120"/>
              </a:rPr>
              <a:t>Tool used across many IT teams? Business Owner comes from the function that funds the licences. If still tied, the ARB decides.</a:t>
            </a:r>
            <a:endParaRPr lang="en-US" sz="960" dirty="0"/>
          </a:p>
        </p:txBody>
      </p:sp>
      <p:sp>
        <p:nvSpPr>
          <p:cNvPr id="25" name="Shape 23"/>
          <p:cNvSpPr/>
          <p:nvPr/>
        </p:nvSpPr>
        <p:spPr>
          <a:xfrm>
            <a:off x="6163056" y="4480560"/>
            <a:ext cx="2724912" cy="1874520"/>
          </a:xfrm>
          <a:prstGeom prst="rect">
            <a:avLst/>
          </a:prstGeom>
          <a:solidFill>
            <a:srgbClr val="001489"/>
          </a:solidFill>
          <a:ln/>
          <a:effectLst>
            <a:outerShdw blurRad="76200" dist="25400" dir="8100000" algn="bl" rotWithShape="0">
              <a:srgbClr val="0B1730">
                <a:alpha val="14000"/>
              </a:srgbClr>
            </a:outerShdw>
          </a:effectLst>
        </p:spPr>
        <p:txBody>
          <a:bodyPr/>
          <a:lstStyle/>
          <a:p>
            <a:endParaRPr lang="en-US"/>
          </a:p>
        </p:txBody>
      </p:sp>
      <p:sp>
        <p:nvSpPr>
          <p:cNvPr id="26" name="Text 24"/>
          <p:cNvSpPr/>
          <p:nvPr/>
        </p:nvSpPr>
        <p:spPr>
          <a:xfrm>
            <a:off x="6300216" y="4553712"/>
            <a:ext cx="2468880" cy="274320"/>
          </a:xfrm>
          <a:prstGeom prst="rect">
            <a:avLst/>
          </a:prstGeom>
          <a:noFill/>
          <a:ln/>
        </p:spPr>
        <p:txBody>
          <a:bodyPr wrap="square" rtlCol="0" anchor="ctr"/>
          <a:lstStyle/>
          <a:p>
            <a:pPr marL="0" indent="0">
              <a:buNone/>
            </a:pPr>
            <a:r>
              <a:rPr lang="en-US" sz="1000" b="1" kern="0" spc="200" dirty="0">
                <a:solidFill>
                  <a:srgbClr val="F2A900"/>
                </a:solidFill>
                <a:latin typeface="Calibri" pitchFamily="34" charset="0"/>
                <a:ea typeface="Calibri" pitchFamily="34" charset="-122"/>
                <a:cs typeface="Calibri" pitchFamily="34" charset="-120"/>
              </a:rPr>
              <a:t>AUTHORITY</a:t>
            </a:r>
            <a:endParaRPr lang="en-US" sz="1000" dirty="0"/>
          </a:p>
        </p:txBody>
      </p:sp>
      <p:sp>
        <p:nvSpPr>
          <p:cNvPr id="27" name="Text 25"/>
          <p:cNvSpPr/>
          <p:nvPr/>
        </p:nvSpPr>
        <p:spPr>
          <a:xfrm>
            <a:off x="6300216" y="4828032"/>
            <a:ext cx="2468880" cy="1481328"/>
          </a:xfrm>
          <a:prstGeom prst="rect">
            <a:avLst/>
          </a:prstGeom>
          <a:noFill/>
          <a:ln/>
        </p:spPr>
        <p:txBody>
          <a:bodyPr wrap="square" rtlCol="0" anchor="t"/>
          <a:lstStyle/>
          <a:p>
            <a:pPr marL="0" indent="0">
              <a:buNone/>
            </a:pPr>
            <a:r>
              <a:rPr lang="en-US" sz="960" dirty="0">
                <a:solidFill>
                  <a:srgbClr val="FFFFFF"/>
                </a:solidFill>
                <a:latin typeface="Calibri" pitchFamily="34" charset="0"/>
                <a:ea typeface="Calibri" pitchFamily="34" charset="-122"/>
                <a:cs typeface="Calibri" pitchFamily="34" charset="-120"/>
              </a:rPr>
              <a:t>The Business Owner must be able to fund the app and accept risk. If the person who knows the tool best lacks that authority, record them as delegate and their director as Business Owner.</a:t>
            </a:r>
            <a:endParaRPr lang="en-US" sz="960" dirty="0"/>
          </a:p>
        </p:txBody>
      </p:sp>
      <p:sp>
        <p:nvSpPr>
          <p:cNvPr id="28" name="Shape 26"/>
          <p:cNvSpPr/>
          <p:nvPr/>
        </p:nvSpPr>
        <p:spPr>
          <a:xfrm>
            <a:off x="9015984" y="4480560"/>
            <a:ext cx="2724912" cy="1874520"/>
          </a:xfrm>
          <a:prstGeom prst="rect">
            <a:avLst/>
          </a:prstGeom>
          <a:solidFill>
            <a:srgbClr val="001489"/>
          </a:solidFill>
          <a:ln/>
          <a:effectLst>
            <a:outerShdw blurRad="76200" dist="25400" dir="8100000" algn="bl" rotWithShape="0">
              <a:srgbClr val="0B1730">
                <a:alpha val="14000"/>
              </a:srgbClr>
            </a:outerShdw>
          </a:effectLst>
        </p:spPr>
        <p:txBody>
          <a:bodyPr/>
          <a:lstStyle/>
          <a:p>
            <a:endParaRPr lang="en-US"/>
          </a:p>
        </p:txBody>
      </p:sp>
      <p:sp>
        <p:nvSpPr>
          <p:cNvPr id="29" name="Text 27"/>
          <p:cNvSpPr/>
          <p:nvPr/>
        </p:nvSpPr>
        <p:spPr>
          <a:xfrm>
            <a:off x="9153144" y="4553712"/>
            <a:ext cx="2468880" cy="274320"/>
          </a:xfrm>
          <a:prstGeom prst="rect">
            <a:avLst/>
          </a:prstGeom>
          <a:noFill/>
          <a:ln/>
        </p:spPr>
        <p:txBody>
          <a:bodyPr wrap="square" rtlCol="0" anchor="ctr"/>
          <a:lstStyle/>
          <a:p>
            <a:pPr marL="0" indent="0">
              <a:buNone/>
            </a:pPr>
            <a:r>
              <a:rPr lang="en-US" sz="1000" b="1" kern="0" spc="200" dirty="0">
                <a:solidFill>
                  <a:srgbClr val="F2A900"/>
                </a:solidFill>
                <a:latin typeface="Calibri" pitchFamily="34" charset="0"/>
                <a:ea typeface="Calibri" pitchFamily="34" charset="-122"/>
                <a:cs typeface="Calibri" pitchFamily="34" charset="-120"/>
              </a:rPr>
              <a:t>SAME TEAM</a:t>
            </a:r>
            <a:endParaRPr lang="en-US" sz="1000" dirty="0"/>
          </a:p>
        </p:txBody>
      </p:sp>
      <p:sp>
        <p:nvSpPr>
          <p:cNvPr id="30" name="Text 28"/>
          <p:cNvSpPr/>
          <p:nvPr/>
        </p:nvSpPr>
        <p:spPr>
          <a:xfrm>
            <a:off x="9153144" y="4828032"/>
            <a:ext cx="2468880" cy="1481328"/>
          </a:xfrm>
          <a:prstGeom prst="rect">
            <a:avLst/>
          </a:prstGeom>
          <a:noFill/>
          <a:ln/>
        </p:spPr>
        <p:txBody>
          <a:bodyPr wrap="square" rtlCol="0" anchor="t"/>
          <a:lstStyle/>
          <a:p>
            <a:pPr marL="0" indent="0">
              <a:buNone/>
            </a:pPr>
            <a:r>
              <a:rPr lang="en-US" sz="960" dirty="0">
                <a:solidFill>
                  <a:srgbClr val="FFFFFF"/>
                </a:solidFill>
                <a:latin typeface="Calibri" pitchFamily="34" charset="0"/>
                <a:ea typeface="Calibri" pitchFamily="34" charset="-122"/>
                <a:cs typeface="Calibri" pitchFamily="34" charset="-120"/>
              </a:rPr>
              <a:t>If users and platform team are one team, the team leader is Business Owner and a separate technical lead is IT Owner. Never one person in both seats.</a:t>
            </a:r>
            <a:endParaRPr lang="en-US" sz="960" dirty="0"/>
          </a:p>
        </p:txBody>
      </p:sp>
      <p:sp>
        <p:nvSpPr>
          <p:cNvPr id="31" name="Text 29"/>
          <p:cNvSpPr/>
          <p:nvPr/>
        </p:nvSpPr>
        <p:spPr>
          <a:xfrm>
            <a:off x="457200" y="6492240"/>
            <a:ext cx="1828800" cy="237744"/>
          </a:xfrm>
          <a:prstGeom prst="rect">
            <a:avLst/>
          </a:prstGeom>
          <a:noFill/>
          <a:ln/>
        </p:spPr>
        <p:txBody>
          <a:bodyPr wrap="square" rtlCol="0" anchor="ctr"/>
          <a:lstStyle/>
          <a:p>
            <a:pPr marL="0" indent="0">
              <a:buNone/>
            </a:pPr>
            <a:r>
              <a:rPr lang="en-US" sz="850" i="1" dirty="0">
                <a:solidFill>
                  <a:srgbClr val="6A6157"/>
                </a:solidFill>
                <a:latin typeface="Calibri" pitchFamily="34" charset="0"/>
                <a:ea typeface="Calibri" pitchFamily="34" charset="-122"/>
                <a:cs typeface="Calibri" pitchFamily="34" charset="-120"/>
              </a:rPr>
              <a:t>Business Use</a:t>
            </a:r>
            <a:endParaRPr lang="en-US" sz="850" dirty="0"/>
          </a:p>
        </p:txBody>
      </p:sp>
      <p:sp>
        <p:nvSpPr>
          <p:cNvPr id="32" name="Text 30"/>
          <p:cNvSpPr/>
          <p:nvPr/>
        </p:nvSpPr>
        <p:spPr>
          <a:xfrm>
            <a:off x="2286000" y="6492240"/>
            <a:ext cx="5486400" cy="237744"/>
          </a:xfrm>
          <a:prstGeom prst="rect">
            <a:avLst/>
          </a:prstGeom>
          <a:noFill/>
          <a:ln/>
        </p:spPr>
        <p:txBody>
          <a:bodyPr wrap="square" rtlCol="0" anchor="ctr"/>
          <a:lstStyle/>
          <a:p>
            <a:pPr marL="0" indent="0">
              <a:buNone/>
            </a:pPr>
            <a:r>
              <a:rPr lang="en-US" sz="850" dirty="0">
                <a:solidFill>
                  <a:srgbClr val="6A6157"/>
                </a:solidFill>
                <a:latin typeface="Calibri" pitchFamily="34" charset="0"/>
                <a:ea typeface="Calibri" pitchFamily="34" charset="-122"/>
                <a:cs typeface="Calibri" pitchFamily="34" charset="-120"/>
              </a:rPr>
              <a:t>Application Ownership Governance — Role Cards</a:t>
            </a:r>
            <a:endParaRPr lang="en-US" sz="850" dirty="0"/>
          </a:p>
        </p:txBody>
      </p:sp>
      <p:sp>
        <p:nvSpPr>
          <p:cNvPr id="33" name="Text 31"/>
          <p:cNvSpPr/>
          <p:nvPr/>
        </p:nvSpPr>
        <p:spPr>
          <a:xfrm>
            <a:off x="7772400" y="6492240"/>
            <a:ext cx="3959352" cy="237744"/>
          </a:xfrm>
          <a:prstGeom prst="rect">
            <a:avLst/>
          </a:prstGeom>
          <a:noFill/>
          <a:ln/>
        </p:spPr>
        <p:txBody>
          <a:bodyPr wrap="square" rtlCol="0" anchor="ctr"/>
          <a:lstStyle/>
          <a:p>
            <a:pPr marL="0" indent="0" algn="r">
              <a:buNone/>
            </a:pPr>
            <a:r>
              <a:rPr lang="en-US" sz="850" dirty="0">
                <a:solidFill>
                  <a:srgbClr val="6A6157"/>
                </a:solidFill>
                <a:latin typeface="Calibri" pitchFamily="34" charset="0"/>
                <a:ea typeface="Calibri" pitchFamily="34" charset="-122"/>
                <a:cs typeface="Calibri" pitchFamily="34" charset="-120"/>
              </a:rPr>
              <a:t>© PPL Corporation 2026   |   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78992"/>
          </a:xfrm>
          <a:prstGeom prst="rect">
            <a:avLst/>
          </a:prstGeom>
          <a:solidFill>
            <a:srgbClr val="001489"/>
          </a:solidFill>
          <a:ln/>
        </p:spPr>
        <p:txBody>
          <a:bodyPr/>
          <a:lstStyle/>
          <a:p>
            <a:endParaRPr lang="en-US"/>
          </a:p>
        </p:txBody>
      </p:sp>
      <p:sp>
        <p:nvSpPr>
          <p:cNvPr id="3" name="Shape 1"/>
          <p:cNvSpPr/>
          <p:nvPr/>
        </p:nvSpPr>
        <p:spPr>
          <a:xfrm>
            <a:off x="0" y="1078992"/>
            <a:ext cx="12188952" cy="54864"/>
          </a:xfrm>
          <a:prstGeom prst="rect">
            <a:avLst/>
          </a:prstGeom>
          <a:solidFill>
            <a:srgbClr val="0085CA"/>
          </a:solidFill>
          <a:ln/>
        </p:spPr>
        <p:txBody>
          <a:bodyPr/>
          <a:lstStyle/>
          <a:p>
            <a:endParaRPr lang="en-US"/>
          </a:p>
        </p:txBody>
      </p:sp>
      <p:sp>
        <p:nvSpPr>
          <p:cNvPr id="4" name="Text 2"/>
          <p:cNvSpPr/>
          <p:nvPr/>
        </p:nvSpPr>
        <p:spPr>
          <a:xfrm>
            <a:off x="457200" y="182880"/>
            <a:ext cx="10058400" cy="256032"/>
          </a:xfrm>
          <a:prstGeom prst="rect">
            <a:avLst/>
          </a:prstGeom>
          <a:noFill/>
          <a:ln/>
        </p:spPr>
        <p:txBody>
          <a:bodyPr wrap="square" rtlCol="0" anchor="ctr"/>
          <a:lstStyle/>
          <a:p>
            <a:pPr marL="0" indent="0">
              <a:buNone/>
            </a:pPr>
            <a:r>
              <a:rPr lang="en-US" sz="1100" b="1" kern="0" spc="300" dirty="0">
                <a:solidFill>
                  <a:srgbClr val="8FC7EA"/>
                </a:solidFill>
                <a:latin typeface="Calibri" pitchFamily="34" charset="0"/>
                <a:ea typeface="Calibri" pitchFamily="34" charset="-122"/>
                <a:cs typeface="Calibri" pitchFamily="34" charset="-120"/>
              </a:rPr>
              <a:t>ROLE CARD · PRIMARY OWNER</a:t>
            </a:r>
            <a:endParaRPr lang="en-US" sz="1100" dirty="0"/>
          </a:p>
        </p:txBody>
      </p:sp>
      <p:sp>
        <p:nvSpPr>
          <p:cNvPr id="5" name="Text 3"/>
          <p:cNvSpPr/>
          <p:nvPr/>
        </p:nvSpPr>
        <p:spPr>
          <a:xfrm>
            <a:off x="457200" y="420624"/>
            <a:ext cx="10515600" cy="566928"/>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Business Owner</a:t>
            </a:r>
            <a:endParaRPr lang="en-US" sz="2300" dirty="0"/>
          </a:p>
        </p:txBody>
      </p:sp>
      <p:sp>
        <p:nvSpPr>
          <p:cNvPr id="6" name="Shape 4"/>
          <p:cNvSpPr/>
          <p:nvPr/>
        </p:nvSpPr>
        <p:spPr>
          <a:xfrm>
            <a:off x="11073384" y="384048"/>
            <a:ext cx="658368" cy="310896"/>
          </a:xfrm>
          <a:prstGeom prst="rect">
            <a:avLst/>
          </a:prstGeom>
          <a:solidFill>
            <a:srgbClr val="FFFFFF"/>
          </a:solidFill>
          <a:ln/>
        </p:spPr>
        <p:txBody>
          <a:bodyPr/>
          <a:lstStyle/>
          <a:p>
            <a:endParaRPr lang="en-US"/>
          </a:p>
        </p:txBody>
      </p:sp>
      <p:sp>
        <p:nvSpPr>
          <p:cNvPr id="7" name="Text 5"/>
          <p:cNvSpPr/>
          <p:nvPr/>
        </p:nvSpPr>
        <p:spPr>
          <a:xfrm>
            <a:off x="11073384" y="384048"/>
            <a:ext cx="658368" cy="310896"/>
          </a:xfrm>
          <a:prstGeom prst="rect">
            <a:avLst/>
          </a:prstGeom>
          <a:noFill/>
          <a:ln/>
        </p:spPr>
        <p:txBody>
          <a:bodyPr wrap="square" rtlCol="0" anchor="ctr"/>
          <a:lstStyle/>
          <a:p>
            <a:pPr marL="0" indent="0" algn="ctr">
              <a:buNone/>
            </a:pPr>
            <a:r>
              <a:rPr lang="en-US" sz="1500" b="1" dirty="0">
                <a:solidFill>
                  <a:srgbClr val="001489"/>
                </a:solidFill>
                <a:latin typeface="Arial" pitchFamily="34" charset="0"/>
                <a:ea typeface="Arial" pitchFamily="34" charset="-122"/>
                <a:cs typeface="Arial" pitchFamily="34" charset="-120"/>
              </a:rPr>
              <a:t>PPL</a:t>
            </a:r>
            <a:endParaRPr lang="en-US" sz="1500" dirty="0"/>
          </a:p>
        </p:txBody>
      </p:sp>
      <p:sp>
        <p:nvSpPr>
          <p:cNvPr id="8" name="Shape 6"/>
          <p:cNvSpPr/>
          <p:nvPr/>
        </p:nvSpPr>
        <p:spPr>
          <a:xfrm>
            <a:off x="457200" y="1325880"/>
            <a:ext cx="3017520" cy="4983480"/>
          </a:xfrm>
          <a:prstGeom prst="rect">
            <a:avLst/>
          </a:prstGeom>
          <a:solidFill>
            <a:srgbClr val="0085CA"/>
          </a:solidFill>
          <a:ln/>
          <a:effectLst>
            <a:outerShdw blurRad="76200" dist="25400" dir="8100000" algn="bl" rotWithShape="0">
              <a:srgbClr val="0B1730">
                <a:alpha val="14000"/>
              </a:srgbClr>
            </a:outerShdw>
          </a:effectLst>
        </p:spPr>
        <p:txBody>
          <a:bodyPr/>
          <a:lstStyle/>
          <a:p>
            <a:endParaRPr lang="en-US"/>
          </a:p>
        </p:txBody>
      </p:sp>
      <p:sp>
        <p:nvSpPr>
          <p:cNvPr id="9" name="Text 7"/>
          <p:cNvSpPr/>
          <p:nvPr/>
        </p:nvSpPr>
        <p:spPr>
          <a:xfrm>
            <a:off x="594360" y="1463040"/>
            <a:ext cx="2743200" cy="64008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BUSINESS OWNER</a:t>
            </a:r>
            <a:endParaRPr lang="en-US" sz="1600" dirty="0"/>
          </a:p>
        </p:txBody>
      </p:sp>
      <p:sp>
        <p:nvSpPr>
          <p:cNvPr id="10" name="Text 8"/>
          <p:cNvSpPr/>
          <p:nvPr/>
        </p:nvSpPr>
        <p:spPr>
          <a:xfrm>
            <a:off x="594360" y="2148840"/>
            <a:ext cx="2011680" cy="329184"/>
          </a:xfrm>
          <a:prstGeom prst="rect">
            <a:avLst/>
          </a:prstGeom>
          <a:solidFill>
            <a:srgbClr val="FFFFFF"/>
          </a:solidFill>
          <a:ln/>
        </p:spPr>
        <p:txBody>
          <a:bodyPr wrap="square" rtlCol="0" anchor="ctr"/>
          <a:lstStyle/>
          <a:p>
            <a:pPr marL="0" indent="0" algn="ctr">
              <a:buNone/>
            </a:pPr>
            <a:r>
              <a:rPr lang="en-US" sz="1100" b="1" dirty="0">
                <a:solidFill>
                  <a:srgbClr val="001489"/>
                </a:solidFill>
                <a:latin typeface="Calibri" pitchFamily="34" charset="0"/>
                <a:ea typeface="Calibri" pitchFamily="34" charset="-122"/>
                <a:cs typeface="Calibri" pitchFamily="34" charset="-120"/>
              </a:rPr>
              <a:t>Accountable (A)</a:t>
            </a:r>
            <a:endParaRPr lang="en-US" sz="1100" dirty="0"/>
          </a:p>
        </p:txBody>
      </p:sp>
      <p:sp>
        <p:nvSpPr>
          <p:cNvPr id="11" name="Text 9"/>
          <p:cNvSpPr/>
          <p:nvPr/>
        </p:nvSpPr>
        <p:spPr>
          <a:xfrm>
            <a:off x="594360" y="2697480"/>
            <a:ext cx="2743200" cy="256032"/>
          </a:xfrm>
          <a:prstGeom prst="rect">
            <a:avLst/>
          </a:prstGeom>
          <a:noFill/>
          <a:ln/>
        </p:spPr>
        <p:txBody>
          <a:bodyPr wrap="square" rtlCol="0" anchor="ctr"/>
          <a:lstStyle/>
          <a:p>
            <a:pPr marL="0" indent="0">
              <a:buNone/>
            </a:pPr>
            <a:r>
              <a:rPr lang="en-US" sz="950" b="1" kern="0" spc="200" dirty="0">
                <a:solidFill>
                  <a:srgbClr val="D7E4F7"/>
                </a:solidFill>
                <a:latin typeface="Calibri" pitchFamily="34" charset="0"/>
                <a:ea typeface="Calibri" pitchFamily="34" charset="-122"/>
                <a:cs typeface="Calibri" pitchFamily="34" charset="-120"/>
              </a:rPr>
              <a:t>PURPOSE</a:t>
            </a:r>
            <a:endParaRPr lang="en-US" sz="950" dirty="0"/>
          </a:p>
        </p:txBody>
      </p:sp>
      <p:sp>
        <p:nvSpPr>
          <p:cNvPr id="12" name="Text 10"/>
          <p:cNvSpPr/>
          <p:nvPr/>
        </p:nvSpPr>
        <p:spPr>
          <a:xfrm>
            <a:off x="594360" y="2944368"/>
            <a:ext cx="2743200" cy="1463040"/>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Speaks for the application's users and value. Accountable for why the app exists, how critical it is, and what risk the organization accepts by running it.</a:t>
            </a:r>
            <a:endParaRPr lang="en-US" sz="1150" dirty="0"/>
          </a:p>
        </p:txBody>
      </p:sp>
      <p:sp>
        <p:nvSpPr>
          <p:cNvPr id="13" name="Text 11"/>
          <p:cNvSpPr/>
          <p:nvPr/>
        </p:nvSpPr>
        <p:spPr>
          <a:xfrm>
            <a:off x="594360" y="4526280"/>
            <a:ext cx="2743200" cy="256032"/>
          </a:xfrm>
          <a:prstGeom prst="rect">
            <a:avLst/>
          </a:prstGeom>
          <a:noFill/>
          <a:ln/>
        </p:spPr>
        <p:txBody>
          <a:bodyPr wrap="square" rtlCol="0" anchor="ctr"/>
          <a:lstStyle/>
          <a:p>
            <a:pPr marL="0" indent="0">
              <a:buNone/>
            </a:pPr>
            <a:r>
              <a:rPr lang="en-US" sz="950" b="1" kern="0" spc="200" dirty="0">
                <a:solidFill>
                  <a:srgbClr val="D7E4F7"/>
                </a:solidFill>
                <a:latin typeface="Calibri" pitchFamily="34" charset="0"/>
                <a:ea typeface="Calibri" pitchFamily="34" charset="-122"/>
                <a:cs typeface="Calibri" pitchFamily="34" charset="-120"/>
              </a:rPr>
              <a:t>CMDB FIELDS</a:t>
            </a:r>
            <a:endParaRPr lang="en-US" sz="950" dirty="0"/>
          </a:p>
        </p:txBody>
      </p:sp>
      <p:sp>
        <p:nvSpPr>
          <p:cNvPr id="14" name="Text 12"/>
          <p:cNvSpPr/>
          <p:nvPr/>
        </p:nvSpPr>
        <p:spPr>
          <a:xfrm>
            <a:off x="594360" y="4773168"/>
            <a:ext cx="2743200" cy="137160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Business Owner · Value Stream · Data Classification · Regulatory Indicator · Service Tier (with IT)</a:t>
            </a:r>
            <a:endParaRPr lang="en-US" sz="1050" dirty="0"/>
          </a:p>
        </p:txBody>
      </p:sp>
      <p:sp>
        <p:nvSpPr>
          <p:cNvPr id="15" name="Shape 13"/>
          <p:cNvSpPr/>
          <p:nvPr/>
        </p:nvSpPr>
        <p:spPr>
          <a:xfrm>
            <a:off x="3657600" y="1325880"/>
            <a:ext cx="4023360" cy="2743200"/>
          </a:xfrm>
          <a:prstGeom prst="rect">
            <a:avLst/>
          </a:prstGeom>
          <a:solidFill>
            <a:srgbClr val="F4F8FC"/>
          </a:solidFill>
          <a:ln w="12700">
            <a:solidFill>
              <a:srgbClr val="CFE3F5"/>
            </a:solidFill>
            <a:prstDash val="solid"/>
          </a:ln>
        </p:spPr>
        <p:txBody>
          <a:bodyPr/>
          <a:lstStyle/>
          <a:p>
            <a:endParaRPr lang="en-US"/>
          </a:p>
        </p:txBody>
      </p:sp>
      <p:sp>
        <p:nvSpPr>
          <p:cNvPr id="16" name="Shape 14"/>
          <p:cNvSpPr/>
          <p:nvPr/>
        </p:nvSpPr>
        <p:spPr>
          <a:xfrm>
            <a:off x="3657600" y="1325880"/>
            <a:ext cx="73152" cy="2743200"/>
          </a:xfrm>
          <a:prstGeom prst="rect">
            <a:avLst/>
          </a:prstGeom>
          <a:solidFill>
            <a:srgbClr val="0085CA"/>
          </a:solidFill>
          <a:ln/>
        </p:spPr>
        <p:txBody>
          <a:bodyPr/>
          <a:lstStyle/>
          <a:p>
            <a:endParaRPr lang="en-US"/>
          </a:p>
        </p:txBody>
      </p:sp>
      <p:sp>
        <p:nvSpPr>
          <p:cNvPr id="17" name="Text 15"/>
          <p:cNvSpPr/>
          <p:nvPr/>
        </p:nvSpPr>
        <p:spPr>
          <a:xfrm>
            <a:off x="3840480" y="1399032"/>
            <a:ext cx="3749040" cy="274320"/>
          </a:xfrm>
          <a:prstGeom prst="rect">
            <a:avLst/>
          </a:prstGeom>
          <a:noFill/>
          <a:ln/>
        </p:spPr>
        <p:txBody>
          <a:bodyPr wrap="square" rtlCol="0" anchor="ctr"/>
          <a:lstStyle/>
          <a:p>
            <a:pPr marL="0" indent="0">
              <a:buNone/>
            </a:pPr>
            <a:r>
              <a:rPr lang="en-US" sz="1150" b="1" dirty="0">
                <a:solidFill>
                  <a:srgbClr val="001489"/>
                </a:solidFill>
                <a:latin typeface="Arial" pitchFamily="34" charset="0"/>
                <a:ea typeface="Arial" pitchFamily="34" charset="-122"/>
                <a:cs typeface="Arial" pitchFamily="34" charset="-120"/>
              </a:rPr>
              <a:t>Key responsibilities</a:t>
            </a:r>
            <a:endParaRPr lang="en-US" sz="1150" dirty="0"/>
          </a:p>
        </p:txBody>
      </p:sp>
      <p:sp>
        <p:nvSpPr>
          <p:cNvPr id="18" name="Text 16"/>
          <p:cNvSpPr/>
          <p:nvPr/>
        </p:nvSpPr>
        <p:spPr>
          <a:xfrm>
            <a:off x="3840480" y="1691640"/>
            <a:ext cx="3749040" cy="2304288"/>
          </a:xfrm>
          <a:prstGeom prst="rect">
            <a:avLst/>
          </a:prstGeom>
          <a:noFill/>
          <a:ln/>
        </p:spPr>
        <p:txBody>
          <a:bodyPr wrap="square" rtlCol="0" anchor="t"/>
          <a:lstStyle/>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Define business value, scope and success measures</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Set criticality / recovery tier with the IT Owner</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Classify data and confirm regulatory flags (SOX, NERC-CIP, BCSI) with Data Platform SME</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Approve access models and accept residual risk</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Fund run and change; prioritize enhancements</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Attest CMDB ownership on the certification cadence</a:t>
            </a:r>
            <a:endParaRPr lang="en-US" sz="1030" dirty="0"/>
          </a:p>
        </p:txBody>
      </p:sp>
      <p:sp>
        <p:nvSpPr>
          <p:cNvPr id="19" name="Shape 17"/>
          <p:cNvSpPr/>
          <p:nvPr/>
        </p:nvSpPr>
        <p:spPr>
          <a:xfrm>
            <a:off x="3657600" y="4206240"/>
            <a:ext cx="4023360" cy="2103120"/>
          </a:xfrm>
          <a:prstGeom prst="rect">
            <a:avLst/>
          </a:prstGeom>
          <a:solidFill>
            <a:srgbClr val="F4F8FC"/>
          </a:solidFill>
          <a:ln w="12700">
            <a:solidFill>
              <a:srgbClr val="CFE3F5"/>
            </a:solidFill>
            <a:prstDash val="solid"/>
          </a:ln>
        </p:spPr>
        <p:txBody>
          <a:bodyPr/>
          <a:lstStyle/>
          <a:p>
            <a:endParaRPr lang="en-US"/>
          </a:p>
        </p:txBody>
      </p:sp>
      <p:sp>
        <p:nvSpPr>
          <p:cNvPr id="20" name="Shape 18"/>
          <p:cNvSpPr/>
          <p:nvPr/>
        </p:nvSpPr>
        <p:spPr>
          <a:xfrm>
            <a:off x="3657600" y="4206240"/>
            <a:ext cx="73152" cy="2103120"/>
          </a:xfrm>
          <a:prstGeom prst="rect">
            <a:avLst/>
          </a:prstGeom>
          <a:solidFill>
            <a:srgbClr val="F2A900"/>
          </a:solidFill>
          <a:ln/>
        </p:spPr>
        <p:txBody>
          <a:bodyPr/>
          <a:lstStyle/>
          <a:p>
            <a:endParaRPr lang="en-US"/>
          </a:p>
        </p:txBody>
      </p:sp>
      <p:sp>
        <p:nvSpPr>
          <p:cNvPr id="21" name="Text 19"/>
          <p:cNvSpPr/>
          <p:nvPr/>
        </p:nvSpPr>
        <p:spPr>
          <a:xfrm>
            <a:off x="3840480" y="4279392"/>
            <a:ext cx="3749040" cy="274320"/>
          </a:xfrm>
          <a:prstGeom prst="rect">
            <a:avLst/>
          </a:prstGeom>
          <a:noFill/>
          <a:ln/>
        </p:spPr>
        <p:txBody>
          <a:bodyPr wrap="square" rtlCol="0" anchor="ctr"/>
          <a:lstStyle/>
          <a:p>
            <a:pPr marL="0" indent="0">
              <a:buNone/>
            </a:pPr>
            <a:r>
              <a:rPr lang="en-US" sz="1150" b="1" dirty="0">
                <a:solidFill>
                  <a:srgbClr val="001489"/>
                </a:solidFill>
                <a:latin typeface="Arial" pitchFamily="34" charset="0"/>
                <a:ea typeface="Arial" pitchFamily="34" charset="-122"/>
                <a:cs typeface="Arial" pitchFamily="34" charset="-120"/>
              </a:rPr>
              <a:t>Decisions owned</a:t>
            </a:r>
            <a:endParaRPr lang="en-US" sz="1150" dirty="0"/>
          </a:p>
        </p:txBody>
      </p:sp>
      <p:sp>
        <p:nvSpPr>
          <p:cNvPr id="22" name="Text 20"/>
          <p:cNvSpPr/>
          <p:nvPr/>
        </p:nvSpPr>
        <p:spPr>
          <a:xfrm>
            <a:off x="3840480" y="4572000"/>
            <a:ext cx="3749040" cy="1664208"/>
          </a:xfrm>
          <a:prstGeom prst="rect">
            <a:avLst/>
          </a:prstGeom>
          <a:noFill/>
          <a:ln/>
        </p:spPr>
        <p:txBody>
          <a:bodyPr wrap="square" rtlCol="0" anchor="t"/>
          <a:lstStyle/>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Invest, keep, replace or retire (7-R)</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Risk acceptance and exceptions</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Priority of enhancements and releases</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Who uses the app, and how</a:t>
            </a:r>
            <a:endParaRPr lang="en-US" sz="1030" dirty="0"/>
          </a:p>
        </p:txBody>
      </p:sp>
      <p:sp>
        <p:nvSpPr>
          <p:cNvPr id="23" name="Shape 21"/>
          <p:cNvSpPr/>
          <p:nvPr/>
        </p:nvSpPr>
        <p:spPr>
          <a:xfrm>
            <a:off x="7863840" y="1325880"/>
            <a:ext cx="3886200" cy="1463040"/>
          </a:xfrm>
          <a:prstGeom prst="rect">
            <a:avLst/>
          </a:prstGeom>
          <a:solidFill>
            <a:srgbClr val="FFFFFF"/>
          </a:solidFill>
          <a:ln w="19050">
            <a:solidFill>
              <a:srgbClr val="0085CA"/>
            </a:solidFill>
            <a:prstDash val="solid"/>
          </a:ln>
        </p:spPr>
        <p:txBody>
          <a:bodyPr/>
          <a:lstStyle/>
          <a:p>
            <a:endParaRPr lang="en-US"/>
          </a:p>
        </p:txBody>
      </p:sp>
      <p:sp>
        <p:nvSpPr>
          <p:cNvPr id="24" name="Text 22"/>
          <p:cNvSpPr/>
          <p:nvPr/>
        </p:nvSpPr>
        <p:spPr>
          <a:xfrm>
            <a:off x="8001000" y="1389888"/>
            <a:ext cx="3657600" cy="256032"/>
          </a:xfrm>
          <a:prstGeom prst="rect">
            <a:avLst/>
          </a:prstGeom>
          <a:noFill/>
          <a:ln/>
        </p:spPr>
        <p:txBody>
          <a:bodyPr wrap="square" rtlCol="0" anchor="ctr"/>
          <a:lstStyle/>
          <a:p>
            <a:pPr marL="0" indent="0">
              <a:buNone/>
            </a:pPr>
            <a:r>
              <a:rPr lang="en-US" sz="950" b="1" kern="0" spc="100" dirty="0">
                <a:solidFill>
                  <a:srgbClr val="0085CA"/>
                </a:solidFill>
                <a:latin typeface="Calibri" pitchFamily="34" charset="0"/>
                <a:ea typeface="Calibri" pitchFamily="34" charset="-122"/>
                <a:cs typeface="Calibri" pitchFamily="34" charset="-120"/>
              </a:rPr>
              <a:t>BUSINESS-OWNED APP</a:t>
            </a:r>
            <a:endParaRPr lang="en-US" sz="950" dirty="0"/>
          </a:p>
        </p:txBody>
      </p:sp>
      <p:sp>
        <p:nvSpPr>
          <p:cNvPr id="25" name="Text 23"/>
          <p:cNvSpPr/>
          <p:nvPr/>
        </p:nvSpPr>
        <p:spPr>
          <a:xfrm>
            <a:off x="8001000" y="1645920"/>
            <a:ext cx="3611880" cy="1097280"/>
          </a:xfrm>
          <a:prstGeom prst="rect">
            <a:avLst/>
          </a:prstGeom>
          <a:noFill/>
          <a:ln/>
        </p:spPr>
        <p:txBody>
          <a:bodyPr wrap="square" rtlCol="0" anchor="t"/>
          <a:lstStyle/>
          <a:p>
            <a:pPr marL="0" indent="0">
              <a:buNone/>
            </a:pPr>
            <a:r>
              <a:rPr lang="en-US" sz="1030" dirty="0">
                <a:solidFill>
                  <a:srgbClr val="2C2826"/>
                </a:solidFill>
                <a:latin typeface="Calibri" pitchFamily="34" charset="0"/>
                <a:ea typeface="Calibri" pitchFamily="34" charset="-122"/>
                <a:cs typeface="Calibri" pitchFamily="34" charset="-120"/>
              </a:rPr>
              <a:t>Business process or function leader in the Business Value Stream or LOB, e.g. the Finance process owner for S/4HANA FI, or the Grid Ops leader for ADMS.</a:t>
            </a:r>
            <a:endParaRPr lang="en-US" sz="1030" dirty="0"/>
          </a:p>
        </p:txBody>
      </p:sp>
      <p:sp>
        <p:nvSpPr>
          <p:cNvPr id="26" name="Shape 24"/>
          <p:cNvSpPr/>
          <p:nvPr/>
        </p:nvSpPr>
        <p:spPr>
          <a:xfrm>
            <a:off x="7863840" y="2926080"/>
            <a:ext cx="3886200" cy="1463040"/>
          </a:xfrm>
          <a:prstGeom prst="rect">
            <a:avLst/>
          </a:prstGeom>
          <a:solidFill>
            <a:srgbClr val="FFFFFF"/>
          </a:solidFill>
          <a:ln w="19050">
            <a:solidFill>
              <a:srgbClr val="007A99"/>
            </a:solidFill>
            <a:prstDash val="solid"/>
          </a:ln>
        </p:spPr>
        <p:txBody>
          <a:bodyPr/>
          <a:lstStyle/>
          <a:p>
            <a:endParaRPr lang="en-US"/>
          </a:p>
        </p:txBody>
      </p:sp>
      <p:sp>
        <p:nvSpPr>
          <p:cNvPr id="27" name="Text 25"/>
          <p:cNvSpPr/>
          <p:nvPr/>
        </p:nvSpPr>
        <p:spPr>
          <a:xfrm>
            <a:off x="8001000" y="2990088"/>
            <a:ext cx="3657600" cy="256032"/>
          </a:xfrm>
          <a:prstGeom prst="rect">
            <a:avLst/>
          </a:prstGeom>
          <a:noFill/>
          <a:ln/>
        </p:spPr>
        <p:txBody>
          <a:bodyPr wrap="square" rtlCol="0" anchor="ctr"/>
          <a:lstStyle/>
          <a:p>
            <a:pPr marL="0" indent="0">
              <a:buNone/>
            </a:pPr>
            <a:r>
              <a:rPr lang="en-US" sz="950" b="1" kern="0" spc="100" dirty="0">
                <a:solidFill>
                  <a:srgbClr val="007A99"/>
                </a:solidFill>
                <a:latin typeface="Calibri" pitchFamily="34" charset="0"/>
                <a:ea typeface="Calibri" pitchFamily="34" charset="-122"/>
                <a:cs typeface="Calibri" pitchFamily="34" charset="-120"/>
              </a:rPr>
              <a:t>IT-OWNED TOOL</a:t>
            </a:r>
            <a:endParaRPr lang="en-US" sz="950" dirty="0"/>
          </a:p>
        </p:txBody>
      </p:sp>
      <p:sp>
        <p:nvSpPr>
          <p:cNvPr id="28" name="Text 26"/>
          <p:cNvSpPr/>
          <p:nvPr/>
        </p:nvSpPr>
        <p:spPr>
          <a:xfrm>
            <a:off x="8001000" y="3246120"/>
            <a:ext cx="3611880" cy="1097280"/>
          </a:xfrm>
          <a:prstGeom prst="rect">
            <a:avLst/>
          </a:prstGeom>
          <a:noFill/>
          <a:ln/>
        </p:spPr>
        <p:txBody>
          <a:bodyPr wrap="square" rtlCol="0" anchor="t"/>
          <a:lstStyle/>
          <a:p>
            <a:pPr marL="0" indent="0">
              <a:buNone/>
            </a:pPr>
            <a:r>
              <a:rPr lang="en-US" sz="1030" dirty="0">
                <a:solidFill>
                  <a:srgbClr val="2C2826"/>
                </a:solidFill>
                <a:latin typeface="Calibri" pitchFamily="34" charset="0"/>
                <a:ea typeface="Calibri" pitchFamily="34" charset="-122"/>
                <a:cs typeface="Calibri" pitchFamily="34" charset="-120"/>
              </a:rPr>
              <a:t>The IT leader who knows how the tool is used: the lead of its main user community, e.g. the DevOps / engineering practice lead for ADO, or the integration lead for </a:t>
            </a:r>
            <a:r>
              <a:rPr lang="en-US" sz="1030" dirty="0" err="1">
                <a:solidFill>
                  <a:srgbClr val="2C2826"/>
                </a:solidFill>
                <a:latin typeface="Calibri" pitchFamily="34" charset="0"/>
                <a:ea typeface="Calibri" pitchFamily="34" charset="-122"/>
                <a:cs typeface="Calibri" pitchFamily="34" charset="-120"/>
              </a:rPr>
              <a:t>GlobalScape</a:t>
            </a:r>
            <a:r>
              <a:rPr lang="en-US" sz="1030" dirty="0">
                <a:solidFill>
                  <a:srgbClr val="2C2826"/>
                </a:solidFill>
                <a:latin typeface="Calibri" pitchFamily="34" charset="0"/>
                <a:ea typeface="Calibri" pitchFamily="34" charset="-122"/>
                <a:cs typeface="Calibri" pitchFamily="34" charset="-120"/>
              </a:rPr>
              <a:t>. Must hold funding and risk authority, otherwise their director is BO and they are delegate.</a:t>
            </a:r>
            <a:endParaRPr lang="en-US" sz="1030" dirty="0"/>
          </a:p>
        </p:txBody>
      </p:sp>
      <p:sp>
        <p:nvSpPr>
          <p:cNvPr id="29" name="Shape 27"/>
          <p:cNvSpPr/>
          <p:nvPr/>
        </p:nvSpPr>
        <p:spPr>
          <a:xfrm>
            <a:off x="7863840" y="4526280"/>
            <a:ext cx="3886200" cy="1783080"/>
          </a:xfrm>
          <a:prstGeom prst="rect">
            <a:avLst/>
          </a:prstGeom>
          <a:solidFill>
            <a:srgbClr val="EDE9E4"/>
          </a:solidFill>
          <a:ln/>
        </p:spPr>
        <p:txBody>
          <a:bodyPr/>
          <a:lstStyle/>
          <a:p>
            <a:endParaRPr lang="en-US"/>
          </a:p>
        </p:txBody>
      </p:sp>
      <p:sp>
        <p:nvSpPr>
          <p:cNvPr id="30" name="Text 28"/>
          <p:cNvSpPr/>
          <p:nvPr/>
        </p:nvSpPr>
        <p:spPr>
          <a:xfrm>
            <a:off x="8001000" y="4590288"/>
            <a:ext cx="3657600" cy="256032"/>
          </a:xfrm>
          <a:prstGeom prst="rect">
            <a:avLst/>
          </a:prstGeom>
          <a:noFill/>
          <a:ln/>
        </p:spPr>
        <p:txBody>
          <a:bodyPr wrap="square" rtlCol="0" anchor="ctr"/>
          <a:lstStyle/>
          <a:p>
            <a:pPr marL="0" indent="0">
              <a:buNone/>
            </a:pPr>
            <a:r>
              <a:rPr lang="en-US" sz="950" b="1" kern="0" spc="100" dirty="0">
                <a:solidFill>
                  <a:srgbClr val="6A6157"/>
                </a:solidFill>
                <a:latin typeface="Calibri" pitchFamily="34" charset="0"/>
                <a:ea typeface="Calibri" pitchFamily="34" charset="-122"/>
                <a:cs typeface="Calibri" pitchFamily="34" charset="-120"/>
              </a:rPr>
              <a:t>NOT RESPONSIBLE FOR</a:t>
            </a:r>
            <a:endParaRPr lang="en-US" sz="950" dirty="0"/>
          </a:p>
        </p:txBody>
      </p:sp>
      <p:sp>
        <p:nvSpPr>
          <p:cNvPr id="31" name="Text 29"/>
          <p:cNvSpPr/>
          <p:nvPr/>
        </p:nvSpPr>
        <p:spPr>
          <a:xfrm>
            <a:off x="8001000" y="4846320"/>
            <a:ext cx="3611880" cy="1417320"/>
          </a:xfrm>
          <a:prstGeom prst="rect">
            <a:avLst/>
          </a:prstGeom>
          <a:noFill/>
          <a:ln/>
        </p:spPr>
        <p:txBody>
          <a:bodyPr wrap="square" rtlCol="0" anchor="t"/>
          <a:lstStyle/>
          <a:p>
            <a:pPr marL="342900" indent="-342900">
              <a:buSzPct val="100000"/>
              <a:buChar char="•"/>
            </a:pPr>
            <a:r>
              <a:rPr lang="en-US" sz="1000" dirty="0">
                <a:solidFill>
                  <a:srgbClr val="2C2826"/>
                </a:solidFill>
                <a:latin typeface="Calibri" pitchFamily="34" charset="0"/>
                <a:ea typeface="Calibri" pitchFamily="34" charset="-122"/>
                <a:cs typeface="Calibri" pitchFamily="34" charset="-120"/>
              </a:rPr>
              <a:t>Day-to-day technical operation</a:t>
            </a:r>
            <a:endParaRPr lang="en-US" sz="1000" dirty="0"/>
          </a:p>
          <a:p>
            <a:pPr marL="342900" indent="-342900">
              <a:buSzPct val="100000"/>
              <a:buChar char="•"/>
            </a:pPr>
            <a:r>
              <a:rPr lang="en-US" sz="1000" dirty="0">
                <a:solidFill>
                  <a:srgbClr val="2C2826"/>
                </a:solidFill>
                <a:latin typeface="Calibri" pitchFamily="34" charset="0"/>
                <a:ea typeface="Calibri" pitchFamily="34" charset="-122"/>
                <a:cs typeface="Calibri" pitchFamily="34" charset="-120"/>
              </a:rPr>
              <a:t>Patching, hosting, infrastructure</a:t>
            </a:r>
            <a:endParaRPr lang="en-US" sz="1000" dirty="0"/>
          </a:p>
          <a:p>
            <a:pPr marL="342900" indent="-342900">
              <a:buSzPct val="100000"/>
              <a:buChar char="•"/>
            </a:pPr>
            <a:r>
              <a:rPr lang="en-US" sz="1000" dirty="0">
                <a:solidFill>
                  <a:srgbClr val="2C2826"/>
                </a:solidFill>
                <a:latin typeface="Calibri" pitchFamily="34" charset="0"/>
                <a:ea typeface="Calibri" pitchFamily="34" charset="-122"/>
                <a:cs typeface="Calibri" pitchFamily="34" charset="-120"/>
              </a:rPr>
              <a:t>Running the CMDB process</a:t>
            </a:r>
            <a:endParaRPr lang="en-US" sz="1000" dirty="0"/>
          </a:p>
        </p:txBody>
      </p:sp>
      <p:sp>
        <p:nvSpPr>
          <p:cNvPr id="32" name="Text 30"/>
          <p:cNvSpPr/>
          <p:nvPr/>
        </p:nvSpPr>
        <p:spPr>
          <a:xfrm>
            <a:off x="457200" y="6492240"/>
            <a:ext cx="1828800" cy="237744"/>
          </a:xfrm>
          <a:prstGeom prst="rect">
            <a:avLst/>
          </a:prstGeom>
          <a:noFill/>
          <a:ln/>
        </p:spPr>
        <p:txBody>
          <a:bodyPr wrap="square" rtlCol="0" anchor="ctr"/>
          <a:lstStyle/>
          <a:p>
            <a:pPr marL="0" indent="0">
              <a:buNone/>
            </a:pPr>
            <a:r>
              <a:rPr lang="en-US" sz="850" i="1" dirty="0">
                <a:solidFill>
                  <a:srgbClr val="6A6157"/>
                </a:solidFill>
                <a:latin typeface="Calibri" pitchFamily="34" charset="0"/>
                <a:ea typeface="Calibri" pitchFamily="34" charset="-122"/>
                <a:cs typeface="Calibri" pitchFamily="34" charset="-120"/>
              </a:rPr>
              <a:t>Business Use</a:t>
            </a:r>
            <a:endParaRPr lang="en-US" sz="850" dirty="0"/>
          </a:p>
        </p:txBody>
      </p:sp>
      <p:sp>
        <p:nvSpPr>
          <p:cNvPr id="33" name="Text 31"/>
          <p:cNvSpPr/>
          <p:nvPr/>
        </p:nvSpPr>
        <p:spPr>
          <a:xfrm>
            <a:off x="2286000" y="6492240"/>
            <a:ext cx="5486400" cy="237744"/>
          </a:xfrm>
          <a:prstGeom prst="rect">
            <a:avLst/>
          </a:prstGeom>
          <a:noFill/>
          <a:ln/>
        </p:spPr>
        <p:txBody>
          <a:bodyPr wrap="square" rtlCol="0" anchor="ctr"/>
          <a:lstStyle/>
          <a:p>
            <a:pPr marL="0" indent="0">
              <a:buNone/>
            </a:pPr>
            <a:r>
              <a:rPr lang="en-US" sz="850" dirty="0">
                <a:solidFill>
                  <a:srgbClr val="6A6157"/>
                </a:solidFill>
                <a:latin typeface="Calibri" pitchFamily="34" charset="0"/>
                <a:ea typeface="Calibri" pitchFamily="34" charset="-122"/>
                <a:cs typeface="Calibri" pitchFamily="34" charset="-120"/>
              </a:rPr>
              <a:t>Application Ownership Governance — Role Cards</a:t>
            </a:r>
            <a:endParaRPr lang="en-US" sz="850" dirty="0"/>
          </a:p>
        </p:txBody>
      </p:sp>
      <p:sp>
        <p:nvSpPr>
          <p:cNvPr id="34" name="Text 32"/>
          <p:cNvSpPr/>
          <p:nvPr/>
        </p:nvSpPr>
        <p:spPr>
          <a:xfrm>
            <a:off x="7772400" y="6492240"/>
            <a:ext cx="3959352" cy="237744"/>
          </a:xfrm>
          <a:prstGeom prst="rect">
            <a:avLst/>
          </a:prstGeom>
          <a:noFill/>
          <a:ln/>
        </p:spPr>
        <p:txBody>
          <a:bodyPr wrap="square" rtlCol="0" anchor="ctr"/>
          <a:lstStyle/>
          <a:p>
            <a:pPr marL="0" indent="0" algn="r">
              <a:buNone/>
            </a:pPr>
            <a:r>
              <a:rPr lang="en-US" sz="850" dirty="0">
                <a:solidFill>
                  <a:srgbClr val="6A6157"/>
                </a:solidFill>
                <a:latin typeface="Calibri" pitchFamily="34" charset="0"/>
                <a:ea typeface="Calibri" pitchFamily="34" charset="-122"/>
                <a:cs typeface="Calibri" pitchFamily="34" charset="-120"/>
              </a:rPr>
              <a:t>© PPL Corporation 2026   |   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78992"/>
          </a:xfrm>
          <a:prstGeom prst="rect">
            <a:avLst/>
          </a:prstGeom>
          <a:solidFill>
            <a:srgbClr val="001489"/>
          </a:solidFill>
          <a:ln/>
        </p:spPr>
        <p:txBody>
          <a:bodyPr/>
          <a:lstStyle/>
          <a:p>
            <a:endParaRPr lang="en-US"/>
          </a:p>
        </p:txBody>
      </p:sp>
      <p:sp>
        <p:nvSpPr>
          <p:cNvPr id="3" name="Shape 1"/>
          <p:cNvSpPr/>
          <p:nvPr/>
        </p:nvSpPr>
        <p:spPr>
          <a:xfrm>
            <a:off x="0" y="1078992"/>
            <a:ext cx="12188952" cy="54864"/>
          </a:xfrm>
          <a:prstGeom prst="rect">
            <a:avLst/>
          </a:prstGeom>
          <a:solidFill>
            <a:srgbClr val="0085CA"/>
          </a:solidFill>
          <a:ln/>
        </p:spPr>
        <p:txBody>
          <a:bodyPr/>
          <a:lstStyle/>
          <a:p>
            <a:endParaRPr lang="en-US"/>
          </a:p>
        </p:txBody>
      </p:sp>
      <p:sp>
        <p:nvSpPr>
          <p:cNvPr id="4" name="Text 2"/>
          <p:cNvSpPr/>
          <p:nvPr/>
        </p:nvSpPr>
        <p:spPr>
          <a:xfrm>
            <a:off x="457200" y="182880"/>
            <a:ext cx="10058400" cy="256032"/>
          </a:xfrm>
          <a:prstGeom prst="rect">
            <a:avLst/>
          </a:prstGeom>
          <a:noFill/>
          <a:ln/>
        </p:spPr>
        <p:txBody>
          <a:bodyPr wrap="square" rtlCol="0" anchor="ctr"/>
          <a:lstStyle/>
          <a:p>
            <a:pPr marL="0" indent="0">
              <a:buNone/>
            </a:pPr>
            <a:r>
              <a:rPr lang="en-US" sz="1100" b="1" kern="0" spc="300" dirty="0">
                <a:solidFill>
                  <a:srgbClr val="8FC7EA"/>
                </a:solidFill>
                <a:latin typeface="Calibri" pitchFamily="34" charset="0"/>
                <a:ea typeface="Calibri" pitchFamily="34" charset="-122"/>
                <a:cs typeface="Calibri" pitchFamily="34" charset="-120"/>
              </a:rPr>
              <a:t>ROLE CARD · PRIMARY OWNER</a:t>
            </a:r>
            <a:endParaRPr lang="en-US" sz="1100" dirty="0"/>
          </a:p>
        </p:txBody>
      </p:sp>
      <p:sp>
        <p:nvSpPr>
          <p:cNvPr id="5" name="Text 3"/>
          <p:cNvSpPr/>
          <p:nvPr/>
        </p:nvSpPr>
        <p:spPr>
          <a:xfrm>
            <a:off x="457200" y="420624"/>
            <a:ext cx="10515600" cy="566928"/>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IT / Technical Owner</a:t>
            </a:r>
            <a:endParaRPr lang="en-US" sz="2300" dirty="0"/>
          </a:p>
        </p:txBody>
      </p:sp>
      <p:sp>
        <p:nvSpPr>
          <p:cNvPr id="6" name="Shape 4"/>
          <p:cNvSpPr/>
          <p:nvPr/>
        </p:nvSpPr>
        <p:spPr>
          <a:xfrm>
            <a:off x="11073384" y="384048"/>
            <a:ext cx="658368" cy="310896"/>
          </a:xfrm>
          <a:prstGeom prst="rect">
            <a:avLst/>
          </a:prstGeom>
          <a:solidFill>
            <a:srgbClr val="FFFFFF"/>
          </a:solidFill>
          <a:ln/>
        </p:spPr>
        <p:txBody>
          <a:bodyPr/>
          <a:lstStyle/>
          <a:p>
            <a:endParaRPr lang="en-US"/>
          </a:p>
        </p:txBody>
      </p:sp>
      <p:sp>
        <p:nvSpPr>
          <p:cNvPr id="7" name="Text 5"/>
          <p:cNvSpPr/>
          <p:nvPr/>
        </p:nvSpPr>
        <p:spPr>
          <a:xfrm>
            <a:off x="11073384" y="384048"/>
            <a:ext cx="658368" cy="310896"/>
          </a:xfrm>
          <a:prstGeom prst="rect">
            <a:avLst/>
          </a:prstGeom>
          <a:noFill/>
          <a:ln/>
        </p:spPr>
        <p:txBody>
          <a:bodyPr wrap="square" rtlCol="0" anchor="ctr"/>
          <a:lstStyle/>
          <a:p>
            <a:pPr marL="0" indent="0" algn="ctr">
              <a:buNone/>
            </a:pPr>
            <a:r>
              <a:rPr lang="en-US" sz="1500" b="1" dirty="0">
                <a:solidFill>
                  <a:srgbClr val="001489"/>
                </a:solidFill>
                <a:latin typeface="Arial" pitchFamily="34" charset="0"/>
                <a:ea typeface="Arial" pitchFamily="34" charset="-122"/>
                <a:cs typeface="Arial" pitchFamily="34" charset="-120"/>
              </a:rPr>
              <a:t>PPL</a:t>
            </a:r>
            <a:endParaRPr lang="en-US" sz="1500" dirty="0"/>
          </a:p>
        </p:txBody>
      </p:sp>
      <p:sp>
        <p:nvSpPr>
          <p:cNvPr id="8" name="Shape 6"/>
          <p:cNvSpPr/>
          <p:nvPr/>
        </p:nvSpPr>
        <p:spPr>
          <a:xfrm>
            <a:off x="457200" y="1325880"/>
            <a:ext cx="3017520" cy="4983480"/>
          </a:xfrm>
          <a:prstGeom prst="rect">
            <a:avLst/>
          </a:prstGeom>
          <a:solidFill>
            <a:srgbClr val="007A99"/>
          </a:solidFill>
          <a:ln/>
          <a:effectLst>
            <a:outerShdw blurRad="76200" dist="25400" dir="8100000" algn="bl" rotWithShape="0">
              <a:srgbClr val="0B1730">
                <a:alpha val="14000"/>
              </a:srgbClr>
            </a:outerShdw>
          </a:effectLst>
        </p:spPr>
        <p:txBody>
          <a:bodyPr/>
          <a:lstStyle/>
          <a:p>
            <a:endParaRPr lang="en-US"/>
          </a:p>
        </p:txBody>
      </p:sp>
      <p:sp>
        <p:nvSpPr>
          <p:cNvPr id="9" name="Text 7"/>
          <p:cNvSpPr/>
          <p:nvPr/>
        </p:nvSpPr>
        <p:spPr>
          <a:xfrm>
            <a:off x="594360" y="1463040"/>
            <a:ext cx="2743200" cy="64008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IT / TECHNICAL OWNER</a:t>
            </a:r>
            <a:endParaRPr lang="en-US" sz="1600" dirty="0"/>
          </a:p>
        </p:txBody>
      </p:sp>
      <p:sp>
        <p:nvSpPr>
          <p:cNvPr id="10" name="Text 8"/>
          <p:cNvSpPr/>
          <p:nvPr/>
        </p:nvSpPr>
        <p:spPr>
          <a:xfrm>
            <a:off x="594360" y="2148840"/>
            <a:ext cx="2011680" cy="329184"/>
          </a:xfrm>
          <a:prstGeom prst="rect">
            <a:avLst/>
          </a:prstGeom>
          <a:solidFill>
            <a:srgbClr val="FFFFFF"/>
          </a:solidFill>
          <a:ln/>
        </p:spPr>
        <p:txBody>
          <a:bodyPr wrap="square" rtlCol="0" anchor="ctr"/>
          <a:lstStyle/>
          <a:p>
            <a:pPr marL="0" indent="0" algn="ctr">
              <a:buNone/>
            </a:pPr>
            <a:r>
              <a:rPr lang="en-US" sz="1100" b="1" dirty="0">
                <a:solidFill>
                  <a:srgbClr val="001489"/>
                </a:solidFill>
                <a:latin typeface="Calibri" pitchFamily="34" charset="0"/>
                <a:ea typeface="Calibri" pitchFamily="34" charset="-122"/>
                <a:cs typeface="Calibri" pitchFamily="34" charset="-120"/>
              </a:rPr>
              <a:t>R  ·  A for tech only</a:t>
            </a:r>
            <a:endParaRPr lang="en-US" sz="1100" dirty="0"/>
          </a:p>
        </p:txBody>
      </p:sp>
      <p:sp>
        <p:nvSpPr>
          <p:cNvPr id="11" name="Text 9"/>
          <p:cNvSpPr/>
          <p:nvPr/>
        </p:nvSpPr>
        <p:spPr>
          <a:xfrm>
            <a:off x="594360" y="2697480"/>
            <a:ext cx="2743200" cy="256032"/>
          </a:xfrm>
          <a:prstGeom prst="rect">
            <a:avLst/>
          </a:prstGeom>
          <a:noFill/>
          <a:ln/>
        </p:spPr>
        <p:txBody>
          <a:bodyPr wrap="square" rtlCol="0" anchor="ctr"/>
          <a:lstStyle/>
          <a:p>
            <a:pPr marL="0" indent="0">
              <a:buNone/>
            </a:pPr>
            <a:r>
              <a:rPr lang="en-US" sz="950" b="1" kern="0" spc="200" dirty="0">
                <a:solidFill>
                  <a:srgbClr val="D7E4F7"/>
                </a:solidFill>
                <a:latin typeface="Calibri" pitchFamily="34" charset="0"/>
                <a:ea typeface="Calibri" pitchFamily="34" charset="-122"/>
                <a:cs typeface="Calibri" pitchFamily="34" charset="-120"/>
              </a:rPr>
              <a:t>PURPOSE</a:t>
            </a:r>
            <a:endParaRPr lang="en-US" sz="950" dirty="0"/>
          </a:p>
        </p:txBody>
      </p:sp>
      <p:sp>
        <p:nvSpPr>
          <p:cNvPr id="12" name="Text 10"/>
          <p:cNvSpPr/>
          <p:nvPr/>
        </p:nvSpPr>
        <p:spPr>
          <a:xfrm>
            <a:off x="594360" y="2944368"/>
            <a:ext cx="2743200" cy="1463040"/>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Keeps the application technically healthy, secure, supportable and current through its lifecycle, and delivers on the Business Owner's direction.</a:t>
            </a:r>
            <a:endParaRPr lang="en-US" sz="1150" dirty="0"/>
          </a:p>
        </p:txBody>
      </p:sp>
      <p:sp>
        <p:nvSpPr>
          <p:cNvPr id="13" name="Text 11"/>
          <p:cNvSpPr/>
          <p:nvPr/>
        </p:nvSpPr>
        <p:spPr>
          <a:xfrm>
            <a:off x="594360" y="4526280"/>
            <a:ext cx="2743200" cy="256032"/>
          </a:xfrm>
          <a:prstGeom prst="rect">
            <a:avLst/>
          </a:prstGeom>
          <a:noFill/>
          <a:ln/>
        </p:spPr>
        <p:txBody>
          <a:bodyPr wrap="square" rtlCol="0" anchor="ctr"/>
          <a:lstStyle/>
          <a:p>
            <a:pPr marL="0" indent="0">
              <a:buNone/>
            </a:pPr>
            <a:r>
              <a:rPr lang="en-US" sz="950" b="1" kern="0" spc="200" dirty="0">
                <a:solidFill>
                  <a:srgbClr val="D7E4F7"/>
                </a:solidFill>
                <a:latin typeface="Calibri" pitchFamily="34" charset="0"/>
                <a:ea typeface="Calibri" pitchFamily="34" charset="-122"/>
                <a:cs typeface="Calibri" pitchFamily="34" charset="-120"/>
              </a:rPr>
              <a:t>CMDB FIELDS</a:t>
            </a:r>
            <a:endParaRPr lang="en-US" sz="950" dirty="0"/>
          </a:p>
        </p:txBody>
      </p:sp>
      <p:sp>
        <p:nvSpPr>
          <p:cNvPr id="14" name="Text 12"/>
          <p:cNvSpPr/>
          <p:nvPr/>
        </p:nvSpPr>
        <p:spPr>
          <a:xfrm>
            <a:off x="594360" y="4773168"/>
            <a:ext cx="2743200" cy="137160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CI Owner / Tech Owner · Technical Owner Group · Support Group · App OS &amp; Version · Change Approval Group</a:t>
            </a:r>
            <a:endParaRPr lang="en-US" sz="1050" dirty="0"/>
          </a:p>
        </p:txBody>
      </p:sp>
      <p:sp>
        <p:nvSpPr>
          <p:cNvPr id="15" name="Shape 13"/>
          <p:cNvSpPr/>
          <p:nvPr/>
        </p:nvSpPr>
        <p:spPr>
          <a:xfrm>
            <a:off x="3657600" y="1325880"/>
            <a:ext cx="4023360" cy="2743200"/>
          </a:xfrm>
          <a:prstGeom prst="rect">
            <a:avLst/>
          </a:prstGeom>
          <a:solidFill>
            <a:srgbClr val="F4F8FC"/>
          </a:solidFill>
          <a:ln w="12700">
            <a:solidFill>
              <a:srgbClr val="CFE3F5"/>
            </a:solidFill>
            <a:prstDash val="solid"/>
          </a:ln>
        </p:spPr>
        <p:txBody>
          <a:bodyPr/>
          <a:lstStyle/>
          <a:p>
            <a:endParaRPr lang="en-US"/>
          </a:p>
        </p:txBody>
      </p:sp>
      <p:sp>
        <p:nvSpPr>
          <p:cNvPr id="16" name="Shape 14"/>
          <p:cNvSpPr/>
          <p:nvPr/>
        </p:nvSpPr>
        <p:spPr>
          <a:xfrm>
            <a:off x="3657600" y="1325880"/>
            <a:ext cx="73152" cy="2743200"/>
          </a:xfrm>
          <a:prstGeom prst="rect">
            <a:avLst/>
          </a:prstGeom>
          <a:solidFill>
            <a:srgbClr val="007A99"/>
          </a:solidFill>
          <a:ln/>
        </p:spPr>
        <p:txBody>
          <a:bodyPr/>
          <a:lstStyle/>
          <a:p>
            <a:endParaRPr lang="en-US"/>
          </a:p>
        </p:txBody>
      </p:sp>
      <p:sp>
        <p:nvSpPr>
          <p:cNvPr id="17" name="Text 15"/>
          <p:cNvSpPr/>
          <p:nvPr/>
        </p:nvSpPr>
        <p:spPr>
          <a:xfrm>
            <a:off x="3840480" y="1399032"/>
            <a:ext cx="3749040" cy="274320"/>
          </a:xfrm>
          <a:prstGeom prst="rect">
            <a:avLst/>
          </a:prstGeom>
          <a:noFill/>
          <a:ln/>
        </p:spPr>
        <p:txBody>
          <a:bodyPr wrap="square" rtlCol="0" anchor="ctr"/>
          <a:lstStyle/>
          <a:p>
            <a:pPr marL="0" indent="0">
              <a:buNone/>
            </a:pPr>
            <a:r>
              <a:rPr lang="en-US" sz="1150" b="1" dirty="0">
                <a:solidFill>
                  <a:srgbClr val="001489"/>
                </a:solidFill>
                <a:latin typeface="Arial" pitchFamily="34" charset="0"/>
                <a:ea typeface="Arial" pitchFamily="34" charset="-122"/>
                <a:cs typeface="Arial" pitchFamily="34" charset="-120"/>
              </a:rPr>
              <a:t>Key responsibilities</a:t>
            </a:r>
            <a:endParaRPr lang="en-US" sz="1150" dirty="0"/>
          </a:p>
        </p:txBody>
      </p:sp>
      <p:sp>
        <p:nvSpPr>
          <p:cNvPr id="18" name="Text 16"/>
          <p:cNvSpPr/>
          <p:nvPr/>
        </p:nvSpPr>
        <p:spPr>
          <a:xfrm>
            <a:off x="3840480" y="1691640"/>
            <a:ext cx="3749040" cy="2304288"/>
          </a:xfrm>
          <a:prstGeom prst="rect">
            <a:avLst/>
          </a:prstGeom>
          <a:noFill/>
          <a:ln/>
        </p:spPr>
        <p:txBody>
          <a:bodyPr wrap="square" rtlCol="0" anchor="t"/>
          <a:lstStyle/>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Own technical health, lifecycle, upgrades and tech debt</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Run releases, configuration and change approval for the CI</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Manage integrations and dependencies with EA / Integration CoE</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Maintain security posture with the Security SME</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Coordinate support, AMS and vendor escalations</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Certify technical CMDB attributes</a:t>
            </a:r>
            <a:endParaRPr lang="en-US" sz="1030" dirty="0"/>
          </a:p>
        </p:txBody>
      </p:sp>
      <p:sp>
        <p:nvSpPr>
          <p:cNvPr id="19" name="Shape 17"/>
          <p:cNvSpPr/>
          <p:nvPr/>
        </p:nvSpPr>
        <p:spPr>
          <a:xfrm>
            <a:off x="3657600" y="4206240"/>
            <a:ext cx="4023360" cy="2103120"/>
          </a:xfrm>
          <a:prstGeom prst="rect">
            <a:avLst/>
          </a:prstGeom>
          <a:solidFill>
            <a:srgbClr val="F4F8FC"/>
          </a:solidFill>
          <a:ln w="12700">
            <a:solidFill>
              <a:srgbClr val="CFE3F5"/>
            </a:solidFill>
            <a:prstDash val="solid"/>
          </a:ln>
        </p:spPr>
        <p:txBody>
          <a:bodyPr/>
          <a:lstStyle/>
          <a:p>
            <a:endParaRPr lang="en-US"/>
          </a:p>
        </p:txBody>
      </p:sp>
      <p:sp>
        <p:nvSpPr>
          <p:cNvPr id="20" name="Shape 18"/>
          <p:cNvSpPr/>
          <p:nvPr/>
        </p:nvSpPr>
        <p:spPr>
          <a:xfrm>
            <a:off x="3657600" y="4206240"/>
            <a:ext cx="73152" cy="2103120"/>
          </a:xfrm>
          <a:prstGeom prst="rect">
            <a:avLst/>
          </a:prstGeom>
          <a:solidFill>
            <a:srgbClr val="F2A900"/>
          </a:solidFill>
          <a:ln/>
        </p:spPr>
        <p:txBody>
          <a:bodyPr/>
          <a:lstStyle/>
          <a:p>
            <a:endParaRPr lang="en-US"/>
          </a:p>
        </p:txBody>
      </p:sp>
      <p:sp>
        <p:nvSpPr>
          <p:cNvPr id="21" name="Text 19"/>
          <p:cNvSpPr/>
          <p:nvPr/>
        </p:nvSpPr>
        <p:spPr>
          <a:xfrm>
            <a:off x="3840480" y="4279392"/>
            <a:ext cx="3749040" cy="274320"/>
          </a:xfrm>
          <a:prstGeom prst="rect">
            <a:avLst/>
          </a:prstGeom>
          <a:noFill/>
          <a:ln/>
        </p:spPr>
        <p:txBody>
          <a:bodyPr wrap="square" rtlCol="0" anchor="ctr"/>
          <a:lstStyle/>
          <a:p>
            <a:pPr marL="0" indent="0">
              <a:buNone/>
            </a:pPr>
            <a:r>
              <a:rPr lang="en-US" sz="1150" b="1" dirty="0">
                <a:solidFill>
                  <a:srgbClr val="001489"/>
                </a:solidFill>
                <a:latin typeface="Arial" pitchFamily="34" charset="0"/>
                <a:ea typeface="Arial" pitchFamily="34" charset="-122"/>
                <a:cs typeface="Arial" pitchFamily="34" charset="-120"/>
              </a:rPr>
              <a:t>Decisions owned</a:t>
            </a:r>
            <a:endParaRPr lang="en-US" sz="1150" dirty="0"/>
          </a:p>
        </p:txBody>
      </p:sp>
      <p:sp>
        <p:nvSpPr>
          <p:cNvPr id="22" name="Text 20"/>
          <p:cNvSpPr/>
          <p:nvPr/>
        </p:nvSpPr>
        <p:spPr>
          <a:xfrm>
            <a:off x="3840480" y="4572000"/>
            <a:ext cx="3749040" cy="1664208"/>
          </a:xfrm>
          <a:prstGeom prst="rect">
            <a:avLst/>
          </a:prstGeom>
          <a:noFill/>
          <a:ln/>
        </p:spPr>
        <p:txBody>
          <a:bodyPr wrap="square" rtlCol="0" anchor="t"/>
          <a:lstStyle/>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Technical design and configuration choices within standards</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Change approval (normal / emergency)</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Technical remediation plans</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Upgrade and patch timing (with Business Owner)</a:t>
            </a:r>
            <a:endParaRPr lang="en-US" sz="1030" dirty="0"/>
          </a:p>
          <a:p>
            <a:pPr marL="342900" indent="-342900">
              <a:spcAft>
                <a:spcPts val="300"/>
              </a:spcAft>
              <a:buSzPct val="100000"/>
              <a:buChar char="•"/>
            </a:pPr>
            <a:r>
              <a:rPr lang="en-US" sz="1030" dirty="0">
                <a:solidFill>
                  <a:srgbClr val="2C2826"/>
                </a:solidFill>
                <a:latin typeface="Calibri" pitchFamily="34" charset="0"/>
                <a:ea typeface="Calibri" pitchFamily="34" charset="-122"/>
                <a:cs typeface="Calibri" pitchFamily="34" charset="-120"/>
              </a:rPr>
              <a:t>Executes decommission (R); BO decides (A)</a:t>
            </a:r>
            <a:endParaRPr lang="en-US" sz="1030" dirty="0"/>
          </a:p>
        </p:txBody>
      </p:sp>
      <p:sp>
        <p:nvSpPr>
          <p:cNvPr id="23" name="Shape 21"/>
          <p:cNvSpPr/>
          <p:nvPr/>
        </p:nvSpPr>
        <p:spPr>
          <a:xfrm>
            <a:off x="7863840" y="1325880"/>
            <a:ext cx="3886200" cy="1463040"/>
          </a:xfrm>
          <a:prstGeom prst="rect">
            <a:avLst/>
          </a:prstGeom>
          <a:solidFill>
            <a:srgbClr val="FFFFFF"/>
          </a:solidFill>
          <a:ln w="19050">
            <a:solidFill>
              <a:srgbClr val="0085CA"/>
            </a:solidFill>
            <a:prstDash val="solid"/>
          </a:ln>
        </p:spPr>
        <p:txBody>
          <a:bodyPr/>
          <a:lstStyle/>
          <a:p>
            <a:endParaRPr lang="en-US"/>
          </a:p>
        </p:txBody>
      </p:sp>
      <p:sp>
        <p:nvSpPr>
          <p:cNvPr id="24" name="Text 22"/>
          <p:cNvSpPr/>
          <p:nvPr/>
        </p:nvSpPr>
        <p:spPr>
          <a:xfrm>
            <a:off x="8001000" y="1389888"/>
            <a:ext cx="3657600" cy="256032"/>
          </a:xfrm>
          <a:prstGeom prst="rect">
            <a:avLst/>
          </a:prstGeom>
          <a:noFill/>
          <a:ln/>
        </p:spPr>
        <p:txBody>
          <a:bodyPr wrap="square" rtlCol="0" anchor="ctr"/>
          <a:lstStyle/>
          <a:p>
            <a:pPr marL="0" indent="0">
              <a:buNone/>
            </a:pPr>
            <a:r>
              <a:rPr lang="en-US" sz="950" b="1" kern="0" spc="100" dirty="0">
                <a:solidFill>
                  <a:srgbClr val="0085CA"/>
                </a:solidFill>
                <a:latin typeface="Calibri" pitchFamily="34" charset="0"/>
                <a:ea typeface="Calibri" pitchFamily="34" charset="-122"/>
                <a:cs typeface="Calibri" pitchFamily="34" charset="-120"/>
              </a:rPr>
              <a:t>BUSINESS-OWNED APP</a:t>
            </a:r>
            <a:endParaRPr lang="en-US" sz="950" dirty="0"/>
          </a:p>
        </p:txBody>
      </p:sp>
      <p:sp>
        <p:nvSpPr>
          <p:cNvPr id="25" name="Text 23"/>
          <p:cNvSpPr/>
          <p:nvPr/>
        </p:nvSpPr>
        <p:spPr>
          <a:xfrm>
            <a:off x="8001000" y="1645920"/>
            <a:ext cx="3611880" cy="1097280"/>
          </a:xfrm>
          <a:prstGeom prst="rect">
            <a:avLst/>
          </a:prstGeom>
          <a:noFill/>
          <a:ln/>
        </p:spPr>
        <p:txBody>
          <a:bodyPr wrap="square" rtlCol="0" anchor="t"/>
          <a:lstStyle/>
          <a:p>
            <a:pPr marL="0" indent="0">
              <a:buNone/>
            </a:pPr>
            <a:r>
              <a:rPr lang="en-US" sz="1030" dirty="0">
                <a:solidFill>
                  <a:srgbClr val="2C2826"/>
                </a:solidFill>
                <a:latin typeface="Calibri" pitchFamily="34" charset="0"/>
                <a:ea typeface="Calibri" pitchFamily="34" charset="-122"/>
                <a:cs typeface="Calibri" pitchFamily="34" charset="-120"/>
              </a:rPr>
              <a:t>VS IT / application owner in the Business Value Stream that homes the app.</a:t>
            </a:r>
            <a:endParaRPr lang="en-US" sz="1030" dirty="0"/>
          </a:p>
        </p:txBody>
      </p:sp>
      <p:sp>
        <p:nvSpPr>
          <p:cNvPr id="26" name="Shape 24"/>
          <p:cNvSpPr/>
          <p:nvPr/>
        </p:nvSpPr>
        <p:spPr>
          <a:xfrm>
            <a:off x="7863840" y="2926080"/>
            <a:ext cx="3886200" cy="1463040"/>
          </a:xfrm>
          <a:prstGeom prst="rect">
            <a:avLst/>
          </a:prstGeom>
          <a:solidFill>
            <a:srgbClr val="FFFFFF"/>
          </a:solidFill>
          <a:ln w="19050">
            <a:solidFill>
              <a:srgbClr val="007A99"/>
            </a:solidFill>
            <a:prstDash val="solid"/>
          </a:ln>
        </p:spPr>
        <p:txBody>
          <a:bodyPr/>
          <a:lstStyle/>
          <a:p>
            <a:endParaRPr lang="en-US"/>
          </a:p>
        </p:txBody>
      </p:sp>
      <p:sp>
        <p:nvSpPr>
          <p:cNvPr id="27" name="Text 25"/>
          <p:cNvSpPr/>
          <p:nvPr/>
        </p:nvSpPr>
        <p:spPr>
          <a:xfrm>
            <a:off x="8001000" y="2990088"/>
            <a:ext cx="3657600" cy="256032"/>
          </a:xfrm>
          <a:prstGeom prst="rect">
            <a:avLst/>
          </a:prstGeom>
          <a:noFill/>
          <a:ln/>
        </p:spPr>
        <p:txBody>
          <a:bodyPr wrap="square" rtlCol="0" anchor="ctr"/>
          <a:lstStyle/>
          <a:p>
            <a:pPr marL="0" indent="0">
              <a:buNone/>
            </a:pPr>
            <a:r>
              <a:rPr lang="en-US" sz="950" b="1" kern="0" spc="100" dirty="0">
                <a:solidFill>
                  <a:srgbClr val="007A99"/>
                </a:solidFill>
                <a:latin typeface="Calibri" pitchFamily="34" charset="0"/>
                <a:ea typeface="Calibri" pitchFamily="34" charset="-122"/>
                <a:cs typeface="Calibri" pitchFamily="34" charset="-120"/>
              </a:rPr>
              <a:t>IT-OWNED TOOL</a:t>
            </a:r>
            <a:endParaRPr lang="en-US" sz="950" dirty="0"/>
          </a:p>
        </p:txBody>
      </p:sp>
      <p:sp>
        <p:nvSpPr>
          <p:cNvPr id="28" name="Text 26"/>
          <p:cNvSpPr/>
          <p:nvPr/>
        </p:nvSpPr>
        <p:spPr>
          <a:xfrm>
            <a:off x="8001000" y="3246120"/>
            <a:ext cx="3611880" cy="1097280"/>
          </a:xfrm>
          <a:prstGeom prst="rect">
            <a:avLst/>
          </a:prstGeom>
          <a:noFill/>
          <a:ln/>
        </p:spPr>
        <p:txBody>
          <a:bodyPr wrap="square" rtlCol="0" anchor="t"/>
          <a:lstStyle/>
          <a:p>
            <a:pPr marL="0" indent="0">
              <a:buNone/>
            </a:pPr>
            <a:r>
              <a:rPr lang="en-US" sz="1030" dirty="0">
                <a:solidFill>
                  <a:srgbClr val="2C2826"/>
                </a:solidFill>
                <a:latin typeface="Calibri" pitchFamily="34" charset="0"/>
                <a:ea typeface="Calibri" pitchFamily="34" charset="-122"/>
                <a:cs typeface="Calibri" pitchFamily="34" charset="-120"/>
              </a:rPr>
              <a:t>Lead of the Tech Foundation team that runs the platform (Infra &amp; Ops, Cybersecurity, Data &amp; AI, or the Integration CoE run team). Must be a different person from the Business Owner.</a:t>
            </a:r>
            <a:endParaRPr lang="en-US" sz="1030" dirty="0"/>
          </a:p>
        </p:txBody>
      </p:sp>
      <p:sp>
        <p:nvSpPr>
          <p:cNvPr id="29" name="Shape 27"/>
          <p:cNvSpPr/>
          <p:nvPr/>
        </p:nvSpPr>
        <p:spPr>
          <a:xfrm>
            <a:off x="7863840" y="4526280"/>
            <a:ext cx="3886200" cy="1783080"/>
          </a:xfrm>
          <a:prstGeom prst="rect">
            <a:avLst/>
          </a:prstGeom>
          <a:solidFill>
            <a:srgbClr val="EDE9E4"/>
          </a:solidFill>
          <a:ln/>
        </p:spPr>
        <p:txBody>
          <a:bodyPr/>
          <a:lstStyle/>
          <a:p>
            <a:endParaRPr lang="en-US"/>
          </a:p>
        </p:txBody>
      </p:sp>
      <p:sp>
        <p:nvSpPr>
          <p:cNvPr id="30" name="Text 28"/>
          <p:cNvSpPr/>
          <p:nvPr/>
        </p:nvSpPr>
        <p:spPr>
          <a:xfrm>
            <a:off x="8001000" y="4590288"/>
            <a:ext cx="3657600" cy="256032"/>
          </a:xfrm>
          <a:prstGeom prst="rect">
            <a:avLst/>
          </a:prstGeom>
          <a:noFill/>
          <a:ln/>
        </p:spPr>
        <p:txBody>
          <a:bodyPr wrap="square" rtlCol="0" anchor="ctr"/>
          <a:lstStyle/>
          <a:p>
            <a:pPr marL="0" indent="0">
              <a:buNone/>
            </a:pPr>
            <a:r>
              <a:rPr lang="en-US" sz="950" b="1" kern="0" spc="100" dirty="0">
                <a:solidFill>
                  <a:srgbClr val="6A6157"/>
                </a:solidFill>
                <a:latin typeface="Calibri" pitchFamily="34" charset="0"/>
                <a:ea typeface="Calibri" pitchFamily="34" charset="-122"/>
                <a:cs typeface="Calibri" pitchFamily="34" charset="-120"/>
              </a:rPr>
              <a:t>NOT RESPONSIBLE FOR</a:t>
            </a:r>
            <a:endParaRPr lang="en-US" sz="950" dirty="0"/>
          </a:p>
        </p:txBody>
      </p:sp>
      <p:sp>
        <p:nvSpPr>
          <p:cNvPr id="31" name="Text 29"/>
          <p:cNvSpPr/>
          <p:nvPr/>
        </p:nvSpPr>
        <p:spPr>
          <a:xfrm>
            <a:off x="8001000" y="4846320"/>
            <a:ext cx="3611880" cy="1417320"/>
          </a:xfrm>
          <a:prstGeom prst="rect">
            <a:avLst/>
          </a:prstGeom>
          <a:noFill/>
          <a:ln/>
        </p:spPr>
        <p:txBody>
          <a:bodyPr wrap="square" rtlCol="0" anchor="t"/>
          <a:lstStyle/>
          <a:p>
            <a:pPr marL="342900" indent="-342900">
              <a:buSzPct val="100000"/>
              <a:buChar char="•"/>
            </a:pPr>
            <a:r>
              <a:rPr lang="en-US" sz="1000" dirty="0">
                <a:solidFill>
                  <a:srgbClr val="2C2826"/>
                </a:solidFill>
                <a:latin typeface="Calibri" pitchFamily="34" charset="0"/>
                <a:ea typeface="Calibri" pitchFamily="34" charset="-122"/>
                <a:cs typeface="Calibri" pitchFamily="34" charset="-120"/>
              </a:rPr>
              <a:t>Business value or funding decisions</a:t>
            </a:r>
            <a:endParaRPr lang="en-US" sz="1000" dirty="0"/>
          </a:p>
          <a:p>
            <a:pPr marL="342900" indent="-342900">
              <a:buSzPct val="100000"/>
              <a:buChar char="•"/>
            </a:pPr>
            <a:r>
              <a:rPr lang="en-US" sz="1000" dirty="0">
                <a:solidFill>
                  <a:srgbClr val="2C2826"/>
                </a:solidFill>
                <a:latin typeface="Calibri" pitchFamily="34" charset="0"/>
                <a:ea typeface="Calibri" pitchFamily="34" charset="-122"/>
                <a:cs typeface="Calibri" pitchFamily="34" charset="-120"/>
              </a:rPr>
              <a:t>Accepting business or regulatory risk</a:t>
            </a:r>
            <a:endParaRPr lang="en-US" sz="1000" dirty="0"/>
          </a:p>
          <a:p>
            <a:pPr marL="342900" indent="-342900">
              <a:buSzPct val="100000"/>
              <a:buChar char="•"/>
            </a:pPr>
            <a:r>
              <a:rPr lang="en-US" sz="1000" dirty="0">
                <a:solidFill>
                  <a:srgbClr val="2C2826"/>
                </a:solidFill>
                <a:latin typeface="Calibri" pitchFamily="34" charset="0"/>
                <a:ea typeface="Calibri" pitchFamily="34" charset="-122"/>
                <a:cs typeface="Calibri" pitchFamily="34" charset="-120"/>
              </a:rPr>
              <a:t>Defining who should use the app</a:t>
            </a:r>
            <a:endParaRPr lang="en-US" sz="1000" dirty="0"/>
          </a:p>
        </p:txBody>
      </p:sp>
      <p:sp>
        <p:nvSpPr>
          <p:cNvPr id="32" name="Text 30"/>
          <p:cNvSpPr/>
          <p:nvPr/>
        </p:nvSpPr>
        <p:spPr>
          <a:xfrm>
            <a:off x="457200" y="6492240"/>
            <a:ext cx="1828800" cy="237744"/>
          </a:xfrm>
          <a:prstGeom prst="rect">
            <a:avLst/>
          </a:prstGeom>
          <a:noFill/>
          <a:ln/>
        </p:spPr>
        <p:txBody>
          <a:bodyPr wrap="square" rtlCol="0" anchor="ctr"/>
          <a:lstStyle/>
          <a:p>
            <a:pPr marL="0" indent="0">
              <a:buNone/>
            </a:pPr>
            <a:r>
              <a:rPr lang="en-US" sz="850" i="1" dirty="0">
                <a:solidFill>
                  <a:srgbClr val="6A6157"/>
                </a:solidFill>
                <a:latin typeface="Calibri" pitchFamily="34" charset="0"/>
                <a:ea typeface="Calibri" pitchFamily="34" charset="-122"/>
                <a:cs typeface="Calibri" pitchFamily="34" charset="-120"/>
              </a:rPr>
              <a:t>Business Use</a:t>
            </a:r>
            <a:endParaRPr lang="en-US" sz="850" dirty="0"/>
          </a:p>
        </p:txBody>
      </p:sp>
      <p:sp>
        <p:nvSpPr>
          <p:cNvPr id="33" name="Text 31"/>
          <p:cNvSpPr/>
          <p:nvPr/>
        </p:nvSpPr>
        <p:spPr>
          <a:xfrm>
            <a:off x="2286000" y="6492240"/>
            <a:ext cx="5486400" cy="237744"/>
          </a:xfrm>
          <a:prstGeom prst="rect">
            <a:avLst/>
          </a:prstGeom>
          <a:noFill/>
          <a:ln/>
        </p:spPr>
        <p:txBody>
          <a:bodyPr wrap="square" rtlCol="0" anchor="ctr"/>
          <a:lstStyle/>
          <a:p>
            <a:pPr marL="0" indent="0">
              <a:buNone/>
            </a:pPr>
            <a:r>
              <a:rPr lang="en-US" sz="850" dirty="0">
                <a:solidFill>
                  <a:srgbClr val="6A6157"/>
                </a:solidFill>
                <a:latin typeface="Calibri" pitchFamily="34" charset="0"/>
                <a:ea typeface="Calibri" pitchFamily="34" charset="-122"/>
                <a:cs typeface="Calibri" pitchFamily="34" charset="-120"/>
              </a:rPr>
              <a:t>Application Ownership Governance — Role Cards</a:t>
            </a:r>
            <a:endParaRPr lang="en-US" sz="850" dirty="0"/>
          </a:p>
        </p:txBody>
      </p:sp>
      <p:sp>
        <p:nvSpPr>
          <p:cNvPr id="34" name="Text 32"/>
          <p:cNvSpPr/>
          <p:nvPr/>
        </p:nvSpPr>
        <p:spPr>
          <a:xfrm>
            <a:off x="7772400" y="6492240"/>
            <a:ext cx="3959352" cy="237744"/>
          </a:xfrm>
          <a:prstGeom prst="rect">
            <a:avLst/>
          </a:prstGeom>
          <a:noFill/>
          <a:ln/>
        </p:spPr>
        <p:txBody>
          <a:bodyPr wrap="square" rtlCol="0" anchor="ctr"/>
          <a:lstStyle/>
          <a:p>
            <a:pPr marL="0" indent="0" algn="r">
              <a:buNone/>
            </a:pPr>
            <a:r>
              <a:rPr lang="en-US" sz="850" dirty="0">
                <a:solidFill>
                  <a:srgbClr val="6A6157"/>
                </a:solidFill>
                <a:latin typeface="Calibri" pitchFamily="34" charset="0"/>
                <a:ea typeface="Calibri" pitchFamily="34" charset="-122"/>
                <a:cs typeface="Calibri" pitchFamily="34" charset="-120"/>
              </a:rPr>
              <a:t>© PPL Corporation 2026   |   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78992"/>
          </a:xfrm>
          <a:prstGeom prst="rect">
            <a:avLst/>
          </a:prstGeom>
          <a:solidFill>
            <a:srgbClr val="001489"/>
          </a:solidFill>
          <a:ln/>
        </p:spPr>
        <p:txBody>
          <a:bodyPr/>
          <a:lstStyle/>
          <a:p>
            <a:endParaRPr lang="en-US"/>
          </a:p>
        </p:txBody>
      </p:sp>
      <p:sp>
        <p:nvSpPr>
          <p:cNvPr id="3" name="Shape 1"/>
          <p:cNvSpPr/>
          <p:nvPr/>
        </p:nvSpPr>
        <p:spPr>
          <a:xfrm>
            <a:off x="0" y="1078992"/>
            <a:ext cx="12188952" cy="54864"/>
          </a:xfrm>
          <a:prstGeom prst="rect">
            <a:avLst/>
          </a:prstGeom>
          <a:solidFill>
            <a:srgbClr val="0085CA"/>
          </a:solidFill>
          <a:ln/>
        </p:spPr>
        <p:txBody>
          <a:bodyPr/>
          <a:lstStyle/>
          <a:p>
            <a:endParaRPr lang="en-US"/>
          </a:p>
        </p:txBody>
      </p:sp>
      <p:sp>
        <p:nvSpPr>
          <p:cNvPr id="4" name="Text 2"/>
          <p:cNvSpPr/>
          <p:nvPr/>
        </p:nvSpPr>
        <p:spPr>
          <a:xfrm>
            <a:off x="457200" y="182880"/>
            <a:ext cx="10058400" cy="256032"/>
          </a:xfrm>
          <a:prstGeom prst="rect">
            <a:avLst/>
          </a:prstGeom>
          <a:noFill/>
          <a:ln/>
        </p:spPr>
        <p:txBody>
          <a:bodyPr wrap="square" rtlCol="0" anchor="ctr"/>
          <a:lstStyle/>
          <a:p>
            <a:pPr marL="0" indent="0">
              <a:buNone/>
            </a:pPr>
            <a:r>
              <a:rPr lang="en-US" sz="1100" b="1" kern="0" spc="300" dirty="0">
                <a:solidFill>
                  <a:srgbClr val="8FC7EA"/>
                </a:solidFill>
                <a:latin typeface="Calibri" pitchFamily="34" charset="0"/>
                <a:ea typeface="Calibri" pitchFamily="34" charset="-122"/>
                <a:cs typeface="Calibri" pitchFamily="34" charset="-120"/>
              </a:rPr>
              <a:t>ROLE CARDS · SUPPORTING / CONSULTED OWNERS</a:t>
            </a:r>
            <a:endParaRPr lang="en-US" sz="1100" dirty="0"/>
          </a:p>
        </p:txBody>
      </p:sp>
      <p:sp>
        <p:nvSpPr>
          <p:cNvPr id="5" name="Text 3"/>
          <p:cNvSpPr/>
          <p:nvPr/>
        </p:nvSpPr>
        <p:spPr>
          <a:xfrm>
            <a:off x="457200" y="420624"/>
            <a:ext cx="10515600" cy="566928"/>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Product, data, design and security roles</a:t>
            </a:r>
            <a:endParaRPr lang="en-US" sz="2300" dirty="0"/>
          </a:p>
        </p:txBody>
      </p:sp>
      <p:sp>
        <p:nvSpPr>
          <p:cNvPr id="6" name="Shape 4"/>
          <p:cNvSpPr/>
          <p:nvPr/>
        </p:nvSpPr>
        <p:spPr>
          <a:xfrm>
            <a:off x="11073384" y="384048"/>
            <a:ext cx="658368" cy="310896"/>
          </a:xfrm>
          <a:prstGeom prst="rect">
            <a:avLst/>
          </a:prstGeom>
          <a:solidFill>
            <a:srgbClr val="FFFFFF"/>
          </a:solidFill>
          <a:ln/>
        </p:spPr>
        <p:txBody>
          <a:bodyPr/>
          <a:lstStyle/>
          <a:p>
            <a:endParaRPr lang="en-US"/>
          </a:p>
        </p:txBody>
      </p:sp>
      <p:sp>
        <p:nvSpPr>
          <p:cNvPr id="7" name="Text 5"/>
          <p:cNvSpPr/>
          <p:nvPr/>
        </p:nvSpPr>
        <p:spPr>
          <a:xfrm>
            <a:off x="11073384" y="384048"/>
            <a:ext cx="658368" cy="310896"/>
          </a:xfrm>
          <a:prstGeom prst="rect">
            <a:avLst/>
          </a:prstGeom>
          <a:noFill/>
          <a:ln/>
        </p:spPr>
        <p:txBody>
          <a:bodyPr wrap="square" rtlCol="0" anchor="ctr"/>
          <a:lstStyle/>
          <a:p>
            <a:pPr marL="0" indent="0" algn="ctr">
              <a:buNone/>
            </a:pPr>
            <a:r>
              <a:rPr lang="en-US" sz="1500" b="1" dirty="0">
                <a:solidFill>
                  <a:srgbClr val="001489"/>
                </a:solidFill>
                <a:latin typeface="Arial" pitchFamily="34" charset="0"/>
                <a:ea typeface="Arial" pitchFamily="34" charset="-122"/>
                <a:cs typeface="Arial" pitchFamily="34" charset="-120"/>
              </a:rPr>
              <a:t>PPL</a:t>
            </a:r>
            <a:endParaRPr lang="en-US" sz="1500" dirty="0"/>
          </a:p>
        </p:txBody>
      </p:sp>
      <p:sp>
        <p:nvSpPr>
          <p:cNvPr id="8" name="Shape 6"/>
          <p:cNvSpPr/>
          <p:nvPr/>
        </p:nvSpPr>
        <p:spPr>
          <a:xfrm>
            <a:off x="457200" y="1325880"/>
            <a:ext cx="2724912" cy="4983480"/>
          </a:xfrm>
          <a:prstGeom prst="rect">
            <a:avLst/>
          </a:prstGeom>
          <a:solidFill>
            <a:srgbClr val="F4F8FC"/>
          </a:solidFill>
          <a:ln w="12700">
            <a:solidFill>
              <a:srgbClr val="CFE3F5"/>
            </a:solidFill>
            <a:prstDash val="solid"/>
          </a:ln>
          <a:effectLst>
            <a:outerShdw blurRad="76200" dist="25400" dir="8100000" algn="bl" rotWithShape="0">
              <a:srgbClr val="0B1730">
                <a:alpha val="14000"/>
              </a:srgbClr>
            </a:outerShdw>
          </a:effectLst>
        </p:spPr>
        <p:txBody>
          <a:bodyPr/>
          <a:lstStyle/>
          <a:p>
            <a:endParaRPr lang="en-US"/>
          </a:p>
        </p:txBody>
      </p:sp>
      <p:sp>
        <p:nvSpPr>
          <p:cNvPr id="9" name="Shape 7"/>
          <p:cNvSpPr/>
          <p:nvPr/>
        </p:nvSpPr>
        <p:spPr>
          <a:xfrm>
            <a:off x="457200" y="1325880"/>
            <a:ext cx="2724912" cy="777240"/>
          </a:xfrm>
          <a:prstGeom prst="rect">
            <a:avLst/>
          </a:prstGeom>
          <a:solidFill>
            <a:srgbClr val="817169"/>
          </a:solidFill>
          <a:ln/>
        </p:spPr>
        <p:txBody>
          <a:bodyPr/>
          <a:lstStyle/>
          <a:p>
            <a:endParaRPr lang="en-US"/>
          </a:p>
        </p:txBody>
      </p:sp>
      <p:sp>
        <p:nvSpPr>
          <p:cNvPr id="10" name="Shape 8"/>
          <p:cNvSpPr/>
          <p:nvPr/>
        </p:nvSpPr>
        <p:spPr>
          <a:xfrm>
            <a:off x="594360" y="1508760"/>
            <a:ext cx="411480" cy="411480"/>
          </a:xfrm>
          <a:prstGeom prst="ellipse">
            <a:avLst/>
          </a:prstGeom>
          <a:solidFill>
            <a:srgbClr val="FFFFFF"/>
          </a:solidFill>
          <a:ln/>
        </p:spPr>
        <p:txBody>
          <a:bodyPr/>
          <a:lstStyle/>
          <a:p>
            <a:endParaRPr lang="en-US"/>
          </a:p>
        </p:txBody>
      </p:sp>
      <p:sp>
        <p:nvSpPr>
          <p:cNvPr id="11" name="Text 9"/>
          <p:cNvSpPr/>
          <p:nvPr/>
        </p:nvSpPr>
        <p:spPr>
          <a:xfrm>
            <a:off x="594360" y="1508760"/>
            <a:ext cx="411480" cy="411480"/>
          </a:xfrm>
          <a:prstGeom prst="rect">
            <a:avLst/>
          </a:prstGeom>
          <a:noFill/>
          <a:ln/>
        </p:spPr>
        <p:txBody>
          <a:bodyPr wrap="square" rtlCol="0" anchor="ctr"/>
          <a:lstStyle/>
          <a:p>
            <a:pPr marL="0" indent="0" algn="ctr">
              <a:buNone/>
            </a:pPr>
            <a:r>
              <a:rPr lang="en-US" sz="1400" b="1" dirty="0">
                <a:solidFill>
                  <a:srgbClr val="817169"/>
                </a:solidFill>
                <a:latin typeface="Arial" pitchFamily="34" charset="0"/>
                <a:ea typeface="Arial" pitchFamily="34" charset="-122"/>
                <a:cs typeface="Arial" pitchFamily="34" charset="-120"/>
              </a:rPr>
              <a:t>A</a:t>
            </a:r>
            <a:endParaRPr lang="en-US" sz="1400" dirty="0"/>
          </a:p>
        </p:txBody>
      </p:sp>
      <p:sp>
        <p:nvSpPr>
          <p:cNvPr id="12" name="Text 10"/>
          <p:cNvSpPr/>
          <p:nvPr/>
        </p:nvSpPr>
        <p:spPr>
          <a:xfrm>
            <a:off x="1078992" y="1371600"/>
            <a:ext cx="2039112" cy="68580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Product Manager</a:t>
            </a:r>
            <a:endParaRPr lang="en-US" sz="1250" dirty="0"/>
          </a:p>
        </p:txBody>
      </p:sp>
      <p:sp>
        <p:nvSpPr>
          <p:cNvPr id="13" name="Text 11"/>
          <p:cNvSpPr/>
          <p:nvPr/>
        </p:nvSpPr>
        <p:spPr>
          <a:xfrm>
            <a:off x="594360" y="2194560"/>
            <a:ext cx="2450592" cy="219456"/>
          </a:xfrm>
          <a:prstGeom prst="rect">
            <a:avLst/>
          </a:prstGeom>
          <a:noFill/>
          <a:ln/>
        </p:spPr>
        <p:txBody>
          <a:bodyPr wrap="square" rtlCol="0" anchor="ctr"/>
          <a:lstStyle/>
          <a:p>
            <a:pPr marL="0" indent="0">
              <a:buNone/>
            </a:pPr>
            <a:r>
              <a:rPr lang="en-US" sz="850" b="1" kern="0" spc="100" dirty="0">
                <a:solidFill>
                  <a:srgbClr val="817169"/>
                </a:solidFill>
                <a:latin typeface="Calibri" pitchFamily="34" charset="0"/>
                <a:ea typeface="Calibri" pitchFamily="34" charset="-122"/>
                <a:cs typeface="Calibri" pitchFamily="34" charset="-120"/>
              </a:rPr>
              <a:t>PURPOSE</a:t>
            </a:r>
            <a:endParaRPr lang="en-US" sz="850" dirty="0"/>
          </a:p>
        </p:txBody>
      </p:sp>
      <p:sp>
        <p:nvSpPr>
          <p:cNvPr id="14" name="Text 12"/>
          <p:cNvSpPr/>
          <p:nvPr/>
        </p:nvSpPr>
        <p:spPr>
          <a:xfrm>
            <a:off x="594360" y="2414016"/>
            <a:ext cx="2450592"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Bridges business SMEs and delivery; owns the product roadmap.</a:t>
            </a:r>
            <a:endParaRPr lang="en-US" sz="930" dirty="0"/>
          </a:p>
        </p:txBody>
      </p:sp>
      <p:sp>
        <p:nvSpPr>
          <p:cNvPr id="15" name="Text 13"/>
          <p:cNvSpPr/>
          <p:nvPr/>
        </p:nvSpPr>
        <p:spPr>
          <a:xfrm>
            <a:off x="594360" y="3035808"/>
            <a:ext cx="2450592" cy="219456"/>
          </a:xfrm>
          <a:prstGeom prst="rect">
            <a:avLst/>
          </a:prstGeom>
          <a:noFill/>
          <a:ln/>
        </p:spPr>
        <p:txBody>
          <a:bodyPr wrap="square" rtlCol="0" anchor="ctr"/>
          <a:lstStyle/>
          <a:p>
            <a:pPr marL="0" indent="0">
              <a:buNone/>
            </a:pPr>
            <a:r>
              <a:rPr lang="en-US" sz="850" b="1" kern="0" spc="100" dirty="0">
                <a:solidFill>
                  <a:srgbClr val="817169"/>
                </a:solidFill>
                <a:latin typeface="Calibri" pitchFamily="34" charset="0"/>
                <a:ea typeface="Calibri" pitchFamily="34" charset="-122"/>
                <a:cs typeface="Calibri" pitchFamily="34" charset="-120"/>
              </a:rPr>
              <a:t>KEY RESPONSIBILITIES</a:t>
            </a:r>
            <a:endParaRPr lang="en-US" sz="850" dirty="0"/>
          </a:p>
        </p:txBody>
      </p:sp>
      <p:sp>
        <p:nvSpPr>
          <p:cNvPr id="16" name="Text 14"/>
          <p:cNvSpPr/>
          <p:nvPr/>
        </p:nvSpPr>
        <p:spPr>
          <a:xfrm>
            <a:off x="594360" y="3255264"/>
            <a:ext cx="2450592" cy="1234440"/>
          </a:xfrm>
          <a:prstGeom prst="rect">
            <a:avLst/>
          </a:prstGeom>
          <a:noFill/>
          <a:ln/>
        </p:spPr>
        <p:txBody>
          <a:bodyPr wrap="square" rtlCol="0" anchor="t"/>
          <a:lstStyle/>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Maintain roadmap and backlog</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Drive LPM / NITSR progression</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Translate business needs into features</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Co-lead decommission with IT Owner</a:t>
            </a:r>
            <a:endParaRPr lang="en-US" sz="930" dirty="0"/>
          </a:p>
        </p:txBody>
      </p:sp>
      <p:sp>
        <p:nvSpPr>
          <p:cNvPr id="17" name="Text 15"/>
          <p:cNvSpPr/>
          <p:nvPr/>
        </p:nvSpPr>
        <p:spPr>
          <a:xfrm>
            <a:off x="594360" y="4544568"/>
            <a:ext cx="2450592" cy="219456"/>
          </a:xfrm>
          <a:prstGeom prst="rect">
            <a:avLst/>
          </a:prstGeom>
          <a:noFill/>
          <a:ln/>
        </p:spPr>
        <p:txBody>
          <a:bodyPr wrap="square" rtlCol="0" anchor="ctr"/>
          <a:lstStyle/>
          <a:p>
            <a:pPr marL="0" indent="0">
              <a:buNone/>
            </a:pPr>
            <a:r>
              <a:rPr lang="en-US" sz="850" b="1" kern="0" spc="100" dirty="0">
                <a:solidFill>
                  <a:srgbClr val="817169"/>
                </a:solidFill>
                <a:latin typeface="Calibri" pitchFamily="34" charset="0"/>
                <a:ea typeface="Calibri" pitchFamily="34" charset="-122"/>
                <a:cs typeface="Calibri" pitchFamily="34" charset="-120"/>
              </a:rPr>
              <a:t>ENGAGED WHEN</a:t>
            </a:r>
            <a:endParaRPr lang="en-US" sz="850" dirty="0"/>
          </a:p>
        </p:txBody>
      </p:sp>
      <p:sp>
        <p:nvSpPr>
          <p:cNvPr id="18" name="Text 16"/>
          <p:cNvSpPr/>
          <p:nvPr/>
        </p:nvSpPr>
        <p:spPr>
          <a:xfrm>
            <a:off x="594360" y="4764024"/>
            <a:ext cx="2450592"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Enhancements, new initiatives, LPM stage gates, 7-R retirement.</a:t>
            </a:r>
            <a:endParaRPr lang="en-US" sz="930" dirty="0"/>
          </a:p>
        </p:txBody>
      </p:sp>
      <p:sp>
        <p:nvSpPr>
          <p:cNvPr id="19" name="Text 17"/>
          <p:cNvSpPr/>
          <p:nvPr/>
        </p:nvSpPr>
        <p:spPr>
          <a:xfrm>
            <a:off x="594360" y="5385816"/>
            <a:ext cx="2450592" cy="219456"/>
          </a:xfrm>
          <a:prstGeom prst="rect">
            <a:avLst/>
          </a:prstGeom>
          <a:noFill/>
          <a:ln/>
        </p:spPr>
        <p:txBody>
          <a:bodyPr wrap="square" rtlCol="0" anchor="ctr"/>
          <a:lstStyle/>
          <a:p>
            <a:pPr marL="0" indent="0">
              <a:buNone/>
            </a:pPr>
            <a:r>
              <a:rPr lang="en-US" sz="850" b="1" kern="0" spc="100" dirty="0">
                <a:solidFill>
                  <a:srgbClr val="817169"/>
                </a:solidFill>
                <a:latin typeface="Calibri" pitchFamily="34" charset="0"/>
                <a:ea typeface="Calibri" pitchFamily="34" charset="-122"/>
                <a:cs typeface="Calibri" pitchFamily="34" charset="-120"/>
              </a:rPr>
              <a:t>BUSINESS-OWNED vs IT-OWNED</a:t>
            </a:r>
            <a:endParaRPr lang="en-US" sz="850" dirty="0"/>
          </a:p>
        </p:txBody>
      </p:sp>
      <p:sp>
        <p:nvSpPr>
          <p:cNvPr id="20" name="Text 18"/>
          <p:cNvSpPr/>
          <p:nvPr/>
        </p:nvSpPr>
        <p:spPr>
          <a:xfrm>
            <a:off x="594360" y="5605272"/>
            <a:ext cx="2450592" cy="777240"/>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Same role in both modes.</a:t>
            </a:r>
            <a:endParaRPr lang="en-US" sz="930" dirty="0"/>
          </a:p>
        </p:txBody>
      </p:sp>
      <p:sp>
        <p:nvSpPr>
          <p:cNvPr id="21" name="Shape 19"/>
          <p:cNvSpPr/>
          <p:nvPr/>
        </p:nvSpPr>
        <p:spPr>
          <a:xfrm>
            <a:off x="3337560" y="1325880"/>
            <a:ext cx="2724912" cy="4983480"/>
          </a:xfrm>
          <a:prstGeom prst="rect">
            <a:avLst/>
          </a:prstGeom>
          <a:solidFill>
            <a:srgbClr val="F4F8FC"/>
          </a:solidFill>
          <a:ln w="12700">
            <a:solidFill>
              <a:srgbClr val="CFE3F5"/>
            </a:solidFill>
            <a:prstDash val="solid"/>
          </a:ln>
          <a:effectLst>
            <a:outerShdw blurRad="76200" dist="25400" dir="8100000" algn="bl" rotWithShape="0">
              <a:srgbClr val="0B1730">
                <a:alpha val="14000"/>
              </a:srgbClr>
            </a:outerShdw>
          </a:effectLst>
        </p:spPr>
        <p:txBody>
          <a:bodyPr/>
          <a:lstStyle/>
          <a:p>
            <a:endParaRPr lang="en-US"/>
          </a:p>
        </p:txBody>
      </p:sp>
      <p:sp>
        <p:nvSpPr>
          <p:cNvPr id="22" name="Shape 20"/>
          <p:cNvSpPr/>
          <p:nvPr/>
        </p:nvSpPr>
        <p:spPr>
          <a:xfrm>
            <a:off x="3337560" y="1325880"/>
            <a:ext cx="2724912" cy="777240"/>
          </a:xfrm>
          <a:prstGeom prst="rect">
            <a:avLst/>
          </a:prstGeom>
          <a:solidFill>
            <a:srgbClr val="007A99"/>
          </a:solidFill>
          <a:ln/>
        </p:spPr>
        <p:txBody>
          <a:bodyPr/>
          <a:lstStyle/>
          <a:p>
            <a:endParaRPr lang="en-US"/>
          </a:p>
        </p:txBody>
      </p:sp>
      <p:sp>
        <p:nvSpPr>
          <p:cNvPr id="23" name="Shape 21"/>
          <p:cNvSpPr/>
          <p:nvPr/>
        </p:nvSpPr>
        <p:spPr>
          <a:xfrm>
            <a:off x="3474720" y="1508760"/>
            <a:ext cx="411480" cy="411480"/>
          </a:xfrm>
          <a:prstGeom prst="ellipse">
            <a:avLst/>
          </a:prstGeom>
          <a:solidFill>
            <a:srgbClr val="FFFFFF"/>
          </a:solidFill>
          <a:ln/>
        </p:spPr>
        <p:txBody>
          <a:bodyPr/>
          <a:lstStyle/>
          <a:p>
            <a:endParaRPr lang="en-US"/>
          </a:p>
        </p:txBody>
      </p:sp>
      <p:sp>
        <p:nvSpPr>
          <p:cNvPr id="24" name="Text 22"/>
          <p:cNvSpPr/>
          <p:nvPr/>
        </p:nvSpPr>
        <p:spPr>
          <a:xfrm>
            <a:off x="3474720" y="1508760"/>
            <a:ext cx="411480" cy="411480"/>
          </a:xfrm>
          <a:prstGeom prst="rect">
            <a:avLst/>
          </a:prstGeom>
          <a:noFill/>
          <a:ln/>
        </p:spPr>
        <p:txBody>
          <a:bodyPr wrap="square" rtlCol="0" anchor="ctr"/>
          <a:lstStyle/>
          <a:p>
            <a:pPr marL="0" indent="0" algn="ctr">
              <a:buNone/>
            </a:pPr>
            <a:r>
              <a:rPr lang="en-US" sz="1400" b="1" dirty="0">
                <a:solidFill>
                  <a:srgbClr val="007A99"/>
                </a:solidFill>
                <a:latin typeface="Arial" pitchFamily="34" charset="0"/>
                <a:ea typeface="Arial" pitchFamily="34" charset="-122"/>
                <a:cs typeface="Arial" pitchFamily="34" charset="-120"/>
              </a:rPr>
              <a:t>B</a:t>
            </a:r>
            <a:endParaRPr lang="en-US" sz="1400" dirty="0"/>
          </a:p>
        </p:txBody>
      </p:sp>
      <p:sp>
        <p:nvSpPr>
          <p:cNvPr id="25" name="Text 23"/>
          <p:cNvSpPr/>
          <p:nvPr/>
        </p:nvSpPr>
        <p:spPr>
          <a:xfrm>
            <a:off x="3959352" y="1371600"/>
            <a:ext cx="2039112" cy="68580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Data Platform Owner (IT)</a:t>
            </a:r>
            <a:endParaRPr lang="en-US" sz="1250" dirty="0"/>
          </a:p>
        </p:txBody>
      </p:sp>
      <p:sp>
        <p:nvSpPr>
          <p:cNvPr id="26" name="Text 24"/>
          <p:cNvSpPr/>
          <p:nvPr/>
        </p:nvSpPr>
        <p:spPr>
          <a:xfrm>
            <a:off x="3474720" y="2194560"/>
            <a:ext cx="2450592"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PURPOSE</a:t>
            </a:r>
            <a:endParaRPr lang="en-US" sz="850" dirty="0"/>
          </a:p>
        </p:txBody>
      </p:sp>
      <p:sp>
        <p:nvSpPr>
          <p:cNvPr id="27" name="Text 25"/>
          <p:cNvSpPr/>
          <p:nvPr/>
        </p:nvSpPr>
        <p:spPr>
          <a:xfrm>
            <a:off x="3474720" y="2414016"/>
            <a:ext cx="2450592"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Steward of the data the app creates, holds or consumes. Recommends classification; the Business Owner decides.</a:t>
            </a:r>
            <a:endParaRPr lang="en-US" sz="930" dirty="0"/>
          </a:p>
        </p:txBody>
      </p:sp>
      <p:sp>
        <p:nvSpPr>
          <p:cNvPr id="28" name="Text 26"/>
          <p:cNvSpPr/>
          <p:nvPr/>
        </p:nvSpPr>
        <p:spPr>
          <a:xfrm>
            <a:off x="3474720" y="3035808"/>
            <a:ext cx="2450592"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KEY RESPONSIBILITIES</a:t>
            </a:r>
            <a:endParaRPr lang="en-US" sz="850" dirty="0"/>
          </a:p>
        </p:txBody>
      </p:sp>
      <p:sp>
        <p:nvSpPr>
          <p:cNvPr id="29" name="Text 27"/>
          <p:cNvSpPr/>
          <p:nvPr/>
        </p:nvSpPr>
        <p:spPr>
          <a:xfrm>
            <a:off x="3474720" y="3255264"/>
            <a:ext cx="2450592" cy="1234440"/>
          </a:xfrm>
          <a:prstGeom prst="rect">
            <a:avLst/>
          </a:prstGeom>
          <a:noFill/>
          <a:ln/>
        </p:spPr>
        <p:txBody>
          <a:bodyPr wrap="square" rtlCol="0" anchor="t"/>
          <a:lstStyle/>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Stewardship; recommend classification</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Retention, archival and disposition</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Data quality and lineage</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Approve data sharing and movement</a:t>
            </a:r>
            <a:endParaRPr lang="en-US" sz="930" dirty="0"/>
          </a:p>
        </p:txBody>
      </p:sp>
      <p:sp>
        <p:nvSpPr>
          <p:cNvPr id="30" name="Text 28"/>
          <p:cNvSpPr/>
          <p:nvPr/>
        </p:nvSpPr>
        <p:spPr>
          <a:xfrm>
            <a:off x="3474720" y="4544568"/>
            <a:ext cx="2450592"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ENGAGED WHEN</a:t>
            </a:r>
            <a:endParaRPr lang="en-US" sz="850" dirty="0"/>
          </a:p>
        </p:txBody>
      </p:sp>
      <p:sp>
        <p:nvSpPr>
          <p:cNvPr id="31" name="Text 29"/>
          <p:cNvSpPr/>
          <p:nvPr/>
        </p:nvSpPr>
        <p:spPr>
          <a:xfrm>
            <a:off x="3474720" y="4764024"/>
            <a:ext cx="2450592"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Regulated or sensitive data (Q4), migrations, archival, decommissioning.</a:t>
            </a:r>
            <a:endParaRPr lang="en-US" sz="930" dirty="0"/>
          </a:p>
        </p:txBody>
      </p:sp>
      <p:sp>
        <p:nvSpPr>
          <p:cNvPr id="32" name="Text 30"/>
          <p:cNvSpPr/>
          <p:nvPr/>
        </p:nvSpPr>
        <p:spPr>
          <a:xfrm>
            <a:off x="3474720" y="5385816"/>
            <a:ext cx="2450592"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BUSINESS-OWNED vs IT-OWNED</a:t>
            </a:r>
            <a:endParaRPr lang="en-US" sz="850" dirty="0"/>
          </a:p>
        </p:txBody>
      </p:sp>
      <p:sp>
        <p:nvSpPr>
          <p:cNvPr id="33" name="Text 31"/>
          <p:cNvSpPr/>
          <p:nvPr/>
        </p:nvSpPr>
        <p:spPr>
          <a:xfrm>
            <a:off x="3474720" y="5605272"/>
            <a:ext cx="2450592" cy="777240"/>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Same for both modes. </a:t>
            </a:r>
            <a:endParaRPr lang="en-US" sz="930" dirty="0"/>
          </a:p>
        </p:txBody>
      </p:sp>
      <p:sp>
        <p:nvSpPr>
          <p:cNvPr id="34" name="Shape 32"/>
          <p:cNvSpPr/>
          <p:nvPr/>
        </p:nvSpPr>
        <p:spPr>
          <a:xfrm>
            <a:off x="6217920" y="1325880"/>
            <a:ext cx="2724912" cy="4983480"/>
          </a:xfrm>
          <a:prstGeom prst="rect">
            <a:avLst/>
          </a:prstGeom>
          <a:solidFill>
            <a:srgbClr val="F4F8FC"/>
          </a:solidFill>
          <a:ln w="12700">
            <a:solidFill>
              <a:srgbClr val="CFE3F5"/>
            </a:solidFill>
            <a:prstDash val="solid"/>
          </a:ln>
          <a:effectLst>
            <a:outerShdw blurRad="76200" dist="25400" dir="8100000" algn="bl" rotWithShape="0">
              <a:srgbClr val="0B1730">
                <a:alpha val="14000"/>
              </a:srgbClr>
            </a:outerShdw>
          </a:effectLst>
        </p:spPr>
        <p:txBody>
          <a:bodyPr/>
          <a:lstStyle/>
          <a:p>
            <a:endParaRPr lang="en-US"/>
          </a:p>
        </p:txBody>
      </p:sp>
      <p:sp>
        <p:nvSpPr>
          <p:cNvPr id="35" name="Shape 33"/>
          <p:cNvSpPr/>
          <p:nvPr/>
        </p:nvSpPr>
        <p:spPr>
          <a:xfrm>
            <a:off x="6217920" y="1325880"/>
            <a:ext cx="2724912" cy="777240"/>
          </a:xfrm>
          <a:prstGeom prst="rect">
            <a:avLst/>
          </a:prstGeom>
          <a:solidFill>
            <a:srgbClr val="34557F"/>
          </a:solidFill>
          <a:ln/>
        </p:spPr>
        <p:txBody>
          <a:bodyPr/>
          <a:lstStyle/>
          <a:p>
            <a:endParaRPr lang="en-US"/>
          </a:p>
        </p:txBody>
      </p:sp>
      <p:sp>
        <p:nvSpPr>
          <p:cNvPr id="36" name="Shape 34"/>
          <p:cNvSpPr/>
          <p:nvPr/>
        </p:nvSpPr>
        <p:spPr>
          <a:xfrm>
            <a:off x="6355080" y="1508760"/>
            <a:ext cx="411480" cy="411480"/>
          </a:xfrm>
          <a:prstGeom prst="ellipse">
            <a:avLst/>
          </a:prstGeom>
          <a:solidFill>
            <a:srgbClr val="FFFFFF"/>
          </a:solidFill>
          <a:ln/>
        </p:spPr>
        <p:txBody>
          <a:bodyPr/>
          <a:lstStyle/>
          <a:p>
            <a:endParaRPr lang="en-US"/>
          </a:p>
        </p:txBody>
      </p:sp>
      <p:sp>
        <p:nvSpPr>
          <p:cNvPr id="37" name="Text 35"/>
          <p:cNvSpPr/>
          <p:nvPr/>
        </p:nvSpPr>
        <p:spPr>
          <a:xfrm>
            <a:off x="6355080" y="1508760"/>
            <a:ext cx="411480" cy="411480"/>
          </a:xfrm>
          <a:prstGeom prst="rect">
            <a:avLst/>
          </a:prstGeom>
          <a:noFill/>
          <a:ln/>
        </p:spPr>
        <p:txBody>
          <a:bodyPr wrap="square" rtlCol="0" anchor="ctr"/>
          <a:lstStyle/>
          <a:p>
            <a:pPr marL="0" indent="0" algn="ctr">
              <a:buNone/>
            </a:pPr>
            <a:r>
              <a:rPr lang="en-US" sz="1400" b="1" dirty="0">
                <a:solidFill>
                  <a:srgbClr val="34557F"/>
                </a:solidFill>
                <a:latin typeface="Arial" pitchFamily="34" charset="0"/>
                <a:ea typeface="Arial" pitchFamily="34" charset="-122"/>
                <a:cs typeface="Arial" pitchFamily="34" charset="-120"/>
              </a:rPr>
              <a:t>C</a:t>
            </a:r>
            <a:endParaRPr lang="en-US" sz="1400" dirty="0"/>
          </a:p>
        </p:txBody>
      </p:sp>
      <p:sp>
        <p:nvSpPr>
          <p:cNvPr id="38" name="Text 36"/>
          <p:cNvSpPr/>
          <p:nvPr/>
        </p:nvSpPr>
        <p:spPr>
          <a:xfrm>
            <a:off x="6839712" y="1371600"/>
            <a:ext cx="2039112" cy="68580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Solution / Domain Architect</a:t>
            </a:r>
            <a:endParaRPr lang="en-US" sz="1250" dirty="0"/>
          </a:p>
        </p:txBody>
      </p:sp>
      <p:sp>
        <p:nvSpPr>
          <p:cNvPr id="39" name="Text 37"/>
          <p:cNvSpPr/>
          <p:nvPr/>
        </p:nvSpPr>
        <p:spPr>
          <a:xfrm>
            <a:off x="6355080" y="2194560"/>
            <a:ext cx="2450592"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PURPOSE</a:t>
            </a:r>
            <a:endParaRPr lang="en-US" sz="850" dirty="0"/>
          </a:p>
        </p:txBody>
      </p:sp>
      <p:sp>
        <p:nvSpPr>
          <p:cNvPr id="40" name="Text 38"/>
          <p:cNvSpPr/>
          <p:nvPr/>
        </p:nvSpPr>
        <p:spPr>
          <a:xfrm>
            <a:off x="6355080" y="2414016"/>
            <a:ext cx="2450592"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Design authority for the app within its value stream.</a:t>
            </a:r>
            <a:endParaRPr lang="en-US" sz="930" dirty="0"/>
          </a:p>
        </p:txBody>
      </p:sp>
      <p:sp>
        <p:nvSpPr>
          <p:cNvPr id="41" name="Text 39"/>
          <p:cNvSpPr/>
          <p:nvPr/>
        </p:nvSpPr>
        <p:spPr>
          <a:xfrm>
            <a:off x="6355080" y="3035808"/>
            <a:ext cx="2450592"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KEY RESPONSIBILITIES</a:t>
            </a:r>
            <a:endParaRPr lang="en-US" sz="850" dirty="0"/>
          </a:p>
        </p:txBody>
      </p:sp>
      <p:sp>
        <p:nvSpPr>
          <p:cNvPr id="42" name="Text 40"/>
          <p:cNvSpPr/>
          <p:nvPr/>
        </p:nvSpPr>
        <p:spPr>
          <a:xfrm>
            <a:off x="6355080" y="3255264"/>
            <a:ext cx="2450592" cy="1234440"/>
          </a:xfrm>
          <a:prstGeom prst="rect">
            <a:avLst/>
          </a:prstGeom>
          <a:noFill/>
          <a:ln/>
        </p:spPr>
        <p:txBody>
          <a:bodyPr wrap="square" rtlCol="0" anchor="t"/>
          <a:lstStyle/>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Domain: 'what and why' for the capability</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Solution: 'how' (design, patterns, integration)</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Prepare designs for TAR / ARB</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Track design-level tech debt</a:t>
            </a:r>
            <a:endParaRPr lang="en-US" sz="930" dirty="0"/>
          </a:p>
        </p:txBody>
      </p:sp>
      <p:sp>
        <p:nvSpPr>
          <p:cNvPr id="43" name="Text 41"/>
          <p:cNvSpPr/>
          <p:nvPr/>
        </p:nvSpPr>
        <p:spPr>
          <a:xfrm>
            <a:off x="6355080" y="4544568"/>
            <a:ext cx="2450592"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ENGAGED WHEN</a:t>
            </a:r>
            <a:endParaRPr lang="en-US" sz="850" dirty="0"/>
          </a:p>
        </p:txBody>
      </p:sp>
      <p:sp>
        <p:nvSpPr>
          <p:cNvPr id="44" name="Text 42"/>
          <p:cNvSpPr/>
          <p:nvPr/>
        </p:nvSpPr>
        <p:spPr>
          <a:xfrm>
            <a:off x="6355080" y="4764024"/>
            <a:ext cx="2450592"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New solutions, significant change, integration design, TAR reviews.</a:t>
            </a:r>
            <a:endParaRPr lang="en-US" sz="930" dirty="0"/>
          </a:p>
        </p:txBody>
      </p:sp>
      <p:sp>
        <p:nvSpPr>
          <p:cNvPr id="45" name="Text 43"/>
          <p:cNvSpPr/>
          <p:nvPr/>
        </p:nvSpPr>
        <p:spPr>
          <a:xfrm>
            <a:off x="6355080" y="5385816"/>
            <a:ext cx="2450592"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BUSINESS-OWNED vs IT-OWNED</a:t>
            </a:r>
            <a:endParaRPr lang="en-US" sz="850" dirty="0"/>
          </a:p>
        </p:txBody>
      </p:sp>
      <p:sp>
        <p:nvSpPr>
          <p:cNvPr id="46" name="Text 44"/>
          <p:cNvSpPr/>
          <p:nvPr/>
        </p:nvSpPr>
        <p:spPr>
          <a:xfrm>
            <a:off x="6355080" y="5605272"/>
            <a:ext cx="2450592" cy="777240"/>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Business-owned: VS-aligned solution &amp; domain architect. IT-owned: Tech Foundation architect for the platform.</a:t>
            </a:r>
            <a:endParaRPr lang="en-US" sz="930" dirty="0"/>
          </a:p>
        </p:txBody>
      </p:sp>
      <p:sp>
        <p:nvSpPr>
          <p:cNvPr id="47" name="Shape 45"/>
          <p:cNvSpPr/>
          <p:nvPr/>
        </p:nvSpPr>
        <p:spPr>
          <a:xfrm>
            <a:off x="9098280" y="1325880"/>
            <a:ext cx="2724912" cy="4983480"/>
          </a:xfrm>
          <a:prstGeom prst="rect">
            <a:avLst/>
          </a:prstGeom>
          <a:solidFill>
            <a:srgbClr val="F4F8FC"/>
          </a:solidFill>
          <a:ln w="12700">
            <a:solidFill>
              <a:srgbClr val="CFE3F5"/>
            </a:solidFill>
            <a:prstDash val="solid"/>
          </a:ln>
          <a:effectLst>
            <a:outerShdw blurRad="76200" dist="25400" dir="8100000" algn="bl" rotWithShape="0">
              <a:srgbClr val="0B1730">
                <a:alpha val="14000"/>
              </a:srgbClr>
            </a:outerShdw>
          </a:effectLst>
        </p:spPr>
        <p:txBody>
          <a:bodyPr/>
          <a:lstStyle/>
          <a:p>
            <a:endParaRPr lang="en-US"/>
          </a:p>
        </p:txBody>
      </p:sp>
      <p:sp>
        <p:nvSpPr>
          <p:cNvPr id="48" name="Shape 46"/>
          <p:cNvSpPr/>
          <p:nvPr/>
        </p:nvSpPr>
        <p:spPr>
          <a:xfrm>
            <a:off x="9098280" y="1325880"/>
            <a:ext cx="2724912" cy="777240"/>
          </a:xfrm>
          <a:prstGeom prst="rect">
            <a:avLst/>
          </a:prstGeom>
          <a:solidFill>
            <a:srgbClr val="001489"/>
          </a:solidFill>
          <a:ln/>
        </p:spPr>
        <p:txBody>
          <a:bodyPr/>
          <a:lstStyle/>
          <a:p>
            <a:endParaRPr lang="en-US"/>
          </a:p>
        </p:txBody>
      </p:sp>
      <p:sp>
        <p:nvSpPr>
          <p:cNvPr id="49" name="Shape 47"/>
          <p:cNvSpPr/>
          <p:nvPr/>
        </p:nvSpPr>
        <p:spPr>
          <a:xfrm>
            <a:off x="9235440" y="1508760"/>
            <a:ext cx="411480" cy="411480"/>
          </a:xfrm>
          <a:prstGeom prst="ellipse">
            <a:avLst/>
          </a:prstGeom>
          <a:solidFill>
            <a:srgbClr val="FFFFFF"/>
          </a:solidFill>
          <a:ln/>
        </p:spPr>
        <p:txBody>
          <a:bodyPr/>
          <a:lstStyle/>
          <a:p>
            <a:endParaRPr lang="en-US"/>
          </a:p>
        </p:txBody>
      </p:sp>
      <p:sp>
        <p:nvSpPr>
          <p:cNvPr id="50" name="Text 48"/>
          <p:cNvSpPr/>
          <p:nvPr/>
        </p:nvSpPr>
        <p:spPr>
          <a:xfrm>
            <a:off x="9235440" y="1508760"/>
            <a:ext cx="411480" cy="411480"/>
          </a:xfrm>
          <a:prstGeom prst="rect">
            <a:avLst/>
          </a:prstGeom>
          <a:noFill/>
          <a:ln/>
        </p:spPr>
        <p:txBody>
          <a:bodyPr wrap="square" rtlCol="0" anchor="ctr"/>
          <a:lstStyle/>
          <a:p>
            <a:pPr marL="0" indent="0" algn="ctr">
              <a:buNone/>
            </a:pPr>
            <a:r>
              <a:rPr lang="en-US" sz="1400" b="1" dirty="0">
                <a:solidFill>
                  <a:srgbClr val="001489"/>
                </a:solidFill>
                <a:latin typeface="Arial" pitchFamily="34" charset="0"/>
                <a:ea typeface="Arial" pitchFamily="34" charset="-122"/>
                <a:cs typeface="Arial" pitchFamily="34" charset="-120"/>
              </a:rPr>
              <a:t>D</a:t>
            </a:r>
            <a:endParaRPr lang="en-US" sz="1400" dirty="0"/>
          </a:p>
        </p:txBody>
      </p:sp>
      <p:sp>
        <p:nvSpPr>
          <p:cNvPr id="51" name="Text 49"/>
          <p:cNvSpPr/>
          <p:nvPr/>
        </p:nvSpPr>
        <p:spPr>
          <a:xfrm>
            <a:off x="9720072" y="1371600"/>
            <a:ext cx="2039112" cy="68580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Security SME</a:t>
            </a:r>
            <a:endParaRPr lang="en-US" sz="1250" dirty="0"/>
          </a:p>
        </p:txBody>
      </p:sp>
      <p:sp>
        <p:nvSpPr>
          <p:cNvPr id="52" name="Text 50"/>
          <p:cNvSpPr/>
          <p:nvPr/>
        </p:nvSpPr>
        <p:spPr>
          <a:xfrm>
            <a:off x="9235440" y="2194560"/>
            <a:ext cx="2450592"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PURPOSE</a:t>
            </a:r>
            <a:endParaRPr lang="en-US" sz="850" dirty="0"/>
          </a:p>
        </p:txBody>
      </p:sp>
      <p:sp>
        <p:nvSpPr>
          <p:cNvPr id="53" name="Text 51"/>
          <p:cNvSpPr/>
          <p:nvPr/>
        </p:nvSpPr>
        <p:spPr>
          <a:xfrm>
            <a:off x="9235440" y="2414016"/>
            <a:ext cx="2450592"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Makes sure the app meets security baselines and regulatory controls.</a:t>
            </a:r>
            <a:endParaRPr lang="en-US" sz="930" dirty="0"/>
          </a:p>
        </p:txBody>
      </p:sp>
      <p:sp>
        <p:nvSpPr>
          <p:cNvPr id="54" name="Text 52"/>
          <p:cNvSpPr/>
          <p:nvPr/>
        </p:nvSpPr>
        <p:spPr>
          <a:xfrm>
            <a:off x="9235440" y="3035808"/>
            <a:ext cx="2450592"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KEY RESPONSIBILITIES</a:t>
            </a:r>
            <a:endParaRPr lang="en-US" sz="850" dirty="0"/>
          </a:p>
        </p:txBody>
      </p:sp>
      <p:sp>
        <p:nvSpPr>
          <p:cNvPr id="55" name="Text 53"/>
          <p:cNvSpPr/>
          <p:nvPr/>
        </p:nvSpPr>
        <p:spPr>
          <a:xfrm>
            <a:off x="9235440" y="3255264"/>
            <a:ext cx="2450592" cy="1234440"/>
          </a:xfrm>
          <a:prstGeom prst="rect">
            <a:avLst/>
          </a:prstGeom>
          <a:noFill/>
          <a:ln/>
        </p:spPr>
        <p:txBody>
          <a:bodyPr wrap="square" rtlCol="0" anchor="t"/>
          <a:lstStyle/>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Security baselines and hardening</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IAM / SSO / PAM integration</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SOX, NERC-CIP and BCSI controls</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Vulnerability and risk findings</a:t>
            </a:r>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Coordinates Penetration Testing</a:t>
            </a:r>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Owns RBAC and Role Assignments</a:t>
            </a:r>
            <a:endParaRPr lang="en-US" sz="930" dirty="0"/>
          </a:p>
        </p:txBody>
      </p:sp>
      <p:sp>
        <p:nvSpPr>
          <p:cNvPr id="56" name="Text 54"/>
          <p:cNvSpPr/>
          <p:nvPr/>
        </p:nvSpPr>
        <p:spPr>
          <a:xfrm>
            <a:off x="9235440" y="4544568"/>
            <a:ext cx="2450592"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ENGAGED WHEN</a:t>
            </a:r>
            <a:endParaRPr lang="en-US" sz="850" dirty="0"/>
          </a:p>
        </p:txBody>
      </p:sp>
      <p:sp>
        <p:nvSpPr>
          <p:cNvPr id="57" name="Text 55"/>
          <p:cNvSpPr/>
          <p:nvPr/>
        </p:nvSpPr>
        <p:spPr>
          <a:xfrm>
            <a:off x="9235440" y="4764024"/>
            <a:ext cx="2450592"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Regulated data, external exposure, new access patterns, audits.</a:t>
            </a:r>
            <a:endParaRPr lang="en-US" sz="930" dirty="0"/>
          </a:p>
        </p:txBody>
      </p:sp>
      <p:sp>
        <p:nvSpPr>
          <p:cNvPr id="58" name="Text 56"/>
          <p:cNvSpPr/>
          <p:nvPr/>
        </p:nvSpPr>
        <p:spPr>
          <a:xfrm>
            <a:off x="9235440" y="5385816"/>
            <a:ext cx="2450592"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BUSINESS-OWNED vs IT-OWNED</a:t>
            </a:r>
            <a:endParaRPr lang="en-US" sz="850" dirty="0"/>
          </a:p>
        </p:txBody>
      </p:sp>
      <p:sp>
        <p:nvSpPr>
          <p:cNvPr id="59" name="Text 57"/>
          <p:cNvSpPr/>
          <p:nvPr/>
        </p:nvSpPr>
        <p:spPr>
          <a:xfrm>
            <a:off x="9235440" y="5605272"/>
            <a:ext cx="2450592" cy="777240"/>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Same role in both modes. For security tooling (CyberArk, SailPoint) Cybersecurity is also IT Owner, so IT Risk / GRC acts as independent reviewer. Segregation of Duties.</a:t>
            </a:r>
            <a:endParaRPr lang="en-US" sz="930" dirty="0"/>
          </a:p>
        </p:txBody>
      </p:sp>
      <p:sp>
        <p:nvSpPr>
          <p:cNvPr id="60" name="Text 58"/>
          <p:cNvSpPr/>
          <p:nvPr/>
        </p:nvSpPr>
        <p:spPr>
          <a:xfrm>
            <a:off x="457200" y="6492240"/>
            <a:ext cx="1828800" cy="237744"/>
          </a:xfrm>
          <a:prstGeom prst="rect">
            <a:avLst/>
          </a:prstGeom>
          <a:noFill/>
          <a:ln/>
        </p:spPr>
        <p:txBody>
          <a:bodyPr wrap="square" rtlCol="0" anchor="ctr"/>
          <a:lstStyle/>
          <a:p>
            <a:pPr marL="0" indent="0">
              <a:buNone/>
            </a:pPr>
            <a:r>
              <a:rPr lang="en-US" sz="850" i="1" dirty="0">
                <a:solidFill>
                  <a:srgbClr val="6A6157"/>
                </a:solidFill>
                <a:latin typeface="Calibri" pitchFamily="34" charset="0"/>
                <a:ea typeface="Calibri" pitchFamily="34" charset="-122"/>
                <a:cs typeface="Calibri" pitchFamily="34" charset="-120"/>
              </a:rPr>
              <a:t>Business Use</a:t>
            </a:r>
            <a:endParaRPr lang="en-US" sz="850" dirty="0"/>
          </a:p>
        </p:txBody>
      </p:sp>
      <p:sp>
        <p:nvSpPr>
          <p:cNvPr id="61" name="Text 59"/>
          <p:cNvSpPr/>
          <p:nvPr/>
        </p:nvSpPr>
        <p:spPr>
          <a:xfrm>
            <a:off x="2286000" y="6492240"/>
            <a:ext cx="5486400" cy="237744"/>
          </a:xfrm>
          <a:prstGeom prst="rect">
            <a:avLst/>
          </a:prstGeom>
          <a:noFill/>
          <a:ln/>
        </p:spPr>
        <p:txBody>
          <a:bodyPr wrap="square" rtlCol="0" anchor="ctr"/>
          <a:lstStyle/>
          <a:p>
            <a:pPr marL="0" indent="0">
              <a:buNone/>
            </a:pPr>
            <a:r>
              <a:rPr lang="en-US" sz="850" dirty="0">
                <a:solidFill>
                  <a:srgbClr val="6A6157"/>
                </a:solidFill>
                <a:latin typeface="Calibri" pitchFamily="34" charset="0"/>
                <a:ea typeface="Calibri" pitchFamily="34" charset="-122"/>
                <a:cs typeface="Calibri" pitchFamily="34" charset="-120"/>
              </a:rPr>
              <a:t>Application Ownership Governance — Role Cards</a:t>
            </a:r>
            <a:endParaRPr lang="en-US" sz="850" dirty="0"/>
          </a:p>
        </p:txBody>
      </p:sp>
      <p:sp>
        <p:nvSpPr>
          <p:cNvPr id="62" name="Text 60"/>
          <p:cNvSpPr/>
          <p:nvPr/>
        </p:nvSpPr>
        <p:spPr>
          <a:xfrm>
            <a:off x="7772400" y="6492240"/>
            <a:ext cx="3959352" cy="237744"/>
          </a:xfrm>
          <a:prstGeom prst="rect">
            <a:avLst/>
          </a:prstGeom>
          <a:noFill/>
          <a:ln/>
        </p:spPr>
        <p:txBody>
          <a:bodyPr wrap="square" rtlCol="0" anchor="ctr"/>
          <a:lstStyle/>
          <a:p>
            <a:pPr marL="0" indent="0" algn="r">
              <a:buNone/>
            </a:pPr>
            <a:r>
              <a:rPr lang="en-US" sz="850" dirty="0">
                <a:solidFill>
                  <a:srgbClr val="6A6157"/>
                </a:solidFill>
                <a:latin typeface="Calibri" pitchFamily="34" charset="0"/>
                <a:ea typeface="Calibri" pitchFamily="34" charset="-122"/>
                <a:cs typeface="Calibri" pitchFamily="34" charset="-120"/>
              </a:rPr>
              <a:t>© PPL Corporation 2026   |   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78992"/>
          </a:xfrm>
          <a:prstGeom prst="rect">
            <a:avLst/>
          </a:prstGeom>
          <a:solidFill>
            <a:srgbClr val="001489"/>
          </a:solidFill>
          <a:ln/>
        </p:spPr>
        <p:txBody>
          <a:bodyPr/>
          <a:lstStyle/>
          <a:p>
            <a:endParaRPr lang="en-US"/>
          </a:p>
        </p:txBody>
      </p:sp>
      <p:sp>
        <p:nvSpPr>
          <p:cNvPr id="3" name="Shape 1"/>
          <p:cNvSpPr/>
          <p:nvPr/>
        </p:nvSpPr>
        <p:spPr>
          <a:xfrm>
            <a:off x="0" y="1078992"/>
            <a:ext cx="12188952" cy="54864"/>
          </a:xfrm>
          <a:prstGeom prst="rect">
            <a:avLst/>
          </a:prstGeom>
          <a:solidFill>
            <a:srgbClr val="0085CA"/>
          </a:solidFill>
          <a:ln/>
        </p:spPr>
        <p:txBody>
          <a:bodyPr/>
          <a:lstStyle/>
          <a:p>
            <a:endParaRPr lang="en-US"/>
          </a:p>
        </p:txBody>
      </p:sp>
      <p:sp>
        <p:nvSpPr>
          <p:cNvPr id="4" name="Text 2"/>
          <p:cNvSpPr/>
          <p:nvPr/>
        </p:nvSpPr>
        <p:spPr>
          <a:xfrm>
            <a:off x="457200" y="182880"/>
            <a:ext cx="10058400" cy="256032"/>
          </a:xfrm>
          <a:prstGeom prst="rect">
            <a:avLst/>
          </a:prstGeom>
          <a:noFill/>
          <a:ln/>
        </p:spPr>
        <p:txBody>
          <a:bodyPr wrap="square" rtlCol="0" anchor="ctr"/>
          <a:lstStyle/>
          <a:p>
            <a:pPr marL="0" indent="0">
              <a:buNone/>
            </a:pPr>
            <a:r>
              <a:rPr lang="en-US" sz="1100" b="1" kern="0" spc="300" dirty="0">
                <a:solidFill>
                  <a:srgbClr val="8FC7EA"/>
                </a:solidFill>
                <a:latin typeface="Calibri" pitchFamily="34" charset="0"/>
                <a:ea typeface="Calibri" pitchFamily="34" charset="-122"/>
                <a:cs typeface="Calibri" pitchFamily="34" charset="-120"/>
              </a:rPr>
              <a:t>ROLE CARDS · SUPPORTING / CONSULTED OWNERS</a:t>
            </a:r>
            <a:endParaRPr lang="en-US" sz="1100" dirty="0"/>
          </a:p>
        </p:txBody>
      </p:sp>
      <p:sp>
        <p:nvSpPr>
          <p:cNvPr id="5" name="Text 3"/>
          <p:cNvSpPr/>
          <p:nvPr/>
        </p:nvSpPr>
        <p:spPr>
          <a:xfrm>
            <a:off x="457200" y="420624"/>
            <a:ext cx="10515600" cy="566928"/>
          </a:xfrm>
          <a:prstGeom prst="rect">
            <a:avLst/>
          </a:prstGeom>
          <a:noFill/>
          <a:ln/>
        </p:spPr>
        <p:txBody>
          <a:bodyPr wrap="square" rtlCol="0" anchor="ctr"/>
          <a:lstStyle/>
          <a:p>
            <a:pPr marL="0" indent="0">
              <a:buNone/>
            </a:pPr>
            <a:r>
              <a:rPr lang="en-US" sz="2300" b="1" dirty="0">
                <a:solidFill>
                  <a:srgbClr val="FFFFFF"/>
                </a:solidFill>
                <a:latin typeface="Arial" pitchFamily="34" charset="0"/>
                <a:ea typeface="Arial" pitchFamily="34" charset="-122"/>
                <a:cs typeface="Arial" pitchFamily="34" charset="-120"/>
              </a:rPr>
              <a:t>Platform, architecture and vendor roles</a:t>
            </a:r>
            <a:endParaRPr lang="en-US" sz="2300" dirty="0"/>
          </a:p>
        </p:txBody>
      </p:sp>
      <p:sp>
        <p:nvSpPr>
          <p:cNvPr id="6" name="Shape 4"/>
          <p:cNvSpPr/>
          <p:nvPr/>
        </p:nvSpPr>
        <p:spPr>
          <a:xfrm>
            <a:off x="11073384" y="384048"/>
            <a:ext cx="658368" cy="310896"/>
          </a:xfrm>
          <a:prstGeom prst="rect">
            <a:avLst/>
          </a:prstGeom>
          <a:solidFill>
            <a:srgbClr val="FFFFFF"/>
          </a:solidFill>
          <a:ln/>
        </p:spPr>
        <p:txBody>
          <a:bodyPr/>
          <a:lstStyle/>
          <a:p>
            <a:endParaRPr lang="en-US"/>
          </a:p>
        </p:txBody>
      </p:sp>
      <p:sp>
        <p:nvSpPr>
          <p:cNvPr id="7" name="Text 5"/>
          <p:cNvSpPr/>
          <p:nvPr/>
        </p:nvSpPr>
        <p:spPr>
          <a:xfrm>
            <a:off x="11073384" y="384048"/>
            <a:ext cx="658368" cy="310896"/>
          </a:xfrm>
          <a:prstGeom prst="rect">
            <a:avLst/>
          </a:prstGeom>
          <a:noFill/>
          <a:ln/>
        </p:spPr>
        <p:txBody>
          <a:bodyPr wrap="square" rtlCol="0" anchor="ctr"/>
          <a:lstStyle/>
          <a:p>
            <a:pPr marL="0" indent="0" algn="ctr">
              <a:buNone/>
            </a:pPr>
            <a:r>
              <a:rPr lang="en-US" sz="1500" b="1" dirty="0">
                <a:solidFill>
                  <a:srgbClr val="001489"/>
                </a:solidFill>
                <a:latin typeface="Arial" pitchFamily="34" charset="0"/>
                <a:ea typeface="Arial" pitchFamily="34" charset="-122"/>
                <a:cs typeface="Arial" pitchFamily="34" charset="-120"/>
              </a:rPr>
              <a:t>PPL</a:t>
            </a:r>
            <a:endParaRPr lang="en-US" sz="1500" dirty="0"/>
          </a:p>
        </p:txBody>
      </p:sp>
      <p:sp>
        <p:nvSpPr>
          <p:cNvPr id="8" name="Shape 6"/>
          <p:cNvSpPr/>
          <p:nvPr/>
        </p:nvSpPr>
        <p:spPr>
          <a:xfrm>
            <a:off x="457200" y="1325880"/>
            <a:ext cx="3657600" cy="4983480"/>
          </a:xfrm>
          <a:prstGeom prst="rect">
            <a:avLst/>
          </a:prstGeom>
          <a:solidFill>
            <a:srgbClr val="F4F8FC"/>
          </a:solidFill>
          <a:ln w="12700">
            <a:solidFill>
              <a:srgbClr val="CFE3F5"/>
            </a:solidFill>
            <a:prstDash val="solid"/>
          </a:ln>
          <a:effectLst>
            <a:outerShdw blurRad="76200" dist="25400" dir="8100000" algn="bl" rotWithShape="0">
              <a:srgbClr val="0B1730">
                <a:alpha val="14000"/>
              </a:srgbClr>
            </a:outerShdw>
          </a:effectLst>
        </p:spPr>
        <p:txBody>
          <a:bodyPr/>
          <a:lstStyle/>
          <a:p>
            <a:endParaRPr lang="en-US"/>
          </a:p>
        </p:txBody>
      </p:sp>
      <p:sp>
        <p:nvSpPr>
          <p:cNvPr id="9" name="Shape 7"/>
          <p:cNvSpPr/>
          <p:nvPr/>
        </p:nvSpPr>
        <p:spPr>
          <a:xfrm>
            <a:off x="457200" y="1325880"/>
            <a:ext cx="3657600" cy="777240"/>
          </a:xfrm>
          <a:prstGeom prst="rect">
            <a:avLst/>
          </a:prstGeom>
          <a:solidFill>
            <a:srgbClr val="007A99"/>
          </a:solidFill>
          <a:ln/>
        </p:spPr>
        <p:txBody>
          <a:bodyPr/>
          <a:lstStyle/>
          <a:p>
            <a:endParaRPr lang="en-US"/>
          </a:p>
        </p:txBody>
      </p:sp>
      <p:sp>
        <p:nvSpPr>
          <p:cNvPr id="10" name="Shape 8"/>
          <p:cNvSpPr/>
          <p:nvPr/>
        </p:nvSpPr>
        <p:spPr>
          <a:xfrm>
            <a:off x="594360" y="1508760"/>
            <a:ext cx="411480" cy="411480"/>
          </a:xfrm>
          <a:prstGeom prst="ellipse">
            <a:avLst/>
          </a:prstGeom>
          <a:solidFill>
            <a:srgbClr val="FFFFFF"/>
          </a:solidFill>
          <a:ln/>
        </p:spPr>
        <p:txBody>
          <a:bodyPr/>
          <a:lstStyle/>
          <a:p>
            <a:endParaRPr lang="en-US"/>
          </a:p>
        </p:txBody>
      </p:sp>
      <p:sp>
        <p:nvSpPr>
          <p:cNvPr id="11" name="Text 9"/>
          <p:cNvSpPr/>
          <p:nvPr/>
        </p:nvSpPr>
        <p:spPr>
          <a:xfrm>
            <a:off x="594360" y="1508760"/>
            <a:ext cx="411480" cy="411480"/>
          </a:xfrm>
          <a:prstGeom prst="rect">
            <a:avLst/>
          </a:prstGeom>
          <a:noFill/>
          <a:ln/>
        </p:spPr>
        <p:txBody>
          <a:bodyPr wrap="square" rtlCol="0" anchor="ctr"/>
          <a:lstStyle/>
          <a:p>
            <a:pPr marL="0" indent="0" algn="ctr">
              <a:buNone/>
            </a:pPr>
            <a:r>
              <a:rPr lang="en-US" sz="1400" b="1" dirty="0">
                <a:solidFill>
                  <a:srgbClr val="007A99"/>
                </a:solidFill>
                <a:latin typeface="Arial" pitchFamily="34" charset="0"/>
                <a:ea typeface="Arial" pitchFamily="34" charset="-122"/>
                <a:cs typeface="Arial" pitchFamily="34" charset="-120"/>
              </a:rPr>
              <a:t>E</a:t>
            </a:r>
            <a:endParaRPr lang="en-US" sz="1400" dirty="0"/>
          </a:p>
        </p:txBody>
      </p:sp>
      <p:sp>
        <p:nvSpPr>
          <p:cNvPr id="12" name="Text 10"/>
          <p:cNvSpPr/>
          <p:nvPr/>
        </p:nvSpPr>
        <p:spPr>
          <a:xfrm>
            <a:off x="1078992" y="1371600"/>
            <a:ext cx="2971800" cy="68580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Infra / Platform SME</a:t>
            </a:r>
            <a:endParaRPr lang="en-US" sz="1250" dirty="0"/>
          </a:p>
        </p:txBody>
      </p:sp>
      <p:sp>
        <p:nvSpPr>
          <p:cNvPr id="13" name="Text 11"/>
          <p:cNvSpPr/>
          <p:nvPr/>
        </p:nvSpPr>
        <p:spPr>
          <a:xfrm>
            <a:off x="594360" y="2194560"/>
            <a:ext cx="3383280"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PURPOSE</a:t>
            </a:r>
            <a:endParaRPr lang="en-US" sz="850" dirty="0"/>
          </a:p>
        </p:txBody>
      </p:sp>
      <p:sp>
        <p:nvSpPr>
          <p:cNvPr id="14" name="Text 12"/>
          <p:cNvSpPr/>
          <p:nvPr/>
        </p:nvSpPr>
        <p:spPr>
          <a:xfrm>
            <a:off x="594360" y="2414016"/>
            <a:ext cx="3383280"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Provides the hosting and platform foundation the app runs on.</a:t>
            </a:r>
            <a:endParaRPr lang="en-US" sz="930" dirty="0"/>
          </a:p>
        </p:txBody>
      </p:sp>
      <p:sp>
        <p:nvSpPr>
          <p:cNvPr id="15" name="Text 13"/>
          <p:cNvSpPr/>
          <p:nvPr/>
        </p:nvSpPr>
        <p:spPr>
          <a:xfrm>
            <a:off x="594360" y="3035808"/>
            <a:ext cx="3383280"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KEY RESPONSIBILITIES</a:t>
            </a:r>
            <a:endParaRPr lang="en-US" sz="850" dirty="0"/>
          </a:p>
        </p:txBody>
      </p:sp>
      <p:sp>
        <p:nvSpPr>
          <p:cNvPr id="16" name="Text 14"/>
          <p:cNvSpPr/>
          <p:nvPr/>
        </p:nvSpPr>
        <p:spPr>
          <a:xfrm>
            <a:off x="594360" y="3255264"/>
            <a:ext cx="3383280" cy="1234440"/>
          </a:xfrm>
          <a:prstGeom prst="rect">
            <a:avLst/>
          </a:prstGeom>
          <a:noFill/>
          <a:ln/>
        </p:spPr>
        <p:txBody>
          <a:bodyPr wrap="square" rtlCol="0" anchor="t"/>
          <a:lstStyle/>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Hosting, compute, golden images and IaC</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Environments (Dev / Test / Pre-Prod / Prod)</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Backup, DR and capacity</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Non-functional standards</a:t>
            </a:r>
          </a:p>
        </p:txBody>
      </p:sp>
      <p:sp>
        <p:nvSpPr>
          <p:cNvPr id="17" name="Text 15"/>
          <p:cNvSpPr/>
          <p:nvPr/>
        </p:nvSpPr>
        <p:spPr>
          <a:xfrm>
            <a:off x="594360" y="4544568"/>
            <a:ext cx="3383280"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ENGAGED WHEN</a:t>
            </a:r>
            <a:endParaRPr lang="en-US" sz="850" dirty="0"/>
          </a:p>
        </p:txBody>
      </p:sp>
      <p:sp>
        <p:nvSpPr>
          <p:cNvPr id="18" name="Text 16"/>
          <p:cNvSpPr/>
          <p:nvPr/>
        </p:nvSpPr>
        <p:spPr>
          <a:xfrm>
            <a:off x="594360" y="4764024"/>
            <a:ext cx="3383280"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Hosting changes, cloud migration, environment requests, DR testing.</a:t>
            </a:r>
            <a:endParaRPr lang="en-US" sz="930" dirty="0"/>
          </a:p>
        </p:txBody>
      </p:sp>
      <p:sp>
        <p:nvSpPr>
          <p:cNvPr id="19" name="Text 17"/>
          <p:cNvSpPr/>
          <p:nvPr/>
        </p:nvSpPr>
        <p:spPr>
          <a:xfrm>
            <a:off x="594360" y="5385816"/>
            <a:ext cx="3383280"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BUSINESS-OWNED vs IT-OWNED</a:t>
            </a:r>
            <a:endParaRPr lang="en-US" sz="850" dirty="0"/>
          </a:p>
        </p:txBody>
      </p:sp>
      <p:sp>
        <p:nvSpPr>
          <p:cNvPr id="20" name="Text 18"/>
          <p:cNvSpPr/>
          <p:nvPr/>
        </p:nvSpPr>
        <p:spPr>
          <a:xfrm>
            <a:off x="594360" y="5605272"/>
            <a:ext cx="3383280" cy="777240"/>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Business-owned: consulted service provider. IT-owned infra tools: usually the IT Owner itself.</a:t>
            </a:r>
            <a:endParaRPr lang="en-US" sz="930" dirty="0"/>
          </a:p>
        </p:txBody>
      </p:sp>
      <p:sp>
        <p:nvSpPr>
          <p:cNvPr id="21" name="Shape 19"/>
          <p:cNvSpPr/>
          <p:nvPr/>
        </p:nvSpPr>
        <p:spPr>
          <a:xfrm>
            <a:off x="4270248" y="1325880"/>
            <a:ext cx="3657600" cy="4983480"/>
          </a:xfrm>
          <a:prstGeom prst="rect">
            <a:avLst/>
          </a:prstGeom>
          <a:solidFill>
            <a:srgbClr val="F4F8FC"/>
          </a:solidFill>
          <a:ln w="12700">
            <a:solidFill>
              <a:srgbClr val="CFE3F5"/>
            </a:solidFill>
            <a:prstDash val="solid"/>
          </a:ln>
          <a:effectLst>
            <a:outerShdw blurRad="76200" dist="25400" dir="8100000" algn="bl" rotWithShape="0">
              <a:srgbClr val="0B1730">
                <a:alpha val="14000"/>
              </a:srgbClr>
            </a:outerShdw>
          </a:effectLst>
        </p:spPr>
        <p:txBody>
          <a:bodyPr/>
          <a:lstStyle/>
          <a:p>
            <a:endParaRPr lang="en-US"/>
          </a:p>
        </p:txBody>
      </p:sp>
      <p:sp>
        <p:nvSpPr>
          <p:cNvPr id="22" name="Shape 20"/>
          <p:cNvSpPr/>
          <p:nvPr/>
        </p:nvSpPr>
        <p:spPr>
          <a:xfrm>
            <a:off x="4270248" y="1325880"/>
            <a:ext cx="3657600" cy="777240"/>
          </a:xfrm>
          <a:prstGeom prst="rect">
            <a:avLst/>
          </a:prstGeom>
          <a:solidFill>
            <a:srgbClr val="817169"/>
          </a:solidFill>
          <a:ln/>
        </p:spPr>
        <p:txBody>
          <a:bodyPr/>
          <a:lstStyle/>
          <a:p>
            <a:endParaRPr lang="en-US"/>
          </a:p>
        </p:txBody>
      </p:sp>
      <p:sp>
        <p:nvSpPr>
          <p:cNvPr id="23" name="Shape 21"/>
          <p:cNvSpPr/>
          <p:nvPr/>
        </p:nvSpPr>
        <p:spPr>
          <a:xfrm>
            <a:off x="4407408" y="1508760"/>
            <a:ext cx="411480" cy="411480"/>
          </a:xfrm>
          <a:prstGeom prst="ellipse">
            <a:avLst/>
          </a:prstGeom>
          <a:solidFill>
            <a:srgbClr val="FFFFFF"/>
          </a:solidFill>
          <a:ln/>
        </p:spPr>
        <p:txBody>
          <a:bodyPr/>
          <a:lstStyle/>
          <a:p>
            <a:endParaRPr lang="en-US"/>
          </a:p>
        </p:txBody>
      </p:sp>
      <p:sp>
        <p:nvSpPr>
          <p:cNvPr id="24" name="Text 22"/>
          <p:cNvSpPr/>
          <p:nvPr/>
        </p:nvSpPr>
        <p:spPr>
          <a:xfrm>
            <a:off x="4407408" y="1508760"/>
            <a:ext cx="411480" cy="411480"/>
          </a:xfrm>
          <a:prstGeom prst="rect">
            <a:avLst/>
          </a:prstGeom>
          <a:noFill/>
          <a:ln/>
        </p:spPr>
        <p:txBody>
          <a:bodyPr wrap="square" rtlCol="0" anchor="ctr"/>
          <a:lstStyle/>
          <a:p>
            <a:pPr marL="0" indent="0" algn="ctr">
              <a:buNone/>
            </a:pPr>
            <a:r>
              <a:rPr lang="en-US" sz="1400" b="1" dirty="0">
                <a:solidFill>
                  <a:srgbClr val="817169"/>
                </a:solidFill>
                <a:latin typeface="Arial" pitchFamily="34" charset="0"/>
                <a:ea typeface="Arial" pitchFamily="34" charset="-122"/>
                <a:cs typeface="Arial" pitchFamily="34" charset="-120"/>
              </a:rPr>
              <a:t>F</a:t>
            </a:r>
            <a:endParaRPr lang="en-US" sz="1400" dirty="0"/>
          </a:p>
        </p:txBody>
      </p:sp>
      <p:sp>
        <p:nvSpPr>
          <p:cNvPr id="25" name="Text 23"/>
          <p:cNvSpPr/>
          <p:nvPr/>
        </p:nvSpPr>
        <p:spPr>
          <a:xfrm>
            <a:off x="4892040" y="1371600"/>
            <a:ext cx="2971800" cy="68580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Enterprise Architecture</a:t>
            </a:r>
            <a:endParaRPr lang="en-US" sz="1250" dirty="0"/>
          </a:p>
        </p:txBody>
      </p:sp>
      <p:sp>
        <p:nvSpPr>
          <p:cNvPr id="26" name="Text 24"/>
          <p:cNvSpPr/>
          <p:nvPr/>
        </p:nvSpPr>
        <p:spPr>
          <a:xfrm>
            <a:off x="4407408" y="2194560"/>
            <a:ext cx="3383280" cy="219456"/>
          </a:xfrm>
          <a:prstGeom prst="rect">
            <a:avLst/>
          </a:prstGeom>
          <a:noFill/>
          <a:ln/>
        </p:spPr>
        <p:txBody>
          <a:bodyPr wrap="square" rtlCol="0" anchor="ctr"/>
          <a:lstStyle/>
          <a:p>
            <a:pPr marL="0" indent="0">
              <a:buNone/>
            </a:pPr>
            <a:r>
              <a:rPr lang="en-US" sz="850" b="1" kern="0" spc="100" dirty="0">
                <a:solidFill>
                  <a:srgbClr val="817169"/>
                </a:solidFill>
                <a:latin typeface="Calibri" pitchFamily="34" charset="0"/>
                <a:ea typeface="Calibri" pitchFamily="34" charset="-122"/>
                <a:cs typeface="Calibri" pitchFamily="34" charset="-120"/>
              </a:rPr>
              <a:t>PURPOSE</a:t>
            </a:r>
            <a:endParaRPr lang="en-US" sz="850" dirty="0"/>
          </a:p>
        </p:txBody>
      </p:sp>
      <p:sp>
        <p:nvSpPr>
          <p:cNvPr id="27" name="Text 25"/>
          <p:cNvSpPr/>
          <p:nvPr/>
        </p:nvSpPr>
        <p:spPr>
          <a:xfrm>
            <a:off x="4407408" y="2414016"/>
            <a:ext cx="3383280"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Sets architecture guidance and keeps the app aligned with the future state.</a:t>
            </a:r>
            <a:endParaRPr lang="en-US" sz="930" dirty="0"/>
          </a:p>
        </p:txBody>
      </p:sp>
      <p:sp>
        <p:nvSpPr>
          <p:cNvPr id="28" name="Text 26"/>
          <p:cNvSpPr/>
          <p:nvPr/>
        </p:nvSpPr>
        <p:spPr>
          <a:xfrm>
            <a:off x="4407408" y="3035808"/>
            <a:ext cx="3383280" cy="219456"/>
          </a:xfrm>
          <a:prstGeom prst="rect">
            <a:avLst/>
          </a:prstGeom>
          <a:noFill/>
          <a:ln/>
        </p:spPr>
        <p:txBody>
          <a:bodyPr wrap="square" rtlCol="0" anchor="ctr"/>
          <a:lstStyle/>
          <a:p>
            <a:pPr marL="0" indent="0">
              <a:buNone/>
            </a:pPr>
            <a:r>
              <a:rPr lang="en-US" sz="850" b="1" kern="0" spc="100" dirty="0">
                <a:solidFill>
                  <a:srgbClr val="817169"/>
                </a:solidFill>
                <a:latin typeface="Calibri" pitchFamily="34" charset="0"/>
                <a:ea typeface="Calibri" pitchFamily="34" charset="-122"/>
                <a:cs typeface="Calibri" pitchFamily="34" charset="-120"/>
              </a:rPr>
              <a:t>KEY RESPONSIBILITIES</a:t>
            </a:r>
            <a:endParaRPr lang="en-US" sz="850" dirty="0"/>
          </a:p>
        </p:txBody>
      </p:sp>
      <p:sp>
        <p:nvSpPr>
          <p:cNvPr id="29" name="Text 27"/>
          <p:cNvSpPr/>
          <p:nvPr/>
        </p:nvSpPr>
        <p:spPr>
          <a:xfrm>
            <a:off x="4407408" y="3255264"/>
            <a:ext cx="3383280" cy="1234440"/>
          </a:xfrm>
          <a:prstGeom prst="rect">
            <a:avLst/>
          </a:prstGeom>
          <a:noFill/>
          <a:ln/>
        </p:spPr>
        <p:txBody>
          <a:bodyPr wrap="square" rtlCol="0" anchor="t"/>
          <a:lstStyle/>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Architecture guidelines and standards</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Future-state alignment and 7-R guidance</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Run the ownership tree and taxonomy</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Resolve cross-VS ownership through ARB</a:t>
            </a:r>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Coordinates Application Environment check-out / check-in process</a:t>
            </a:r>
            <a:endParaRPr lang="en-US" sz="930" dirty="0"/>
          </a:p>
        </p:txBody>
      </p:sp>
      <p:sp>
        <p:nvSpPr>
          <p:cNvPr id="30" name="Text 28"/>
          <p:cNvSpPr/>
          <p:nvPr/>
        </p:nvSpPr>
        <p:spPr>
          <a:xfrm>
            <a:off x="4407408" y="4544568"/>
            <a:ext cx="3383280" cy="219456"/>
          </a:xfrm>
          <a:prstGeom prst="rect">
            <a:avLst/>
          </a:prstGeom>
          <a:noFill/>
          <a:ln/>
        </p:spPr>
        <p:txBody>
          <a:bodyPr wrap="square" rtlCol="0" anchor="ctr"/>
          <a:lstStyle/>
          <a:p>
            <a:pPr marL="0" indent="0">
              <a:buNone/>
            </a:pPr>
            <a:r>
              <a:rPr lang="en-US" sz="850" b="1" kern="0" spc="100" dirty="0">
                <a:solidFill>
                  <a:srgbClr val="817169"/>
                </a:solidFill>
                <a:latin typeface="Calibri" pitchFamily="34" charset="0"/>
                <a:ea typeface="Calibri" pitchFamily="34" charset="-122"/>
                <a:cs typeface="Calibri" pitchFamily="34" charset="-120"/>
              </a:rPr>
              <a:t>ENGAGED WHEN</a:t>
            </a:r>
            <a:endParaRPr lang="en-US" sz="850" dirty="0"/>
          </a:p>
        </p:txBody>
      </p:sp>
      <p:sp>
        <p:nvSpPr>
          <p:cNvPr id="31" name="Text 29"/>
          <p:cNvSpPr/>
          <p:nvPr/>
        </p:nvSpPr>
        <p:spPr>
          <a:xfrm>
            <a:off x="4407408" y="4764024"/>
            <a:ext cx="3383280"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Intake, new technology review, ownership disputes, rationalization.</a:t>
            </a:r>
            <a:endParaRPr lang="en-US" sz="930" dirty="0"/>
          </a:p>
        </p:txBody>
      </p:sp>
      <p:sp>
        <p:nvSpPr>
          <p:cNvPr id="32" name="Text 30"/>
          <p:cNvSpPr/>
          <p:nvPr/>
        </p:nvSpPr>
        <p:spPr>
          <a:xfrm>
            <a:off x="4407408" y="5385816"/>
            <a:ext cx="3383280" cy="219456"/>
          </a:xfrm>
          <a:prstGeom prst="rect">
            <a:avLst/>
          </a:prstGeom>
          <a:noFill/>
          <a:ln/>
        </p:spPr>
        <p:txBody>
          <a:bodyPr wrap="square" rtlCol="0" anchor="ctr"/>
          <a:lstStyle/>
          <a:p>
            <a:pPr marL="0" indent="0">
              <a:buNone/>
            </a:pPr>
            <a:r>
              <a:rPr lang="en-US" sz="850" b="1" kern="0" spc="100" dirty="0">
                <a:solidFill>
                  <a:srgbClr val="817169"/>
                </a:solidFill>
                <a:latin typeface="Calibri" pitchFamily="34" charset="0"/>
                <a:ea typeface="Calibri" pitchFamily="34" charset="-122"/>
                <a:cs typeface="Calibri" pitchFamily="34" charset="-120"/>
              </a:rPr>
              <a:t>BUSINESS-OWNED vs IT-OWNED</a:t>
            </a:r>
            <a:endParaRPr lang="en-US" sz="850" dirty="0"/>
          </a:p>
        </p:txBody>
      </p:sp>
      <p:sp>
        <p:nvSpPr>
          <p:cNvPr id="33" name="Text 31"/>
          <p:cNvSpPr/>
          <p:nvPr/>
        </p:nvSpPr>
        <p:spPr>
          <a:xfrm>
            <a:off x="4407408" y="5605272"/>
            <a:ext cx="3383280" cy="777240"/>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Same role in both modes. EA sets standards and does not run platforms; the Integration CoE run team is IT Owner for integration platforms.</a:t>
            </a:r>
            <a:endParaRPr lang="en-US" sz="930" dirty="0"/>
          </a:p>
        </p:txBody>
      </p:sp>
      <p:sp>
        <p:nvSpPr>
          <p:cNvPr id="34" name="Shape 32"/>
          <p:cNvSpPr/>
          <p:nvPr/>
        </p:nvSpPr>
        <p:spPr>
          <a:xfrm>
            <a:off x="8083296" y="1325880"/>
            <a:ext cx="3657600" cy="4983480"/>
          </a:xfrm>
          <a:prstGeom prst="rect">
            <a:avLst/>
          </a:prstGeom>
          <a:solidFill>
            <a:srgbClr val="F4F8FC"/>
          </a:solidFill>
          <a:ln w="12700">
            <a:solidFill>
              <a:srgbClr val="CFE3F5"/>
            </a:solidFill>
            <a:prstDash val="solid"/>
          </a:ln>
          <a:effectLst>
            <a:outerShdw blurRad="76200" dist="25400" dir="8100000" algn="bl" rotWithShape="0">
              <a:srgbClr val="0B1730">
                <a:alpha val="14000"/>
              </a:srgbClr>
            </a:outerShdw>
          </a:effectLst>
        </p:spPr>
        <p:txBody>
          <a:bodyPr/>
          <a:lstStyle/>
          <a:p>
            <a:endParaRPr lang="en-US"/>
          </a:p>
        </p:txBody>
      </p:sp>
      <p:sp>
        <p:nvSpPr>
          <p:cNvPr id="35" name="Shape 33"/>
          <p:cNvSpPr/>
          <p:nvPr/>
        </p:nvSpPr>
        <p:spPr>
          <a:xfrm>
            <a:off x="8083296" y="1325880"/>
            <a:ext cx="3657600" cy="777240"/>
          </a:xfrm>
          <a:prstGeom prst="rect">
            <a:avLst/>
          </a:prstGeom>
          <a:solidFill>
            <a:srgbClr val="0085CA"/>
          </a:solidFill>
          <a:ln/>
        </p:spPr>
        <p:txBody>
          <a:bodyPr/>
          <a:lstStyle/>
          <a:p>
            <a:endParaRPr lang="en-US"/>
          </a:p>
        </p:txBody>
      </p:sp>
      <p:sp>
        <p:nvSpPr>
          <p:cNvPr id="36" name="Shape 34"/>
          <p:cNvSpPr/>
          <p:nvPr/>
        </p:nvSpPr>
        <p:spPr>
          <a:xfrm>
            <a:off x="8220456" y="1508760"/>
            <a:ext cx="411480" cy="411480"/>
          </a:xfrm>
          <a:prstGeom prst="ellipse">
            <a:avLst/>
          </a:prstGeom>
          <a:solidFill>
            <a:srgbClr val="FFFFFF"/>
          </a:solidFill>
          <a:ln/>
        </p:spPr>
        <p:txBody>
          <a:bodyPr/>
          <a:lstStyle/>
          <a:p>
            <a:endParaRPr lang="en-US"/>
          </a:p>
        </p:txBody>
      </p:sp>
      <p:sp>
        <p:nvSpPr>
          <p:cNvPr id="37" name="Text 35"/>
          <p:cNvSpPr/>
          <p:nvPr/>
        </p:nvSpPr>
        <p:spPr>
          <a:xfrm>
            <a:off x="8220456" y="1508760"/>
            <a:ext cx="411480" cy="411480"/>
          </a:xfrm>
          <a:prstGeom prst="rect">
            <a:avLst/>
          </a:prstGeom>
          <a:noFill/>
          <a:ln/>
        </p:spPr>
        <p:txBody>
          <a:bodyPr wrap="square" rtlCol="0" anchor="ctr"/>
          <a:lstStyle/>
          <a:p>
            <a:pPr marL="0" indent="0" algn="ctr">
              <a:buNone/>
            </a:pPr>
            <a:r>
              <a:rPr lang="en-US" sz="1400" b="1" dirty="0">
                <a:solidFill>
                  <a:srgbClr val="0085CA"/>
                </a:solidFill>
                <a:latin typeface="Arial" pitchFamily="34" charset="0"/>
                <a:ea typeface="Arial" pitchFamily="34" charset="-122"/>
                <a:cs typeface="Arial" pitchFamily="34" charset="-120"/>
              </a:rPr>
              <a:t>G</a:t>
            </a:r>
            <a:endParaRPr lang="en-US" sz="1400" dirty="0"/>
          </a:p>
        </p:txBody>
      </p:sp>
      <p:sp>
        <p:nvSpPr>
          <p:cNvPr id="38" name="Text 36"/>
          <p:cNvSpPr/>
          <p:nvPr/>
        </p:nvSpPr>
        <p:spPr>
          <a:xfrm>
            <a:off x="8705088" y="1371600"/>
            <a:ext cx="2971800" cy="685800"/>
          </a:xfrm>
          <a:prstGeom prst="rect">
            <a:avLst/>
          </a:prstGeom>
          <a:noFill/>
          <a:ln/>
        </p:spPr>
        <p:txBody>
          <a:bodyPr wrap="square" rtlCol="0" anchor="ctr"/>
          <a:lstStyle/>
          <a:p>
            <a:pPr marL="0" indent="0">
              <a:buNone/>
            </a:pPr>
            <a:r>
              <a:rPr lang="en-US" sz="1250" b="1" dirty="0">
                <a:solidFill>
                  <a:srgbClr val="FFFFFF"/>
                </a:solidFill>
                <a:latin typeface="Arial" pitchFamily="34" charset="0"/>
                <a:ea typeface="Arial" pitchFamily="34" charset="-122"/>
                <a:cs typeface="Arial" pitchFamily="34" charset="-120"/>
              </a:rPr>
              <a:t>Vendor / Partner Manager</a:t>
            </a:r>
            <a:endParaRPr lang="en-US" sz="1250" dirty="0"/>
          </a:p>
        </p:txBody>
      </p:sp>
      <p:sp>
        <p:nvSpPr>
          <p:cNvPr id="39" name="Text 37"/>
          <p:cNvSpPr/>
          <p:nvPr/>
        </p:nvSpPr>
        <p:spPr>
          <a:xfrm>
            <a:off x="8220456" y="2194560"/>
            <a:ext cx="3383280"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PURPOSE</a:t>
            </a:r>
            <a:endParaRPr lang="en-US" sz="850" dirty="0"/>
          </a:p>
        </p:txBody>
      </p:sp>
      <p:sp>
        <p:nvSpPr>
          <p:cNvPr id="40" name="Text 38"/>
          <p:cNvSpPr/>
          <p:nvPr/>
        </p:nvSpPr>
        <p:spPr>
          <a:xfrm>
            <a:off x="8220456" y="2414016"/>
            <a:ext cx="3383280"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Manages the commercial and supplier relationship.</a:t>
            </a:r>
            <a:endParaRPr lang="en-US" sz="930" dirty="0"/>
          </a:p>
        </p:txBody>
      </p:sp>
      <p:sp>
        <p:nvSpPr>
          <p:cNvPr id="41" name="Text 39"/>
          <p:cNvSpPr/>
          <p:nvPr/>
        </p:nvSpPr>
        <p:spPr>
          <a:xfrm>
            <a:off x="8220456" y="3035808"/>
            <a:ext cx="3383280"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KEY RESPONSIBILITIES</a:t>
            </a:r>
            <a:endParaRPr lang="en-US" sz="850" dirty="0"/>
          </a:p>
        </p:txBody>
      </p:sp>
      <p:sp>
        <p:nvSpPr>
          <p:cNvPr id="42" name="Text 40"/>
          <p:cNvSpPr/>
          <p:nvPr/>
        </p:nvSpPr>
        <p:spPr>
          <a:xfrm>
            <a:off x="8220456" y="3255264"/>
            <a:ext cx="3383280" cy="1234440"/>
          </a:xfrm>
          <a:prstGeom prst="rect">
            <a:avLst/>
          </a:prstGeom>
          <a:noFill/>
          <a:ln/>
        </p:spPr>
        <p:txBody>
          <a:bodyPr wrap="square" rtlCol="0" anchor="t"/>
          <a:lstStyle/>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Contracts, licensing and renewals</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SLAs and supplier performance</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Runbooks and support model with vendor</a:t>
            </a:r>
            <a:endParaRPr lang="en-US" sz="930" dirty="0"/>
          </a:p>
          <a:p>
            <a:pPr marL="342900" indent="-342900">
              <a:buSzPct val="100000"/>
              <a:buChar char="•"/>
            </a:pPr>
            <a:r>
              <a:rPr lang="en-US" sz="930" dirty="0">
                <a:solidFill>
                  <a:srgbClr val="2C2826"/>
                </a:solidFill>
                <a:latin typeface="Calibri" pitchFamily="34" charset="0"/>
                <a:ea typeface="Calibri" pitchFamily="34" charset="-122"/>
                <a:cs typeface="Calibri" pitchFamily="34" charset="-120"/>
              </a:rPr>
              <a:t>Supplier lifecycle and exit terms</a:t>
            </a:r>
            <a:endParaRPr lang="en-US" sz="930" dirty="0"/>
          </a:p>
        </p:txBody>
      </p:sp>
      <p:sp>
        <p:nvSpPr>
          <p:cNvPr id="43" name="Text 41"/>
          <p:cNvSpPr/>
          <p:nvPr/>
        </p:nvSpPr>
        <p:spPr>
          <a:xfrm>
            <a:off x="8220456" y="4544568"/>
            <a:ext cx="3383280"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ENGAGED WHEN</a:t>
            </a:r>
            <a:endParaRPr lang="en-US" sz="850" dirty="0"/>
          </a:p>
        </p:txBody>
      </p:sp>
      <p:sp>
        <p:nvSpPr>
          <p:cNvPr id="44" name="Text 42"/>
          <p:cNvSpPr/>
          <p:nvPr/>
        </p:nvSpPr>
        <p:spPr>
          <a:xfrm>
            <a:off x="8220456" y="4764024"/>
            <a:ext cx="3383280" cy="566928"/>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SaaS / COTS sourcing (Q3), renewals, escalations, decommissioning.</a:t>
            </a:r>
            <a:endParaRPr lang="en-US" sz="930" dirty="0"/>
          </a:p>
        </p:txBody>
      </p:sp>
      <p:sp>
        <p:nvSpPr>
          <p:cNvPr id="45" name="Text 43"/>
          <p:cNvSpPr/>
          <p:nvPr/>
        </p:nvSpPr>
        <p:spPr>
          <a:xfrm>
            <a:off x="8220456" y="5385816"/>
            <a:ext cx="3383280" cy="219456"/>
          </a:xfrm>
          <a:prstGeom prst="rect">
            <a:avLst/>
          </a:prstGeom>
          <a:noFill/>
          <a:ln/>
        </p:spPr>
        <p:txBody>
          <a:bodyPr wrap="square" rtlCol="0" anchor="ctr"/>
          <a:lstStyle/>
          <a:p>
            <a:pPr marL="0" indent="0">
              <a:buNone/>
            </a:pPr>
            <a:r>
              <a:rPr lang="en-US" sz="850" b="1" kern="0" spc="100" dirty="0">
                <a:solidFill>
                  <a:srgbClr val="001489"/>
                </a:solidFill>
                <a:latin typeface="Calibri" pitchFamily="34" charset="0"/>
                <a:ea typeface="Calibri" pitchFamily="34" charset="-122"/>
                <a:cs typeface="Calibri" pitchFamily="34" charset="-120"/>
              </a:rPr>
              <a:t>BUSINESS-OWNED vs IT-OWNED</a:t>
            </a:r>
            <a:endParaRPr lang="en-US" sz="850" dirty="0"/>
          </a:p>
        </p:txBody>
      </p:sp>
      <p:sp>
        <p:nvSpPr>
          <p:cNvPr id="46" name="Text 44"/>
          <p:cNvSpPr/>
          <p:nvPr/>
        </p:nvSpPr>
        <p:spPr>
          <a:xfrm>
            <a:off x="8220456" y="5605272"/>
            <a:ext cx="3383280" cy="777240"/>
          </a:xfrm>
          <a:prstGeom prst="rect">
            <a:avLst/>
          </a:prstGeom>
          <a:noFill/>
          <a:ln/>
        </p:spPr>
        <p:txBody>
          <a:bodyPr wrap="square" rtlCol="0" anchor="t"/>
          <a:lstStyle/>
          <a:p>
            <a:pPr marL="0" indent="0">
              <a:buNone/>
            </a:pPr>
            <a:r>
              <a:rPr lang="en-US" sz="930" dirty="0">
                <a:solidFill>
                  <a:srgbClr val="2C2826"/>
                </a:solidFill>
                <a:latin typeface="Calibri" pitchFamily="34" charset="0"/>
                <a:ea typeface="Calibri" pitchFamily="34" charset="-122"/>
                <a:cs typeface="Calibri" pitchFamily="34" charset="-120"/>
              </a:rPr>
              <a:t>Role grows as sourcing moves to SaaS. For IT-owned tools, partners with the consuming IT function on renewals.</a:t>
            </a:r>
            <a:endParaRPr lang="en-US" sz="930" dirty="0"/>
          </a:p>
        </p:txBody>
      </p:sp>
      <p:sp>
        <p:nvSpPr>
          <p:cNvPr id="47" name="Text 45"/>
          <p:cNvSpPr/>
          <p:nvPr/>
        </p:nvSpPr>
        <p:spPr>
          <a:xfrm>
            <a:off x="457200" y="6492240"/>
            <a:ext cx="1828800" cy="237744"/>
          </a:xfrm>
          <a:prstGeom prst="rect">
            <a:avLst/>
          </a:prstGeom>
          <a:noFill/>
          <a:ln/>
        </p:spPr>
        <p:txBody>
          <a:bodyPr wrap="square" rtlCol="0" anchor="ctr"/>
          <a:lstStyle/>
          <a:p>
            <a:pPr marL="0" indent="0">
              <a:buNone/>
            </a:pPr>
            <a:r>
              <a:rPr lang="en-US" sz="850" i="1" dirty="0">
                <a:solidFill>
                  <a:srgbClr val="6A6157"/>
                </a:solidFill>
                <a:latin typeface="Calibri" pitchFamily="34" charset="0"/>
                <a:ea typeface="Calibri" pitchFamily="34" charset="-122"/>
                <a:cs typeface="Calibri" pitchFamily="34" charset="-120"/>
              </a:rPr>
              <a:t>Business Use</a:t>
            </a:r>
            <a:endParaRPr lang="en-US" sz="850" dirty="0"/>
          </a:p>
        </p:txBody>
      </p:sp>
      <p:sp>
        <p:nvSpPr>
          <p:cNvPr id="48" name="Text 46"/>
          <p:cNvSpPr/>
          <p:nvPr/>
        </p:nvSpPr>
        <p:spPr>
          <a:xfrm>
            <a:off x="2286000" y="6492240"/>
            <a:ext cx="5486400" cy="237744"/>
          </a:xfrm>
          <a:prstGeom prst="rect">
            <a:avLst/>
          </a:prstGeom>
          <a:noFill/>
          <a:ln/>
        </p:spPr>
        <p:txBody>
          <a:bodyPr wrap="square" rtlCol="0" anchor="ctr"/>
          <a:lstStyle/>
          <a:p>
            <a:pPr marL="0" indent="0">
              <a:buNone/>
            </a:pPr>
            <a:r>
              <a:rPr lang="en-US" sz="850" dirty="0">
                <a:solidFill>
                  <a:srgbClr val="6A6157"/>
                </a:solidFill>
                <a:latin typeface="Calibri" pitchFamily="34" charset="0"/>
                <a:ea typeface="Calibri" pitchFamily="34" charset="-122"/>
                <a:cs typeface="Calibri" pitchFamily="34" charset="-120"/>
              </a:rPr>
              <a:t>Application Ownership Governance — Role Cards</a:t>
            </a:r>
            <a:endParaRPr lang="en-US" sz="850" dirty="0"/>
          </a:p>
        </p:txBody>
      </p:sp>
      <p:sp>
        <p:nvSpPr>
          <p:cNvPr id="49" name="Text 47"/>
          <p:cNvSpPr/>
          <p:nvPr/>
        </p:nvSpPr>
        <p:spPr>
          <a:xfrm>
            <a:off x="7772400" y="6492240"/>
            <a:ext cx="3959352" cy="237744"/>
          </a:xfrm>
          <a:prstGeom prst="rect">
            <a:avLst/>
          </a:prstGeom>
          <a:noFill/>
          <a:ln/>
        </p:spPr>
        <p:txBody>
          <a:bodyPr wrap="square" rtlCol="0" anchor="ctr"/>
          <a:lstStyle/>
          <a:p>
            <a:pPr marL="0" indent="0" algn="r">
              <a:buNone/>
            </a:pPr>
            <a:r>
              <a:rPr lang="en-US" sz="850" dirty="0">
                <a:solidFill>
                  <a:srgbClr val="6A6157"/>
                </a:solidFill>
                <a:latin typeface="Calibri" pitchFamily="34" charset="0"/>
                <a:ea typeface="Calibri" pitchFamily="34" charset="-122"/>
                <a:cs typeface="Calibri" pitchFamily="34" charset="-120"/>
              </a:rPr>
              <a:t>© PPL Corporation 2026   |   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ect">
            <a:avLst/>
          </a:prstGeom>
          <a:solidFill>
            <a:srgbClr val="001489"/>
          </a:solidFill>
          <a:ln/>
        </p:spPr>
        <p:txBody>
          <a:bodyPr/>
          <a:lstStyle/>
          <a:p>
            <a:endParaRPr lang="en-US"/>
          </a:p>
        </p:txBody>
      </p:sp>
      <p:sp>
        <p:nvSpPr>
          <p:cNvPr id="3" name="Shape 1"/>
          <p:cNvSpPr/>
          <p:nvPr/>
        </p:nvSpPr>
        <p:spPr>
          <a:xfrm>
            <a:off x="0" y="1078992"/>
            <a:ext cx="12188952" cy="54864"/>
          </a:xfrm>
          <a:prstGeom prst="rect">
            <a:avLst/>
          </a:prstGeom>
          <a:solidFill>
            <a:srgbClr val="0085CA"/>
          </a:solidFill>
          <a:ln/>
        </p:spPr>
        <p:txBody>
          <a:bodyPr/>
          <a:lstStyle/>
          <a:p>
            <a:endParaRPr lang="en-US"/>
          </a:p>
        </p:txBody>
      </p:sp>
      <p:sp>
        <p:nvSpPr>
          <p:cNvPr id="4" name="Text 2"/>
          <p:cNvSpPr/>
          <p:nvPr/>
        </p:nvSpPr>
        <p:spPr>
          <a:xfrm>
            <a:off x="457200" y="182880"/>
            <a:ext cx="10058400" cy="256032"/>
          </a:xfrm>
          <a:prstGeom prst="rect">
            <a:avLst/>
          </a:prstGeom>
          <a:noFill/>
          <a:ln/>
        </p:spPr>
        <p:txBody>
          <a:bodyPr wrap="square" rtlCol="0" anchor="ctr"/>
          <a:lstStyle/>
          <a:p>
            <a:pPr marL="0" indent="0">
              <a:buNone/>
            </a:pPr>
            <a:r>
              <a:rPr lang="en-US" sz="1100" b="1" kern="0" spc="300">
                <a:solidFill>
                  <a:srgbClr val="8FC7EA"/>
                </a:solidFill>
                <a:latin typeface="Calibri" pitchFamily="34" charset="0"/>
                <a:ea typeface="Calibri" pitchFamily="34" charset="-122"/>
                <a:cs typeface="Calibri" pitchFamily="34" charset="-120"/>
              </a:rPr>
              <a:t>OPERATIONALIZE</a:t>
            </a:r>
            <a:endParaRPr lang="en-US" sz="1100"/>
          </a:p>
        </p:txBody>
      </p:sp>
      <p:sp>
        <p:nvSpPr>
          <p:cNvPr id="5" name="Text 3"/>
          <p:cNvSpPr/>
          <p:nvPr/>
        </p:nvSpPr>
        <p:spPr>
          <a:xfrm>
            <a:off x="457200" y="420624"/>
            <a:ext cx="10607040" cy="566928"/>
          </a:xfrm>
          <a:prstGeom prst="rect">
            <a:avLst/>
          </a:prstGeom>
          <a:noFill/>
          <a:ln/>
        </p:spPr>
        <p:txBody>
          <a:bodyPr wrap="square" rtlCol="0" anchor="ctr"/>
          <a:lstStyle/>
          <a:p>
            <a:pPr marL="0" indent="0">
              <a:buNone/>
            </a:pPr>
            <a:r>
              <a:rPr lang="en-US" sz="2400" b="1">
                <a:solidFill>
                  <a:srgbClr val="FFFFFF"/>
                </a:solidFill>
                <a:latin typeface="Arial" pitchFamily="34" charset="0"/>
                <a:ea typeface="Arial" pitchFamily="34" charset="-122"/>
                <a:cs typeface="Arial" pitchFamily="34" charset="-120"/>
              </a:rPr>
              <a:t>Governance guardrails &amp; next steps</a:t>
            </a:r>
            <a:endParaRPr lang="en-US" sz="2400"/>
          </a:p>
        </p:txBody>
      </p:sp>
      <p:sp>
        <p:nvSpPr>
          <p:cNvPr id="6" name="Shape 4"/>
          <p:cNvSpPr/>
          <p:nvPr/>
        </p:nvSpPr>
        <p:spPr>
          <a:xfrm>
            <a:off x="11073384" y="384048"/>
            <a:ext cx="658368" cy="310896"/>
          </a:xfrm>
          <a:prstGeom prst="rect">
            <a:avLst/>
          </a:prstGeom>
          <a:solidFill>
            <a:srgbClr val="FFFFFF"/>
          </a:solidFill>
          <a:ln/>
        </p:spPr>
        <p:txBody>
          <a:bodyPr/>
          <a:lstStyle/>
          <a:p>
            <a:endParaRPr lang="en-US"/>
          </a:p>
        </p:txBody>
      </p:sp>
      <p:sp>
        <p:nvSpPr>
          <p:cNvPr id="7" name="Text 5"/>
          <p:cNvSpPr/>
          <p:nvPr/>
        </p:nvSpPr>
        <p:spPr>
          <a:xfrm>
            <a:off x="11073384" y="384048"/>
            <a:ext cx="658368" cy="310896"/>
          </a:xfrm>
          <a:prstGeom prst="rect">
            <a:avLst/>
          </a:prstGeom>
          <a:noFill/>
          <a:ln/>
        </p:spPr>
        <p:txBody>
          <a:bodyPr wrap="square" rtlCol="0" anchor="ctr"/>
          <a:lstStyle/>
          <a:p>
            <a:pPr marL="0" indent="0" algn="ctr">
              <a:buNone/>
            </a:pPr>
            <a:r>
              <a:rPr lang="en-US" sz="1500" b="1" kern="0" spc="100">
                <a:solidFill>
                  <a:srgbClr val="001489"/>
                </a:solidFill>
                <a:latin typeface="Arial" pitchFamily="34" charset="0"/>
                <a:ea typeface="Arial" pitchFamily="34" charset="-122"/>
                <a:cs typeface="Arial" pitchFamily="34" charset="-120"/>
              </a:rPr>
              <a:t>PPL</a:t>
            </a:r>
            <a:endParaRPr lang="en-US" sz="1500"/>
          </a:p>
        </p:txBody>
      </p:sp>
      <p:sp>
        <p:nvSpPr>
          <p:cNvPr id="8" name="Shape 6"/>
          <p:cNvSpPr/>
          <p:nvPr/>
        </p:nvSpPr>
        <p:spPr>
          <a:xfrm>
            <a:off x="457200" y="1417320"/>
            <a:ext cx="2670048" cy="2286000"/>
          </a:xfrm>
          <a:prstGeom prst="rect">
            <a:avLst/>
          </a:prstGeom>
          <a:solidFill>
            <a:srgbClr val="F4F8FC"/>
          </a:solidFill>
          <a:ln w="12700">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9" name="Shape 7"/>
          <p:cNvSpPr/>
          <p:nvPr/>
        </p:nvSpPr>
        <p:spPr>
          <a:xfrm>
            <a:off x="457200" y="1417320"/>
            <a:ext cx="2670048" cy="109728"/>
          </a:xfrm>
          <a:prstGeom prst="rect">
            <a:avLst/>
          </a:prstGeom>
          <a:solidFill>
            <a:srgbClr val="F2A900"/>
          </a:solidFill>
          <a:ln/>
        </p:spPr>
        <p:txBody>
          <a:bodyPr/>
          <a:lstStyle/>
          <a:p>
            <a:endParaRPr lang="en-US"/>
          </a:p>
        </p:txBody>
      </p:sp>
      <p:sp>
        <p:nvSpPr>
          <p:cNvPr id="10" name="Text 8"/>
          <p:cNvSpPr/>
          <p:nvPr/>
        </p:nvSpPr>
        <p:spPr>
          <a:xfrm>
            <a:off x="658368" y="1645920"/>
            <a:ext cx="2286000" cy="640080"/>
          </a:xfrm>
          <a:prstGeom prst="rect">
            <a:avLst/>
          </a:prstGeom>
          <a:noFill/>
          <a:ln/>
        </p:spPr>
        <p:txBody>
          <a:bodyPr wrap="square" rtlCol="0" anchor="t"/>
          <a:lstStyle/>
          <a:p>
            <a:pPr marL="0" indent="0">
              <a:buNone/>
            </a:pPr>
            <a:r>
              <a:rPr lang="en-US" sz="1400" b="1">
                <a:solidFill>
                  <a:srgbClr val="001489"/>
                </a:solidFill>
                <a:latin typeface="Arial" pitchFamily="34" charset="0"/>
                <a:ea typeface="Arial" pitchFamily="34" charset="-122"/>
                <a:cs typeface="Arial" pitchFamily="34" charset="-120"/>
              </a:rPr>
              <a:t>1 · Ratify the model</a:t>
            </a:r>
            <a:endParaRPr lang="en-US" sz="1400"/>
          </a:p>
        </p:txBody>
      </p:sp>
      <p:sp>
        <p:nvSpPr>
          <p:cNvPr id="11" name="Text 9"/>
          <p:cNvSpPr/>
          <p:nvPr/>
        </p:nvSpPr>
        <p:spPr>
          <a:xfrm>
            <a:off x="658368" y="2331720"/>
            <a:ext cx="2286000" cy="1280160"/>
          </a:xfrm>
          <a:prstGeom prst="rect">
            <a:avLst/>
          </a:prstGeom>
          <a:noFill/>
          <a:ln/>
        </p:spPr>
        <p:txBody>
          <a:bodyPr wrap="square" rtlCol="0" anchor="ctr"/>
          <a:lstStyle/>
          <a:p>
            <a:pPr marL="0" indent="0">
              <a:lnSpc>
                <a:spcPct val="108000"/>
              </a:lnSpc>
              <a:buNone/>
            </a:pPr>
            <a:r>
              <a:rPr lang="en-US" sz="1100">
                <a:solidFill>
                  <a:srgbClr val="2C2826"/>
                </a:solidFill>
                <a:latin typeface="Calibri" pitchFamily="34" charset="0"/>
                <a:ea typeface="Calibri" pitchFamily="34" charset="-122"/>
                <a:cs typeface="Calibri" pitchFamily="34" charset="-120"/>
              </a:rPr>
              <a:t>Endorse role definitions, the matrix, both RACIs and the tree as the PPL ownership standard through ARB / SteerCo.</a:t>
            </a:r>
            <a:endParaRPr lang="en-US" sz="1100"/>
          </a:p>
        </p:txBody>
      </p:sp>
      <p:sp>
        <p:nvSpPr>
          <p:cNvPr id="12" name="Shape 10"/>
          <p:cNvSpPr/>
          <p:nvPr/>
        </p:nvSpPr>
        <p:spPr>
          <a:xfrm>
            <a:off x="3310128" y="1417320"/>
            <a:ext cx="2670048" cy="2286000"/>
          </a:xfrm>
          <a:prstGeom prst="rect">
            <a:avLst/>
          </a:prstGeom>
          <a:solidFill>
            <a:srgbClr val="F4F8FC"/>
          </a:solidFill>
          <a:ln w="12700">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13" name="Shape 11"/>
          <p:cNvSpPr/>
          <p:nvPr/>
        </p:nvSpPr>
        <p:spPr>
          <a:xfrm>
            <a:off x="3310128" y="1417320"/>
            <a:ext cx="2670048" cy="109728"/>
          </a:xfrm>
          <a:prstGeom prst="rect">
            <a:avLst/>
          </a:prstGeom>
          <a:solidFill>
            <a:srgbClr val="0085CA"/>
          </a:solidFill>
          <a:ln/>
        </p:spPr>
        <p:txBody>
          <a:bodyPr/>
          <a:lstStyle/>
          <a:p>
            <a:endParaRPr lang="en-US"/>
          </a:p>
        </p:txBody>
      </p:sp>
      <p:sp>
        <p:nvSpPr>
          <p:cNvPr id="14" name="Text 12"/>
          <p:cNvSpPr/>
          <p:nvPr/>
        </p:nvSpPr>
        <p:spPr>
          <a:xfrm>
            <a:off x="3511296" y="1645920"/>
            <a:ext cx="2286000" cy="640080"/>
          </a:xfrm>
          <a:prstGeom prst="rect">
            <a:avLst/>
          </a:prstGeom>
          <a:noFill/>
          <a:ln/>
        </p:spPr>
        <p:txBody>
          <a:bodyPr wrap="square" rtlCol="0" anchor="t"/>
          <a:lstStyle/>
          <a:p>
            <a:pPr marL="0" indent="0">
              <a:buNone/>
            </a:pPr>
            <a:r>
              <a:rPr lang="en-US" sz="1400" b="1">
                <a:solidFill>
                  <a:srgbClr val="001489"/>
                </a:solidFill>
                <a:latin typeface="Arial" pitchFamily="34" charset="0"/>
                <a:ea typeface="Arial" pitchFamily="34" charset="-122"/>
                <a:cs typeface="Arial" pitchFamily="34" charset="-120"/>
              </a:rPr>
              <a:t>2 · Home every app</a:t>
            </a:r>
            <a:endParaRPr lang="en-US" sz="1400"/>
          </a:p>
        </p:txBody>
      </p:sp>
      <p:sp>
        <p:nvSpPr>
          <p:cNvPr id="15" name="Text 13"/>
          <p:cNvSpPr/>
          <p:nvPr/>
        </p:nvSpPr>
        <p:spPr>
          <a:xfrm>
            <a:off x="3511296" y="2331720"/>
            <a:ext cx="2286000" cy="1280160"/>
          </a:xfrm>
          <a:prstGeom prst="rect">
            <a:avLst/>
          </a:prstGeom>
          <a:noFill/>
          <a:ln/>
        </p:spPr>
        <p:txBody>
          <a:bodyPr wrap="square" rtlCol="0" anchor="ctr"/>
          <a:lstStyle/>
          <a:p>
            <a:pPr marL="0" indent="0">
              <a:lnSpc>
                <a:spcPct val="108000"/>
              </a:lnSpc>
              <a:buNone/>
            </a:pPr>
            <a:r>
              <a:rPr lang="en-US" sz="1100">
                <a:solidFill>
                  <a:srgbClr val="2C2826"/>
                </a:solidFill>
                <a:latin typeface="Calibri" pitchFamily="34" charset="0"/>
                <a:ea typeface="Calibri" pitchFamily="34" charset="-122"/>
                <a:cs typeface="Calibri" pitchFamily="34" charset="-120"/>
              </a:rPr>
              <a:t>Run each application through the tree; assign Business + Technical Owner and one Home Value Stream.</a:t>
            </a:r>
            <a:endParaRPr lang="en-US" sz="1100"/>
          </a:p>
        </p:txBody>
      </p:sp>
      <p:sp>
        <p:nvSpPr>
          <p:cNvPr id="16" name="Shape 14"/>
          <p:cNvSpPr/>
          <p:nvPr/>
        </p:nvSpPr>
        <p:spPr>
          <a:xfrm>
            <a:off x="6163056" y="1417320"/>
            <a:ext cx="2670048" cy="2286000"/>
          </a:xfrm>
          <a:prstGeom prst="rect">
            <a:avLst/>
          </a:prstGeom>
          <a:solidFill>
            <a:srgbClr val="F4F8FC"/>
          </a:solidFill>
          <a:ln w="12700">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17" name="Shape 15"/>
          <p:cNvSpPr/>
          <p:nvPr/>
        </p:nvSpPr>
        <p:spPr>
          <a:xfrm>
            <a:off x="6163056" y="1417320"/>
            <a:ext cx="2670048" cy="109728"/>
          </a:xfrm>
          <a:prstGeom prst="rect">
            <a:avLst/>
          </a:prstGeom>
          <a:solidFill>
            <a:srgbClr val="007A99"/>
          </a:solidFill>
          <a:ln/>
        </p:spPr>
        <p:txBody>
          <a:bodyPr/>
          <a:lstStyle/>
          <a:p>
            <a:endParaRPr lang="en-US"/>
          </a:p>
        </p:txBody>
      </p:sp>
      <p:sp>
        <p:nvSpPr>
          <p:cNvPr id="18" name="Text 16"/>
          <p:cNvSpPr/>
          <p:nvPr/>
        </p:nvSpPr>
        <p:spPr>
          <a:xfrm>
            <a:off x="6364224" y="1645920"/>
            <a:ext cx="2286000" cy="640080"/>
          </a:xfrm>
          <a:prstGeom prst="rect">
            <a:avLst/>
          </a:prstGeom>
          <a:noFill/>
          <a:ln/>
        </p:spPr>
        <p:txBody>
          <a:bodyPr wrap="square" rtlCol="0" anchor="t"/>
          <a:lstStyle/>
          <a:p>
            <a:pPr marL="0" indent="0">
              <a:buNone/>
            </a:pPr>
            <a:r>
              <a:rPr lang="en-US" sz="1400" b="1">
                <a:solidFill>
                  <a:srgbClr val="001489"/>
                </a:solidFill>
                <a:latin typeface="Arial" pitchFamily="34" charset="0"/>
                <a:ea typeface="Arial" pitchFamily="34" charset="-122"/>
                <a:cs typeface="Arial" pitchFamily="34" charset="-120"/>
              </a:rPr>
              <a:t>3 · Register &amp; certify</a:t>
            </a:r>
            <a:endParaRPr lang="en-US" sz="1400"/>
          </a:p>
        </p:txBody>
      </p:sp>
      <p:sp>
        <p:nvSpPr>
          <p:cNvPr id="19" name="Text 17"/>
          <p:cNvSpPr/>
          <p:nvPr/>
        </p:nvSpPr>
        <p:spPr>
          <a:xfrm>
            <a:off x="6364224" y="2331720"/>
            <a:ext cx="2286000" cy="1280160"/>
          </a:xfrm>
          <a:prstGeom prst="rect">
            <a:avLst/>
          </a:prstGeom>
          <a:noFill/>
          <a:ln/>
        </p:spPr>
        <p:txBody>
          <a:bodyPr wrap="square" rtlCol="0" anchor="ctr"/>
          <a:lstStyle/>
          <a:p>
            <a:pPr marL="0" indent="0">
              <a:lnSpc>
                <a:spcPct val="108000"/>
              </a:lnSpc>
              <a:buNone/>
            </a:pPr>
            <a:r>
              <a:rPr lang="en-US" sz="1100">
                <a:solidFill>
                  <a:srgbClr val="2C2826"/>
                </a:solidFill>
                <a:latin typeface="Calibri" pitchFamily="34" charset="0"/>
                <a:ea typeface="Calibri" pitchFamily="34" charset="-122"/>
                <a:cs typeface="Calibri" pitchFamily="34" charset="-120"/>
              </a:rPr>
              <a:t>Reconcile APO ↔ CMDB owner fields; enforce mandatory attributes; certify with no direct user edits.</a:t>
            </a:r>
            <a:endParaRPr lang="en-US" sz="1100"/>
          </a:p>
        </p:txBody>
      </p:sp>
      <p:sp>
        <p:nvSpPr>
          <p:cNvPr id="20" name="Shape 18"/>
          <p:cNvSpPr/>
          <p:nvPr/>
        </p:nvSpPr>
        <p:spPr>
          <a:xfrm>
            <a:off x="9015984" y="1417320"/>
            <a:ext cx="2670048" cy="2286000"/>
          </a:xfrm>
          <a:prstGeom prst="rect">
            <a:avLst/>
          </a:prstGeom>
          <a:solidFill>
            <a:srgbClr val="F4F8FC"/>
          </a:solidFill>
          <a:ln w="12700">
            <a:solidFill>
              <a:srgbClr val="CFE3F5"/>
            </a:solidFill>
            <a:prstDash val="solid"/>
          </a:ln>
          <a:effectLst>
            <a:outerShdw blurRad="88900" dist="38100" dir="8100000" algn="bl" rotWithShape="0">
              <a:srgbClr val="0B1730">
                <a:alpha val="16000"/>
              </a:srgbClr>
            </a:outerShdw>
          </a:effectLst>
        </p:spPr>
        <p:txBody>
          <a:bodyPr/>
          <a:lstStyle/>
          <a:p>
            <a:endParaRPr lang="en-US"/>
          </a:p>
        </p:txBody>
      </p:sp>
      <p:sp>
        <p:nvSpPr>
          <p:cNvPr id="21" name="Shape 19"/>
          <p:cNvSpPr/>
          <p:nvPr/>
        </p:nvSpPr>
        <p:spPr>
          <a:xfrm>
            <a:off x="9015984" y="1417320"/>
            <a:ext cx="2670048" cy="109728"/>
          </a:xfrm>
          <a:prstGeom prst="rect">
            <a:avLst/>
          </a:prstGeom>
          <a:solidFill>
            <a:srgbClr val="817169"/>
          </a:solidFill>
          <a:ln/>
        </p:spPr>
        <p:txBody>
          <a:bodyPr/>
          <a:lstStyle/>
          <a:p>
            <a:endParaRPr lang="en-US"/>
          </a:p>
        </p:txBody>
      </p:sp>
      <p:sp>
        <p:nvSpPr>
          <p:cNvPr id="22" name="Text 20"/>
          <p:cNvSpPr/>
          <p:nvPr/>
        </p:nvSpPr>
        <p:spPr>
          <a:xfrm>
            <a:off x="9217152" y="1645920"/>
            <a:ext cx="2286000" cy="640080"/>
          </a:xfrm>
          <a:prstGeom prst="rect">
            <a:avLst/>
          </a:prstGeom>
          <a:noFill/>
          <a:ln/>
        </p:spPr>
        <p:txBody>
          <a:bodyPr wrap="square" rtlCol="0" anchor="t"/>
          <a:lstStyle/>
          <a:p>
            <a:pPr marL="0" indent="0">
              <a:buNone/>
            </a:pPr>
            <a:r>
              <a:rPr lang="en-US" sz="1400" b="1">
                <a:solidFill>
                  <a:srgbClr val="001489"/>
                </a:solidFill>
                <a:latin typeface="Arial" pitchFamily="34" charset="0"/>
                <a:ea typeface="Arial" pitchFamily="34" charset="-122"/>
                <a:cs typeface="Arial" pitchFamily="34" charset="-120"/>
              </a:rPr>
              <a:t>4 · Close the gaps</a:t>
            </a:r>
            <a:endParaRPr lang="en-US" sz="1400"/>
          </a:p>
        </p:txBody>
      </p:sp>
      <p:sp>
        <p:nvSpPr>
          <p:cNvPr id="23" name="Text 21"/>
          <p:cNvSpPr/>
          <p:nvPr/>
        </p:nvSpPr>
        <p:spPr>
          <a:xfrm>
            <a:off x="9217152" y="2331720"/>
            <a:ext cx="2286000" cy="1280160"/>
          </a:xfrm>
          <a:prstGeom prst="rect">
            <a:avLst/>
          </a:prstGeom>
          <a:noFill/>
          <a:ln/>
        </p:spPr>
        <p:txBody>
          <a:bodyPr wrap="square" rtlCol="0" anchor="ctr"/>
          <a:lstStyle/>
          <a:p>
            <a:pPr marL="0" indent="0">
              <a:lnSpc>
                <a:spcPct val="108000"/>
              </a:lnSpc>
              <a:buNone/>
            </a:pPr>
            <a:r>
              <a:rPr lang="en-US" sz="1100">
                <a:solidFill>
                  <a:srgbClr val="2C2826"/>
                </a:solidFill>
                <a:latin typeface="Calibri" pitchFamily="34" charset="0"/>
                <a:ea typeface="Calibri" pitchFamily="34" charset="-122"/>
                <a:cs typeface="Calibri" pitchFamily="34" charset="-120"/>
              </a:rPr>
              <a:t>Prioritize un-owned OT / legacy / .NET CIs; assign named owners; escalate conflicts via ARB.</a:t>
            </a:r>
            <a:endParaRPr lang="en-US" sz="1100"/>
          </a:p>
        </p:txBody>
      </p:sp>
      <p:sp>
        <p:nvSpPr>
          <p:cNvPr id="24" name="Shape 22"/>
          <p:cNvSpPr/>
          <p:nvPr/>
        </p:nvSpPr>
        <p:spPr>
          <a:xfrm>
            <a:off x="457200" y="3977640"/>
            <a:ext cx="11365992" cy="1600200"/>
          </a:xfrm>
          <a:prstGeom prst="rect">
            <a:avLst/>
          </a:prstGeom>
          <a:solidFill>
            <a:srgbClr val="001489"/>
          </a:solidFill>
          <a:ln/>
          <a:effectLst>
            <a:outerShdw blurRad="88900" dist="38100" dir="8100000" algn="bl" rotWithShape="0">
              <a:srgbClr val="0B1730">
                <a:alpha val="16000"/>
              </a:srgbClr>
            </a:outerShdw>
          </a:effectLst>
        </p:spPr>
        <p:txBody>
          <a:bodyPr/>
          <a:lstStyle/>
          <a:p>
            <a:endParaRPr lang="en-US"/>
          </a:p>
        </p:txBody>
      </p:sp>
      <p:sp>
        <p:nvSpPr>
          <p:cNvPr id="25" name="Text 23"/>
          <p:cNvSpPr/>
          <p:nvPr/>
        </p:nvSpPr>
        <p:spPr>
          <a:xfrm>
            <a:off x="685800" y="4114800"/>
            <a:ext cx="10972800" cy="274320"/>
          </a:xfrm>
          <a:prstGeom prst="rect">
            <a:avLst/>
          </a:prstGeom>
          <a:noFill/>
          <a:ln/>
        </p:spPr>
        <p:txBody>
          <a:bodyPr wrap="square" rtlCol="0" anchor="ctr"/>
          <a:lstStyle/>
          <a:p>
            <a:pPr marL="0" indent="0">
              <a:buNone/>
            </a:pPr>
            <a:r>
              <a:rPr lang="en-US" sz="1200" b="1" kern="0" spc="200">
                <a:solidFill>
                  <a:srgbClr val="F2A900"/>
                </a:solidFill>
                <a:latin typeface="Calibri" pitchFamily="34" charset="0"/>
                <a:ea typeface="Calibri" pitchFamily="34" charset="-122"/>
                <a:cs typeface="Calibri" pitchFamily="34" charset="-120"/>
              </a:rPr>
              <a:t>GOVERNANCE GUARDRAILS</a:t>
            </a:r>
            <a:endParaRPr lang="en-US" sz="1200"/>
          </a:p>
        </p:txBody>
      </p:sp>
      <p:sp>
        <p:nvSpPr>
          <p:cNvPr id="26" name="Shape 24"/>
          <p:cNvSpPr/>
          <p:nvPr/>
        </p:nvSpPr>
        <p:spPr>
          <a:xfrm>
            <a:off x="777240" y="4471416"/>
            <a:ext cx="128016" cy="128016"/>
          </a:xfrm>
          <a:prstGeom prst="ellipse">
            <a:avLst/>
          </a:prstGeom>
          <a:solidFill>
            <a:srgbClr val="F2A900"/>
          </a:solidFill>
          <a:ln/>
        </p:spPr>
        <p:txBody>
          <a:bodyPr/>
          <a:lstStyle/>
          <a:p>
            <a:endParaRPr lang="en-US"/>
          </a:p>
        </p:txBody>
      </p:sp>
      <p:sp>
        <p:nvSpPr>
          <p:cNvPr id="27" name="Text 25"/>
          <p:cNvSpPr/>
          <p:nvPr/>
        </p:nvSpPr>
        <p:spPr>
          <a:xfrm>
            <a:off x="996696" y="4407408"/>
            <a:ext cx="5212080" cy="310896"/>
          </a:xfrm>
          <a:prstGeom prst="rect">
            <a:avLst/>
          </a:prstGeom>
          <a:noFill/>
          <a:ln/>
        </p:spPr>
        <p:txBody>
          <a:bodyPr wrap="square" rtlCol="0" anchor="ctr"/>
          <a:lstStyle/>
          <a:p>
            <a:pPr marL="0" indent="0">
              <a:buNone/>
            </a:pPr>
            <a:r>
              <a:rPr lang="en-US" sz="1050">
                <a:solidFill>
                  <a:srgbClr val="FFFFFF"/>
                </a:solidFill>
                <a:latin typeface="Calibri" pitchFamily="34" charset="0"/>
                <a:ea typeface="Calibri" pitchFamily="34" charset="-122"/>
                <a:cs typeface="Calibri" pitchFamily="34" charset="-120"/>
              </a:rPr>
              <a:t>One Home Value Stream per app — no gaps, no overlap.</a:t>
            </a:r>
            <a:endParaRPr lang="en-US" sz="1050"/>
          </a:p>
        </p:txBody>
      </p:sp>
      <p:sp>
        <p:nvSpPr>
          <p:cNvPr id="28" name="Shape 26"/>
          <p:cNvSpPr/>
          <p:nvPr/>
        </p:nvSpPr>
        <p:spPr>
          <a:xfrm>
            <a:off x="6355080" y="4471416"/>
            <a:ext cx="128016" cy="128016"/>
          </a:xfrm>
          <a:prstGeom prst="ellipse">
            <a:avLst/>
          </a:prstGeom>
          <a:solidFill>
            <a:srgbClr val="F2A900"/>
          </a:solidFill>
          <a:ln/>
        </p:spPr>
        <p:txBody>
          <a:bodyPr/>
          <a:lstStyle/>
          <a:p>
            <a:endParaRPr lang="en-US"/>
          </a:p>
        </p:txBody>
      </p:sp>
      <p:sp>
        <p:nvSpPr>
          <p:cNvPr id="29" name="Text 27"/>
          <p:cNvSpPr/>
          <p:nvPr/>
        </p:nvSpPr>
        <p:spPr>
          <a:xfrm>
            <a:off x="6574536" y="4407408"/>
            <a:ext cx="5212080" cy="310896"/>
          </a:xfrm>
          <a:prstGeom prst="rect">
            <a:avLst/>
          </a:prstGeom>
          <a:noFill/>
          <a:ln/>
        </p:spPr>
        <p:txBody>
          <a:bodyPr wrap="square" rtlCol="0" anchor="ctr"/>
          <a:lstStyle/>
          <a:p>
            <a:pPr marL="0" indent="0">
              <a:buNone/>
            </a:pPr>
            <a:r>
              <a:rPr lang="en-US" sz="1050">
                <a:solidFill>
                  <a:srgbClr val="FFFFFF"/>
                </a:solidFill>
                <a:latin typeface="Calibri" pitchFamily="34" charset="0"/>
                <a:ea typeface="Calibri" pitchFamily="34" charset="-122"/>
                <a:cs typeface="Calibri" pitchFamily="34" charset="-120"/>
              </a:rPr>
              <a:t>Business Owner (A) ≠ IT Owner (R) — two distinct, named roles.</a:t>
            </a:r>
            <a:endParaRPr lang="en-US" sz="1050"/>
          </a:p>
        </p:txBody>
      </p:sp>
      <p:sp>
        <p:nvSpPr>
          <p:cNvPr id="30" name="Shape 28"/>
          <p:cNvSpPr/>
          <p:nvPr/>
        </p:nvSpPr>
        <p:spPr>
          <a:xfrm>
            <a:off x="777240" y="4837176"/>
            <a:ext cx="128016" cy="128016"/>
          </a:xfrm>
          <a:prstGeom prst="ellipse">
            <a:avLst/>
          </a:prstGeom>
          <a:solidFill>
            <a:srgbClr val="F2A900"/>
          </a:solidFill>
          <a:ln/>
        </p:spPr>
        <p:txBody>
          <a:bodyPr/>
          <a:lstStyle/>
          <a:p>
            <a:endParaRPr lang="en-US"/>
          </a:p>
        </p:txBody>
      </p:sp>
      <p:sp>
        <p:nvSpPr>
          <p:cNvPr id="31" name="Text 29"/>
          <p:cNvSpPr/>
          <p:nvPr/>
        </p:nvSpPr>
        <p:spPr>
          <a:xfrm>
            <a:off x="996696" y="4773168"/>
            <a:ext cx="5212080" cy="310896"/>
          </a:xfrm>
          <a:prstGeom prst="rect">
            <a:avLst/>
          </a:prstGeom>
          <a:noFill/>
          <a:ln/>
        </p:spPr>
        <p:txBody>
          <a:bodyPr wrap="square" rtlCol="0" anchor="ctr"/>
          <a:lstStyle/>
          <a:p>
            <a:pPr marL="0" indent="0">
              <a:buNone/>
            </a:pPr>
            <a:r>
              <a:rPr lang="en-US" sz="1050">
                <a:solidFill>
                  <a:srgbClr val="FFFFFF"/>
                </a:solidFill>
                <a:latin typeface="Calibri" pitchFamily="34" charset="0"/>
                <a:ea typeface="Calibri" pitchFamily="34" charset="-122"/>
                <a:cs typeface="Calibri" pitchFamily="34" charset="-120"/>
              </a:rPr>
              <a:t>Ownership changes route through certification + 2nd-level approval.</a:t>
            </a:r>
            <a:endParaRPr lang="en-US" sz="1050"/>
          </a:p>
        </p:txBody>
      </p:sp>
      <p:sp>
        <p:nvSpPr>
          <p:cNvPr id="32" name="Shape 30"/>
          <p:cNvSpPr/>
          <p:nvPr/>
        </p:nvSpPr>
        <p:spPr>
          <a:xfrm>
            <a:off x="6355080" y="4837176"/>
            <a:ext cx="128016" cy="128016"/>
          </a:xfrm>
          <a:prstGeom prst="ellipse">
            <a:avLst/>
          </a:prstGeom>
          <a:solidFill>
            <a:srgbClr val="F2A900"/>
          </a:solidFill>
          <a:ln/>
        </p:spPr>
        <p:txBody>
          <a:bodyPr/>
          <a:lstStyle/>
          <a:p>
            <a:endParaRPr lang="en-US"/>
          </a:p>
        </p:txBody>
      </p:sp>
      <p:sp>
        <p:nvSpPr>
          <p:cNvPr id="33" name="Text 31"/>
          <p:cNvSpPr/>
          <p:nvPr/>
        </p:nvSpPr>
        <p:spPr>
          <a:xfrm>
            <a:off x="6574536" y="4773168"/>
            <a:ext cx="5212080" cy="310896"/>
          </a:xfrm>
          <a:prstGeom prst="rect">
            <a:avLst/>
          </a:prstGeom>
          <a:noFill/>
          <a:ln/>
        </p:spPr>
        <p:txBody>
          <a:bodyPr wrap="square" rtlCol="0" anchor="ctr"/>
          <a:lstStyle/>
          <a:p>
            <a:pPr marL="0" indent="0">
              <a:buNone/>
            </a:pPr>
            <a:r>
              <a:rPr lang="en-US" sz="1050">
                <a:solidFill>
                  <a:srgbClr val="FFFFFF"/>
                </a:solidFill>
                <a:latin typeface="Calibri" pitchFamily="34" charset="0"/>
                <a:ea typeface="Calibri" pitchFamily="34" charset="-122"/>
                <a:cs typeface="Calibri" pitchFamily="34" charset="-120"/>
              </a:rPr>
              <a:t>APO is the interim system of record feeding CMDB.</a:t>
            </a:r>
            <a:endParaRPr lang="en-US" sz="1050"/>
          </a:p>
        </p:txBody>
      </p:sp>
      <p:sp>
        <p:nvSpPr>
          <p:cNvPr id="34" name="Shape 32"/>
          <p:cNvSpPr/>
          <p:nvPr/>
        </p:nvSpPr>
        <p:spPr>
          <a:xfrm>
            <a:off x="777240" y="5202936"/>
            <a:ext cx="128016" cy="128016"/>
          </a:xfrm>
          <a:prstGeom prst="ellipse">
            <a:avLst/>
          </a:prstGeom>
          <a:solidFill>
            <a:srgbClr val="F2A900"/>
          </a:solidFill>
          <a:ln/>
        </p:spPr>
        <p:txBody>
          <a:bodyPr/>
          <a:lstStyle/>
          <a:p>
            <a:endParaRPr lang="en-US"/>
          </a:p>
        </p:txBody>
      </p:sp>
      <p:sp>
        <p:nvSpPr>
          <p:cNvPr id="35" name="Text 33"/>
          <p:cNvSpPr/>
          <p:nvPr/>
        </p:nvSpPr>
        <p:spPr>
          <a:xfrm>
            <a:off x="996696" y="5138928"/>
            <a:ext cx="5212080" cy="310896"/>
          </a:xfrm>
          <a:prstGeom prst="rect">
            <a:avLst/>
          </a:prstGeom>
          <a:noFill/>
          <a:ln/>
        </p:spPr>
        <p:txBody>
          <a:bodyPr wrap="square" rtlCol="0" anchor="ctr"/>
          <a:lstStyle/>
          <a:p>
            <a:pPr marL="0" indent="0">
              <a:buNone/>
            </a:pPr>
            <a:r>
              <a:rPr lang="en-US" sz="1050">
                <a:solidFill>
                  <a:srgbClr val="FFFFFF"/>
                </a:solidFill>
                <a:latin typeface="Calibri" pitchFamily="34" charset="0"/>
                <a:ea typeface="Calibri" pitchFamily="34" charset="-122"/>
                <a:cs typeface="Calibri" pitchFamily="34" charset="-120"/>
              </a:rPr>
              <a:t>IT-owned tools: BO = consuming IT lead; IT Owner = Tech Foundation.</a:t>
            </a:r>
            <a:endParaRPr lang="en-US" sz="1050"/>
          </a:p>
        </p:txBody>
      </p:sp>
      <p:sp>
        <p:nvSpPr>
          <p:cNvPr id="36" name="Shape 34"/>
          <p:cNvSpPr/>
          <p:nvPr/>
        </p:nvSpPr>
        <p:spPr>
          <a:xfrm>
            <a:off x="6355080" y="5202936"/>
            <a:ext cx="128016" cy="128016"/>
          </a:xfrm>
          <a:prstGeom prst="ellipse">
            <a:avLst/>
          </a:prstGeom>
          <a:solidFill>
            <a:srgbClr val="F2A900"/>
          </a:solidFill>
          <a:ln/>
        </p:spPr>
        <p:txBody>
          <a:bodyPr/>
          <a:lstStyle/>
          <a:p>
            <a:endParaRPr lang="en-US"/>
          </a:p>
        </p:txBody>
      </p:sp>
      <p:sp>
        <p:nvSpPr>
          <p:cNvPr id="37" name="Text 35"/>
          <p:cNvSpPr/>
          <p:nvPr/>
        </p:nvSpPr>
        <p:spPr>
          <a:xfrm>
            <a:off x="6574536" y="5138928"/>
            <a:ext cx="5212080" cy="310896"/>
          </a:xfrm>
          <a:prstGeom prst="rect">
            <a:avLst/>
          </a:prstGeom>
          <a:noFill/>
          <a:ln/>
        </p:spPr>
        <p:txBody>
          <a:bodyPr wrap="square" rtlCol="0" anchor="ctr"/>
          <a:lstStyle/>
          <a:p>
            <a:pPr marL="0" indent="0">
              <a:buNone/>
            </a:pPr>
            <a:r>
              <a:rPr lang="en-US" sz="1050">
                <a:solidFill>
                  <a:srgbClr val="FFFFFF"/>
                </a:solidFill>
                <a:latin typeface="Calibri" pitchFamily="34" charset="0"/>
                <a:ea typeface="Calibri" pitchFamily="34" charset="-122"/>
                <a:cs typeface="Calibri" pitchFamily="34" charset="-120"/>
              </a:rPr>
              <a:t>Cross-VS conflicts escalate: Release Captains → Env Mgmt → VS Leads → IMPACT.</a:t>
            </a:r>
            <a:endParaRPr lang="en-US" sz="1050"/>
          </a:p>
        </p:txBody>
      </p:sp>
      <p:sp>
        <p:nvSpPr>
          <p:cNvPr id="38" name="Text 36"/>
          <p:cNvSpPr/>
          <p:nvPr/>
        </p:nvSpPr>
        <p:spPr>
          <a:xfrm>
            <a:off x="457200" y="5806440"/>
            <a:ext cx="11338560" cy="457200"/>
          </a:xfrm>
          <a:prstGeom prst="rect">
            <a:avLst/>
          </a:prstGeom>
          <a:noFill/>
          <a:ln/>
        </p:spPr>
        <p:txBody>
          <a:bodyPr wrap="square" rtlCol="0" anchor="ctr"/>
          <a:lstStyle/>
          <a:p>
            <a:pPr marL="0" indent="0" algn="ctr">
              <a:buNone/>
            </a:pPr>
            <a:r>
              <a:rPr lang="en-US" sz="1300" b="1" i="1">
                <a:solidFill>
                  <a:srgbClr val="001489"/>
                </a:solidFill>
                <a:latin typeface="Arial" pitchFamily="34" charset="0"/>
                <a:ea typeface="Arial" pitchFamily="34" charset="-122"/>
                <a:cs typeface="Arial" pitchFamily="34" charset="-120"/>
              </a:rPr>
              <a:t>Outcome: a defensible, audit-ready ownership model that survives re-orgs — every application, every type, one accountable owner.</a:t>
            </a:r>
            <a:endParaRPr lang="en-US" sz="1300"/>
          </a:p>
        </p:txBody>
      </p:sp>
      <p:sp>
        <p:nvSpPr>
          <p:cNvPr id="39" name="Text 37"/>
          <p:cNvSpPr/>
          <p:nvPr/>
        </p:nvSpPr>
        <p:spPr>
          <a:xfrm>
            <a:off x="457200" y="6473952"/>
            <a:ext cx="2011680" cy="256032"/>
          </a:xfrm>
          <a:prstGeom prst="rect">
            <a:avLst/>
          </a:prstGeom>
          <a:noFill/>
          <a:ln/>
        </p:spPr>
        <p:txBody>
          <a:bodyPr wrap="square" rtlCol="0" anchor="ctr"/>
          <a:lstStyle/>
          <a:p>
            <a:pPr marL="0" indent="0" algn="l">
              <a:buNone/>
            </a:pPr>
            <a:r>
              <a:rPr lang="en-US" sz="850" i="1">
                <a:solidFill>
                  <a:srgbClr val="6A6157"/>
                </a:solidFill>
                <a:latin typeface="Calibri" pitchFamily="34" charset="0"/>
                <a:ea typeface="Calibri" pitchFamily="34" charset="-122"/>
                <a:cs typeface="Calibri" pitchFamily="34" charset="-120"/>
              </a:rPr>
              <a:t>Business Use</a:t>
            </a:r>
            <a:endParaRPr lang="en-US" sz="850"/>
          </a:p>
        </p:txBody>
      </p:sp>
      <p:sp>
        <p:nvSpPr>
          <p:cNvPr id="40" name="Text 38"/>
          <p:cNvSpPr/>
          <p:nvPr/>
        </p:nvSpPr>
        <p:spPr>
          <a:xfrm>
            <a:off x="2468880" y="6473952"/>
            <a:ext cx="5029200" cy="256032"/>
          </a:xfrm>
          <a:prstGeom prst="rect">
            <a:avLst/>
          </a:prstGeom>
          <a:noFill/>
          <a:ln/>
        </p:spPr>
        <p:txBody>
          <a:bodyPr wrap="square" rtlCol="0" anchor="ctr"/>
          <a:lstStyle/>
          <a:p>
            <a:pPr marL="0" indent="0" algn="l">
              <a:buNone/>
            </a:pPr>
            <a:r>
              <a:rPr lang="en-US" sz="850">
                <a:solidFill>
                  <a:srgbClr val="6A6157"/>
                </a:solidFill>
                <a:latin typeface="Calibri" pitchFamily="34" charset="0"/>
                <a:ea typeface="Calibri" pitchFamily="34" charset="-122"/>
                <a:cs typeface="Calibri" pitchFamily="34" charset="-120"/>
              </a:rPr>
              <a:t>Application Ownership Governance</a:t>
            </a:r>
            <a:endParaRPr lang="en-US" sz="850"/>
          </a:p>
        </p:txBody>
      </p:sp>
      <p:sp>
        <p:nvSpPr>
          <p:cNvPr id="41" name="Text 39"/>
          <p:cNvSpPr/>
          <p:nvPr/>
        </p:nvSpPr>
        <p:spPr>
          <a:xfrm>
            <a:off x="7772400" y="6473952"/>
            <a:ext cx="3959352" cy="256032"/>
          </a:xfrm>
          <a:prstGeom prst="rect">
            <a:avLst/>
          </a:prstGeom>
          <a:noFill/>
          <a:ln/>
        </p:spPr>
        <p:txBody>
          <a:bodyPr wrap="square" rtlCol="0" anchor="ctr"/>
          <a:lstStyle/>
          <a:p>
            <a:pPr marL="0" indent="0" algn="r">
              <a:buNone/>
            </a:pPr>
            <a:r>
              <a:rPr lang="en-US" sz="850">
                <a:solidFill>
                  <a:srgbClr val="6A6157"/>
                </a:solidFill>
                <a:latin typeface="Calibri" pitchFamily="34" charset="0"/>
                <a:ea typeface="Calibri" pitchFamily="34" charset="-122"/>
                <a:cs typeface="Calibri" pitchFamily="34" charset="-120"/>
              </a:rPr>
              <a:t>© PPL Corporation 2026   |   14</a:t>
            </a:r>
            <a:endParaRPr lang="en-US" sz="8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3117</Words>
  <Application>Microsoft Office PowerPoint</Application>
  <PresentationFormat>Widescreen</PresentationFormat>
  <Paragraphs>451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Ownership Decision Matrix &amp; Decision Tree</dc:title>
  <dc:subject>PptxGenJS Presentation</dc:subject>
  <dc:creator>Parmar, Gaurav Dhirendrakumar</dc:creator>
  <cp:lastModifiedBy>Vazquez, Manuel</cp:lastModifiedBy>
  <cp:revision>2</cp:revision>
  <dcterms:created xsi:type="dcterms:W3CDTF">2026-10-05T16:52:04Z</dcterms:created>
  <dcterms:modified xsi:type="dcterms:W3CDTF">2026-10-16T01:06:03Z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Business Use</vt:lpwstr>
  </property>
  <property fmtid="{D5CDD505-2E9C-101B-9397-08002B2CF9AE}" pid="4" name="MSIP_Label_b28095e7-21cd-4f1b-a182-85eb226f41ae_Enabled">
    <vt:lpwstr>true</vt:lpwstr>
  </property>
  <property fmtid="{D5CDD505-2E9C-101B-9397-08002B2CF9AE}" pid="5" name="MSIP_Label_b28095e7-21cd-4f1b-a182-85eb226f41ae_SetDate">
    <vt:lpwstr>2026-10-05T16:52:05Z</vt:lpwstr>
  </property>
  <property fmtid="{D5CDD505-2E9C-101B-9397-08002B2CF9AE}" pid="6" name="MSIP_Label_b28095e7-21cd-4f1b-a182-85eb226f41ae_Method">
    <vt:lpwstr>Privileged</vt:lpwstr>
  </property>
  <property fmtid="{D5CDD505-2E9C-101B-9397-08002B2CF9AE}" pid="7" name="MSIP_Label_b28095e7-21cd-4f1b-a182-85eb226f41ae_Name">
    <vt:lpwstr>b28095e7-21cd-4f1b-a182-85eb226f41ae</vt:lpwstr>
  </property>
  <property fmtid="{D5CDD505-2E9C-101B-9397-08002B2CF9AE}" pid="8" name="MSIP_Label_b28095e7-21cd-4f1b-a182-85eb226f41ae_SiteId">
    <vt:lpwstr>25b79aa0-07c6-4d65-9c80-df92aacdc157</vt:lpwstr>
  </property>
  <property fmtid="{D5CDD505-2E9C-101B-9397-08002B2CF9AE}" pid="9" name="MSIP_Label_b28095e7-21cd-4f1b-a182-85eb226f41ae_ActionId">
    <vt:lpwstr>42576a6a-29bf-4cd9-a44a-f4a21d3df6ac</vt:lpwstr>
  </property>
  <property fmtid="{D5CDD505-2E9C-101B-9397-08002B2CF9AE}" pid="10" name="MSIP_Label_b28095e7-21cd-4f1b-a182-85eb226f41ae_ContentBits">
    <vt:lpwstr>0</vt:lpwstr>
  </property>
</Properties>
</file>