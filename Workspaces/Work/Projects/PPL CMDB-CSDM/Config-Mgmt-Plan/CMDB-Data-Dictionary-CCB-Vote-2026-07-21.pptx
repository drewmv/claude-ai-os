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CMDB Data Dictionary - CCB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 i="0">
                <a:solidFill>
                  <a:srgbClr val="C9D6E6"/>
                </a:solidFill>
                <a:latin typeface="Segoe UI"/>
              </a:rPr>
              <a:t>38 governance decisions across 9 CI classes  -  CMP 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920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9FB3CC"/>
                </a:solidFill>
                <a:latin typeface="Segoe UI"/>
              </a:rPr>
              <a:t>CMDB Change Control Board  -  Chair: Josh Sterling  -  July 21,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9FB3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At a Glance  -  38 Decisions, How to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Group the vote by class; the chair records each ruling in the CCB ruling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69037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731520"/>
                <a:gridCol w="16916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Class Manager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 types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1. Business Application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Todd Dierksheide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Mandatory x4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2. Service Instance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!! none assigned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Owner x2, Mandatory x3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3. Computer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Monica Green / Paul Becker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Mandatory x1, Audited x2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4. Server (parent)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Values x1, Audited x4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5. Windows Server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x3, Mandatory x2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6. Linux Server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x2, Mandatory x2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7. Database (parent)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x2, Values x1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8. Oracle Database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x3, Mandatory x1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9. SQL Server Database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Ray Reuter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Audited x4, Mandatory x1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M14 / A20 / O2 / V2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35240" y="1234440"/>
            <a:ext cx="402336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34440"/>
            <a:ext cx="38404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How to vote each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609344"/>
            <a:ext cx="4023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2E8B57"/>
                </a:solidFill>
                <a:latin typeface="Segoe UI"/>
              </a:rPr>
              <a:t>Accept  -  as the team suggested</a:t>
            </a:r>
          </a:p>
          <a:p>
            <a:pPr algn="l"/>
            <a:r>
              <a:rPr sz="1050" b="1" i="0">
                <a:solidFill>
                  <a:srgbClr val="E08A00"/>
                </a:solidFill>
                <a:latin typeface="Segoe UI"/>
              </a:rPr>
              <a:t>Amend  -  note the change in the ruling cell</a:t>
            </a:r>
          </a:p>
          <a:p>
            <a:pPr algn="l"/>
            <a:r>
              <a:rPr sz="1050" b="1" i="0">
                <a:solidFill>
                  <a:srgbClr val="C0392B"/>
                </a:solidFill>
                <a:latin typeface="Segoe UI"/>
              </a:rPr>
              <a:t>Defer  -  record owner + target date</a:t>
            </a:r>
          </a:p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A class is accepted once all its items are ruled.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615184"/>
            <a:ext cx="4023360" cy="102412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615184"/>
            <a:ext cx="7315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2651760"/>
            <a:ext cx="3767328" cy="9692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Segoe UI"/>
              </a:rPr>
              <a:t>!  Resolve first - Service Instance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Class has no manager (items 5-6). Assign an owner (EA / Platform) or defer - items can't be ratified without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3749039"/>
            <a:ext cx="4023360" cy="1024128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49039"/>
            <a:ext cx="73152" cy="102412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3785615"/>
            <a:ext cx="3767328" cy="9692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E08A00"/>
                </a:solidFill>
                <a:latin typeface="Segoe UI"/>
              </a:rPr>
              <a:t>!  Sequence - Ray Reuter load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Ray owns 26 of 38 (all Server + Database). Take Server / Database first so they aren't stranded if time runs short.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Education  -  The Four Decision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one of the 38 items is one of these four. Rule each Accept / Amend / Defer.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504688" cy="221284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91440" cy="22128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53895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  <a:latin typeface="Segoe UI"/>
              </a:rPr>
              <a:t>Mandatory?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1508760"/>
            <a:ext cx="1207008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14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Is this attribute REQUIRED on the class?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1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Y = a record can't be certified without it. Sets the governance / certification bar.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325880"/>
            <a:ext cx="5504688" cy="2212848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325880"/>
            <a:ext cx="91440" cy="22128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Segoe UI"/>
              </a:rPr>
              <a:t>Audited?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508760"/>
            <a:ext cx="1207008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1508760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20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39112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Include this attribute in AUDIT / certification scope?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79191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Y = it counts toward the 90% completeness / correctness target and appears on audit dashboards.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85032"/>
            <a:ext cx="5504688" cy="221284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91440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13048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Segoe UI"/>
              </a:rPr>
              <a:t>Owner?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67912"/>
            <a:ext cx="120700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867912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98264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Assign a Certification Owner / Class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38344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Only Service Instance (5-6), currently unassigned. Name an owner (EA / Platform) or defer the class.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3912" y="3685032"/>
            <a:ext cx="5504688" cy="2212848"/>
          </a:xfrm>
          <a:prstGeom prst="rect">
            <a:avLst/>
          </a:prstGeom>
          <a:solidFill>
            <a:srgbClr val="FBF1DD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3912" y="3685032"/>
            <a:ext cx="91440" cy="22128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813048"/>
            <a:ext cx="404164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E08A00"/>
                </a:solidFill>
                <a:latin typeface="Segoe UI"/>
              </a:rPr>
              <a:t>Values?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3867912"/>
            <a:ext cx="1207008" cy="32918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867912"/>
            <a:ext cx="1207008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398264"/>
            <a:ext cx="504748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Confirm the allowed-value (choice) list.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038344"/>
            <a:ext cx="5047488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e.g. Operational Status: Build / Operational / Non-Operational / Retired. Confirm vs the OOB choices.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Capture each as Accept (as suggested) / Amend (note the change) / Defer (owner + date).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Education  -  IRE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Why some attributes are 'discovery-sourced' - and why that decides how we audit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40680" cy="160020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1. 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07492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How ServiceNow decides two records are the SAME CI - via identifier rules (e.g. Server = Serial Number; Computer = Name + Serial). 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Independent = identified on its own;  Dependent = only in the context of a host (e.g. a Database on its Server).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440680" cy="160020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Segoe UI"/>
              </a:rPr>
              <a:t>2.  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55648"/>
            <a:ext cx="507492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When MORE THAN ONE source writes the same attribute, precedence decides which source wins - so the value doesn't 'flap'.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The winning source is authoritative; other sources are ignored for that attribute.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PPL source precedence (as-built, 2026-07-20)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3401568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836676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SG-SCCM wins</a:t>
                      </a:r>
                    </a:p>
                  </a:txBody>
                  <a:tcPr anchor="ctr" marL="63500" marR="63500" marT="25400" marB="25400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OS &amp; OS version, CPU / disk / RAM, manufacturer, asset &amp; ownership specs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ServiceNow Discovery wins</a:t>
                      </a:r>
                    </a:p>
                  </a:txBody>
                  <a:tcPr anchor="ctr" marL="63500" marR="63500" marT="25400" marB="25400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 (network-sourced facts)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EA / LeanIX wins</a:t>
                      </a:r>
                    </a:p>
                  </a:txBody>
                  <a:tcPr anchor="ctr" marL="63500" marR="63500" marT="25400" marB="25400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Application Category, Life Cycle Stage (Business App)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Manual / Data Cert wins</a:t>
                      </a:r>
                    </a:p>
                  </a:txBody>
                  <a:tcPr anchor="ctr" marL="63500" marR="63500" marT="25400" marB="25400"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Owners, support &amp; approval groups, SOX flag (NOT discovered)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2920" y="5504688"/>
            <a:ext cx="11155680" cy="84124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04688"/>
            <a:ext cx="73152" cy="8412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2801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Why it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559552"/>
            <a:ext cx="9509760" cy="7498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If a source is authoritative for an attribute, 'Audited = Y' means we measure the DISCOVERED value - we don't ask humans to maintain it.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Segoe UI"/>
              </a:rPr>
              <a:t>The ownership / governance fields (owners, groups, SOX) are NOT discovered - those are the ones Data Certification must fill, so they carry the Mandatory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Business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Todd Dierksheide   -   Table: cmdb_ci_business_app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Application Category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Choice; authoritative = EA / LeanIX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(core classification)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Life Cycle Stage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(CSDM stages); authoritative = EA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(lifecycle reporting)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 Application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via Data Certification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(ownership / audit)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Business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via Data Certification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(Dec audit remediation)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Service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none assigned   -   Table: (no dedicated CCB Class Manager mapped)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ASSIGN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55680" cy="566928"/>
          </a:xfrm>
          <a:prstGeom prst="rect">
            <a:avLst/>
          </a:prstGeom>
          <a:solidFill>
            <a:srgbClr val="F9E7E5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73152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52728"/>
            <a:ext cx="1097280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Segoe UI"/>
              </a:rPr>
              <a:t>!  Ownerless class. Assign an owner (EA / Platform - e.g. Gaurav Parmar or Sonika Das) before items 5-6 can be ratified, or defer the class.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47672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C0392B"/>
                          </a:solidFill>
                          <a:latin typeface="Segoe UI"/>
                        </a:rPr>
                        <a:t>Owner?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No dedicated CCB Class Mgr mapped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Assign class owner (EA / Platform)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Environment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C0392B"/>
                          </a:solidFill>
                          <a:latin typeface="Segoe UI"/>
                        </a:rPr>
                        <a:t>Owner?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Prod / QA / Dev / Test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Same owner as #5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Service Owner (owned_by)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Monica Green / Paul Becker   -   Table: cmdb_ci_computer   -   3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sys_user; Asset Management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- (PPL call)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Operating System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/ Intune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Endpoint connector /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Server (parent)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cmdb_ci_server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Values?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Build / Operational / Non-Operational / Retired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Confirm full list vs OOB choices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CPU Count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RAM (MB)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Windows Server (child of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cmdb_ci_win_server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Domain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Service Pack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overrides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'Wintel Infrastructure Ops'; not auto-writable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'Wintel CAB'; not auto-writable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Linux Server (child of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cmdb_ci_linux_server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OS Architecture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via SSH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Kernel Release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via SSH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ITSM 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'Unix / Linux Administration Team'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Change Approval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'Linux CAB'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Database (parent)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cmdb_ci_database   -   3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TCP Port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Values?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Operational, Retired, ...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Confirm full list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Oracle Database (child)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cmdb_ci_db_ora_instance   -   4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SID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Oracle Edition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Oracle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Oracle probes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'Oracle DBA Team'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Vote  -  SQL Server Database (child)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 -   Table: cmdb_ci_db_mssql_instance   -   5 decision(s)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Vote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PROPOSED - PENDING CCB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55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91640"/>
                <a:gridCol w="960120"/>
                <a:gridCol w="3502152"/>
                <a:gridCol w="292608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CCB ruling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Instance 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/ SCCM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Clustered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authoritative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SQL Edition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 authoritative (edition / license)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TCP Port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8B57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 overrides 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6B7280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'SQL DBA Team'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= Y (governance)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1">
                          <a:solidFill>
                            <a:srgbClr val="6B7280"/>
                          </a:solidFill>
                          <a:latin typeface="Segoe UI"/>
                        </a:rPr>
                        <a:t>Accept / Amend / Defer</a:t>
                      </a:r>
                    </a:p>
                  </a:txBody>
                  <a:tcPr anchor="ctr" marL="63500" marR="63500" marT="25400" marB="25400">
                    <a:solidFill>
                      <a:srgbClr val="FCFDF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Team suggestion = delivery team's proposed default (NOT a decision).  CCB ruling is authoritative - the chair captures Accept / Amend / Defer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