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607040" cy="1737360"/>
          </a:xfrm>
          <a:prstGeom prst="rect">
            <a:avLst/>
          </a:prstGeom>
          <a:noFill/>
        </p:spPr>
        <p:txBody>
          <a:bodyPr wrap="square" anchor="b" lIns="50800" rIns="50800" tIns="25400" bIns="25400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CMDB Data Dictionary - CCB Review &amp;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343400"/>
            <a:ext cx="1051560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 i="0">
                <a:solidFill>
                  <a:srgbClr val="C9D6E6"/>
                </a:solidFill>
                <a:latin typeface="Segoe UI"/>
              </a:rPr>
              <a:t>CMP Stage 1  -  4 core CI classes  -  15 attribute-governance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89204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 i="0">
                <a:solidFill>
                  <a:srgbClr val="9FB3CC"/>
                </a:solidFill>
                <a:latin typeface="Segoe UI"/>
              </a:rPr>
              <a:t>CMDB Change Control Board  -  Chair: Josh Sterling  -  July 21,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126480"/>
            <a:ext cx="105156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9FB3CC"/>
                </a:solidFill>
                <a:latin typeface="Segoe UI"/>
              </a:rPr>
              <a:t>Manuel Vazquez  -  Scrum Master, CMDB-CSDM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Agenda &amp; Purpose  -  CMDB CCB  |  July 21,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Chair: Josh Sterling    Presenter: Manuel Vazquez    Duration: ~60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Review &amp; Approval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11155680" cy="749808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188720"/>
            <a:ext cx="91440" cy="749808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188720"/>
            <a:ext cx="1234440" cy="7498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 i="0">
                <a:solidFill>
                  <a:srgbClr val="2E6DB4"/>
                </a:solidFill>
                <a:latin typeface="Segoe UI"/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225296"/>
            <a:ext cx="9509760" cy="6766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2D2D2D"/>
                </a:solidFill>
                <a:latin typeface="Segoe UI"/>
              </a:rPr>
              <a:t>Ratify CMP Stage 1 - the CMDB Data Dictionary - for the 4 core CI classes: Business Application, Computer, Server, and Database.  For each attribute the CCB confirms whether it is Mandatory, in Audit scope, and (where relevant) its allowed values.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194560"/>
            <a:ext cx="7086600" cy="420624"/>
          </a:xfrm>
          <a:prstGeom prst="rect">
            <a:avLst/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194560"/>
            <a:ext cx="420624" cy="42062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194560"/>
            <a:ext cx="420624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194560"/>
            <a:ext cx="507492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F3A5F"/>
                </a:solidFill>
                <a:latin typeface="Segoe UI"/>
              </a:rPr>
              <a:t>Purpose &amp; scope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2194560"/>
            <a:ext cx="15087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900" b="0" i="1">
                <a:solidFill>
                  <a:srgbClr val="6B7280"/>
                </a:solidFill>
                <a:latin typeface="Segoe UI"/>
              </a:rPr>
              <a:t>this slide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665476"/>
            <a:ext cx="7086600" cy="420624"/>
          </a:xfrm>
          <a:prstGeom prst="rect">
            <a:avLst/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665476"/>
            <a:ext cx="420624" cy="42062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665476"/>
            <a:ext cx="420624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665476"/>
            <a:ext cx="507492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F3A5F"/>
                </a:solidFill>
                <a:latin typeface="Segoe UI"/>
              </a:rPr>
              <a:t>CMP &amp; CCB - how they work together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2665476"/>
            <a:ext cx="15087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900" b="0" i="1">
                <a:solidFill>
                  <a:srgbClr val="6B7280"/>
                </a:solidFill>
                <a:latin typeface="Segoe UI"/>
              </a:rPr>
              <a:t>education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136392"/>
            <a:ext cx="7086600" cy="420624"/>
          </a:xfrm>
          <a:prstGeom prst="rect">
            <a:avLst/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136392"/>
            <a:ext cx="420624" cy="42062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136392"/>
            <a:ext cx="420624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136392"/>
            <a:ext cx="507492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F3A5F"/>
                </a:solidFill>
                <a:latin typeface="Segoe UI"/>
              </a:rPr>
              <a:t>What a Data Dictionary is &amp; how it fits in the CMP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3136392"/>
            <a:ext cx="15087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900" b="0" i="1">
                <a:solidFill>
                  <a:srgbClr val="6B7280"/>
                </a:solidFill>
                <a:latin typeface="Segoe UI"/>
              </a:rPr>
              <a:t>education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607308"/>
            <a:ext cx="7086600" cy="420624"/>
          </a:xfrm>
          <a:prstGeom prst="rect">
            <a:avLst/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3607308"/>
            <a:ext cx="420624" cy="42062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607308"/>
            <a:ext cx="420624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3607308"/>
            <a:ext cx="507492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F3A5F"/>
                </a:solidFill>
                <a:latin typeface="Segoe UI"/>
              </a:rPr>
              <a:t>Review - Business Application data dictionary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3607308"/>
            <a:ext cx="15087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900" b="0" i="1">
                <a:solidFill>
                  <a:srgbClr val="6B7280"/>
                </a:solidFill>
                <a:latin typeface="Segoe UI"/>
              </a:rPr>
              <a:t>4 decisions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078224"/>
            <a:ext cx="7086600" cy="420624"/>
          </a:xfrm>
          <a:prstGeom prst="rect">
            <a:avLst/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4078224"/>
            <a:ext cx="420624" cy="42062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078224"/>
            <a:ext cx="420624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078224"/>
            <a:ext cx="507492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F3A5F"/>
                </a:solidFill>
                <a:latin typeface="Segoe UI"/>
              </a:rPr>
              <a:t>Review - Computer data dictionary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89320" y="4078224"/>
            <a:ext cx="15087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900" b="0" i="1">
                <a:solidFill>
                  <a:srgbClr val="6B7280"/>
                </a:solidFill>
                <a:latin typeface="Segoe UI"/>
              </a:rPr>
              <a:t>3 decisions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549140"/>
            <a:ext cx="7086600" cy="420624"/>
          </a:xfrm>
          <a:prstGeom prst="rect">
            <a:avLst/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02920" y="4549140"/>
            <a:ext cx="420624" cy="42062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549140"/>
            <a:ext cx="420624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4549140"/>
            <a:ext cx="507492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F3A5F"/>
                </a:solidFill>
                <a:latin typeface="Segoe UI"/>
              </a:rPr>
              <a:t>Review - Server data dictionary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89320" y="4549140"/>
            <a:ext cx="15087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900" b="0" i="1">
                <a:solidFill>
                  <a:srgbClr val="6B7280"/>
                </a:solidFill>
                <a:latin typeface="Segoe UI"/>
              </a:rPr>
              <a:t>5 decisions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020055"/>
            <a:ext cx="7086600" cy="420624"/>
          </a:xfrm>
          <a:prstGeom prst="rect">
            <a:avLst/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5020055"/>
            <a:ext cx="420624" cy="42062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020055"/>
            <a:ext cx="420624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5020055"/>
            <a:ext cx="507492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F3A5F"/>
                </a:solidFill>
                <a:latin typeface="Segoe UI"/>
              </a:rPr>
              <a:t>Review - Database data dictionary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89320" y="5020055"/>
            <a:ext cx="15087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900" b="0" i="1">
                <a:solidFill>
                  <a:srgbClr val="6B7280"/>
                </a:solidFill>
                <a:latin typeface="Segoe UI"/>
              </a:rPr>
              <a:t>3 decisions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490971"/>
            <a:ext cx="7086600" cy="420624"/>
          </a:xfrm>
          <a:prstGeom prst="rect">
            <a:avLst/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2920" y="5490971"/>
            <a:ext cx="420624" cy="42062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5490971"/>
            <a:ext cx="420624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" y="5490971"/>
            <a:ext cx="507492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1F3A5F"/>
                </a:solidFill>
                <a:latin typeface="Segoe UI"/>
              </a:rPr>
              <a:t>Wrap-up &amp; next steps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89320" y="5490971"/>
            <a:ext cx="150876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900" b="0" i="1">
                <a:solidFill>
                  <a:srgbClr val="6B7280"/>
                </a:solidFill>
                <a:latin typeface="Segoe UI"/>
              </a:rPr>
              <a:t>close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8120" y="2194560"/>
            <a:ext cx="3840480" cy="3657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927848" y="2194560"/>
            <a:ext cx="365760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In scope today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18120" y="2615184"/>
            <a:ext cx="3840480" cy="1371600"/>
          </a:xfrm>
          <a:prstGeom prst="rect">
            <a:avLst/>
          </a:prstGeom>
          <a:solidFill>
            <a:srgbClr val="E7F2EC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82712" y="2670048"/>
            <a:ext cx="3547872" cy="129844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Segoe UI"/>
              </a:rPr>
              <a:t>4 parent classes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Business Application, Computer, Server, Database</a:t>
            </a:r>
          </a:p>
          <a:p>
            <a:pPr algn="l"/>
            <a:r>
              <a:rPr sz="500" b="0" i="0">
                <a:solidFill>
                  <a:srgbClr val="2D2D2D"/>
                </a:solidFill>
                <a:latin typeface="Segoe UI"/>
              </a:rPr>
              <a:t/>
            </a:r>
          </a:p>
          <a:p>
            <a:pPr algn="l"/>
            <a:r>
              <a:rPr sz="1100" b="1" i="0">
                <a:solidFill>
                  <a:srgbClr val="1F3A5F"/>
                </a:solidFill>
                <a:latin typeface="Segoe UI"/>
              </a:rPr>
              <a:t>15 attribute-governance decisions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of the 38 in the full Data Dictionary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18120" y="4160520"/>
            <a:ext cx="3840480" cy="365760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27848" y="4160520"/>
            <a:ext cx="365760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Not covered today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18120" y="4581144"/>
            <a:ext cx="3840480" cy="1417320"/>
          </a:xfrm>
          <a:prstGeom prst="rect">
            <a:avLst/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82712" y="4636008"/>
            <a:ext cx="3547872" cy="134416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1" i="0">
                <a:solidFill>
                  <a:srgbClr val="1F3A5F"/>
                </a:solidFill>
                <a:latin typeface="Segoe UI"/>
              </a:rPr>
              <a:t>Service Instance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needs a Class Manager assigned first</a:t>
            </a:r>
          </a:p>
          <a:p>
            <a:pPr algn="l"/>
            <a:r>
              <a:rPr sz="400" b="0" i="0">
                <a:solidFill>
                  <a:srgbClr val="2D2D2D"/>
                </a:solidFill>
                <a:latin typeface="Segoe UI"/>
              </a:rPr>
              <a:t/>
            </a:r>
          </a:p>
          <a:p>
            <a:pPr algn="l"/>
            <a:r>
              <a:rPr sz="1000" b="1" i="0">
                <a:solidFill>
                  <a:srgbClr val="1F3A5F"/>
                </a:solidFill>
                <a:latin typeface="Segoe UI"/>
              </a:rPr>
              <a:t>Child classes</a:t>
            </a:r>
          </a:p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Windows/Linux Server, Oracle/SQL Database</a:t>
            </a:r>
          </a:p>
          <a:p>
            <a:pPr algn="l"/>
            <a:r>
              <a:rPr sz="900" b="0" i="1">
                <a:solidFill>
                  <a:srgbClr val="6B7280"/>
                </a:solidFill>
                <a:latin typeface="Segoe UI"/>
              </a:rPr>
              <a:t>- to be scheduled separately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The CMP &amp; the CCB - How They Work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Education  |  The CMP defines what is governed; the CCB is the authority that ratifies and enforces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Review &amp; Approval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5440680" cy="3246120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91440" cy="32461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62456"/>
            <a:ext cx="507492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E6DB4"/>
                </a:solidFill>
                <a:latin typeface="Segoe UI"/>
              </a:rPr>
              <a:t>The CMP - Configuration Management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01368"/>
            <a:ext cx="5029200" cy="6858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PPL's governance document for how the CMDB is built, maintained, and governed. Delivered in three stages: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532888"/>
            <a:ext cx="4983480" cy="530352"/>
          </a:xfrm>
          <a:prstGeom prst="rect">
            <a:avLst/>
          </a:prstGeom>
          <a:solidFill>
            <a:srgbClr val="DCE8F6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532888"/>
            <a:ext cx="73152" cy="53035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2551176"/>
            <a:ext cx="960120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2E6DB4"/>
                </a:solidFill>
                <a:latin typeface="Segoe UI"/>
              </a:rPr>
              <a:t>Stage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551176"/>
            <a:ext cx="2743200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 i="0">
                <a:solidFill>
                  <a:srgbClr val="1F3A5F"/>
                </a:solidFill>
                <a:latin typeface="Segoe UI"/>
              </a:rPr>
              <a:t>Class &amp; Attribute Data Definitions (Data Dictionary)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633472"/>
            <a:ext cx="868680" cy="310896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2633472"/>
            <a:ext cx="86868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TODAY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136392"/>
            <a:ext cx="4983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136392"/>
            <a:ext cx="73152" cy="53035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154680"/>
            <a:ext cx="960120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6B7280"/>
                </a:solidFill>
                <a:latin typeface="Segoe UI"/>
              </a:rPr>
              <a:t>Stage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154680"/>
            <a:ext cx="3794760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CI Lifecycle &amp; Health Targets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739896"/>
            <a:ext cx="498348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739896"/>
            <a:ext cx="73152" cy="53035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758183"/>
            <a:ext cx="960120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6B7280"/>
                </a:solidFill>
                <a:latin typeface="Segoe UI"/>
              </a:rPr>
              <a:t>Stage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758183"/>
            <a:ext cx="3794760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Governance Process &amp; Controls  (CO6 gate, Sep 30)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234440"/>
            <a:ext cx="5559552" cy="3246120"/>
          </a:xfrm>
          <a:prstGeom prst="rect">
            <a:avLst/>
          </a:prstGeom>
          <a:solidFill>
            <a:srgbClr val="E7F2EC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1234440"/>
            <a:ext cx="91440" cy="32461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1362456"/>
            <a:ext cx="519379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E8B57"/>
                </a:solidFill>
                <a:latin typeface="Segoe UI"/>
              </a:rPr>
              <a:t>The CCB - Change Control 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1801368"/>
            <a:ext cx="5148072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 i="0">
                <a:solidFill>
                  <a:srgbClr val="2D2D2D"/>
                </a:solidFill>
                <a:latin typeface="Segoe UI"/>
              </a:rPr>
              <a:t>The governance authority for the CMDB data model.  Chair: Josh Sterling (Configuration Management Process Owner).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82512" y="2514600"/>
            <a:ext cx="109728" cy="1097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2423160"/>
            <a:ext cx="4828032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Ratifies attribute governance - mandatory, audit scope, allowed values, ownership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2512" y="2999232"/>
            <a:ext cx="109728" cy="1097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01968" y="2907792"/>
            <a:ext cx="4828032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Confirms / assigns the Class Manager accountable for each class's data quality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82512" y="3483864"/>
            <a:ext cx="109728" cy="1097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1968" y="3392424"/>
            <a:ext cx="4828032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Records each ruling (Accept / Amend / Defer) and enforces it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82512" y="3968496"/>
            <a:ext cx="109728" cy="1097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1968" y="3877056"/>
            <a:ext cx="4828032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Standing body - governs all future changes to the CMDB data model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754880"/>
            <a:ext cx="11155680" cy="14173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" y="4754880"/>
            <a:ext cx="91440" cy="14173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864608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How they work together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285232"/>
            <a:ext cx="1088136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The CMP defines WHAT is governed - the classes, attributes, and rules.  The CCB is WHO governs - the authority that ratifies and enforces.  A CMP stage is only authoritative once the CCB ratifies it.</a:t>
            </a:r>
          </a:p>
          <a:p>
            <a:pPr algn="l"/>
            <a:r>
              <a:rPr sz="1100" b="1" i="0">
                <a:solidFill>
                  <a:srgbClr val="9FB3CC"/>
                </a:solidFill>
                <a:latin typeface="Segoe UI"/>
              </a:rPr>
              <a:t>Today the CCB ratifies CMP Stage 1 - the Data Dictionary - for the 4 core classes.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What Is a Data Dictionary - and How It Fits in the CMP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Education  |  The formal register of every attribute in the CMDB - and it IS CMP Stage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Review &amp; Approval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5760720" cy="3703320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34440"/>
            <a:ext cx="91440" cy="37033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62456"/>
            <a:ext cx="5394959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E6DB4"/>
                </a:solidFill>
                <a:latin typeface="Segoe U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5349240" cy="5029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A formal register that defines every attribute stored in the CMDB for each CI class. For each attribute it records: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2350008"/>
          <a:ext cx="5532120" cy="2368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3840480"/>
              </a:tblGrid>
              <a:tr h="3383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Attribute name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Display name + technical field name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Data type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String, Choice, Reference, True/False, ...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Mandatory?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Is a record incomplete without it?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Allowed values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Permitted choices or reference table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Source of truth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Authoritative system - Discovery, SCCM, EA, Manual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Audited?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Counts toward the 90% completeness / correctness target?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33832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2E6DB4"/>
                          </a:solidFill>
                          <a:latin typeface="Segoe UI"/>
                        </a:rPr>
                        <a:t>Certification owner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2D2D2D"/>
                          </a:solidFill>
                          <a:latin typeface="Segoe UI"/>
                        </a:rPr>
                        <a:t>Who is accountable for data quality in this field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6446520" y="1234440"/>
            <a:ext cx="5239512" cy="3703320"/>
          </a:xfrm>
          <a:prstGeom prst="rect">
            <a:avLst/>
          </a:prstGeom>
          <a:solidFill>
            <a:srgbClr val="E7F2EC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234440"/>
            <a:ext cx="91440" cy="3703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362456"/>
            <a:ext cx="487375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400" b="1" i="0">
                <a:solidFill>
                  <a:srgbClr val="2E8B57"/>
                </a:solidFill>
                <a:latin typeface="Segoe UI"/>
              </a:rPr>
              <a:t>How it fits in the CMP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801368"/>
            <a:ext cx="4828032" cy="3017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1" i="0">
                <a:solidFill>
                  <a:srgbClr val="1F3A5F"/>
                </a:solidFill>
                <a:latin typeface="Segoe UI"/>
              </a:rPr>
              <a:t>The Data Dictionary IS CMP Stage 1 - the foundation the rest of the plan is built on.</a:t>
            </a:r>
          </a:p>
          <a:p>
            <a:pPr algn="l"/>
            <a:r>
              <a:rPr sz="600" b="0" i="0">
                <a:solidFill>
                  <a:srgbClr val="2D2D2D"/>
                </a:solidFill>
                <a:latin typeface="Segoe UI"/>
              </a:rPr>
              <a:t/>
            </a:r>
          </a:p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Stages 2 and 3 are written in its terms: audit targets, certification scope, and remediation priorities all reference the attributes defined here.</a:t>
            </a:r>
          </a:p>
          <a:p>
            <a:pPr algn="l"/>
            <a:r>
              <a:rPr sz="600" b="0" i="0">
                <a:solidFill>
                  <a:srgbClr val="2D2D2D"/>
                </a:solidFill>
                <a:latin typeface="Segoe UI"/>
              </a:rPr>
              <a:t/>
            </a:r>
          </a:p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Ratifying it today turns the delivery team's draft into the agreed baseline - and unlocks the downstream governance work.</a:t>
            </a:r>
          </a:p>
          <a:p>
            <a:pPr algn="l"/>
            <a:r>
              <a:rPr sz="600" b="0" i="0">
                <a:solidFill>
                  <a:srgbClr val="2D2D2D"/>
                </a:solidFill>
                <a:latin typeface="Segoe UI"/>
              </a:rPr>
              <a:t/>
            </a:r>
          </a:p>
          <a:p>
            <a:pPr algn="l"/>
            <a:r>
              <a:rPr sz="1000" b="1" i="0">
                <a:solidFill>
                  <a:srgbClr val="1F3A5F"/>
                </a:solidFill>
                <a:latin typeface="Segoe UI"/>
              </a:rPr>
              <a:t>Why it matters - without agreed definitions:</a:t>
            </a:r>
          </a:p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- Audits can't be scoped   - Discovery conflicts can't be resolved   - Data quality can't be measured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Review - Business Application Data Dictionary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Class Manager: Todd Dierksheide  (CCB Class Manager)   -   Table: cmdb_ci_business_app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Review &amp; Approval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274320"/>
            <a:ext cx="1664208" cy="402336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274320"/>
            <a:ext cx="166420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4 decisions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25880"/>
          <a:ext cx="1115568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00200"/>
                <a:gridCol w="3017520"/>
                <a:gridCol w="960120"/>
                <a:gridCol w="868680"/>
                <a:gridCol w="274320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Attribute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Source of Truth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Mandatory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Audited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Team suggestion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Name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String(255)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EA (LeanIX) / Manual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Application Category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Choice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EA integration (authoritative)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E08A00"/>
                          </a:solidFill>
                          <a:latin typeface="Segoe UI"/>
                        </a:rPr>
                        <a:t>CCB?</a:t>
                      </a:r>
                    </a:p>
                  </a:txBody>
                  <a:tcPr anchor="ctr" marL="63500" marR="63500" marT="25400" marB="25400">
                    <a:solidFill>
                      <a:srgbClr val="FB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Y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Y  -  core classification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Life Cycle Stage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Choice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EA integration (authoritative)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E08A00"/>
                          </a:solidFill>
                          <a:latin typeface="Segoe UI"/>
                        </a:rPr>
                        <a:t>CCB?</a:t>
                      </a:r>
                    </a:p>
                  </a:txBody>
                  <a:tcPr anchor="ctr" marL="63500" marR="63500" marT="25400" marB="25400">
                    <a:solidFill>
                      <a:srgbClr val="FB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Y  -  lifecycle reporting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IT Application Owner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 (sys_user)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Manual / Data Certification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E08A00"/>
                          </a:solidFill>
                          <a:latin typeface="Segoe UI"/>
                        </a:rPr>
                        <a:t>CCB?</a:t>
                      </a:r>
                    </a:p>
                  </a:txBody>
                  <a:tcPr anchor="ctr" marL="63500" marR="63500" marT="25400" marB="25400">
                    <a:solidFill>
                      <a:srgbClr val="FB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Y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Y  -  ownership / audit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Business Owner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 (sys_user)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Manual / Data Certification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E08A00"/>
                          </a:solidFill>
                          <a:latin typeface="Segoe UI"/>
                        </a:rPr>
                        <a:t>CCB?</a:t>
                      </a:r>
                    </a:p>
                  </a:txBody>
                  <a:tcPr anchor="ctr" marL="63500" marR="63500" marT="25400" marB="25400">
                    <a:solidFill>
                      <a:srgbClr val="FB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Y  -  Dec audit remediation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4151376"/>
            <a:ext cx="1115568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151376"/>
            <a:ext cx="73152" cy="71323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187952"/>
            <a:ext cx="1088136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Segoe UI"/>
              </a:rPr>
              <a:t>Name is the identity / IRE key (mandatory + audited - settled).  Plus 3 PPL custom attributes added 7/20 (Access Control Source System, Approval Group, Recovery Tier) appear in the full CMP but are not in today's decision scope.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Amber = CCB ruling needed today.  'Team suggestion' is the delivery team's proposed default (NOT a decision).  Chair records Accept / Amend / Defer per item.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Review - Computer Data Dictionary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Class Manager: Monica Green (Physical) / Paul Becker (Virtual)  (CCB Class Managers)   -   Table: cmdb_ci_computer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Review &amp; Approval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274320"/>
            <a:ext cx="1664208" cy="402336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274320"/>
            <a:ext cx="166420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3 decisions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25880"/>
          <a:ext cx="1115568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00200"/>
                <a:gridCol w="3017520"/>
                <a:gridCol w="960120"/>
                <a:gridCol w="868680"/>
                <a:gridCol w="274320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Attribute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Source of Truth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Mandatory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Audited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Team suggestion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Name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String(255)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SCCM/Intune SGC / ACC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Serial Number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Asset Mgmt / SCCM (authoritative)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Y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Y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Assigned To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Ref (sys_user)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Asset Mgmt / Manual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E08A00"/>
                          </a:solidFill>
                          <a:latin typeface="Segoe UI"/>
                        </a:rPr>
                        <a:t>CCB?</a:t>
                      </a:r>
                    </a:p>
                  </a:txBody>
                  <a:tcPr anchor="ctr" marL="63500" marR="63500" marT="25400" marB="25400">
                    <a:solidFill>
                      <a:srgbClr val="FB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PPL call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Operating System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SCCM/Intune (authoritative)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E08A00"/>
                          </a:solidFill>
                          <a:latin typeface="Segoe UI"/>
                        </a:rPr>
                        <a:t>CCB?</a:t>
                      </a:r>
                    </a:p>
                  </a:txBody>
                  <a:tcPr anchor="ctr" marL="63500" marR="63500" marT="25400" marB="25400">
                    <a:solidFill>
                      <a:srgbClr val="FB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MAC Address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Endpoint connector / Discovery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E08A00"/>
                          </a:solidFill>
                          <a:latin typeface="Segoe UI"/>
                        </a:rPr>
                        <a:t>CCB?</a:t>
                      </a:r>
                    </a:p>
                  </a:txBody>
                  <a:tcPr anchor="ctr" marL="63500" marR="63500" marT="25400" marB="25400">
                    <a:solidFill>
                      <a:srgbClr val="FB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4151376"/>
            <a:ext cx="1115568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4151376"/>
            <a:ext cx="73152" cy="71323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187952"/>
            <a:ext cx="1088136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Segoe UI"/>
              </a:rPr>
              <a:t>Name + Serial Number are the identity / IRE keys (mandatory + audited - settled).  Plus 2 PPL custom attributes (Requested Item, Off Network) appear in the full CMP, not in today's scope.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Amber = CCB ruling needed today.  'Team suggestion' is the delivery team's proposed default (NOT a decision).  Chair records Accept / Amend / Defer per item.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Review - Server Data Dictionary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Class Manager: Ray Reuter  (CCB Class Manager - Servers &amp; Storage)   -   Table: cmdb_ci_server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Review &amp; Approval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274320"/>
            <a:ext cx="1664208" cy="402336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274320"/>
            <a:ext cx="166420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5 decisions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25880"/>
          <a:ext cx="11155680" cy="3639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00200"/>
                <a:gridCol w="3017520"/>
                <a:gridCol w="960120"/>
                <a:gridCol w="868680"/>
                <a:gridCol w="274320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Attribute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Source of Truth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Mandatory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Audited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Team suggestion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Name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String(255)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ServiceNow Discovery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Serial Number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ServiceNow Discovery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Y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Y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Operational Status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Choice - confirm values</a:t>
                      </a:r>
                    </a:p>
                  </a:txBody>
                  <a:tcPr anchor="ctr" marL="63500" marR="63500" marT="25400" marB="25400">
                    <a:solidFill>
                      <a:srgbClr val="FB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ServiceNow Discovery / Manual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Confirm allowed list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IP Address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ServiceNow Discovery (auth)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E08A00"/>
                          </a:solidFill>
                          <a:latin typeface="Segoe UI"/>
                        </a:rPr>
                        <a:t>CCB?</a:t>
                      </a:r>
                    </a:p>
                  </a:txBody>
                  <a:tcPr anchor="ctr" marL="63500" marR="63500" marT="25400" marB="25400">
                    <a:solidFill>
                      <a:srgbClr val="FB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MAC Address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ServiceNow Discovery (auth)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E08A00"/>
                          </a:solidFill>
                          <a:latin typeface="Segoe UI"/>
                        </a:rPr>
                        <a:t>CCB?</a:t>
                      </a:r>
                    </a:p>
                  </a:txBody>
                  <a:tcPr anchor="ctr" marL="63500" marR="63500" marT="25400" marB="25400">
                    <a:solidFill>
                      <a:srgbClr val="FB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CPU Count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Integer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vCenter override (else Discovery)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E08A00"/>
                          </a:solidFill>
                          <a:latin typeface="Segoe UI"/>
                        </a:rPr>
                        <a:t>CCB?</a:t>
                      </a:r>
                    </a:p>
                  </a:txBody>
                  <a:tcPr anchor="ctr" marL="63500" marR="63500" marT="25400" marB="25400">
                    <a:solidFill>
                      <a:srgbClr val="FB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RAM (MB)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Integer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vCenter override (else Discovery)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E08A00"/>
                          </a:solidFill>
                          <a:latin typeface="Segoe UI"/>
                        </a:rPr>
                        <a:t>CCB?</a:t>
                      </a:r>
                    </a:p>
                  </a:txBody>
                  <a:tcPr anchor="ctr" marL="63500" marR="63500" marT="25400" marB="25400">
                    <a:solidFill>
                      <a:srgbClr val="FB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5102352"/>
            <a:ext cx="1115568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5102352"/>
            <a:ext cx="73152" cy="71323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138928"/>
            <a:ext cx="1088136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Segoe UI"/>
              </a:rPr>
              <a:t>Operational Status (Values?): confirm allowed list - Build / Operational / Non-Operational / Retired (vs. OOB choices).  Parent Server class only; Windows/Linux child classes and the Hardware Type custom attribute are not covered today.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Amber = CCB ruling needed today.  'Team suggestion' is the delivery team's proposed default (NOT a decision).  Chair records Accept / Amend / Defer per item.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Review - Database Data Dictionary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Class Manager: Ray Reuter  (CCB Class Manager - Database CIs)   -   Table: cmdb_ci_database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Review &amp; Approval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12680" y="274320"/>
            <a:ext cx="1664208" cy="402336"/>
          </a:xfrm>
          <a:prstGeom prst="rect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12680" y="274320"/>
            <a:ext cx="166420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3 decisions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325880"/>
          <a:ext cx="11155680" cy="2212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00200"/>
                <a:gridCol w="3017520"/>
                <a:gridCol w="960120"/>
                <a:gridCol w="868680"/>
                <a:gridCol w="2743200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Attribute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Type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Source of Truth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Mandatory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Audited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1000" b="1" i="0">
                          <a:solidFill>
                            <a:srgbClr val="FFFFFF"/>
                          </a:solidFill>
                          <a:latin typeface="Segoe UI"/>
                        </a:rPr>
                        <a:t>Team suggestion</a:t>
                      </a:r>
                    </a:p>
                  </a:txBody>
                  <a:tcPr anchor="ctr" marL="63500" marR="63500" marT="25400" marB="25400"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Name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String(255)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ServiceNow Discovery (App Probes)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Y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6B7280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Version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String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ServiceNow Discovery (auth)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E08A00"/>
                          </a:solidFill>
                          <a:latin typeface="Segoe UI"/>
                        </a:rPr>
                        <a:t>CCB?</a:t>
                      </a:r>
                    </a:p>
                  </a:txBody>
                  <a:tcPr anchor="ctr" marL="63500" marR="63500" marT="25400" marB="25400">
                    <a:solidFill>
                      <a:srgbClr val="FB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TCP Port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Integer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ServiceNow Discovery (auth)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0" i="0">
                          <a:solidFill>
                            <a:srgbClr val="6B7280"/>
                          </a:solidFill>
                          <a:latin typeface="Segoe UI"/>
                        </a:rPr>
                        <a:t>N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E08A00"/>
                          </a:solidFill>
                          <a:latin typeface="Segoe UI"/>
                        </a:rPr>
                        <a:t>CCB?</a:t>
                      </a:r>
                    </a:p>
                  </a:txBody>
                  <a:tcPr anchor="ctr" marL="63500" marR="63500" marT="25400" marB="25400">
                    <a:solidFill>
                      <a:srgbClr val="FB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Align to Dec audit scope</a:t>
                      </a:r>
                    </a:p>
                  </a:txBody>
                  <a:tcPr anchor="ctr" marL="63500" marR="63500" marT="25400" marB="25400">
                    <a:solidFill>
                      <a:srgbClr val="F4F6F9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50" b="1" i="0">
                          <a:solidFill>
                            <a:srgbClr val="1F3A5F"/>
                          </a:solidFill>
                          <a:latin typeface="Segoe UI"/>
                        </a:rPr>
                        <a:t>Operational Status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Choice - confirm values</a:t>
                      </a:r>
                    </a:p>
                  </a:txBody>
                  <a:tcPr anchor="ctr" marL="63500" marR="63500" marT="25400" marB="25400">
                    <a:solidFill>
                      <a:srgbClr val="FBF1D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0" i="0">
                          <a:solidFill>
                            <a:srgbClr val="2D2D2D"/>
                          </a:solidFill>
                          <a:latin typeface="Segoe UI"/>
                        </a:rPr>
                        <a:t>ServiceNow Discovery / Manual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Y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900" b="1" i="0">
                          <a:solidFill>
                            <a:srgbClr val="1F3A5F"/>
                          </a:solidFill>
                          <a:latin typeface="Segoe UI"/>
                        </a:rPr>
                        <a:t>Y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sz="850" b="1" i="0">
                          <a:solidFill>
                            <a:srgbClr val="E08A00"/>
                          </a:solidFill>
                          <a:latin typeface="Segoe UI"/>
                        </a:rPr>
                        <a:t>Confirm allowed list</a:t>
                      </a:r>
                    </a:p>
                  </a:txBody>
                  <a:tcPr anchor="ctr" marL="63500" marR="635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02920" y="3675888"/>
            <a:ext cx="11155680" cy="713232"/>
          </a:xfrm>
          <a:prstGeom prst="rect">
            <a:avLst/>
          </a:prstGeom>
          <a:solidFill>
            <a:srgbClr val="F4F6F9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675888"/>
            <a:ext cx="73152" cy="713232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12464"/>
            <a:ext cx="10881360" cy="6583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2D2D2D"/>
                </a:solidFill>
                <a:latin typeface="Segoe UI"/>
              </a:rPr>
              <a:t>Operational Status (Values?): confirm allowed list - Operational / Retired / ... (confirm full list).  Parent Database class only; Oracle/SQL child classes are not covered today.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355080"/>
            <a:ext cx="11155680" cy="256032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Segoe UI"/>
              </a:rPr>
              <a:t>Amber = CCB ruling needed today.  'Team suggestion' is the delivery team's proposed default (NOT a decision).  Chair records Accept / Amend / Defer per item.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115568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  <a:latin typeface="Segoe UI"/>
              </a:rPr>
              <a:t>Wrap-up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603504"/>
            <a:ext cx="11155680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 i="0">
                <a:solidFill>
                  <a:srgbClr val="C9D6E6"/>
                </a:solidFill>
                <a:latin typeface="Segoe UI"/>
              </a:rPr>
              <a:t>How we capture approval today - and what ratification unlocks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9144000" cy="292608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Segoe UI"/>
              </a:rPr>
              <a:t>PPL CMDB-CSDM  |  Data Dictionary CCB Review &amp; Approval (CMP Stage 1)  |  Jul 21,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532120" cy="2788920"/>
          </a:xfrm>
          <a:prstGeom prst="rect">
            <a:avLst/>
          </a:prstGeom>
          <a:solidFill>
            <a:srgbClr val="E9F0F8"/>
          </a:solidFill>
          <a:ln w="9525">
            <a:solidFill>
              <a:srgbClr val="2E6D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91440" cy="278892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89888"/>
            <a:ext cx="5166359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2E6DB4"/>
                </a:solidFill>
                <a:latin typeface="Segoe UI"/>
              </a:rPr>
              <a:t>How we capture approval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5120640" cy="21488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1" i="0">
                <a:solidFill>
                  <a:srgbClr val="2E8B57"/>
                </a:solidFill>
                <a:latin typeface="Segoe UI"/>
              </a:rPr>
              <a:t>Accept  -  adopt the attribute as the team suggested</a:t>
            </a:r>
          </a:p>
          <a:p>
            <a:pPr algn="l"/>
            <a:r>
              <a:rPr sz="1050" b="1" i="0">
                <a:solidFill>
                  <a:srgbClr val="E08A00"/>
                </a:solidFill>
                <a:latin typeface="Segoe UI"/>
              </a:rPr>
              <a:t>Amend  -  the chair records the change in the ruling</a:t>
            </a:r>
          </a:p>
          <a:p>
            <a:pPr algn="l"/>
            <a:r>
              <a:rPr sz="1050" b="1" i="0">
                <a:solidFill>
                  <a:srgbClr val="C0392B"/>
                </a:solidFill>
                <a:latin typeface="Segoe UI"/>
              </a:rPr>
              <a:t>Defer  -  name an owner and a target date</a:t>
            </a:r>
          </a:p>
          <a:p>
            <a:pPr algn="l"/>
            <a:r>
              <a:rPr sz="800" b="0" i="0">
                <a:solidFill>
                  <a:srgbClr val="2D2D2D"/>
                </a:solidFill>
                <a:latin typeface="Segoe UI"/>
              </a:rPr>
              <a:t/>
            </a:r>
          </a:p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A class is accepted once all its items are ruled.  The chair rolls the per-class results into the Data Dictionary acceptance in the CCB minutes.</a:t>
            </a:r>
          </a:p>
          <a:p>
            <a:pPr algn="l"/>
            <a:r>
              <a:rPr sz="600" b="0" i="0">
                <a:solidFill>
                  <a:srgbClr val="2D2D2D"/>
                </a:solidFill>
                <a:latin typeface="Segoe UI"/>
              </a:rPr>
              <a:t/>
            </a:r>
          </a:p>
          <a:p>
            <a:pPr algn="l"/>
            <a:r>
              <a:rPr sz="1000" b="0" i="0">
                <a:solidFill>
                  <a:srgbClr val="2D2D2D"/>
                </a:solidFill>
                <a:latin typeface="Segoe UI"/>
              </a:rPr>
              <a:t>Deferred items are tracked to closure; the CCB does not re-vote without new information.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5376672" cy="2788920"/>
          </a:xfrm>
          <a:prstGeom prst="rect">
            <a:avLst/>
          </a:prstGeom>
          <a:solidFill>
            <a:srgbClr val="E7F2EC"/>
          </a:solidFill>
          <a:ln w="95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280160"/>
            <a:ext cx="91440" cy="2788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389888"/>
            <a:ext cx="5010912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2E8B57"/>
                </a:solidFill>
                <a:latin typeface="Segoe UI"/>
              </a:rPr>
              <a:t>Next steps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65392" y="1892807"/>
            <a:ext cx="109728" cy="1097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1801368"/>
            <a:ext cx="4645152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Update the Data Dictionary with today's rulings; distribute the ratified Stage 1 within 5 business days.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65392" y="2459736"/>
            <a:ext cx="109728" cy="1097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84848" y="2368296"/>
            <a:ext cx="4645152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Ratified Stage 1 becomes the baseline for audit targets and certification scope.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65392" y="3026664"/>
            <a:ext cx="109728" cy="1097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2935224"/>
            <a:ext cx="4645152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Unlocks CMP Stage 2 (Lifecycle &amp; Health Targets) and Stage 3 (Governance Process &amp; Controls).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65392" y="3593592"/>
            <a:ext cx="109728" cy="10972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84848" y="3502152"/>
            <a:ext cx="4645152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950" b="0" i="0">
                <a:solidFill>
                  <a:srgbClr val="2D2D2D"/>
                </a:solidFill>
                <a:latin typeface="Segoe UI"/>
              </a:rPr>
              <a:t>Schedule the out-of-scope classes: assign a Service Instance Class Manager; agenda the child classes (Windows/Linux, Oracle/SQL).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297680"/>
            <a:ext cx="11155680" cy="12344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4297680"/>
            <a:ext cx="91440" cy="123444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407408"/>
            <a:ext cx="1097280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Segoe UI"/>
              </a:rPr>
              <a:t>What today ratifies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28032"/>
            <a:ext cx="1088136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Segoe UI"/>
              </a:rPr>
              <a:t>15 attribute-governance decisions across 4 core classes - Business Application (4), Computer (3), Server (5), Database (3) - establishing the agreed source of truth, mandatory rules, and audit scope for the CMDB.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