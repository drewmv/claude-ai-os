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</p:spPr>
        <p:txBody>
          <a:bodyPr wrap="square" anchor="b" lIns="50800" rIns="50800" tIns="25400" bIns="2540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CMDB Data Dictionary - CCB Vote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34340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0" i="0">
                <a:solidFill>
                  <a:srgbClr val="C9D6E6"/>
                </a:solidFill>
                <a:latin typeface="Segoe UI"/>
              </a:rPr>
              <a:t>38 governance decisions across 9 CI classes  -  CMP Stage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89204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9FB3CC"/>
                </a:solidFill>
                <a:latin typeface="Segoe UI"/>
              </a:rPr>
              <a:t>CMDB Change Control Board  -  Chair: Josh Sterling  -  July 21,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12648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9FB3CC"/>
                </a:solidFill>
                <a:latin typeface="Segoe UI"/>
              </a:rPr>
              <a:t>Manuel Vazquez  -  Scrum Master, CMDB-CSDM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Meeting Agenda  -  CMDB CCB  |  July 21,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Chair: Josh Sterling    Presenter: Manuel Vazquez    Duration: ~65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Vote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61872"/>
            <a:ext cx="11155680" cy="1042415"/>
          </a:xfrm>
          <a:prstGeom prst="rect">
            <a:avLst/>
          </a:prstGeom>
          <a:solidFill>
            <a:srgbClr val="F4F6F9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61872"/>
            <a:ext cx="91440" cy="1042415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52760" y="1371600"/>
            <a:ext cx="868680" cy="34747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52760" y="1371600"/>
            <a:ext cx="86868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353312"/>
            <a:ext cx="9829800" cy="34747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2E6DB4"/>
                </a:solidFill>
                <a:latin typeface="Segoe UI"/>
              </a:rPr>
              <a:t>Welcome &amp; 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737360"/>
            <a:ext cx="98298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Josh Sterling (CCB Chair) opens — why we are here and what ratification means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14015"/>
            <a:ext cx="11155680" cy="1042415"/>
          </a:xfrm>
          <a:prstGeom prst="rect">
            <a:avLst/>
          </a:prstGeom>
          <a:solidFill>
            <a:srgbClr val="F4F6F9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414015"/>
            <a:ext cx="91440" cy="1042415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52760" y="2523744"/>
            <a:ext cx="868680" cy="34747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52760" y="2523744"/>
            <a:ext cx="86868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15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505456"/>
            <a:ext cx="9829800" cy="34747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2E8B57"/>
                </a:solidFill>
                <a:latin typeface="Segoe UI"/>
              </a:rPr>
              <a:t>Education Block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889503"/>
            <a:ext cx="98298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Data Dictionary · CMP context · CCB role · Decision types · IRE primer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566159"/>
            <a:ext cx="11155680" cy="1042415"/>
          </a:xfrm>
          <a:prstGeom prst="rect">
            <a:avLst/>
          </a:prstGeom>
          <a:solidFill>
            <a:srgbClr val="F4F6F9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566159"/>
            <a:ext cx="91440" cy="104241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652760" y="3675887"/>
            <a:ext cx="868680" cy="34747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52760" y="3675887"/>
            <a:ext cx="86868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40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57599"/>
            <a:ext cx="9829800" cy="34747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Segoe UI"/>
              </a:rPr>
              <a:t>Live Vote — 38 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041648"/>
            <a:ext cx="98298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Class-by-class: Business App → Service Instance → Computer → Server family → Database family
Each item: Accept / Amend / Defer  –  Chair records the ruling live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718303"/>
            <a:ext cx="11155680" cy="1042415"/>
          </a:xfrm>
          <a:prstGeom prst="rect">
            <a:avLst/>
          </a:prstGeom>
          <a:solidFill>
            <a:srgbClr val="F4F6F9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718303"/>
            <a:ext cx="91440" cy="1042415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52760" y="4828031"/>
            <a:ext cx="868680" cy="347472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52760" y="4828031"/>
            <a:ext cx="86868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09743"/>
            <a:ext cx="9829800" cy="34747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E08A00"/>
                </a:solidFill>
                <a:latin typeface="Segoe UI"/>
              </a:rPr>
              <a:t>Wrap-up &amp; Next Steps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193792"/>
            <a:ext cx="98298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Confirm deferrals, assign owners, set target dates  –  updated Data Dictionary distributed within 5 business 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What Is a Data Dictionary?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Education  |  The formal register that governs every attribute stored in the CMDB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Vote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440680" cy="4480560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91440" cy="448056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17319"/>
            <a:ext cx="512064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2E6DB4"/>
                </a:solidFill>
                <a:latin typeface="Segoe U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12064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A Data Dictionary is a formal register that defines every attribute stored in the CMDB for each CI class. For each attribute it records: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2450591"/>
          <a:ext cx="512064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474720"/>
              </a:tblGrid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Attribute name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What it is called — display name + technical field name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Data type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String, Choice, Reference, True/False, etc.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Is a record incomplete without it?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Allowed values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Permitted choices or reference table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Source of truth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Which system is authoritative — Discovery, SCCM, EA, Manual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Does it count toward the 90% completeness/correctness target?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Certification owner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Who is accountable for data quality in this field?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126480" y="1280160"/>
            <a:ext cx="5559552" cy="4480560"/>
          </a:xfrm>
          <a:prstGeom prst="rect">
            <a:avLst/>
          </a:prstGeom>
          <a:solidFill>
            <a:srgbClr val="E7F2EC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91440" cy="44805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17319"/>
            <a:ext cx="5239512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Segoe UI"/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01952"/>
            <a:ext cx="5239512" cy="3703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1F3A5F"/>
                </a:solidFill>
                <a:latin typeface="Segoe UI"/>
              </a:rPr>
              <a:t>Without agreed definitions, three things break down:</a:t>
            </a:r>
          </a:p>
          <a:p>
            <a:pPr algn="l"/>
            <a:r>
              <a:rPr sz="500" b="0" i="0">
                <a:solidFill>
                  <a:srgbClr val="2D2D2D"/>
                </a:solidFill>
                <a:latin typeface="Segoe UI"/>
              </a:rPr>
              <a:t/>
            </a:r>
          </a:p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Audits can't be scoped  —  auditors measure different things than the CMDB team tracks. Numbers diverge and no one trusts the data.</a:t>
            </a:r>
          </a:p>
          <a:p>
            <a:pPr algn="l"/>
            <a:r>
              <a:rPr sz="500" b="0" i="0">
                <a:solidFill>
                  <a:srgbClr val="2D2D2D"/>
                </a:solidFill>
                <a:latin typeface="Segoe UI"/>
              </a:rPr>
              <a:t/>
            </a:r>
          </a:p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Discovery conflicts can't be resolved  —  when SCCM and ServiceNow disagree on an attribute value, there is no agreed rule for which source wins.</a:t>
            </a:r>
          </a:p>
          <a:p>
            <a:pPr algn="l"/>
            <a:r>
              <a:rPr sz="500" b="0" i="0">
                <a:solidFill>
                  <a:srgbClr val="2D2D2D"/>
                </a:solidFill>
                <a:latin typeface="Segoe UI"/>
              </a:rPr>
              <a:t/>
            </a:r>
          </a:p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Data quality can't be measured  —  a completeness percentage means nothing if the team hasn't agreed which attributes are required.</a:t>
            </a:r>
          </a:p>
          <a:p>
            <a:pPr algn="l"/>
            <a:r>
              <a:rPr sz="700" b="0" i="0">
                <a:solidFill>
                  <a:srgbClr val="2D2D2D"/>
                </a:solidFill>
                <a:latin typeface="Segoe UI"/>
              </a:rPr>
              <a:t/>
            </a:r>
          </a:p>
          <a:p>
            <a:pPr algn="l"/>
            <a:r>
              <a:rPr sz="1050" b="1" i="0">
                <a:solidFill>
                  <a:srgbClr val="1F3A5F"/>
                </a:solidFill>
                <a:latin typeface="Segoe UI"/>
              </a:rPr>
              <a:t>The Data Dictionary fixes all three:  it is the single agreed-upon record of what the CMDB should contain and who is accountable for each piece.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How the Data Dictionary Fits in the CMP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Education  |  The Configuration Management Plan is the governance umbrella  —  Stage 1 is today's vote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Vote (CMP Stage 1)  |  Jul 21,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5568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The Configuration Management Plan (CMP) defines how PPL's CMDB is built, maintained, and governed. It has three stages. Today ratifies Stage 1 — the foundation everything else depends 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3675887" cy="3566160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3675887" cy="9144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44367" y="1929384"/>
            <a:ext cx="1115568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7" y="1929384"/>
            <a:ext cx="1115568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47672"/>
            <a:ext cx="2258568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2E6DB4"/>
                </a:solidFill>
                <a:latin typeface="Segoe UI"/>
              </a:rPr>
              <a:t>Stage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3310127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Segoe UI"/>
              </a:rPr>
              <a:t>Class &amp; Attribute
Data Definitions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53512"/>
            <a:ext cx="3310127" cy="2286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The Data Dictionary voted on today.
Defines every attribute, its source of truth, mandatory/audited flags, and certification owner for each CI class.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1688" y="1783080"/>
            <a:ext cx="3675887" cy="3566160"/>
          </a:xfrm>
          <a:prstGeom prst="rect">
            <a:avLst/>
          </a:prstGeom>
          <a:solidFill>
            <a:srgbClr val="E7F2EC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1688" y="1783080"/>
            <a:ext cx="3675887" cy="914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1947672"/>
            <a:ext cx="3310127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2E8B57"/>
                </a:solidFill>
                <a:latin typeface="Segoe UI"/>
              </a:rPr>
              <a:t>Stage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331720"/>
            <a:ext cx="3310127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Segoe UI"/>
              </a:rPr>
              <a:t>CI Lifecycle &amp;
Health Targets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953512"/>
            <a:ext cx="3310127" cy="2286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Defines what 'healthy' looks like — completeness / correctness thresholds, staleness rules, and the lifecycle states a CI moves through.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0456" y="1783080"/>
            <a:ext cx="3675887" cy="3566160"/>
          </a:xfrm>
          <a:prstGeom prst="rect">
            <a:avLst/>
          </a:prstGeom>
          <a:solidFill>
            <a:srgbClr val="FBF1DD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0456" y="1783080"/>
            <a:ext cx="3675887" cy="9144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1947672"/>
            <a:ext cx="3310127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E08A00"/>
                </a:solidFill>
                <a:latin typeface="Segoe UI"/>
              </a:rPr>
              <a:t>Stage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2331720"/>
            <a:ext cx="3310127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Segoe UI"/>
              </a:rPr>
              <a:t>Governance Process
&amp; 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2953512"/>
            <a:ext cx="3310127" cy="2286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Formalizes the ongoing CCB cadence, change approval flows, audit cadence, and escalation paths. Gated by CO6 Governance milestone (Sep 30, 2026).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486400"/>
            <a:ext cx="11155680" cy="768096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486400"/>
            <a:ext cx="91440" cy="7680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522976"/>
            <a:ext cx="1143000" cy="6949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1F3A5F"/>
                </a:solidFill>
                <a:latin typeface="Segoe UI"/>
              </a:rPr>
              <a:t>Why Stage 1</a:t>
            </a:r>
          </a:p>
          <a:p>
            <a:pPr algn="l"/>
            <a:r>
              <a:rPr sz="1000" b="1" i="0">
                <a:solidFill>
                  <a:srgbClr val="1F3A5F"/>
                </a:solidFill>
                <a:latin typeface="Segoe UI"/>
              </a:rPr>
              <a:t>first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5522976"/>
            <a:ext cx="9555480" cy="6949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Audit targets, certification scope, and remediation priorities are all defined in terms of the Data Dictionary.  Stages 2 and 3 cannot be written until Stage 1 is ratified — the CCB's rulings today become the source of truth for all downstream governance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Role of the CCB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Education  |  The CCB is the governance authority — it ratifies, assigns accountability, and enforces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Vote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61872"/>
            <a:ext cx="11155680" cy="1078992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61872"/>
            <a:ext cx="91440" cy="107899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53312"/>
            <a:ext cx="10972800" cy="34747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2E6DB4"/>
                </a:solidFill>
                <a:latin typeface="Segoe UI"/>
              </a:rPr>
              <a:t>Ratify attribute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10972800" cy="5303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For each attribute the CCB decides whether it is Mandatory, whether it is in Audit scope, what values are allowed, and who is the Certification Owner. These rulings are binding — they become the baseline for all future data quality measurement.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432304"/>
            <a:ext cx="11155680" cy="1078992"/>
          </a:xfrm>
          <a:prstGeom prst="rect">
            <a:avLst/>
          </a:prstGeom>
          <a:solidFill>
            <a:srgbClr val="F9E7E5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432304"/>
            <a:ext cx="91440" cy="10789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23744"/>
            <a:ext cx="10972800" cy="34747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Segoe UI"/>
              </a:rPr>
              <a:t>Assign Class Managers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07792"/>
            <a:ext cx="10972800" cy="5303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Each CI class must have a named Class Manager who is accountable for data quality after ratification. The CCB confirms or assigns the Class Manager for each class today. Service Instance currently has no assigned manager — this must be resolved in the meeting.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602736"/>
            <a:ext cx="11155680" cy="1078992"/>
          </a:xfrm>
          <a:prstGeom prst="rect">
            <a:avLst/>
          </a:prstGeom>
          <a:solidFill>
            <a:srgbClr val="E7F2EC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602736"/>
            <a:ext cx="91440" cy="107899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94176"/>
            <a:ext cx="10972800" cy="34747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Segoe UI"/>
              </a:rPr>
              <a:t>Record and enforce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78224"/>
            <a:ext cx="10972800" cy="5303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The Chair (Josh Sterling) captures each ruling live. Accept = adopt as proposed. Amend = record the change. Defer = name an owner and a target date. Deferred items are tracked to closure; the CCB does not re-vote without new information.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773168"/>
            <a:ext cx="11155680" cy="1078992"/>
          </a:xfrm>
          <a:prstGeom prst="rect">
            <a:avLst/>
          </a:prstGeom>
          <a:solidFill>
            <a:srgbClr val="FBF1DD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773168"/>
            <a:ext cx="91440" cy="1078992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64608"/>
            <a:ext cx="10972800" cy="34747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E08A00"/>
                </a:solidFill>
                <a:latin typeface="Segoe UI"/>
              </a:rPr>
              <a:t>Govern ongoing changes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48656"/>
            <a:ext cx="10972800" cy="5303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Post-ratification, any change to a mandatory attribute, audit flag, allowed-value list, or class ownership requires a CCB agenda item. The CCB is the standing governance body for the CMDB data model — not a one-time event.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144768"/>
            <a:ext cx="11155680" cy="47548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Segoe UI"/>
              </a:rPr>
              <a:t>CCB Chair: Josh Sterling (Configuration Management Process Owner)  |  Class Managers: Todd Dierksheide, Ray Reuter, Monica Green, Paul Becker, Mark Smith, Adam Gross, Jason Finn, Cheryl Guia  |  Consulting: Cybersecurity, EA, ServiceNow Platform, ITSM Process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At a Glance  -  38 Decisions, How to Vote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Group the vote by class; the chair records each ruling in the CCB ruling column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Vote (CMP Stage 1)  |  Jul 21,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690372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148840"/>
                <a:gridCol w="731520"/>
                <a:gridCol w="169164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Class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Class Manager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Decision types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1. Business Application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Todd Dierksheide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Mandatory x4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2. Service Instance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!! none assigned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Owner x2, Mandatory x3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3. Computer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Monica Green / Paul Becker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Mandatory x1, Audited x2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4. Server (parent)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Ray Reuter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Values x1, Audited x4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5. Windows Server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Ray Reuter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Audited x3, Mandatory x2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6. Linux Server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Ray Reuter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Audited x2, Mandatory x2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7. Database (parent)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Ray Reuter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Audited x2, Values x1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8. Oracle Database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Ray Reuter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Audited x3, Mandatory x1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9. SQL Server Database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Ray Reuter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Audited x4, Mandatory x1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38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M14 / A20 / O2 / V2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635240" y="1234440"/>
            <a:ext cx="4023360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234440"/>
            <a:ext cx="384048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How to vote each item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609344"/>
            <a:ext cx="40233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2E8B57"/>
                </a:solidFill>
                <a:latin typeface="Segoe UI"/>
              </a:rPr>
              <a:t>Accept  -  as the team suggested</a:t>
            </a:r>
          </a:p>
          <a:p>
            <a:pPr algn="l"/>
            <a:r>
              <a:rPr sz="1050" b="1" i="0">
                <a:solidFill>
                  <a:srgbClr val="E08A00"/>
                </a:solidFill>
                <a:latin typeface="Segoe UI"/>
              </a:rPr>
              <a:t>Amend  -  note the change in the ruling cell</a:t>
            </a:r>
          </a:p>
          <a:p>
            <a:pPr algn="l"/>
            <a:r>
              <a:rPr sz="1050" b="1" i="0">
                <a:solidFill>
                  <a:srgbClr val="C0392B"/>
                </a:solidFill>
                <a:latin typeface="Segoe UI"/>
              </a:rPr>
              <a:t>Defer  -  record owner + target date</a:t>
            </a:r>
          </a:p>
          <a:p>
            <a:pPr algn="l"/>
            <a:r>
              <a:rPr sz="900" b="0" i="1">
                <a:solidFill>
                  <a:srgbClr val="6B7280"/>
                </a:solidFill>
                <a:latin typeface="Segoe UI"/>
              </a:rPr>
              <a:t>A class is accepted once all its items are ruled.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2615184"/>
            <a:ext cx="4023360" cy="1024128"/>
          </a:xfrm>
          <a:prstGeom prst="rect">
            <a:avLst/>
          </a:prstGeom>
          <a:solidFill>
            <a:srgbClr val="F9E7E5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2615184"/>
            <a:ext cx="73152" cy="10241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9831" y="2651760"/>
            <a:ext cx="3767328" cy="96926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  <a:latin typeface="Segoe UI"/>
              </a:rPr>
              <a:t>!  Resolve first - Service Instance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Segoe UI"/>
              </a:rPr>
              <a:t>Class has no manager (items 5-6). Assign an owner (EA / Platform) or defer - items can't be ratified without 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3749039"/>
            <a:ext cx="4023360" cy="1024128"/>
          </a:xfrm>
          <a:prstGeom prst="rect">
            <a:avLst/>
          </a:prstGeom>
          <a:solidFill>
            <a:srgbClr val="FBF1DD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3749039"/>
            <a:ext cx="73152" cy="1024128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9831" y="3785615"/>
            <a:ext cx="3767328" cy="96926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E08A00"/>
                </a:solidFill>
                <a:latin typeface="Segoe UI"/>
              </a:rPr>
              <a:t>!  Sequence - Ray Reuter load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Segoe UI"/>
              </a:rPr>
              <a:t>Ray owns 26 of 38 (all Server + Database). Take Server / Database first so they aren't stranded if time runs short.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035040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Segoe UI"/>
              </a:rPr>
              <a:t>Team suggestion = delivery team's proposed default (NOT a decision).  CCB ruling is authoritative - the chair captures Accept / Amend / Defer live.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Education  -  The Four Decision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Every one of the 38 items is one of these four. Rule each Accept / Amend / Defer.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Vote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5504688" cy="2212848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91440" cy="221284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53895"/>
            <a:ext cx="4041648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2E6DB4"/>
                </a:solidFill>
                <a:latin typeface="Segoe UI"/>
              </a:rPr>
              <a:t>Mandatory?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90288" y="1508760"/>
            <a:ext cx="1207008" cy="32918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08760"/>
            <a:ext cx="1207008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14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39112"/>
            <a:ext cx="5047488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Is this attribute REQUIRED on the class?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79191"/>
            <a:ext cx="5047488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Y = a record can't be certified without it. Sets the governance / certification bar.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3912" y="1325880"/>
            <a:ext cx="5504688" cy="2212848"/>
          </a:xfrm>
          <a:prstGeom prst="rect">
            <a:avLst/>
          </a:prstGeom>
          <a:solidFill>
            <a:srgbClr val="E7F2EC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3912" y="1325880"/>
            <a:ext cx="91440" cy="221284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453895"/>
            <a:ext cx="4041648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2E8B57"/>
                </a:solidFill>
                <a:latin typeface="Segoe UI"/>
              </a:rPr>
              <a:t>Audited?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0" y="1508760"/>
            <a:ext cx="1207008" cy="32918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0" y="1508760"/>
            <a:ext cx="1207008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20 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039112"/>
            <a:ext cx="5047488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Include this attribute in AUDIT / certification scope?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679191"/>
            <a:ext cx="5047488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Y = it counts toward the 90% completeness / correctness target and appears on audit dashboards.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685032"/>
            <a:ext cx="5504688" cy="2212848"/>
          </a:xfrm>
          <a:prstGeom prst="rect">
            <a:avLst/>
          </a:prstGeom>
          <a:solidFill>
            <a:srgbClr val="F9E7E5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685032"/>
            <a:ext cx="91440" cy="22128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813048"/>
            <a:ext cx="4041648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Segoe UI"/>
              </a:rPr>
              <a:t>Owner?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0288" y="3867912"/>
            <a:ext cx="1207008" cy="3291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3867912"/>
            <a:ext cx="1207008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2 decisions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98264"/>
            <a:ext cx="5047488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Assign a Certification Owner / Class Manager.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038344"/>
            <a:ext cx="5047488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Only Service Instance (5-6), currently unassigned. Name an owner (EA / Platform) or defer the class.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53912" y="3685032"/>
            <a:ext cx="5504688" cy="2212848"/>
          </a:xfrm>
          <a:prstGeom prst="rect">
            <a:avLst/>
          </a:prstGeom>
          <a:solidFill>
            <a:srgbClr val="FBF1DD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3912" y="3685032"/>
            <a:ext cx="91440" cy="2212848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3813048"/>
            <a:ext cx="4041648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E08A00"/>
                </a:solidFill>
                <a:latin typeface="Segoe UI"/>
              </a:rPr>
              <a:t>Values?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41280" y="3867912"/>
            <a:ext cx="1207008" cy="329184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0" y="3867912"/>
            <a:ext cx="1207008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2 decisions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398264"/>
            <a:ext cx="5047488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Confirm the allowed-value (choice) list.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5038344"/>
            <a:ext cx="5047488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e.g. Operational Status: Build / Operational / Non-Operational / Retired. Confirm vs the OOB choices.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053328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  <a:latin typeface="Segoe UI"/>
              </a:rPr>
              <a:t>Capture each as Accept (as suggested) / Amend (note the change) / Defer (owner + date).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Education  -  IRE in 60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Why some attributes are 'discovery-sourced' - and why that decides how we audit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Vote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440680" cy="1600200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074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E6DB4"/>
                </a:solidFill>
                <a:latin typeface="Segoe UI"/>
              </a:rPr>
              <a:t>1.  Identification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5074920" cy="1051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How ServiceNow decides two records are the SAME CI - via identifier rules (e.g. Server = Serial Number; Computer = Name + Serial). </a:t>
            </a:r>
          </a:p>
          <a:p>
            <a:pPr algn="l"/>
            <a:r>
              <a:rPr sz="1000" b="0" i="1">
                <a:solidFill>
                  <a:srgbClr val="6B7280"/>
                </a:solidFill>
                <a:latin typeface="Segoe UI"/>
              </a:rPr>
              <a:t>Independent = identified on its own;  Dependent = only in the context of a host (e.g. a Database on its Server).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80160"/>
            <a:ext cx="5440680" cy="1600200"/>
          </a:xfrm>
          <a:prstGeom prst="rect">
            <a:avLst/>
          </a:prstGeom>
          <a:solidFill>
            <a:srgbClr val="E7F2EC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5074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E8B57"/>
                </a:solidFill>
                <a:latin typeface="Segoe UI"/>
              </a:rPr>
              <a:t>2.  Reconciliation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55648"/>
            <a:ext cx="5074920" cy="1051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When MORE THAN ONE source writes the same attribute, precedence decides which source wins - so the value doesn't 'flap'.</a:t>
            </a:r>
          </a:p>
          <a:p>
            <a:pPr algn="l"/>
            <a:r>
              <a:rPr sz="1000" b="0" i="1">
                <a:solidFill>
                  <a:srgbClr val="6B7280"/>
                </a:solidFill>
                <a:latin typeface="Segoe UI"/>
              </a:rPr>
              <a:t>The winning source is authoritative; other sources are ignored for that attribute.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63240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Segoe UI"/>
              </a:rPr>
              <a:t>PPL source precedence (as-built, 2026-07-20)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3401568"/>
          <a:ext cx="1115568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8366760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SG-SCCM wins</a:t>
                      </a:r>
                    </a:p>
                  </a:txBody>
                  <a:tcPr anchor="ctr" marL="63500" marR="63500" marT="25400" marB="25400">
                    <a:solidFill>
                      <a:srgbClr val="2E8B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OS &amp; OS version, CPU / disk / RAM, manufacturer, asset &amp; ownership specs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ServiceNow Discovery wins</a:t>
                      </a:r>
                    </a:p>
                  </a:txBody>
                  <a:tcPr anchor="ctr" marL="63500" marR="63500" marT="25400" marB="25400"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IP address, MAC address (network-sourced facts)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EA / LeanIX wins</a:t>
                      </a:r>
                    </a:p>
                  </a:txBody>
                  <a:tcPr anchor="ctr" marL="63500" marR="63500" marT="25400" marB="25400">
                    <a:solidFill>
                      <a:srgbClr val="E08A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Application Category, Life Cycle Stage (Business App)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Manual / Data Cert wins</a:t>
                      </a:r>
                    </a:p>
                  </a:txBody>
                  <a:tcPr anchor="ctr" marL="63500" marR="63500" marT="25400" marB="25400"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Owners, support &amp; approval groups, SOX flag (NOT discovered)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502920" y="5504688"/>
            <a:ext cx="11155680" cy="841248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5504688"/>
            <a:ext cx="73152" cy="84124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532120"/>
            <a:ext cx="12801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Segoe UI"/>
              </a:rPr>
              <a:t>Why it</a:t>
            </a:r>
          </a:p>
          <a:p>
            <a:pPr algn="l"/>
            <a:r>
              <a:rPr sz="1100" b="1" i="0">
                <a:solidFill>
                  <a:srgbClr val="1F3A5F"/>
                </a:solidFill>
                <a:latin typeface="Segoe UI"/>
              </a:rPr>
              <a:t>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5559552"/>
            <a:ext cx="9509760" cy="7498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If a source is authoritative for an attribute, 'Audited = Y' means we measure the DISCOVERED value - we don't ask humans to maintain it.</a:t>
            </a:r>
          </a:p>
          <a:p>
            <a:pPr algn="l"/>
            <a:r>
              <a:rPr sz="1000" b="0" i="1">
                <a:solidFill>
                  <a:srgbClr val="6B7280"/>
                </a:solidFill>
                <a:latin typeface="Segoe UI"/>
              </a:rPr>
              <a:t>The ownership / governance fields (owners, groups, SOX) are NOT discovered - those are the ones Data Certification must fill, so they carry the Mandatory decisions.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Vote  -  Business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Class Manager: Todd Dierksheide   -   Table: cmdb_ci_business_app   -   4 decision(s)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Vote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PROPOSED - PENDING CCB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556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691640"/>
                <a:gridCol w="960120"/>
                <a:gridCol w="3502152"/>
                <a:gridCol w="2926080"/>
                <a:gridCol w="1691640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Attribute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Decision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Context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Team suggestion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CCB ruling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Application Category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Choice; authoritative = EA / LeanIX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= Y (core classification)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Life Cycle Stage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Choice (CSDM stages); authoritative = EA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= Y (lifecycle reporting)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IT Application Owner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sys_user; via Data Certification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= Y (ownership / audit)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Business Owner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sys_user; via Data Certification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= Y (Dec audit remediation)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Team suggestion = delivery team's proposed default (NOT a decision).  CCB ruling is authoritative - the chair captures Accept / Amend / Defer live.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Vote  -  Service Instance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Class Manager: none assigned   -   Table: (no dedicated CCB Class Manager mapped)   -   5 decision(s)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Vote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ASSIGN OWNER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34440"/>
            <a:ext cx="11155680" cy="566928"/>
          </a:xfrm>
          <a:prstGeom prst="rect">
            <a:avLst/>
          </a:prstGeom>
          <a:solidFill>
            <a:srgbClr val="F9E7E5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73152" cy="5669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252728"/>
            <a:ext cx="1097280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Segoe UI"/>
              </a:rPr>
              <a:t>!  Ownerless class. Assign an owner (EA / Platform - e.g. Gaurav Parmar or Sonika Das) before items 5-6 can be ratified, or defer the class.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1947672"/>
          <a:ext cx="1115568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691640"/>
                <a:gridCol w="960120"/>
                <a:gridCol w="3502152"/>
                <a:gridCol w="2926080"/>
                <a:gridCol w="1691640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Attribute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Decision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Context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Team suggestion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CCB ruling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Name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C0392B"/>
                          </a:solidFill>
                          <a:latin typeface="Segoe UI"/>
                        </a:rPr>
                        <a:t>Owner?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No dedicated CCB Class Mgr mapped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Assign class owner (EA / Platform)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Environment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C0392B"/>
                          </a:solidFill>
                          <a:latin typeface="Segoe UI"/>
                        </a:rPr>
                        <a:t>Owner?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Prod / QA / Dev / Test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Same owner as #5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Service Owner (owned_by)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sys_user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= 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ITSM Support 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sys_user_group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= Y (governance)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Change Approval 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sys_user_group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= Y (governance)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Team suggestion = delivery team's proposed default (NOT a decision).  CCB ruling is authoritative - the chair captures Accept / Amend / Defer live.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Vote  -  Computer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Class Manager: Monica Green / Paul Becker   -   Table: cmdb_ci_computer   -   3 decision(s)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Vote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PROPOSED - PENDING CCB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5568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691640"/>
                <a:gridCol w="960120"/>
                <a:gridCol w="3502152"/>
                <a:gridCol w="2926080"/>
                <a:gridCol w="1691640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Attribute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Decision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Context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Team suggestion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CCB ruling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Assigned To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sys_user; Asset Management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- (PPL call)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Operating System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SCCM / Intune authoritative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MAC Address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Endpoint connector / Discovery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Team suggestion = delivery team's proposed default (NOT a decision).  CCB ruling is authoritative - the chair captures Accept / Amend / Defer live.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Vote  -  Server (parent)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Class Manager: Ray Reuter   -   Table: cmdb_ci_server   -   5 decision(s)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Vote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PROPOSED - PENDING CCB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5568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691640"/>
                <a:gridCol w="960120"/>
                <a:gridCol w="3502152"/>
                <a:gridCol w="2926080"/>
                <a:gridCol w="1691640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Attribute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Decision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Context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Team suggestion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CCB ruling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Operational Status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E08A00"/>
                          </a:solidFill>
                          <a:latin typeface="Segoe UI"/>
                        </a:rPr>
                        <a:t>Values?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Build / Operational / Non-Operational / Retired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Confirm full list vs OOB choices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IP Address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Discovery authoritative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MAC Address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Discovery authoritative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CPU Count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vCenter override (else Discovery)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RAM (MB)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vCenter override (else Discovery)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Team suggestion = delivery team's proposed default (NOT a decision).  CCB ruling is authoritative - the chair captures Accept / Amend / Defer live.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Vote  -  Windows Server (child of Server)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Class Manager: Ray Reuter   -   Table: cmdb_ci_win_server   -   5 decision(s)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Vote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PROPOSED - PENDING CCB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5568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691640"/>
                <a:gridCol w="960120"/>
                <a:gridCol w="3502152"/>
                <a:gridCol w="2926080"/>
                <a:gridCol w="1691640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Attribute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Decision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Context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Team suggestion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CCB ruling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OS Version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SCCM overrides Discovery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OS Domain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SCCM overrides Discovery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OS Service Pack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SCCM overrides Discovery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ITSM Support 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'Wintel Infrastructure Ops'; not auto-writable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= Y (governance)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Change Approval 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'Wintel CAB'; not auto-writable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= Y (governance)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Team suggestion = delivery team's proposed default (NOT a decision).  CCB ruling is authoritative - the chair captures Accept / Amend / Defer live.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Vote  -  Linux Server (child of Server)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Class Manager: Ray Reuter   -   Table: cmdb_ci_linux_server   -   4 decision(s)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Vote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PROPOSED - PENDING CCB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556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691640"/>
                <a:gridCol w="960120"/>
                <a:gridCol w="3502152"/>
                <a:gridCol w="2926080"/>
                <a:gridCol w="1691640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Attribute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Decision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Context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Team suggestion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CCB ruling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OS Architecture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Discovery via SSH authoritative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Kernel Release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Discovery via SSH authoritative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ITSM Support 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'Unix / Linux Administration Team'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= Y (governance)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26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Change Approval 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'Linux CAB'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= Y (governance)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Team suggestion = delivery team's proposed default (NOT a decision).  CCB ruling is authoritative - the chair captures Accept / Amend / Defer live.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Vote  -  Database (parent)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Class Manager: Ray Reuter   -   Table: cmdb_ci_database   -   3 decision(s)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Vote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PROPOSED - PENDING CCB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5568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691640"/>
                <a:gridCol w="960120"/>
                <a:gridCol w="3502152"/>
                <a:gridCol w="2926080"/>
                <a:gridCol w="1691640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Attribute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Decision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Context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Team suggestion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CCB ruling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27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Version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Discovery authoritative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28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TCP Port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Discovery authoritative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29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Operational Status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E08A00"/>
                          </a:solidFill>
                          <a:latin typeface="Segoe UI"/>
                        </a:rPr>
                        <a:t>Values?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Operational, Retired, ...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Confirm full list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Team suggestion = delivery team's proposed default (NOT a decision).  CCB ruling is authoritative - the chair captures Accept / Amend / Defer live.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Vote  -  Oracle Database (child)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Class Manager: Ray Reuter   -   Table: cmdb_ci_db_ora_instance   -   4 decision(s)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Vote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PROPOSED - PENDING CCB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556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691640"/>
                <a:gridCol w="960120"/>
                <a:gridCol w="3502152"/>
                <a:gridCol w="2926080"/>
                <a:gridCol w="1691640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Attribute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Decision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Context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Team suggestion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CCB ruling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SID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Oracle probes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31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Oracle Edition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Oracle probes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32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Oracle Version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Oracle probes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33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Support 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'Oracle DBA Team'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= Y (governance)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Team suggestion = delivery team's proposed default (NOT a decision).  CCB ruling is authoritative - the chair captures Accept / Amend / Defer live.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Vote  -  SQL Server Database (child)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Class Manager: Ray Reuter   -   Table: cmdb_ci_db_mssql_instance   -   5 decision(s)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Vote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PROPOSED - PENDING CCB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5568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691640"/>
                <a:gridCol w="960120"/>
                <a:gridCol w="3502152"/>
                <a:gridCol w="2926080"/>
                <a:gridCol w="1691640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Attribute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Decision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Context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Team suggestion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CCB ruling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34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Instance Name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Discovery / SCCM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35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Clustered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Discovery authoritative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36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SQL Edition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SCCM authoritative (edition / license)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37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TCP Port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Discovery overrides SCCM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38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Support 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'SQL DBA Team'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= Y (governance)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Team suggestion = delivery team's proposed default (NOT a decision).  CCB ruling is authoritative - the chair captures Accept / Amend / Defer live.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