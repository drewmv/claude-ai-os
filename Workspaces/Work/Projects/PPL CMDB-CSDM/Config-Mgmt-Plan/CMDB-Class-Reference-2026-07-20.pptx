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CMDB Class  - 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Table: cmdb_ci_server   ·   Source: Server audit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CI Class Reference (CMP Stage 1)  |  DRAFT - Jul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PROPOSED DRAFT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155680" cy="896112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70432"/>
            <a:ext cx="393192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CLASS OWNER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Ray Reuter</a:t>
            </a:r>
          </a:p>
          <a:p>
            <a:pPr algn="l"/>
            <a:r>
              <a:rPr sz="850" b="0" i="1">
                <a:solidFill>
                  <a:srgbClr val="6B7280"/>
                </a:solidFill>
                <a:latin typeface="Segoe UI"/>
              </a:rPr>
              <a:t>CCB Class Manager - Servers &amp; Storage CIs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170432"/>
            <a:ext cx="283464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PARENT CLASS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Computer  &gt;  Hardware  &gt;  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170432"/>
            <a:ext cx="192024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ACTIVE CIS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15,218 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1170432"/>
            <a:ext cx="173736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AUDITED (PROPOSED)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8 of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48256"/>
            <a:ext cx="68122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Managed Attributes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2304288"/>
          <a:ext cx="6812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783080"/>
                <a:gridCol w="1645920"/>
                <a:gridCol w="1188720"/>
                <a:gridCol w="77724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Label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Field name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Requirement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Audit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CI Owner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owned_by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Technical Owner 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u_technical_owner_group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sys_user_group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Support 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support_group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sys_user_group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Asset Tag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asset_tag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Recommended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6B7280"/>
                          </a:solidFill>
                          <a:latin typeface="Segoe UI"/>
                        </a:rPr>
                        <a:t>F*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Value Stream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u_value_stream (?)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(?)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SOX Type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u_sox_type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Choice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Recommended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Classification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u_classification (?)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Choice (?)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Location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location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cmn_location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IP Address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ip_address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Recommended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589520" y="2048256"/>
            <a:ext cx="4069080" cy="29260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048256"/>
            <a:ext cx="38862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Identification &amp; Reconciliation (IRE)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414016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Segoe UI"/>
              </a:rPr>
              <a:t>IDENTIFICATION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615184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Segoe UI"/>
              </a:rPr>
              <a:t>Rule: PPL Server   ·   Type: Independent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589520" y="2834640"/>
          <a:ext cx="406908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514600"/>
                <a:gridCol w="960120"/>
              </a:tblGrid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Pri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Criterion attributes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Match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Serial number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Standard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200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Serial number (lookup table)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Lookup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300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Name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Standard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589520" y="3822192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Segoe UI"/>
              </a:rPr>
              <a:t>RECONCILIATION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023360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Segoe UI"/>
              </a:rPr>
              <a:t>Created: 0 on class  ·  Derived: 5 (inherited from Computer / Hardware)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589520" y="4242816"/>
          <a:ext cx="406908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234440"/>
                <a:gridCol w="2240280"/>
              </a:tblGrid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Pri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Attributes (winning source)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80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ServiceNow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IP Address, MAC Address, OS Version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90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SG-SCCM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CPU count, Disk space, Manufacturer, +more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ServiceNow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All  (Hardware)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SG-SCCM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Approval group, Asset, Assigned, +more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200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ServiceNow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Approval group, Asset, Asset tag, +more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669280"/>
            <a:ext cx="73152" cy="7315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669280"/>
            <a:ext cx="10972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IRE</a:t>
            </a:r>
          </a:p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705856"/>
            <a:ext cx="9692640" cy="40233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Servers are identified independently - Serial Number (Priority 100), a serial-number lookup (200), then Name (300) - never via a parent CI. No reconciliation rules are defined on the class itself; source precedence is inherited from the Computer / Hardware hierarchy, where SG-SCCM wins for hardware, asset and ownership attributes and ServiceNow Discovery wins for IP, MAC and 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6126480"/>
            <a:ext cx="969264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* = proposed, pending CCB;  values without * are sourced (Stage 1 dictionary / as-built config).   (?) = confirm technical field name in ServiceNow.   IRE reflects the as-built configuration, 2026-07-20.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CMDB Class  -  Computer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Table: cmdb_ci_computer   ·   Source: Computer audit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CI Class Reference (CMP Stage 1)  |  DRAFT - Jul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PROPOSED DRAFT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155680" cy="896112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70432"/>
            <a:ext cx="393192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CLASS OWNER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Monica Green  /  Paul Becker</a:t>
            </a:r>
          </a:p>
          <a:p>
            <a:pPr algn="l"/>
            <a:r>
              <a:rPr sz="850" b="0" i="1">
                <a:solidFill>
                  <a:srgbClr val="6B7280"/>
                </a:solidFill>
                <a:latin typeface="Segoe UI"/>
              </a:rPr>
              <a:t>CCB Class Managers - Computers (Physical / Virtual)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170432"/>
            <a:ext cx="283464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PARENT CLASS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Hardware  &gt;  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170432"/>
            <a:ext cx="192024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ACTIVE CIS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28,203 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1170432"/>
            <a:ext cx="173736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AUDITED (PROPOSED)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8 of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48256"/>
            <a:ext cx="68122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Managed Attributes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2304288"/>
          <a:ext cx="6812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783080"/>
                <a:gridCol w="1645920"/>
                <a:gridCol w="1188720"/>
                <a:gridCol w="77724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Label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Field name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Requirement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Audit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Assigned To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assigned_to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CI Owner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owned_by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Technical Owner 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u_technical_owner_group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sys_user_group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Support 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support_group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sys_user_group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Asset Tag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asset_tag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Recommended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6B7280"/>
                          </a:solidFill>
                          <a:latin typeface="Segoe UI"/>
                        </a:rPr>
                        <a:t>F*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OS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os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Recommended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Location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location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cmn_location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IP Address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ip_address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Recommended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Serial Number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serial_number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589520" y="2048256"/>
            <a:ext cx="4069080" cy="29260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048256"/>
            <a:ext cx="38862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Identification &amp; Reconciliation (IRE)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414016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Segoe UI"/>
              </a:rPr>
              <a:t>IDENTIFICATION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615184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Segoe UI"/>
              </a:rPr>
              <a:t>Rule: PPL Computers   ·   Type: Independent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589520" y="2834640"/>
          <a:ext cx="4069080" cy="438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514600"/>
                <a:gridCol w="960120"/>
              </a:tblGrid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Pri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Criterion attributes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Match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Name + Serial number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Standard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589520" y="3383280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Segoe UI"/>
              </a:rPr>
              <a:t>RECONCILIATION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584448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Segoe UI"/>
              </a:rPr>
              <a:t>Created: 4 on class  ·  Derived: 1 (inherited from Hardware)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589520" y="3803904"/>
          <a:ext cx="406908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234440"/>
                <a:gridCol w="2240280"/>
              </a:tblGrid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Pri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Attributes (winning source)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80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ServiceNow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IP Address, MAC Address, OS Version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90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SG-SCCM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CPU count, Disk space, Manufacturer, +more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SG-SCCM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Approval group, Asset, Assigned, Attestation, +more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300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ServiceNow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Approval group, Asset, Asset tag, Assigned, +more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ServiceNow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All  (Hardware, derived)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669280"/>
            <a:ext cx="73152" cy="7315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669280"/>
            <a:ext cx="10972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IRE</a:t>
            </a:r>
          </a:p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705856"/>
            <a:ext cx="9692640" cy="40233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Computers are identified independently by a single rule (Priority 100) matching on Name + Serial Number (the 'Duplicate Workstation' identifier). Unlike Server, reconciliation is defined directly on the class - four created rules (ServiceNow[80] to ServiceNow[300]) plus one allow-all rule inherited from Hardware. SG-SCCM is authoritative for OS, OS Version and hardware specifications; ServiceNow Discovery populates IP and MAC address.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6126480"/>
            <a:ext cx="969264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* = proposed, pending CCB;  values without * are sourced (Stage 1 dictionary / as-built config).   (?) = confirm technical field name in ServiceNow.   IRE reflects the as-built configuration, 2026-07-20.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CMDB Class  -  Business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Table: cmdb_ci_business_app   ·   Source: Business Application audit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CI Class Reference (CMP Stage 1)  |  DRAFT - Jul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"/>
            <a:ext cx="184708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PROPOSED DRAFT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1155680" cy="896112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70432"/>
            <a:ext cx="393192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CLASS OWNER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Todd Dierksheide</a:t>
            </a:r>
          </a:p>
          <a:p>
            <a:pPr algn="l"/>
            <a:r>
              <a:rPr sz="850" b="0" i="1">
                <a:solidFill>
                  <a:srgbClr val="6B7280"/>
                </a:solidFill>
                <a:latin typeface="Segoe UI"/>
              </a:rPr>
              <a:t>CCB Class Manager - Business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170432"/>
            <a:ext cx="283464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CSDM DOMAIN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Design &amp;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170432"/>
            <a:ext cx="192024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ACTIVE CIS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~2,150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1170432"/>
            <a:ext cx="1737360" cy="7863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Segoe UI"/>
              </a:rPr>
              <a:t>AUDITED (PROPOSED)</a:t>
            </a:r>
          </a:p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8 of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48256"/>
            <a:ext cx="68122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Segoe UI"/>
              </a:rPr>
              <a:t>Managed Attributes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2304288"/>
          <a:ext cx="6812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783080"/>
                <a:gridCol w="1645920"/>
                <a:gridCol w="1188720"/>
                <a:gridCol w="77724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Label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Field name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Requirement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Audit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CI Owner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owned_by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Technical Owner 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u_technical_owner_group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sys_user_group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Business Owner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business_owner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Approval 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u_approval_group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sys_user_group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Support 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support_group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-&gt; sys_user_group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Asset Tag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asset_tag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Optional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6B7280"/>
                          </a:solidFill>
                          <a:latin typeface="Segoe UI"/>
                        </a:rPr>
                        <a:t>F*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Value Stream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u_value_stream (?)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Reference (?)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SOX Type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u_sox_type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Choice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Recommended 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Classification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E6DB4"/>
                          </a:solidFill>
                          <a:latin typeface="Consolas"/>
                        </a:rPr>
                        <a:t>u_classification (?)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Choice (?)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C0392B"/>
                          </a:solidFill>
                          <a:latin typeface="Segoe UI"/>
                        </a:rPr>
                        <a:t>Required 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8B57"/>
                          </a:solidFill>
                          <a:latin typeface="Segoe UI"/>
                        </a:rPr>
                        <a:t>T*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589520" y="2048256"/>
            <a:ext cx="4069080" cy="29260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048256"/>
            <a:ext cx="38862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Identification &amp; Reconciliation (IRE)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414016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Segoe UI"/>
              </a:rPr>
              <a:t>IDENTIFICATION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615184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Segoe UI"/>
              </a:rPr>
              <a:t>Rule: not captured   ·   Type: by Name (Stage 1)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589520" y="2834640"/>
          <a:ext cx="4069080" cy="438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514600"/>
                <a:gridCol w="960120"/>
              </a:tblGrid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Pri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Criterion attributes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Match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Name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589520" y="3383280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 i="0">
                <a:solidFill>
                  <a:srgbClr val="1F3A5F"/>
                </a:solidFill>
                <a:latin typeface="Segoe UI"/>
              </a:rPr>
              <a:t>RECONCILIATION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584448"/>
            <a:ext cx="40690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Segoe UI"/>
              </a:rPr>
              <a:t>No CI Class Manager rules captured - source of truth per Stage 1 dictionary: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589520" y="3803904"/>
          <a:ext cx="4069080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234440"/>
                <a:gridCol w="2240280"/>
              </a:tblGrid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Pri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Segoe UI"/>
                        </a:rPr>
                        <a:t>Attributes (winning source)</a:t>
                      </a:r>
                    </a:p>
                  </a:txBody>
                  <a:tcPr marL="63500" marR="63500" marT="25400" marB="25400">
                    <a:solidFill>
                      <a:srgbClr val="1F3A5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EA (LeanIX)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Application Category, Life Cycle Stage - authoritative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2E6DB4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1F3A5F"/>
                          </a:solidFill>
                          <a:latin typeface="Segoe UI"/>
                        </a:rPr>
                        <a:t>Manual / Data Cert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D2D2D"/>
                          </a:solidFill>
                          <a:latin typeface="Segoe UI"/>
                        </a:rPr>
                        <a:t>Ownership &amp; governance fields - via certification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669280"/>
            <a:ext cx="73152" cy="7315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669280"/>
            <a:ext cx="10972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IRE</a:t>
            </a:r>
          </a:p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705856"/>
            <a:ext cx="9692640" cy="40233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Business Applications are the abstract application model, identified by Name - not a discovered CI. No rule-level IRE or reconciliation was captured for this class in CI Class Manager. Per the Stage 1 dictionary, Enterprise Architecture integration (LeanIX) is authoritative for Application Category and Life Cycle Stage, while ownership and governance fields are maintained manually through the Data Certification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6126480"/>
            <a:ext cx="969264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* = proposed, pending CCB;  values without * are sourced (Stage 1 dictionary / as-built config).   (?) = confirm technical field name in ServiceNow.   IRE reflects the as-built configuration, 2026-07-20.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