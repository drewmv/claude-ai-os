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E2761"/>
                </a:solidFill>
                <a:latin typeface="Cambria"/>
              </a:rPr>
              <a:t>PI-4 Implementation Plan — Phase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Appendix to slide 6  ·  bar colour = objective, as slide 6  ·  three phase bands per feature  ·  diamond marks the AP00288 gate, triangle the OCM sign-off  ·  requirements runway shown left of the PI where it falls in PI-3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PPL CMDB-CSDM  |  PI-4 Implementation Plan  |  SOW AP00288  |  Oct 14,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1325880"/>
            <a:ext cx="548640" cy="4379976"/>
          </a:xfrm>
          <a:prstGeom prst="rect">
            <a:avLst/>
          </a:prstGeom>
          <a:solidFill>
            <a:srgbClr val="EF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49640" y="1325880"/>
            <a:ext cx="1051560" cy="4379976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325880"/>
            <a:ext cx="7315" cy="4379976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353312"/>
            <a:ext cx="5486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PI-3 IP</a:t>
            </a:r>
          </a:p>
          <a:p>
            <a:pPr algn="l"/>
            <a:r>
              <a:rPr sz="750" b="0">
                <a:solidFill>
                  <a:srgbClr val="6B7280"/>
                </a:solidFill>
                <a:latin typeface="Calibri"/>
              </a:rPr>
              <a:t>Oct 14–27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" cy="4379976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53312"/>
            <a:ext cx="1051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4.1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Oct 28 – Nov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325880"/>
            <a:ext cx="7315" cy="4379976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353312"/>
            <a:ext cx="1051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4.2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Nov 11 – Nov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325880"/>
            <a:ext cx="7315" cy="4379976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53312"/>
            <a:ext cx="1051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4.3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Nov 25 – Dec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325880"/>
            <a:ext cx="7315" cy="4379976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353312"/>
            <a:ext cx="1051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4.4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Dec 9 – Dec 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325880"/>
            <a:ext cx="7315" cy="4379976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53312"/>
            <a:ext cx="1051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4.5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Dec 23 – Jan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325880"/>
            <a:ext cx="7315" cy="4379976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353312"/>
            <a:ext cx="1051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4.6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Jan 6 – Jan 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52760" y="1325880"/>
            <a:ext cx="7315" cy="4379976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60" y="1353312"/>
            <a:ext cx="1051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4.7 IP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Jan 20 – Feb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892807"/>
            <a:ext cx="7909560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029968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B6E7F"/>
                </a:solidFill>
                <a:latin typeface="Calibri"/>
              </a:rPr>
              <a:t>D3  </a:t>
            </a:r>
            <a:r>
              <a:rPr sz="900" b="0">
                <a:solidFill>
                  <a:srgbClr val="1A1A2E"/>
                </a:solidFill>
                <a:latin typeface="Calibri"/>
              </a:rPr>
              <a:t>15 Maps (1 of 3)   </a:t>
            </a:r>
            <a:r>
              <a:rPr sz="800" b="0">
                <a:solidFill>
                  <a:srgbClr val="6B7280"/>
                </a:solidFill>
                <a:latin typeface="Calibri"/>
              </a:rPr>
              <a:t>1646517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2093976"/>
            <a:ext cx="548640" cy="182880"/>
          </a:xfrm>
          <a:prstGeom prst="rect">
            <a:avLst/>
          </a:prstGeom>
          <a:solidFill>
            <a:srgbClr val="B5D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2093976"/>
            <a:ext cx="1051560" cy="182880"/>
          </a:xfrm>
          <a:prstGeom prst="rect">
            <a:avLst/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2093976"/>
            <a:ext cx="10515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6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2185416"/>
            <a:ext cx="310895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6757416" y="2121408"/>
            <a:ext cx="128016" cy="128016"/>
          </a:xfrm>
          <a:prstGeom prst="diamond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340864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D2E46"/>
                </a:solidFill>
                <a:latin typeface="Calibri"/>
              </a:rPr>
              <a:t>D8  </a:t>
            </a:r>
            <a:r>
              <a:rPr sz="900" b="0">
                <a:solidFill>
                  <a:srgbClr val="1A1A2E"/>
                </a:solidFill>
                <a:latin typeface="Calibri"/>
              </a:rPr>
              <a:t>CMDB Correctness   </a:t>
            </a:r>
            <a:r>
              <a:rPr sz="800" b="0">
                <a:solidFill>
                  <a:srgbClr val="6B7280"/>
                </a:solidFill>
                <a:latin typeface="Calibri"/>
              </a:rPr>
              <a:t>1639335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2404872"/>
            <a:ext cx="548640" cy="182880"/>
          </a:xfrm>
          <a:prstGeom prst="rect">
            <a:avLst/>
          </a:prstGeom>
          <a:solidFill>
            <a:srgbClr val="D3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2404872"/>
            <a:ext cx="2103120" cy="1828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2404872"/>
            <a:ext cx="10515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79" y="2496312"/>
            <a:ext cx="1591056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9089136" y="2432304"/>
            <a:ext cx="128016" cy="128016"/>
          </a:xfrm>
          <a:prstGeom prst="diamond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642616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B6E7F"/>
                </a:solidFill>
                <a:latin typeface="Calibri"/>
              </a:rPr>
              <a:t>D4  </a:t>
            </a:r>
            <a:r>
              <a:rPr sz="900" b="0">
                <a:solidFill>
                  <a:srgbClr val="1A1A2E"/>
                </a:solidFill>
                <a:latin typeface="Calibri"/>
              </a:rPr>
              <a:t>15 Maps (2 of 3)   </a:t>
            </a:r>
            <a:r>
              <a:rPr sz="800" b="0">
                <a:solidFill>
                  <a:srgbClr val="6B7280"/>
                </a:solidFill>
                <a:latin typeface="Calibri"/>
              </a:rPr>
              <a:t>1642237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2706624"/>
            <a:ext cx="1051560" cy="182880"/>
          </a:xfrm>
          <a:prstGeom prst="rect">
            <a:avLst/>
          </a:prstGeom>
          <a:solidFill>
            <a:srgbClr val="B5D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94960" y="2706624"/>
            <a:ext cx="1051560" cy="182880"/>
          </a:xfrm>
          <a:prstGeom prst="rect">
            <a:avLst/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2706624"/>
            <a:ext cx="10515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6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2798064"/>
            <a:ext cx="1591056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iamond 41"/>
          <p:cNvSpPr/>
          <p:nvPr/>
        </p:nvSpPr>
        <p:spPr>
          <a:xfrm>
            <a:off x="9089136" y="2734056"/>
            <a:ext cx="128016" cy="128016"/>
          </a:xfrm>
          <a:prstGeom prst="diamond">
            <a:avLst/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953512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D2E46"/>
                </a:solidFill>
                <a:latin typeface="Calibri"/>
              </a:rPr>
              <a:t>D9  </a:t>
            </a:r>
            <a:r>
              <a:rPr sz="900" b="0">
                <a:solidFill>
                  <a:srgbClr val="1A1A2E"/>
                </a:solidFill>
                <a:latin typeface="Calibri"/>
              </a:rPr>
              <a:t>Non-Discoverable CI Interface   </a:t>
            </a:r>
            <a:r>
              <a:rPr sz="800" b="0">
                <a:solidFill>
                  <a:srgbClr val="6B7280"/>
                </a:solidFill>
                <a:latin typeface="Calibri"/>
              </a:rPr>
              <a:t>1640795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3017520"/>
            <a:ext cx="1051560" cy="182880"/>
          </a:xfrm>
          <a:prstGeom prst="rect">
            <a:avLst/>
          </a:prstGeom>
          <a:solidFill>
            <a:srgbClr val="D3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94960" y="3017520"/>
            <a:ext cx="1051560" cy="1828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520" y="3017520"/>
            <a:ext cx="10515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98079" y="3108960"/>
            <a:ext cx="1591056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iamond 47"/>
          <p:cNvSpPr/>
          <p:nvPr/>
        </p:nvSpPr>
        <p:spPr>
          <a:xfrm>
            <a:off x="9089136" y="3044952"/>
            <a:ext cx="128016" cy="128016"/>
          </a:xfrm>
          <a:prstGeom prst="diamond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255264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C6F15"/>
                </a:solidFill>
                <a:latin typeface="Calibri"/>
              </a:rPr>
              <a:t>D7  </a:t>
            </a:r>
            <a:r>
              <a:rPr sz="900" b="0">
                <a:solidFill>
                  <a:srgbClr val="1A1A2E"/>
                </a:solidFill>
                <a:latin typeface="Calibri"/>
              </a:rPr>
              <a:t>Adoption Campaign   </a:t>
            </a:r>
            <a:r>
              <a:rPr sz="800" b="0">
                <a:solidFill>
                  <a:srgbClr val="6B7280"/>
                </a:solidFill>
                <a:latin typeface="Calibri"/>
              </a:rPr>
              <a:t>1639308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3319272"/>
            <a:ext cx="1051560" cy="182880"/>
          </a:xfrm>
          <a:prstGeom prst="rect">
            <a:avLst/>
          </a:prstGeom>
          <a:solidFill>
            <a:srgbClr val="E1D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94960" y="3319272"/>
            <a:ext cx="5257800" cy="182880"/>
          </a:xfrm>
          <a:prstGeom prst="rect">
            <a:avLst/>
          </a:prstGeom>
          <a:solidFill>
            <a:srgbClr val="9C6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52760" y="3410712"/>
            <a:ext cx="685800" cy="91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iamond 52"/>
          <p:cNvSpPr/>
          <p:nvPr/>
        </p:nvSpPr>
        <p:spPr>
          <a:xfrm>
            <a:off x="11338560" y="3346704"/>
            <a:ext cx="128016" cy="128016"/>
          </a:xfrm>
          <a:prstGeom prst="diamond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10899648" y="3337560"/>
            <a:ext cx="137160" cy="137160"/>
          </a:xfrm>
          <a:prstGeom prst="triangle">
            <a:avLst/>
          </a:prstGeom>
          <a:solidFill>
            <a:srgbClr val="9C6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566160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B6E7F"/>
                </a:solidFill>
                <a:latin typeface="Calibri"/>
              </a:rPr>
              <a:t>D6  </a:t>
            </a:r>
            <a:r>
              <a:rPr sz="900" b="0">
                <a:solidFill>
                  <a:srgbClr val="1A1A2E"/>
                </a:solidFill>
                <a:latin typeface="Calibri"/>
              </a:rPr>
              <a:t>Stakeholder Notifications   </a:t>
            </a:r>
            <a:r>
              <a:rPr sz="800" b="0">
                <a:solidFill>
                  <a:srgbClr val="6B7280"/>
                </a:solidFill>
                <a:latin typeface="Calibri"/>
              </a:rPr>
              <a:t>1642240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4960" y="3630168"/>
            <a:ext cx="1051560" cy="182880"/>
          </a:xfrm>
          <a:prstGeom prst="rect">
            <a:avLst/>
          </a:prstGeom>
          <a:solidFill>
            <a:srgbClr val="B5D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46520" y="3630168"/>
            <a:ext cx="1051560" cy="182880"/>
          </a:xfrm>
          <a:prstGeom prst="rect">
            <a:avLst/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79" y="3630168"/>
            <a:ext cx="10515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6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549640" y="3721608"/>
            <a:ext cx="539495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iamond 59"/>
          <p:cNvSpPr/>
          <p:nvPr/>
        </p:nvSpPr>
        <p:spPr>
          <a:xfrm>
            <a:off x="9089136" y="3657600"/>
            <a:ext cx="128016" cy="128016"/>
          </a:xfrm>
          <a:prstGeom prst="diamond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3867912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D2E46"/>
                </a:solidFill>
                <a:latin typeface="Calibri"/>
              </a:rPr>
              <a:t>D10  </a:t>
            </a:r>
            <a:r>
              <a:rPr sz="900" b="0">
                <a:solidFill>
                  <a:srgbClr val="1A1A2E"/>
                </a:solidFill>
                <a:latin typeface="Calibri"/>
              </a:rPr>
              <a:t>Server Build Flow   </a:t>
            </a:r>
            <a:r>
              <a:rPr sz="800" b="0">
                <a:solidFill>
                  <a:srgbClr val="6B7280"/>
                </a:solidFill>
                <a:latin typeface="Calibri"/>
              </a:rPr>
              <a:t>1640805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94960" y="3931920"/>
            <a:ext cx="1051560" cy="182880"/>
          </a:xfrm>
          <a:prstGeom prst="rect">
            <a:avLst/>
          </a:prstGeom>
          <a:solidFill>
            <a:srgbClr val="D3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46520" y="3931920"/>
            <a:ext cx="2103120" cy="1828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01200" y="3931920"/>
            <a:ext cx="10515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52760" y="4023360"/>
            <a:ext cx="914400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iamond 65"/>
          <p:cNvSpPr/>
          <p:nvPr/>
        </p:nvSpPr>
        <p:spPr>
          <a:xfrm>
            <a:off x="11567160" y="3959352"/>
            <a:ext cx="128016" cy="128016"/>
          </a:xfrm>
          <a:prstGeom prst="diamond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178808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Calibri"/>
              </a:rPr>
              <a:t>D2  </a:t>
            </a:r>
            <a:r>
              <a:rPr sz="900" b="0">
                <a:solidFill>
                  <a:srgbClr val="1A1A2E"/>
                </a:solidFill>
                <a:latin typeface="Calibri"/>
              </a:rPr>
              <a:t>Cisco Catalyst   </a:t>
            </a:r>
            <a:r>
              <a:rPr sz="800" b="0">
                <a:solidFill>
                  <a:srgbClr val="6B7280"/>
                </a:solidFill>
                <a:latin typeface="Calibri"/>
              </a:rPr>
              <a:t>1639225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94960" y="4242816"/>
            <a:ext cx="1051560" cy="182880"/>
          </a:xfrm>
          <a:prstGeom prst="rect">
            <a:avLst/>
          </a:prstGeom>
          <a:solidFill>
            <a:srgbClr val="BBB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46520" y="4242816"/>
            <a:ext cx="2103120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01200" y="4242816"/>
            <a:ext cx="10515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652760" y="4334256"/>
            <a:ext cx="914400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iamond 71"/>
          <p:cNvSpPr/>
          <p:nvPr/>
        </p:nvSpPr>
        <p:spPr>
          <a:xfrm>
            <a:off x="11567160" y="4270248"/>
            <a:ext cx="128016" cy="128016"/>
          </a:xfrm>
          <a:prstGeom prst="diamond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4480560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D2E46"/>
                </a:solidFill>
                <a:latin typeface="Calibri"/>
              </a:rPr>
              <a:t>D11  </a:t>
            </a:r>
            <a:r>
              <a:rPr sz="900" b="0">
                <a:solidFill>
                  <a:srgbClr val="1A1A2E"/>
                </a:solidFill>
                <a:latin typeface="Calibri"/>
              </a:rPr>
              <a:t>Server Decommission Flow   </a:t>
            </a:r>
            <a:r>
              <a:rPr sz="800" b="0">
                <a:solidFill>
                  <a:srgbClr val="6B7280"/>
                </a:solidFill>
                <a:latin typeface="Calibri"/>
              </a:rPr>
              <a:t>1640819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46520" y="4544568"/>
            <a:ext cx="1051560" cy="182880"/>
          </a:xfrm>
          <a:prstGeom prst="rect">
            <a:avLst/>
          </a:prstGeom>
          <a:solidFill>
            <a:srgbClr val="D3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98079" y="4544568"/>
            <a:ext cx="3154680" cy="1828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652760" y="4544568"/>
            <a:ext cx="8229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475720" y="4636008"/>
            <a:ext cx="91439" cy="91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iamond 77"/>
          <p:cNvSpPr/>
          <p:nvPr/>
        </p:nvSpPr>
        <p:spPr>
          <a:xfrm>
            <a:off x="11567160" y="4572000"/>
            <a:ext cx="128016" cy="128016"/>
          </a:xfrm>
          <a:prstGeom prst="diamond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4791456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B6E7F"/>
                </a:solidFill>
                <a:latin typeface="Calibri"/>
              </a:rPr>
              <a:t>D5  </a:t>
            </a:r>
            <a:r>
              <a:rPr sz="900" b="0">
                <a:solidFill>
                  <a:srgbClr val="1A1A2E"/>
                </a:solidFill>
                <a:latin typeface="Calibri"/>
              </a:rPr>
              <a:t>15 Maps (3 of 3)   </a:t>
            </a:r>
            <a:r>
              <a:rPr sz="800" b="0">
                <a:solidFill>
                  <a:srgbClr val="6B7280"/>
                </a:solidFill>
                <a:latin typeface="Calibri"/>
              </a:rPr>
              <a:t>1642332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98079" y="4855464"/>
            <a:ext cx="1051560" cy="182880"/>
          </a:xfrm>
          <a:prstGeom prst="rect">
            <a:avLst/>
          </a:prstGeom>
          <a:solidFill>
            <a:srgbClr val="B5D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01200" y="4855464"/>
            <a:ext cx="1051560" cy="182880"/>
          </a:xfrm>
          <a:prstGeom prst="rect">
            <a:avLst/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652760" y="4855464"/>
            <a:ext cx="8229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6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475720" y="4946904"/>
            <a:ext cx="91439" cy="91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iamond 83"/>
          <p:cNvSpPr/>
          <p:nvPr/>
        </p:nvSpPr>
        <p:spPr>
          <a:xfrm>
            <a:off x="11567160" y="4882896"/>
            <a:ext cx="128016" cy="128016"/>
          </a:xfrm>
          <a:prstGeom prst="diamond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093208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D2E46"/>
                </a:solidFill>
                <a:latin typeface="Calibri"/>
              </a:rPr>
              <a:t>D12  </a:t>
            </a:r>
            <a:r>
              <a:rPr sz="900" b="0">
                <a:solidFill>
                  <a:srgbClr val="1A1A2E"/>
                </a:solidFill>
                <a:latin typeface="Calibri"/>
              </a:rPr>
              <a:t>Service Map Update Item   </a:t>
            </a:r>
            <a:r>
              <a:rPr sz="800" b="0">
                <a:solidFill>
                  <a:srgbClr val="6B7280"/>
                </a:solidFill>
                <a:latin typeface="Calibri"/>
              </a:rPr>
              <a:t>1640844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98079" y="5157216"/>
            <a:ext cx="1051560" cy="182880"/>
          </a:xfrm>
          <a:prstGeom prst="rect">
            <a:avLst/>
          </a:prstGeom>
          <a:solidFill>
            <a:srgbClr val="D3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01200" y="5157216"/>
            <a:ext cx="1051560" cy="1828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652760" y="5157216"/>
            <a:ext cx="82296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475720" y="5248656"/>
            <a:ext cx="91439" cy="91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567160" y="5184648"/>
            <a:ext cx="128016" cy="128016"/>
          </a:xfrm>
          <a:prstGeom prst="diamond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5404104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Calibri"/>
              </a:rPr>
              <a:t>TBC  </a:t>
            </a:r>
            <a:r>
              <a:rPr sz="900" b="0">
                <a:solidFill>
                  <a:srgbClr val="1A1A2E"/>
                </a:solidFill>
                <a:latin typeface="Calibri"/>
              </a:rPr>
              <a:t>Qualys   </a:t>
            </a:r>
            <a:r>
              <a:rPr sz="800" b="0">
                <a:solidFill>
                  <a:srgbClr val="6B7280"/>
                </a:solidFill>
                <a:latin typeface="Calibri"/>
              </a:rPr>
              <a:t>1639239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98079" y="5468112"/>
            <a:ext cx="1051560" cy="182880"/>
          </a:xfrm>
          <a:prstGeom prst="rect">
            <a:avLst/>
          </a:prstGeom>
          <a:solidFill>
            <a:srgbClr val="BBB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01200" y="5468112"/>
            <a:ext cx="1874519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475720" y="5559552"/>
            <a:ext cx="91439" cy="91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iamond 94"/>
          <p:cNvSpPr/>
          <p:nvPr/>
        </p:nvSpPr>
        <p:spPr>
          <a:xfrm>
            <a:off x="11567160" y="5495544"/>
            <a:ext cx="128016" cy="128016"/>
          </a:xfrm>
          <a:prstGeom prst="diamond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579729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Phase: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52144" y="5861304"/>
            <a:ext cx="237744" cy="91440"/>
          </a:xfrm>
          <a:prstGeom prst="rect">
            <a:avLst/>
          </a:prstGeom>
          <a:solidFill>
            <a:srgbClr val="BBB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444752" y="5797296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Requirements / Spike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79776" y="5861304"/>
            <a:ext cx="237744" cy="91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72384" y="579729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Build &amp; Test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68496" y="5843016"/>
            <a:ext cx="237744" cy="128016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61104" y="579729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Validate &amp; Release</a:t>
            </a:r>
          </a:p>
        </p:txBody>
      </p:sp>
      <p:sp>
        <p:nvSpPr>
          <p:cNvPr id="103" name="Diamond 102"/>
          <p:cNvSpPr/>
          <p:nvPr/>
        </p:nvSpPr>
        <p:spPr>
          <a:xfrm>
            <a:off x="5550407" y="5833872"/>
            <a:ext cx="118872" cy="118872"/>
          </a:xfrm>
          <a:prstGeom prst="diamond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797296" y="5797296"/>
            <a:ext cx="8412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gate on track</a:t>
            </a:r>
          </a:p>
        </p:txBody>
      </p:sp>
      <p:sp>
        <p:nvSpPr>
          <p:cNvPr id="105" name="Diamond 104"/>
          <p:cNvSpPr/>
          <p:nvPr/>
        </p:nvSpPr>
        <p:spPr>
          <a:xfrm>
            <a:off x="6848855" y="5833872"/>
            <a:ext cx="118872" cy="118872"/>
          </a:xfrm>
          <a:prstGeom prst="diamond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095744" y="579729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tight (&lt;10 days)</a:t>
            </a:r>
          </a:p>
        </p:txBody>
      </p:sp>
      <p:sp>
        <p:nvSpPr>
          <p:cNvPr id="107" name="Diamond 106"/>
          <p:cNvSpPr/>
          <p:nvPr/>
        </p:nvSpPr>
        <p:spPr>
          <a:xfrm>
            <a:off x="8266176" y="5833872"/>
            <a:ext cx="118872" cy="118872"/>
          </a:xfrm>
          <a:prstGeom prst="diamond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13064" y="57972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no validation margin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071616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Phase dates derived from the ADO sprint spans on slide 3 — requirements = one sprint ending where build starts; validate &amp; release = one sprint after build ends. Sprint 4.5 treated as unavailable. </a:t>
            </a:r>
            <a:r>
              <a:rPr sz="850" b="1">
                <a:solidFill>
                  <a:srgbClr val="6B7280"/>
                </a:solidFill>
                <a:latin typeface="Calibri"/>
              </a:rPr>
              <a:t>D7 and Qualys have no validate-and-release window at all; D11, D5 and D12 finish on their gate date. Tripwire has no ADO item and cannot be scheduled. December change-freeze dates unconfirmed.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