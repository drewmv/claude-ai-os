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3152"/>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914400"/>
          </a:xfrm>
          <a:prstGeom prst="rect">
            <a:avLst/>
          </a:prstGeom>
          <a:noFill/>
        </p:spPr>
        <p:txBody>
          <a:bodyPr wrap="square" anchor="t" lIns="50800" rIns="50800" tIns="25400" bIns="25400">
            <a:spAutoFit/>
          </a:bodyPr>
          <a:lstStyle/>
          <a:p>
            <a:pPr algn="l"/>
            <a:r>
              <a:rPr sz="4400" b="1" i="0">
                <a:solidFill>
                  <a:srgbClr val="FFFFFF"/>
                </a:solidFill>
                <a:latin typeface="Segoe UI"/>
              </a:rPr>
              <a:t>CMDB-CSDM Delivery Status</a:t>
            </a:r>
          </a:p>
        </p:txBody>
      </p:sp>
      <p:sp>
        <p:nvSpPr>
          <p:cNvPr id="5" name="TextBox 4"/>
          <p:cNvSpPr txBox="1"/>
          <p:nvPr/>
        </p:nvSpPr>
        <p:spPr>
          <a:xfrm>
            <a:off x="749808" y="2788920"/>
            <a:ext cx="10698480" cy="548640"/>
          </a:xfrm>
          <a:prstGeom prst="rect">
            <a:avLst/>
          </a:prstGeom>
          <a:noFill/>
        </p:spPr>
        <p:txBody>
          <a:bodyPr wrap="square" anchor="t" lIns="50800" rIns="50800" tIns="25400" bIns="25400">
            <a:spAutoFit/>
          </a:bodyPr>
          <a:lstStyle/>
          <a:p>
            <a:pPr algn="l"/>
            <a:r>
              <a:rPr sz="2200" b="0" i="0">
                <a:solidFill>
                  <a:srgbClr val="C9D6E6"/>
                </a:solidFill>
                <a:latin typeface="Segoe UI"/>
              </a:rPr>
              <a:t>Weekly Leadership Report</a:t>
            </a:r>
          </a:p>
        </p:txBody>
      </p:sp>
      <p:sp>
        <p:nvSpPr>
          <p:cNvPr id="6" name="TextBox 5"/>
          <p:cNvSpPr txBox="1"/>
          <p:nvPr/>
        </p:nvSpPr>
        <p:spPr>
          <a:xfrm>
            <a:off x="749808" y="4343400"/>
            <a:ext cx="10698480" cy="1280160"/>
          </a:xfrm>
          <a:prstGeom prst="rect">
            <a:avLst/>
          </a:prstGeom>
          <a:noFill/>
        </p:spPr>
        <p:txBody>
          <a:bodyPr wrap="square" anchor="t" lIns="50800" rIns="50800" tIns="25400" bIns="25400">
            <a:spAutoFit/>
          </a:bodyPr>
          <a:lstStyle/>
          <a:p>
            <a:pPr algn="l"/>
            <a:r>
              <a:rPr sz="1600" b="1" i="0">
                <a:solidFill>
                  <a:srgbClr val="FFFFFF"/>
                </a:solidFill>
                <a:latin typeface="Segoe UI"/>
              </a:rPr>
              <a:t>PI-2  ·  Iteration 2.3  (Jun 10 - 23)</a:t>
            </a:r>
          </a:p>
          <a:p>
            <a:pPr algn="l"/>
            <a:r>
              <a:rPr sz="1400" b="0" i="0">
                <a:solidFill>
                  <a:srgbClr val="C9D6E6"/>
                </a:solidFill>
                <a:latin typeface="Segoe UI"/>
              </a:rPr>
              <a:t>Week of June 11, 2026  (updated June 12, 12:00pm EST)</a:t>
            </a:r>
          </a:p>
          <a:p>
            <a:pPr algn="l"/>
            <a:r>
              <a:rPr sz="1200" b="0" i="0">
                <a:solidFill>
                  <a:srgbClr val="9FB2CC"/>
                </a:solidFill>
                <a:latin typeface="Segoe UI"/>
              </a:rPr>
              <a:t>Manuel Vazquez  -  Scrum Master, CMDB-CSDM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How to Read This Report</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Updated 6/12 12:00pm EST - first week-over-week deltas vs the 6/11 baseline.</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TextBox 6"/>
          <p:cNvSpPr txBox="1"/>
          <p:nvPr/>
        </p:nvSpPr>
        <p:spPr>
          <a:xfrm>
            <a:off x="502920" y="1280160"/>
            <a:ext cx="10972800" cy="365760"/>
          </a:xfrm>
          <a:prstGeom prst="rect">
            <a:avLst/>
          </a:prstGeom>
          <a:noFill/>
        </p:spPr>
        <p:txBody>
          <a:bodyPr wrap="square" anchor="t" lIns="50800" rIns="50800" tIns="25400" bIns="25400">
            <a:spAutoFit/>
          </a:bodyPr>
          <a:lstStyle/>
          <a:p>
            <a:pPr algn="l"/>
            <a:r>
              <a:rPr sz="1500" b="1" i="0">
                <a:solidFill>
                  <a:srgbClr val="2D2D2D"/>
                </a:solidFill>
                <a:latin typeface="Segoe UI"/>
              </a:rPr>
              <a:t>Three progress lenses, refreshed every week:</a:t>
            </a:r>
          </a:p>
        </p:txBody>
      </p:sp>
      <p:sp>
        <p:nvSpPr>
          <p:cNvPr id="8" name="Rectangle 7"/>
          <p:cNvSpPr/>
          <p:nvPr/>
        </p:nvSpPr>
        <p:spPr>
          <a:xfrm>
            <a:off x="502920" y="1828800"/>
            <a:ext cx="109728"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548640"/>
          </a:xfrm>
          <a:prstGeom prst="rect">
            <a:avLst/>
          </a:prstGeom>
          <a:noFill/>
        </p:spPr>
        <p:txBody>
          <a:bodyPr wrap="square" anchor="t" lIns="50800" rIns="50800" tIns="25400" bIns="25400">
            <a:spAutoFit/>
          </a:bodyPr>
          <a:lstStyle/>
          <a:p>
            <a:pPr algn="l"/>
            <a:r>
              <a:rPr sz="1400" b="1" i="0">
                <a:solidFill>
                  <a:srgbClr val="2E6DB4"/>
                </a:solidFill>
                <a:latin typeface="Segoe UI"/>
              </a:rPr>
              <a:t>PI over PI</a:t>
            </a:r>
          </a:p>
          <a:p>
            <a:pPr algn="l"/>
            <a:r>
              <a:rPr sz="1200" b="0" i="0">
                <a:solidFill>
                  <a:srgbClr val="2D2D2D"/>
                </a:solidFill>
                <a:latin typeface="Segoe UI"/>
              </a:rPr>
              <a:t>Are we delivering more value each Program Increment?</a:t>
            </a:r>
          </a:p>
        </p:txBody>
      </p:sp>
      <p:sp>
        <p:nvSpPr>
          <p:cNvPr id="10" name="Rectangle 9"/>
          <p:cNvSpPr/>
          <p:nvPr/>
        </p:nvSpPr>
        <p:spPr>
          <a:xfrm>
            <a:off x="502920" y="2514600"/>
            <a:ext cx="109728"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14600"/>
            <a:ext cx="10515600" cy="548640"/>
          </a:xfrm>
          <a:prstGeom prst="rect">
            <a:avLst/>
          </a:prstGeom>
          <a:noFill/>
        </p:spPr>
        <p:txBody>
          <a:bodyPr wrap="square" anchor="t" lIns="50800" rIns="50800" tIns="25400" bIns="25400">
            <a:spAutoFit/>
          </a:bodyPr>
          <a:lstStyle/>
          <a:p>
            <a:pPr algn="l"/>
            <a:r>
              <a:rPr sz="1400" b="1" i="0">
                <a:solidFill>
                  <a:srgbClr val="2E6DB4"/>
                </a:solidFill>
                <a:latin typeface="Segoe UI"/>
              </a:rPr>
              <a:t>Iteration over Iteration</a:t>
            </a:r>
          </a:p>
          <a:p>
            <a:pPr algn="l"/>
            <a:r>
              <a:rPr sz="1200" b="0" i="0">
                <a:solidFill>
                  <a:srgbClr val="2D2D2D"/>
                </a:solidFill>
                <a:latin typeface="Segoe UI"/>
              </a:rPr>
              <a:t>Is each 2-week sprint building on the last?</a:t>
            </a:r>
          </a:p>
        </p:txBody>
      </p:sp>
      <p:sp>
        <p:nvSpPr>
          <p:cNvPr id="12" name="Rectangle 11"/>
          <p:cNvSpPr/>
          <p:nvPr/>
        </p:nvSpPr>
        <p:spPr>
          <a:xfrm>
            <a:off x="502920" y="3200400"/>
            <a:ext cx="109728"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00400"/>
            <a:ext cx="10515600" cy="548640"/>
          </a:xfrm>
          <a:prstGeom prst="rect">
            <a:avLst/>
          </a:prstGeom>
          <a:noFill/>
        </p:spPr>
        <p:txBody>
          <a:bodyPr wrap="square" anchor="t" lIns="50800" rIns="50800" tIns="25400" bIns="25400">
            <a:spAutoFit/>
          </a:bodyPr>
          <a:lstStyle/>
          <a:p>
            <a:pPr algn="l"/>
            <a:r>
              <a:rPr sz="1400" b="1" i="0">
                <a:solidFill>
                  <a:srgbClr val="2E6DB4"/>
                </a:solidFill>
                <a:latin typeface="Segoe UI"/>
              </a:rPr>
              <a:t>Week over Week</a:t>
            </a:r>
          </a:p>
          <a:p>
            <a:pPr algn="l"/>
            <a:r>
              <a:rPr sz="1200" b="0" i="0">
                <a:solidFill>
                  <a:srgbClr val="2D2D2D"/>
                </a:solidFill>
                <a:latin typeface="Segoe UI"/>
              </a:rPr>
              <a:t>What concretely moved since the last report?</a:t>
            </a:r>
          </a:p>
        </p:txBody>
      </p:sp>
      <p:sp>
        <p:nvSpPr>
          <p:cNvPr id="14" name="TextBox 13"/>
          <p:cNvSpPr txBox="1"/>
          <p:nvPr/>
        </p:nvSpPr>
        <p:spPr>
          <a:xfrm>
            <a:off x="502920" y="4206240"/>
            <a:ext cx="5486400" cy="365760"/>
          </a:xfrm>
          <a:prstGeom prst="rect">
            <a:avLst/>
          </a:prstGeom>
          <a:noFill/>
        </p:spPr>
        <p:txBody>
          <a:bodyPr wrap="square" anchor="t" lIns="50800" rIns="50800" tIns="25400" bIns="25400">
            <a:spAutoFit/>
          </a:bodyPr>
          <a:lstStyle/>
          <a:p>
            <a:pPr algn="l"/>
            <a:r>
              <a:rPr sz="1300" b="1" i="0">
                <a:solidFill>
                  <a:srgbClr val="2D2D2D"/>
                </a:solidFill>
                <a:latin typeface="Segoe UI"/>
              </a:rPr>
              <a:t>Status legend:</a:t>
            </a:r>
          </a:p>
        </p:txBody>
      </p:sp>
      <p:sp>
        <p:nvSpPr>
          <p:cNvPr id="15" name="Rectangle 14"/>
          <p:cNvSpPr/>
          <p:nvPr/>
        </p:nvSpPr>
        <p:spPr>
          <a:xfrm>
            <a:off x="502920" y="461772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16" name="TextBox 15"/>
          <p:cNvSpPr txBox="1"/>
          <p:nvPr/>
        </p:nvSpPr>
        <p:spPr>
          <a:xfrm>
            <a:off x="1645920" y="4617720"/>
            <a:ext cx="4572000" cy="274320"/>
          </a:xfrm>
          <a:prstGeom prst="rect">
            <a:avLst/>
          </a:prstGeom>
          <a:noFill/>
        </p:spPr>
        <p:txBody>
          <a:bodyPr wrap="square" anchor="t" lIns="50800" rIns="50800" tIns="25400" bIns="25400">
            <a:spAutoFit/>
          </a:bodyPr>
          <a:lstStyle/>
          <a:p>
            <a:pPr algn="l"/>
            <a:r>
              <a:rPr sz="1200" b="0" i="0">
                <a:solidFill>
                  <a:srgbClr val="2D2D2D"/>
                </a:solidFill>
                <a:latin typeface="Segoe UI"/>
              </a:rPr>
              <a:t>On track</a:t>
            </a:r>
          </a:p>
        </p:txBody>
      </p:sp>
      <p:sp>
        <p:nvSpPr>
          <p:cNvPr id="17" name="Rectangle 16"/>
          <p:cNvSpPr/>
          <p:nvPr/>
        </p:nvSpPr>
        <p:spPr>
          <a:xfrm>
            <a:off x="502920" y="502920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8" name="TextBox 17"/>
          <p:cNvSpPr txBox="1"/>
          <p:nvPr/>
        </p:nvSpPr>
        <p:spPr>
          <a:xfrm>
            <a:off x="1645920" y="5029200"/>
            <a:ext cx="5486400" cy="274320"/>
          </a:xfrm>
          <a:prstGeom prst="rect">
            <a:avLst/>
          </a:prstGeom>
          <a:noFill/>
        </p:spPr>
        <p:txBody>
          <a:bodyPr wrap="square" anchor="t" lIns="50800" rIns="50800" tIns="25400" bIns="25400">
            <a:spAutoFit/>
          </a:bodyPr>
          <a:lstStyle/>
          <a:p>
            <a:pPr algn="l"/>
            <a:r>
              <a:rPr sz="1200" b="0" i="0">
                <a:solidFill>
                  <a:srgbClr val="2D2D2D"/>
                </a:solidFill>
                <a:latin typeface="Segoe UI"/>
              </a:rPr>
              <a:t>Progressing, with watch items</a:t>
            </a:r>
          </a:p>
        </p:txBody>
      </p:sp>
      <p:sp>
        <p:nvSpPr>
          <p:cNvPr id="19" name="Rectangle 18"/>
          <p:cNvSpPr/>
          <p:nvPr/>
        </p:nvSpPr>
        <p:spPr>
          <a:xfrm>
            <a:off x="502920" y="5440680"/>
            <a:ext cx="100584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RED</a:t>
            </a:r>
          </a:p>
        </p:txBody>
      </p:sp>
      <p:sp>
        <p:nvSpPr>
          <p:cNvPr id="20" name="TextBox 19"/>
          <p:cNvSpPr txBox="1"/>
          <p:nvPr/>
        </p:nvSpPr>
        <p:spPr>
          <a:xfrm>
            <a:off x="1645920" y="5440680"/>
            <a:ext cx="5486400" cy="274320"/>
          </a:xfrm>
          <a:prstGeom prst="rect">
            <a:avLst/>
          </a:prstGeom>
          <a:noFill/>
        </p:spPr>
        <p:txBody>
          <a:bodyPr wrap="square" anchor="t" lIns="50800" rIns="50800" tIns="25400" bIns="25400">
            <a:spAutoFit/>
          </a:bodyPr>
          <a:lstStyle/>
          <a:p>
            <a:pPr algn="l"/>
            <a:r>
              <a:rPr sz="1200" b="0" i="0">
                <a:solidFill>
                  <a:srgbClr val="2D2D2D"/>
                </a:solidFill>
                <a:latin typeface="Segoe UI"/>
              </a:rPr>
              <a:t>Blocked / needs intervention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Executive Summary</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Iteration 2.3  (Jun 10 - 23)</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Rectangle 6"/>
          <p:cNvSpPr/>
          <p:nvPr/>
        </p:nvSpPr>
        <p:spPr>
          <a:xfrm>
            <a:off x="502920" y="1234440"/>
            <a:ext cx="402336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ON TRACK - WITH WATCH ITEMS</a:t>
            </a:r>
          </a:p>
        </p:txBody>
      </p:sp>
      <p:sp>
        <p:nvSpPr>
          <p:cNvPr id="8" name="TextBox 7"/>
          <p:cNvSpPr txBox="1"/>
          <p:nvPr/>
        </p:nvSpPr>
        <p:spPr>
          <a:xfrm>
            <a:off x="502920" y="1691640"/>
            <a:ext cx="11155680" cy="731520"/>
          </a:xfrm>
          <a:prstGeom prst="rect">
            <a:avLst/>
          </a:prstGeom>
          <a:noFill/>
        </p:spPr>
        <p:txBody>
          <a:bodyPr wrap="square" anchor="t" lIns="50800" rIns="50800" tIns="25400" bIns="25400">
            <a:spAutoFit/>
          </a:bodyPr>
          <a:lstStyle/>
          <a:p>
            <a:pPr algn="l"/>
            <a:r>
              <a:rPr sz="1300" b="0" i="0">
                <a:solidFill>
                  <a:srgbClr val="2D2D2D"/>
                </a:solidFill>
                <a:latin typeface="Segoe UI"/>
              </a:rPr>
              <a:t>Delivery is progressing across all 6 objectives. Two items resolved since the 6/11 baseline (NowAssist resourcing, SCCM approval gate). New watch item: Qualys integration blocked pending a vendor plugin approval. DNS dependency and code-freeze windows remain.</a:t>
            </a:r>
          </a:p>
        </p:txBody>
      </p:sp>
      <p:sp>
        <p:nvSpPr>
          <p:cNvPr id="9" name="TextBox 8"/>
          <p:cNvSpPr txBox="1"/>
          <p:nvPr/>
        </p:nvSpPr>
        <p:spPr>
          <a:xfrm>
            <a:off x="502920" y="2514600"/>
            <a:ext cx="5486400" cy="320040"/>
          </a:xfrm>
          <a:prstGeom prst="rect">
            <a:avLst/>
          </a:prstGeom>
          <a:noFill/>
        </p:spPr>
        <p:txBody>
          <a:bodyPr wrap="square" anchor="t" lIns="50800" rIns="50800" tIns="25400" bIns="25400">
            <a:spAutoFit/>
          </a:bodyPr>
          <a:lstStyle/>
          <a:p>
            <a:pPr algn="l"/>
            <a:r>
              <a:rPr sz="1500" b="1" i="0">
                <a:solidFill>
                  <a:srgbClr val="2E8B57"/>
                </a:solidFill>
                <a:latin typeface="Segoe UI"/>
              </a:rPr>
              <a:t>Wins this period</a:t>
            </a:r>
          </a:p>
        </p:txBody>
      </p:sp>
      <p:sp>
        <p:nvSpPr>
          <p:cNvPr id="10" name="TextBox 9"/>
          <p:cNvSpPr txBox="1"/>
          <p:nvPr/>
        </p:nvSpPr>
        <p:spPr>
          <a:xfrm>
            <a:off x="640080" y="2880360"/>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NowAssist resourcing resolved - 4 OOB stories reassigned to Kiran Dhobale; prerequisites story now active, others ready.</a:t>
            </a:r>
          </a:p>
        </p:txBody>
      </p:sp>
      <p:sp>
        <p:nvSpPr>
          <p:cNvPr id="11" name="TextBox 10"/>
          <p:cNvSpPr txBox="1"/>
          <p:nvPr/>
        </p:nvSpPr>
        <p:spPr>
          <a:xfrm>
            <a:off x="640080" y="3593592"/>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SCCM approval gate cleared - timestamp-alignment story unblocked; all SCCM precedence stories now in validation.</a:t>
            </a:r>
          </a:p>
        </p:txBody>
      </p:sp>
      <p:sp>
        <p:nvSpPr>
          <p:cNvPr id="12" name="TextBox 11"/>
          <p:cNvSpPr txBox="1"/>
          <p:nvPr/>
        </p:nvSpPr>
        <p:spPr>
          <a:xfrm>
            <a:off x="640080" y="4306824"/>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Airlift migration stories advanced to validation.</a:t>
            </a:r>
          </a:p>
        </p:txBody>
      </p:sp>
      <p:sp>
        <p:nvSpPr>
          <p:cNvPr id="13" name="TextBox 12"/>
          <p:cNvSpPr txBox="1"/>
          <p:nvPr/>
        </p:nvSpPr>
        <p:spPr>
          <a:xfrm>
            <a:off x="640080" y="5020056"/>
            <a:ext cx="5486400" cy="640080"/>
          </a:xfrm>
          <a:prstGeom prst="rect">
            <a:avLst/>
          </a:prstGeom>
          <a:noFill/>
        </p:spPr>
        <p:txBody>
          <a:bodyPr wrap="square" anchor="t" lIns="50800" rIns="50800" tIns="25400" bIns="25400">
            <a:spAutoFit/>
          </a:bodyPr>
          <a:lstStyle/>
          <a:p>
            <a:pPr algn="l"/>
            <a:r>
              <a:rPr sz="1150" b="0" i="0">
                <a:solidFill>
                  <a:srgbClr val="2D2D2D"/>
                </a:solidFill>
                <a:latin typeface="Segoe UI"/>
              </a:rPr>
              <a:t>+  Data Certification pilot changes in validation; dashboard PROD deploy on track for Jun 23.</a:t>
            </a:r>
          </a:p>
        </p:txBody>
      </p:sp>
      <p:sp>
        <p:nvSpPr>
          <p:cNvPr id="14" name="TextBox 13"/>
          <p:cNvSpPr txBox="1"/>
          <p:nvPr/>
        </p:nvSpPr>
        <p:spPr>
          <a:xfrm>
            <a:off x="6309360" y="2514600"/>
            <a:ext cx="5486400" cy="320040"/>
          </a:xfrm>
          <a:prstGeom prst="rect">
            <a:avLst/>
          </a:prstGeom>
          <a:noFill/>
        </p:spPr>
        <p:txBody>
          <a:bodyPr wrap="square" anchor="t" lIns="50800" rIns="50800" tIns="25400" bIns="25400">
            <a:spAutoFit/>
          </a:bodyPr>
          <a:lstStyle/>
          <a:p>
            <a:pPr algn="l"/>
            <a:r>
              <a:rPr sz="1500" b="1" i="0">
                <a:solidFill>
                  <a:srgbClr val="C0392B"/>
                </a:solidFill>
                <a:latin typeface="Segoe UI"/>
              </a:rPr>
              <a:t>Needs leadership attention</a:t>
            </a:r>
          </a:p>
        </p:txBody>
      </p:sp>
      <p:sp>
        <p:nvSpPr>
          <p:cNvPr id="15" name="TextBox 14"/>
          <p:cNvSpPr txBox="1"/>
          <p:nvPr/>
        </p:nvSpPr>
        <p:spPr>
          <a:xfrm>
            <a:off x="6446520" y="2880360"/>
            <a:ext cx="5303520" cy="640080"/>
          </a:xfrm>
          <a:prstGeom prst="rect">
            <a:avLst/>
          </a:prstGeom>
          <a:noFill/>
        </p:spPr>
        <p:txBody>
          <a:bodyPr wrap="square" anchor="t" lIns="50800" rIns="50800" tIns="25400" bIns="25400">
            <a:spAutoFit/>
          </a:bodyPr>
          <a:lstStyle/>
          <a:p>
            <a:pPr algn="l"/>
            <a:r>
              <a:rPr sz="1150" b="0" i="0">
                <a:solidFill>
                  <a:srgbClr val="2D2D2D"/>
                </a:solidFill>
                <a:latin typeface="Segoe UI"/>
              </a:rPr>
              <a:t>!  Qualys vendor approval - Support / expedite vendor approval to unblock the read-only integration.</a:t>
            </a:r>
          </a:p>
        </p:txBody>
      </p:sp>
      <p:sp>
        <p:nvSpPr>
          <p:cNvPr id="16" name="TextBox 15"/>
          <p:cNvSpPr txBox="1"/>
          <p:nvPr/>
        </p:nvSpPr>
        <p:spPr>
          <a:xfrm>
            <a:off x="6446520" y="3593592"/>
            <a:ext cx="5303520" cy="640080"/>
          </a:xfrm>
          <a:prstGeom prst="rect">
            <a:avLst/>
          </a:prstGeom>
          <a:noFill/>
        </p:spPr>
        <p:txBody>
          <a:bodyPr wrap="square" anchor="t" lIns="50800" rIns="50800" tIns="25400" bIns="25400">
            <a:spAutoFit/>
          </a:bodyPr>
          <a:lstStyle/>
          <a:p>
            <a:pPr algn="l"/>
            <a:r>
              <a:rPr sz="1150" b="0" i="0">
                <a:solidFill>
                  <a:srgbClr val="2D2D2D"/>
                </a:solidFill>
                <a:latin typeface="Segoe UI"/>
              </a:rPr>
              <a:t>!  Service Mapping DNS - Leadership support on the DNS / infra dependency.</a:t>
            </a:r>
          </a:p>
        </p:txBody>
      </p:sp>
      <p:sp>
        <p:nvSpPr>
          <p:cNvPr id="17" name="TextBox 16"/>
          <p:cNvSpPr txBox="1"/>
          <p:nvPr/>
        </p:nvSpPr>
        <p:spPr>
          <a:xfrm>
            <a:off x="6446520" y="4306824"/>
            <a:ext cx="5303520" cy="640080"/>
          </a:xfrm>
          <a:prstGeom prst="rect">
            <a:avLst/>
          </a:prstGeom>
          <a:noFill/>
        </p:spPr>
        <p:txBody>
          <a:bodyPr wrap="square" anchor="t" lIns="50800" rIns="50800" tIns="25400" bIns="25400">
            <a:spAutoFit/>
          </a:bodyPr>
          <a:lstStyle/>
          <a:p>
            <a:pPr algn="l"/>
            <a:r>
              <a:rPr sz="1150" b="0" i="0">
                <a:solidFill>
                  <a:srgbClr val="2D2D2D"/>
                </a:solidFill>
                <a:latin typeface="Segoe UI"/>
              </a:rPr>
              <a:t>!  Code-freeze windows - Awareness; sequence deployments around freezes.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PI-2 Objectives Scorecard</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Status explains itself  ·  Stories = moving / in-scope (provisional)</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Rectangle 6"/>
          <p:cNvSpPr/>
          <p:nvPr/>
        </p:nvSpPr>
        <p:spPr>
          <a:xfrm>
            <a:off x="502920" y="118872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188720"/>
            <a:ext cx="3657600" cy="65836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2529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P0   Governed VMware-to-Azure Migration (Airlift)</a:t>
            </a:r>
          </a:p>
        </p:txBody>
      </p:sp>
      <p:sp>
        <p:nvSpPr>
          <p:cNvPr id="10" name="TextBox 9"/>
          <p:cNvSpPr txBox="1"/>
          <p:nvPr/>
        </p:nvSpPr>
        <p:spPr>
          <a:xfrm>
            <a:off x="685800" y="193852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4</a:t>
            </a:r>
          </a:p>
        </p:txBody>
      </p:sp>
      <p:sp>
        <p:nvSpPr>
          <p:cNvPr id="11" name="TextBox 10"/>
          <p:cNvSpPr txBox="1"/>
          <p:nvPr/>
        </p:nvSpPr>
        <p:spPr>
          <a:xfrm>
            <a:off x="1783080" y="221284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4 moving  ·  0 stuck</a:t>
            </a:r>
          </a:p>
        </p:txBody>
      </p:sp>
      <p:sp>
        <p:nvSpPr>
          <p:cNvPr id="12" name="TextBox 11"/>
          <p:cNvSpPr txBox="1"/>
          <p:nvPr/>
        </p:nvSpPr>
        <p:spPr>
          <a:xfrm>
            <a:off x="685800" y="288036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On track - 3 airlift stories in validation; CI auto-populate active</a:t>
            </a:r>
          </a:p>
        </p:txBody>
      </p:sp>
      <p:sp>
        <p:nvSpPr>
          <p:cNvPr id="13" name="Rectangle 12"/>
          <p:cNvSpPr/>
          <p:nvPr/>
        </p:nvSpPr>
        <p:spPr>
          <a:xfrm>
            <a:off x="4434840" y="118872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18872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22529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P1   Automate Discovery Coverage for Network Gear</a:t>
            </a:r>
          </a:p>
        </p:txBody>
      </p:sp>
      <p:sp>
        <p:nvSpPr>
          <p:cNvPr id="16" name="TextBox 15"/>
          <p:cNvSpPr txBox="1"/>
          <p:nvPr/>
        </p:nvSpPr>
        <p:spPr>
          <a:xfrm>
            <a:off x="4617720" y="193852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6</a:t>
            </a:r>
          </a:p>
        </p:txBody>
      </p:sp>
      <p:sp>
        <p:nvSpPr>
          <p:cNvPr id="17" name="TextBox 16"/>
          <p:cNvSpPr txBox="1"/>
          <p:nvPr/>
        </p:nvSpPr>
        <p:spPr>
          <a:xfrm>
            <a:off x="5715000" y="221284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6 moving  ·  0 stuck</a:t>
            </a:r>
          </a:p>
        </p:txBody>
      </p:sp>
      <p:sp>
        <p:nvSpPr>
          <p:cNvPr id="18" name="TextBox 17"/>
          <p:cNvSpPr txBox="1"/>
          <p:nvPr/>
        </p:nvSpPr>
        <p:spPr>
          <a:xfrm>
            <a:off x="4617720" y="288036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Improving - SCCM gate cleared; precedence stories in validation; ~6 not yet ID'd</a:t>
            </a:r>
          </a:p>
        </p:txBody>
      </p:sp>
      <p:sp>
        <p:nvSpPr>
          <p:cNvPr id="19" name="Rectangle 18"/>
          <p:cNvSpPr/>
          <p:nvPr/>
        </p:nvSpPr>
        <p:spPr>
          <a:xfrm>
            <a:off x="8366760" y="118872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188720"/>
            <a:ext cx="3657600" cy="65836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122529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P1   Establish CI Data Certification Program</a:t>
            </a:r>
          </a:p>
        </p:txBody>
      </p:sp>
      <p:sp>
        <p:nvSpPr>
          <p:cNvPr id="22" name="TextBox 21"/>
          <p:cNvSpPr txBox="1"/>
          <p:nvPr/>
        </p:nvSpPr>
        <p:spPr>
          <a:xfrm>
            <a:off x="8549640" y="193852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2</a:t>
            </a:r>
          </a:p>
        </p:txBody>
      </p:sp>
      <p:sp>
        <p:nvSpPr>
          <p:cNvPr id="23" name="TextBox 22"/>
          <p:cNvSpPr txBox="1"/>
          <p:nvPr/>
        </p:nvSpPr>
        <p:spPr>
          <a:xfrm>
            <a:off x="9646920" y="221284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2 moving  ·  0 stuck</a:t>
            </a:r>
          </a:p>
        </p:txBody>
      </p:sp>
      <p:sp>
        <p:nvSpPr>
          <p:cNvPr id="24" name="TextBox 23"/>
          <p:cNvSpPr txBox="1"/>
          <p:nvPr/>
        </p:nvSpPr>
        <p:spPr>
          <a:xfrm>
            <a:off x="8549640" y="288036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On track - dashboard signed off (PROD Jun 23); pilot changes in validation</a:t>
            </a:r>
          </a:p>
        </p:txBody>
      </p:sp>
      <p:sp>
        <p:nvSpPr>
          <p:cNvPr id="25" name="Rectangle 24"/>
          <p:cNvSpPr/>
          <p:nvPr/>
        </p:nvSpPr>
        <p:spPr>
          <a:xfrm>
            <a:off x="502920" y="374904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74904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78561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P2   Expand Service Mapping Foundation</a:t>
            </a:r>
          </a:p>
        </p:txBody>
      </p:sp>
      <p:sp>
        <p:nvSpPr>
          <p:cNvPr id="28" name="TextBox 27"/>
          <p:cNvSpPr txBox="1"/>
          <p:nvPr/>
        </p:nvSpPr>
        <p:spPr>
          <a:xfrm>
            <a:off x="685800" y="449884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6</a:t>
            </a:r>
          </a:p>
        </p:txBody>
      </p:sp>
      <p:sp>
        <p:nvSpPr>
          <p:cNvPr id="29" name="TextBox 28"/>
          <p:cNvSpPr txBox="1"/>
          <p:nvPr/>
        </p:nvSpPr>
        <p:spPr>
          <a:xfrm>
            <a:off x="1783080" y="477316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6 moving  ·  0 stuck</a:t>
            </a:r>
          </a:p>
        </p:txBody>
      </p:sp>
      <p:sp>
        <p:nvSpPr>
          <p:cNvPr id="30" name="TextBox 29"/>
          <p:cNvSpPr txBox="1"/>
          <p:nvPr/>
        </p:nvSpPr>
        <p:spPr>
          <a:xfrm>
            <a:off x="685800" y="544068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On track - discovery scaling; DNS dependency still open</a:t>
            </a:r>
          </a:p>
        </p:txBody>
      </p:sp>
      <p:sp>
        <p:nvSpPr>
          <p:cNvPr id="31" name="Rectangle 30"/>
          <p:cNvSpPr/>
          <p:nvPr/>
        </p:nvSpPr>
        <p:spPr>
          <a:xfrm>
            <a:off x="4434840" y="374904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4840" y="3749040"/>
            <a:ext cx="3657600" cy="658368"/>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7720" y="378561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P2   Regulatory &amp; Security Integrations (Qualys/NERC/CCB)</a:t>
            </a:r>
          </a:p>
        </p:txBody>
      </p:sp>
      <p:sp>
        <p:nvSpPr>
          <p:cNvPr id="34" name="TextBox 33"/>
          <p:cNvSpPr txBox="1"/>
          <p:nvPr/>
        </p:nvSpPr>
        <p:spPr>
          <a:xfrm>
            <a:off x="4617720" y="449884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3</a:t>
            </a:r>
          </a:p>
        </p:txBody>
      </p:sp>
      <p:sp>
        <p:nvSpPr>
          <p:cNvPr id="35" name="TextBox 34"/>
          <p:cNvSpPr txBox="1"/>
          <p:nvPr/>
        </p:nvSpPr>
        <p:spPr>
          <a:xfrm>
            <a:off x="5715000" y="477316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1 moving  ·  2 stuck</a:t>
            </a:r>
          </a:p>
        </p:txBody>
      </p:sp>
      <p:sp>
        <p:nvSpPr>
          <p:cNvPr id="36" name="TextBox 35"/>
          <p:cNvSpPr txBox="1"/>
          <p:nvPr/>
        </p:nvSpPr>
        <p:spPr>
          <a:xfrm>
            <a:off x="4617720" y="544068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Watch - Qualys plugin BLOCKED on vendor approval; CCB Jun 16 / Audit Jun 18</a:t>
            </a:r>
          </a:p>
        </p:txBody>
      </p:sp>
      <p:sp>
        <p:nvSpPr>
          <p:cNvPr id="37" name="Rectangle 36"/>
          <p:cNvSpPr/>
          <p:nvPr/>
        </p:nvSpPr>
        <p:spPr>
          <a:xfrm>
            <a:off x="8366760" y="3749040"/>
            <a:ext cx="3657600" cy="23317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66760" y="3749040"/>
            <a:ext cx="3657600" cy="65836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9640" y="3785616"/>
            <a:ext cx="3291840" cy="585216"/>
          </a:xfrm>
          <a:prstGeom prst="rect">
            <a:avLst/>
          </a:prstGeom>
          <a:noFill/>
        </p:spPr>
        <p:txBody>
          <a:bodyPr wrap="square" anchor="ctr" lIns="50800" rIns="50800" tIns="25400" bIns="25400">
            <a:spAutoFit/>
          </a:bodyPr>
          <a:lstStyle/>
          <a:p>
            <a:pPr algn="l"/>
            <a:r>
              <a:rPr sz="1150" b="1" i="0">
                <a:solidFill>
                  <a:srgbClr val="FFFFFF"/>
                </a:solidFill>
                <a:latin typeface="Segoe UI"/>
              </a:rPr>
              <a:t>P3   Embed NowAssist AI Across CMDB &amp; ITSM</a:t>
            </a:r>
          </a:p>
        </p:txBody>
      </p:sp>
      <p:sp>
        <p:nvSpPr>
          <p:cNvPr id="40" name="TextBox 39"/>
          <p:cNvSpPr txBox="1"/>
          <p:nvPr/>
        </p:nvSpPr>
        <p:spPr>
          <a:xfrm>
            <a:off x="8549640" y="4498848"/>
            <a:ext cx="3291840" cy="731520"/>
          </a:xfrm>
          <a:prstGeom prst="rect">
            <a:avLst/>
          </a:prstGeom>
          <a:noFill/>
        </p:spPr>
        <p:txBody>
          <a:bodyPr wrap="square" anchor="t" lIns="50800" rIns="50800" tIns="25400" bIns="25400">
            <a:spAutoFit/>
          </a:bodyPr>
          <a:lstStyle/>
          <a:p>
            <a:pPr algn="l"/>
            <a:r>
              <a:rPr sz="4400" b="1" i="0">
                <a:solidFill>
                  <a:srgbClr val="1F3A5F"/>
                </a:solidFill>
                <a:latin typeface="Segoe UI"/>
              </a:rPr>
              <a:t>5</a:t>
            </a:r>
          </a:p>
        </p:txBody>
      </p:sp>
      <p:sp>
        <p:nvSpPr>
          <p:cNvPr id="41" name="TextBox 40"/>
          <p:cNvSpPr txBox="1"/>
          <p:nvPr/>
        </p:nvSpPr>
        <p:spPr>
          <a:xfrm>
            <a:off x="9646920" y="4773168"/>
            <a:ext cx="2286000" cy="548640"/>
          </a:xfrm>
          <a:prstGeom prst="rect">
            <a:avLst/>
          </a:prstGeom>
          <a:noFill/>
        </p:spPr>
        <p:txBody>
          <a:bodyPr wrap="square" anchor="t" lIns="50800" rIns="50800" tIns="25400" bIns="25400">
            <a:spAutoFit/>
          </a:bodyPr>
          <a:lstStyle/>
          <a:p>
            <a:pPr algn="l"/>
            <a:r>
              <a:rPr sz="1100" b="0" i="0">
                <a:solidFill>
                  <a:srgbClr val="6B7280"/>
                </a:solidFill>
                <a:latin typeface="Segoe UI"/>
              </a:rPr>
              <a:t>stories in scope</a:t>
            </a:r>
          </a:p>
          <a:p>
            <a:pPr algn="l"/>
            <a:r>
              <a:rPr sz="1100" b="1" i="0">
                <a:solidFill>
                  <a:srgbClr val="2D2D2D"/>
                </a:solidFill>
                <a:latin typeface="Segoe UI"/>
              </a:rPr>
              <a:t>5 moving  ·  0 stuck</a:t>
            </a:r>
          </a:p>
        </p:txBody>
      </p:sp>
      <p:sp>
        <p:nvSpPr>
          <p:cNvPr id="42" name="TextBox 41"/>
          <p:cNvSpPr txBox="1"/>
          <p:nvPr/>
        </p:nvSpPr>
        <p:spPr>
          <a:xfrm>
            <a:off x="8549640" y="5440680"/>
            <a:ext cx="3291840" cy="566928"/>
          </a:xfrm>
          <a:prstGeom prst="rect">
            <a:avLst/>
          </a:prstGeom>
          <a:noFill/>
        </p:spPr>
        <p:txBody>
          <a:bodyPr wrap="square" anchor="t" lIns="50800" rIns="50800" tIns="25400" bIns="25400">
            <a:spAutoFit/>
          </a:bodyPr>
          <a:lstStyle/>
          <a:p>
            <a:pPr algn="l"/>
            <a:r>
              <a:rPr sz="1000" b="0" i="0">
                <a:solidFill>
                  <a:srgbClr val="2D2D2D"/>
                </a:solidFill>
                <a:latin typeface="Segoe UI"/>
              </a:rPr>
              <a:t>Unblocked - 4 stories reassigned to Kiran; 1 active, 3 ready + baseline spike</a:t>
            </a:r>
          </a:p>
        </p:txBody>
      </p:sp>
      <p:sp>
        <p:nvSpPr>
          <p:cNvPr id="43" name="TextBox 42"/>
          <p:cNvSpPr txBox="1"/>
          <p:nvPr/>
        </p:nvSpPr>
        <p:spPr>
          <a:xfrm>
            <a:off x="502920" y="6144768"/>
            <a:ext cx="11201400" cy="320040"/>
          </a:xfrm>
          <a:prstGeom prst="rect">
            <a:avLst/>
          </a:prstGeom>
          <a:noFill/>
        </p:spPr>
        <p:txBody>
          <a:bodyPr wrap="square" anchor="t" lIns="50800" rIns="50800" tIns="25400" bIns="25400">
            <a:spAutoFit/>
          </a:bodyPr>
          <a:lstStyle/>
          <a:p>
            <a:pPr algn="l"/>
            <a:r>
              <a:rPr sz="850" b="0" i="1">
                <a:solidFill>
                  <a:srgbClr val="6B7280"/>
                </a:solidFill>
                <a:latin typeface="Segoe UI"/>
              </a:rPr>
              <a:t>Story counts derived from team notes - PROVISIONAL, not ADO-validated. 'Completed' tracking begins at first PROD deploy (Jun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Progress: PI over PI</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Are we delivering more value each Program Increment?</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Rectangle 6"/>
          <p:cNvSpPr/>
          <p:nvPr/>
        </p:nvSpPr>
        <p:spPr>
          <a:xfrm>
            <a:off x="502920" y="1371600"/>
            <a:ext cx="5486400" cy="3108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71600"/>
            <a:ext cx="5486400" cy="6400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5029200" cy="457200"/>
          </a:xfrm>
          <a:prstGeom prst="rect">
            <a:avLst/>
          </a:prstGeom>
          <a:noFill/>
        </p:spPr>
        <p:txBody>
          <a:bodyPr wrap="square" anchor="ctr" lIns="50800" rIns="50800" tIns="25400" bIns="25400">
            <a:spAutoFit/>
          </a:bodyPr>
          <a:lstStyle/>
          <a:p>
            <a:pPr algn="l"/>
            <a:r>
              <a:rPr sz="1800" b="1" i="0">
                <a:solidFill>
                  <a:srgbClr val="FFFFFF"/>
                </a:solidFill>
                <a:latin typeface="Segoe UI"/>
              </a:rPr>
              <a:t>PI-2   ACTIVE</a:t>
            </a:r>
          </a:p>
        </p:txBody>
      </p:sp>
      <p:sp>
        <p:nvSpPr>
          <p:cNvPr id="10" name="TextBox 9"/>
          <p:cNvSpPr txBox="1"/>
          <p:nvPr/>
        </p:nvSpPr>
        <p:spPr>
          <a:xfrm>
            <a:off x="731520" y="2194560"/>
            <a:ext cx="5029200" cy="2103120"/>
          </a:xfrm>
          <a:prstGeom prst="rect">
            <a:avLst/>
          </a:prstGeom>
          <a:noFill/>
        </p:spPr>
        <p:txBody>
          <a:bodyPr wrap="square" anchor="t" lIns="50800" rIns="50800" tIns="25400" bIns="25400">
            <a:spAutoFit/>
          </a:bodyPr>
          <a:lstStyle/>
          <a:p>
            <a:pPr algn="l"/>
            <a:r>
              <a:rPr sz="1300" b="1" i="0">
                <a:solidFill>
                  <a:srgbClr val="2E6DB4"/>
                </a:solidFill>
                <a:latin typeface="Segoe UI"/>
              </a:rPr>
              <a:t>May 13 - Aug 4, 2026</a:t>
            </a:r>
          </a:p>
          <a:p>
            <a:pPr algn="l"/>
            <a:r>
              <a:rPr sz="1200" b="0" i="1">
                <a:solidFill>
                  <a:srgbClr val="6B7280"/>
                </a:solidFill>
                <a:latin typeface="Segoe UI"/>
              </a:rPr>
              <a:t>Iteration 2.3 of 6</a:t>
            </a:r>
          </a:p>
          <a:p>
            <a:pPr algn="l"/>
            <a:r>
              <a:rPr sz="600" b="0" i="0">
                <a:solidFill>
                  <a:srgbClr val="2D2D2D"/>
                </a:solidFill>
                <a:latin typeface="Segoe UI"/>
              </a:rPr>
              <a:t/>
            </a:r>
          </a:p>
          <a:p>
            <a:pPr algn="l"/>
            <a:r>
              <a:rPr sz="1300" b="0" i="0">
                <a:solidFill>
                  <a:srgbClr val="2D2D2D"/>
                </a:solidFill>
                <a:latin typeface="Segoe UI"/>
              </a:rPr>
              <a:t>6 objectives in flight; foundation laid + first PROD deployment</a:t>
            </a:r>
          </a:p>
        </p:txBody>
      </p:sp>
      <p:sp>
        <p:nvSpPr>
          <p:cNvPr id="11" name="Rectangle 10"/>
          <p:cNvSpPr/>
          <p:nvPr/>
        </p:nvSpPr>
        <p:spPr>
          <a:xfrm>
            <a:off x="6263640" y="1371600"/>
            <a:ext cx="5486400" cy="3108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371600"/>
            <a:ext cx="5486400" cy="6400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463040"/>
            <a:ext cx="5029200" cy="457200"/>
          </a:xfrm>
          <a:prstGeom prst="rect">
            <a:avLst/>
          </a:prstGeom>
          <a:noFill/>
        </p:spPr>
        <p:txBody>
          <a:bodyPr wrap="square" anchor="ctr" lIns="50800" rIns="50800" tIns="25400" bIns="25400">
            <a:spAutoFit/>
          </a:bodyPr>
          <a:lstStyle/>
          <a:p>
            <a:pPr algn="l"/>
            <a:r>
              <a:rPr sz="1800" b="1" i="0">
                <a:solidFill>
                  <a:srgbClr val="FFFFFF"/>
                </a:solidFill>
                <a:latin typeface="Segoe UI"/>
              </a:rPr>
              <a:t>PI-3   PLANNING</a:t>
            </a:r>
          </a:p>
        </p:txBody>
      </p:sp>
      <p:sp>
        <p:nvSpPr>
          <p:cNvPr id="14" name="TextBox 13"/>
          <p:cNvSpPr txBox="1"/>
          <p:nvPr/>
        </p:nvSpPr>
        <p:spPr>
          <a:xfrm>
            <a:off x="6492240" y="2194560"/>
            <a:ext cx="5029200" cy="2103120"/>
          </a:xfrm>
          <a:prstGeom prst="rect">
            <a:avLst/>
          </a:prstGeom>
          <a:noFill/>
        </p:spPr>
        <p:txBody>
          <a:bodyPr wrap="square" anchor="t" lIns="50800" rIns="50800" tIns="25400" bIns="25400">
            <a:spAutoFit/>
          </a:bodyPr>
          <a:lstStyle/>
          <a:p>
            <a:pPr algn="l"/>
            <a:r>
              <a:rPr sz="1300" b="1" i="0">
                <a:solidFill>
                  <a:srgbClr val="2E6DB4"/>
                </a:solidFill>
                <a:latin typeface="Segoe UI"/>
              </a:rPr>
              <a:t>Aug 5 - Oct 27, 2026</a:t>
            </a:r>
          </a:p>
          <a:p>
            <a:pPr algn="l"/>
            <a:r>
              <a:rPr sz="1200" b="0" i="1">
                <a:solidFill>
                  <a:srgbClr val="6B7280"/>
                </a:solidFill>
                <a:latin typeface="Segoe UI"/>
              </a:rPr>
              <a:t>Planning Jul 22 - Aug 4</a:t>
            </a:r>
          </a:p>
          <a:p>
            <a:pPr algn="l"/>
            <a:r>
              <a:rPr sz="600" b="0" i="0">
                <a:solidFill>
                  <a:srgbClr val="2D2D2D"/>
                </a:solidFill>
                <a:latin typeface="Segoe UI"/>
              </a:rPr>
              <a:t/>
            </a:r>
          </a:p>
          <a:p>
            <a:pPr algn="l"/>
            <a:r>
              <a:rPr sz="1300" b="0" i="0">
                <a:solidFill>
                  <a:srgbClr val="2D2D2D"/>
                </a:solidFill>
                <a:latin typeface="Segoe UI"/>
              </a:rPr>
              <a:t>NowAssist 5-phase rollout, Qualys Phase 2, CI Cert extended scope</a:t>
            </a:r>
          </a:p>
        </p:txBody>
      </p:sp>
      <p:sp>
        <p:nvSpPr>
          <p:cNvPr id="15" name="Rectangle 14"/>
          <p:cNvSpPr/>
          <p:nvPr/>
        </p:nvSpPr>
        <p:spPr>
          <a:xfrm>
            <a:off x="502920" y="4617720"/>
            <a:ext cx="11155680" cy="868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617720"/>
            <a:ext cx="109728" cy="86868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 y="4764024"/>
            <a:ext cx="155448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PENDING DATA</a:t>
            </a:r>
          </a:p>
        </p:txBody>
      </p:sp>
      <p:sp>
        <p:nvSpPr>
          <p:cNvPr id="18" name="TextBox 17"/>
          <p:cNvSpPr txBox="1"/>
          <p:nvPr/>
        </p:nvSpPr>
        <p:spPr>
          <a:xfrm>
            <a:off x="2468880" y="4736592"/>
            <a:ext cx="8961120" cy="411480"/>
          </a:xfrm>
          <a:prstGeom prst="rect">
            <a:avLst/>
          </a:prstGeom>
          <a:noFill/>
        </p:spPr>
        <p:txBody>
          <a:bodyPr wrap="square" anchor="ctr" lIns="50800" rIns="50800" tIns="25400" bIns="25400">
            <a:spAutoFit/>
          </a:bodyPr>
          <a:lstStyle/>
          <a:p>
            <a:pPr algn="l"/>
            <a:r>
              <a:rPr sz="1250" b="1" i="0">
                <a:solidFill>
                  <a:srgbClr val="1F3A5F"/>
                </a:solidFill>
                <a:latin typeface="Segoe UI"/>
              </a:rPr>
              <a:t>PI-over-PI comparison metric</a:t>
            </a:r>
          </a:p>
        </p:txBody>
      </p:sp>
      <p:sp>
        <p:nvSpPr>
          <p:cNvPr id="19" name="TextBox 18"/>
          <p:cNvSpPr txBox="1"/>
          <p:nvPr/>
        </p:nvSpPr>
        <p:spPr>
          <a:xfrm>
            <a:off x="758952" y="5184648"/>
            <a:ext cx="10652760" cy="210312"/>
          </a:xfrm>
          <a:prstGeom prst="rect">
            <a:avLst/>
          </a:prstGeom>
          <a:noFill/>
        </p:spPr>
        <p:txBody>
          <a:bodyPr wrap="square" anchor="t" lIns="50800" rIns="50800" tIns="25400" bIns="25400">
            <a:spAutoFit/>
          </a:bodyPr>
          <a:lstStyle/>
          <a:p>
            <a:pPr algn="l"/>
            <a:r>
              <a:rPr sz="1050" b="0" i="1">
                <a:solidFill>
                  <a:srgbClr val="6B7280"/>
                </a:solidFill>
                <a:latin typeface="Segoe UI"/>
              </a:rPr>
              <a:t>Comparison basis (objectives completed / business value delivered / stories accepted per PI) to be fixed before PI-3 begins. Only PI-2 has live data today - not yet ready for relevant data.</a:t>
            </a:r>
          </a:p>
        </p:txBody>
      </p:sp>
      <p:sp>
        <p:nvSpPr>
          <p:cNvPr id="20" name="TextBox 19"/>
          <p:cNvSpPr txBox="1"/>
          <p:nvPr/>
        </p:nvSpPr>
        <p:spPr>
          <a:xfrm>
            <a:off x="502920" y="5623560"/>
            <a:ext cx="11155680" cy="640080"/>
          </a:xfrm>
          <a:prstGeom prst="rect">
            <a:avLst/>
          </a:prstGeom>
          <a:noFill/>
        </p:spPr>
        <p:txBody>
          <a:bodyPr wrap="square" anchor="t" lIns="50800" rIns="50800" tIns="25400" bIns="25400">
            <a:spAutoFit/>
          </a:bodyPr>
          <a:lstStyle/>
          <a:p>
            <a:pPr algn="l"/>
            <a:r>
              <a:rPr sz="1100" b="0" i="1">
                <a:solidFill>
                  <a:srgbClr val="6B7280"/>
                </a:solidFill>
                <a:latin typeface="Segoe UI"/>
              </a:rPr>
              <a:t>Note: Only PI-2 has live data today. PI-over-PI comparison populates once PI-3 begins (planning during the PI-2 IP iteration).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Progress: Iteration over Iteration</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Is each 2-week sprint building on the last?</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Rectangle 6"/>
          <p:cNvSpPr/>
          <p:nvPr/>
        </p:nvSpPr>
        <p:spPr>
          <a:xfrm>
            <a:off x="502920" y="1325880"/>
            <a:ext cx="3657600" cy="713232"/>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3383280" cy="640080"/>
          </a:xfrm>
          <a:prstGeom prst="rect">
            <a:avLst/>
          </a:prstGeom>
          <a:noFill/>
        </p:spPr>
        <p:txBody>
          <a:bodyPr wrap="square" anchor="ctr" lIns="50800" rIns="50800" tIns="25400" bIns="25400">
            <a:spAutoFit/>
          </a:bodyPr>
          <a:lstStyle/>
          <a:p>
            <a:pPr algn="l"/>
            <a:r>
              <a:rPr sz="1600" b="1" i="0">
                <a:solidFill>
                  <a:srgbClr val="FFFFFF"/>
                </a:solidFill>
                <a:latin typeface="Segoe UI"/>
              </a:rPr>
              <a:t>Sprint 2.1</a:t>
            </a:r>
          </a:p>
          <a:p>
            <a:pPr algn="l"/>
            <a:r>
              <a:rPr sz="1000" b="0" i="0">
                <a:solidFill>
                  <a:srgbClr val="E8EEF6"/>
                </a:solidFill>
                <a:latin typeface="Segoe UI"/>
              </a:rPr>
              <a:t>May 13 - 26  ·  COMPLETED</a:t>
            </a:r>
          </a:p>
        </p:txBody>
      </p:sp>
      <p:sp>
        <p:nvSpPr>
          <p:cNvPr id="9" name="Rectangle 8"/>
          <p:cNvSpPr/>
          <p:nvPr/>
        </p:nvSpPr>
        <p:spPr>
          <a:xfrm>
            <a:off x="502920" y="2039112"/>
            <a:ext cx="3657600" cy="3154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0552"/>
            <a:ext cx="3383280" cy="365760"/>
          </a:xfrm>
          <a:prstGeom prst="rect">
            <a:avLst/>
          </a:prstGeom>
          <a:noFill/>
        </p:spPr>
        <p:txBody>
          <a:bodyPr wrap="square" anchor="t" lIns="50800" rIns="50800" tIns="25400" bIns="25400">
            <a:spAutoFit/>
          </a:bodyPr>
          <a:lstStyle/>
          <a:p>
            <a:pPr algn="l"/>
            <a:r>
              <a:rPr sz="1200" b="1" i="1">
                <a:solidFill>
                  <a:srgbClr val="2E6DB4"/>
                </a:solidFill>
                <a:latin typeface="Segoe UI"/>
              </a:rPr>
              <a:t>Foundation &amp; refinement</a:t>
            </a:r>
          </a:p>
        </p:txBody>
      </p:sp>
      <p:sp>
        <p:nvSpPr>
          <p:cNvPr id="11" name="TextBox 10"/>
          <p:cNvSpPr txBox="1"/>
          <p:nvPr/>
        </p:nvSpPr>
        <p:spPr>
          <a:xfrm>
            <a:off x="685800" y="2606040"/>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Airlift + CI auto-population stories shaped</a:t>
            </a:r>
          </a:p>
        </p:txBody>
      </p:sp>
      <p:sp>
        <p:nvSpPr>
          <p:cNvPr id="12" name="TextBox 11"/>
          <p:cNvSpPr txBox="1"/>
          <p:nvPr/>
        </p:nvSpPr>
        <p:spPr>
          <a:xfrm>
            <a:off x="685800" y="3172968"/>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OOTB-first &amp; customization governance established</a:t>
            </a:r>
          </a:p>
        </p:txBody>
      </p:sp>
      <p:sp>
        <p:nvSpPr>
          <p:cNvPr id="13" name="TextBox 12"/>
          <p:cNvSpPr txBox="1"/>
          <p:nvPr/>
        </p:nvSpPr>
        <p:spPr>
          <a:xfrm>
            <a:off x="685800" y="3739896"/>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Retro theme: credential blockers dominated the sprint</a:t>
            </a:r>
          </a:p>
        </p:txBody>
      </p:sp>
      <p:sp>
        <p:nvSpPr>
          <p:cNvPr id="14" name="Rectangle 13"/>
          <p:cNvSpPr/>
          <p:nvPr/>
        </p:nvSpPr>
        <p:spPr>
          <a:xfrm>
            <a:off x="4434840" y="1325880"/>
            <a:ext cx="3657600" cy="713232"/>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371600"/>
            <a:ext cx="3383280" cy="640080"/>
          </a:xfrm>
          <a:prstGeom prst="rect">
            <a:avLst/>
          </a:prstGeom>
          <a:noFill/>
        </p:spPr>
        <p:txBody>
          <a:bodyPr wrap="square" anchor="ctr" lIns="50800" rIns="50800" tIns="25400" bIns="25400">
            <a:spAutoFit/>
          </a:bodyPr>
          <a:lstStyle/>
          <a:p>
            <a:pPr algn="l"/>
            <a:r>
              <a:rPr sz="1600" b="1" i="0">
                <a:solidFill>
                  <a:srgbClr val="FFFFFF"/>
                </a:solidFill>
                <a:latin typeface="Segoe UI"/>
              </a:rPr>
              <a:t>Sprint 2.2</a:t>
            </a:r>
          </a:p>
          <a:p>
            <a:pPr algn="l"/>
            <a:r>
              <a:rPr sz="1000" b="0" i="0">
                <a:solidFill>
                  <a:srgbClr val="E8EEF6"/>
                </a:solidFill>
                <a:latin typeface="Segoe UI"/>
              </a:rPr>
              <a:t>May 27 - Jun 9  ·  COMPLETED</a:t>
            </a:r>
          </a:p>
        </p:txBody>
      </p:sp>
      <p:sp>
        <p:nvSpPr>
          <p:cNvPr id="16" name="Rectangle 15"/>
          <p:cNvSpPr/>
          <p:nvPr/>
        </p:nvSpPr>
        <p:spPr>
          <a:xfrm>
            <a:off x="4434840" y="2039112"/>
            <a:ext cx="3657600" cy="3154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130552"/>
            <a:ext cx="3383280" cy="365760"/>
          </a:xfrm>
          <a:prstGeom prst="rect">
            <a:avLst/>
          </a:prstGeom>
          <a:noFill/>
        </p:spPr>
        <p:txBody>
          <a:bodyPr wrap="square" anchor="t" lIns="50800" rIns="50800" tIns="25400" bIns="25400">
            <a:spAutoFit/>
          </a:bodyPr>
          <a:lstStyle/>
          <a:p>
            <a:pPr algn="l"/>
            <a:r>
              <a:rPr sz="1200" b="1" i="1">
                <a:solidFill>
                  <a:srgbClr val="2E6DB4"/>
                </a:solidFill>
                <a:latin typeface="Segoe UI"/>
              </a:rPr>
              <a:t>SCCM precedence &amp; unblocking</a:t>
            </a:r>
          </a:p>
        </p:txBody>
      </p:sp>
      <p:sp>
        <p:nvSpPr>
          <p:cNvPr id="18" name="TextBox 17"/>
          <p:cNvSpPr txBox="1"/>
          <p:nvPr/>
        </p:nvSpPr>
        <p:spPr>
          <a:xfrm>
            <a:off x="4617720" y="2606040"/>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SCCM locked as authoritative for 6 hardware attributes</a:t>
            </a:r>
          </a:p>
        </p:txBody>
      </p:sp>
      <p:sp>
        <p:nvSpPr>
          <p:cNvPr id="19" name="TextBox 18"/>
          <p:cNvSpPr txBox="1"/>
          <p:nvPr/>
        </p:nvSpPr>
        <p:spPr>
          <a:xfrm>
            <a:off x="4617720" y="3172968"/>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Service Mapping credentials resolved (6/9)</a:t>
            </a:r>
          </a:p>
        </p:txBody>
      </p:sp>
      <p:sp>
        <p:nvSpPr>
          <p:cNvPr id="20" name="TextBox 19"/>
          <p:cNvSpPr txBox="1"/>
          <p:nvPr/>
        </p:nvSpPr>
        <p:spPr>
          <a:xfrm>
            <a:off x="4617720" y="3739896"/>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Airlift dev admin access resolved (6/9)</a:t>
            </a:r>
          </a:p>
        </p:txBody>
      </p:sp>
      <p:sp>
        <p:nvSpPr>
          <p:cNvPr id="21" name="TextBox 20"/>
          <p:cNvSpPr txBox="1"/>
          <p:nvPr/>
        </p:nvSpPr>
        <p:spPr>
          <a:xfrm>
            <a:off x="4617720" y="4306824"/>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NowAssist activation stories created &amp; assigned</a:t>
            </a:r>
          </a:p>
        </p:txBody>
      </p:sp>
      <p:sp>
        <p:nvSpPr>
          <p:cNvPr id="22" name="Rectangle 21"/>
          <p:cNvSpPr/>
          <p:nvPr/>
        </p:nvSpPr>
        <p:spPr>
          <a:xfrm>
            <a:off x="8366760" y="1325880"/>
            <a:ext cx="3657600" cy="71323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1371600"/>
            <a:ext cx="3383280" cy="640080"/>
          </a:xfrm>
          <a:prstGeom prst="rect">
            <a:avLst/>
          </a:prstGeom>
          <a:noFill/>
        </p:spPr>
        <p:txBody>
          <a:bodyPr wrap="square" anchor="ctr" lIns="50800" rIns="50800" tIns="25400" bIns="25400">
            <a:spAutoFit/>
          </a:bodyPr>
          <a:lstStyle/>
          <a:p>
            <a:pPr algn="l"/>
            <a:r>
              <a:rPr sz="1600" b="1" i="0">
                <a:solidFill>
                  <a:srgbClr val="FFFFFF"/>
                </a:solidFill>
                <a:latin typeface="Segoe UI"/>
              </a:rPr>
              <a:t>Sprint 2.3</a:t>
            </a:r>
          </a:p>
          <a:p>
            <a:pPr algn="l"/>
            <a:r>
              <a:rPr sz="1000" b="0" i="0">
                <a:solidFill>
                  <a:srgbClr val="E8EEF6"/>
                </a:solidFill>
                <a:latin typeface="Segoe UI"/>
              </a:rPr>
              <a:t>Jun 10 - 23  ·  ACTIVE</a:t>
            </a:r>
          </a:p>
        </p:txBody>
      </p:sp>
      <p:sp>
        <p:nvSpPr>
          <p:cNvPr id="24" name="Rectangle 23"/>
          <p:cNvSpPr/>
          <p:nvPr/>
        </p:nvSpPr>
        <p:spPr>
          <a:xfrm>
            <a:off x="8366760" y="2039112"/>
            <a:ext cx="3657600" cy="31546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9640" y="2130552"/>
            <a:ext cx="3383280" cy="365760"/>
          </a:xfrm>
          <a:prstGeom prst="rect">
            <a:avLst/>
          </a:prstGeom>
          <a:noFill/>
        </p:spPr>
        <p:txBody>
          <a:bodyPr wrap="square" anchor="t" lIns="50800" rIns="50800" tIns="25400" bIns="25400">
            <a:spAutoFit/>
          </a:bodyPr>
          <a:lstStyle/>
          <a:p>
            <a:pPr algn="l"/>
            <a:r>
              <a:rPr sz="1200" b="1" i="1">
                <a:solidFill>
                  <a:srgbClr val="2E6DB4"/>
                </a:solidFill>
                <a:latin typeface="Segoe UI"/>
              </a:rPr>
              <a:t>Deploy &amp; scale</a:t>
            </a:r>
          </a:p>
        </p:txBody>
      </p:sp>
      <p:sp>
        <p:nvSpPr>
          <p:cNvPr id="26" name="TextBox 25"/>
          <p:cNvSpPr txBox="1"/>
          <p:nvPr/>
        </p:nvSpPr>
        <p:spPr>
          <a:xfrm>
            <a:off x="8549640" y="2606040"/>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Data Certification -&gt; PROD (Jun 23)</a:t>
            </a:r>
          </a:p>
        </p:txBody>
      </p:sp>
      <p:sp>
        <p:nvSpPr>
          <p:cNvPr id="27" name="TextBox 26"/>
          <p:cNvSpPr txBox="1"/>
          <p:nvPr/>
        </p:nvSpPr>
        <p:spPr>
          <a:xfrm>
            <a:off x="8549640" y="3172968"/>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SCCM precedence stories advanced to validation; approval gate cleared</a:t>
            </a:r>
          </a:p>
        </p:txBody>
      </p:sp>
      <p:sp>
        <p:nvSpPr>
          <p:cNvPr id="28" name="TextBox 27"/>
          <p:cNvSpPr txBox="1"/>
          <p:nvPr/>
        </p:nvSpPr>
        <p:spPr>
          <a:xfrm>
            <a:off x="8549640" y="3739896"/>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Service Mapping subnet scans expanding</a:t>
            </a:r>
          </a:p>
        </p:txBody>
      </p:sp>
      <p:sp>
        <p:nvSpPr>
          <p:cNvPr id="29" name="TextBox 28"/>
          <p:cNvSpPr txBox="1"/>
          <p:nvPr/>
        </p:nvSpPr>
        <p:spPr>
          <a:xfrm>
            <a:off x="8549640" y="4306824"/>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Qualys read-only integration blocked on vendor plugin approval</a:t>
            </a:r>
          </a:p>
        </p:txBody>
      </p:sp>
      <p:sp>
        <p:nvSpPr>
          <p:cNvPr id="30" name="TextBox 29"/>
          <p:cNvSpPr txBox="1"/>
          <p:nvPr/>
        </p:nvSpPr>
        <p:spPr>
          <a:xfrm>
            <a:off x="8549640" y="4873752"/>
            <a:ext cx="3337560" cy="731520"/>
          </a:xfrm>
          <a:prstGeom prst="rect">
            <a:avLst/>
          </a:prstGeom>
          <a:noFill/>
        </p:spPr>
        <p:txBody>
          <a:bodyPr wrap="square" anchor="t" lIns="50800" rIns="50800" tIns="25400" bIns="25400">
            <a:spAutoFit/>
          </a:bodyPr>
          <a:lstStyle/>
          <a:p>
            <a:pPr algn="l"/>
            <a:r>
              <a:rPr sz="1050" b="0" i="0">
                <a:solidFill>
                  <a:srgbClr val="2D2D2D"/>
                </a:solidFill>
                <a:latin typeface="Segoe UI"/>
              </a:rPr>
              <a:t>- NowAssist activation reassigned to Kiran Dhobale - in progress</a:t>
            </a:r>
          </a:p>
        </p:txBody>
      </p:sp>
      <p:sp>
        <p:nvSpPr>
          <p:cNvPr id="31" name="Rectangle 30"/>
          <p:cNvSpPr/>
          <p:nvPr/>
        </p:nvSpPr>
        <p:spPr>
          <a:xfrm>
            <a:off x="502920" y="5303520"/>
            <a:ext cx="11155680" cy="9144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303520"/>
            <a:ext cx="109728" cy="91440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952" y="5449824"/>
            <a:ext cx="155448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PENDING DATA</a:t>
            </a:r>
          </a:p>
        </p:txBody>
      </p:sp>
      <p:sp>
        <p:nvSpPr>
          <p:cNvPr id="34" name="TextBox 33"/>
          <p:cNvSpPr txBox="1"/>
          <p:nvPr/>
        </p:nvSpPr>
        <p:spPr>
          <a:xfrm>
            <a:off x="2468880" y="5422392"/>
            <a:ext cx="8961120" cy="411480"/>
          </a:xfrm>
          <a:prstGeom prst="rect">
            <a:avLst/>
          </a:prstGeom>
          <a:noFill/>
        </p:spPr>
        <p:txBody>
          <a:bodyPr wrap="square" anchor="ctr" lIns="50800" rIns="50800" tIns="25400" bIns="25400">
            <a:spAutoFit/>
          </a:bodyPr>
          <a:lstStyle/>
          <a:p>
            <a:pPr algn="l"/>
            <a:r>
              <a:rPr sz="1250" b="1" i="0">
                <a:solidFill>
                  <a:srgbClr val="1F3A5F"/>
                </a:solidFill>
                <a:latin typeface="Segoe UI"/>
              </a:rPr>
              <a:t>Iteration velocity - committed vs. accepted stories</a:t>
            </a:r>
          </a:p>
        </p:txBody>
      </p:sp>
      <p:sp>
        <p:nvSpPr>
          <p:cNvPr id="35" name="TextBox 34"/>
          <p:cNvSpPr txBox="1"/>
          <p:nvPr/>
        </p:nvSpPr>
        <p:spPr>
          <a:xfrm>
            <a:off x="758952" y="5870448"/>
            <a:ext cx="10652760" cy="256032"/>
          </a:xfrm>
          <a:prstGeom prst="rect">
            <a:avLst/>
          </a:prstGeom>
          <a:noFill/>
        </p:spPr>
        <p:txBody>
          <a:bodyPr wrap="square" anchor="t" lIns="50800" rIns="50800" tIns="25400" bIns="25400">
            <a:spAutoFit/>
          </a:bodyPr>
          <a:lstStyle/>
          <a:p>
            <a:pPr algn="l"/>
            <a:r>
              <a:rPr sz="1050" b="0" i="1">
                <a:solidFill>
                  <a:srgbClr val="6B7280"/>
                </a:solidFill>
                <a:latin typeface="Segoe UI"/>
              </a:rPr>
              <a:t>Per-sprint committed -&gt; accepted counts will quantify whether each iteration builds on the last. Quantitative velocity (committed vs. accepted points) is not yet captured in sprint ceremonies. Establishing this metric is an active process-improvement item. Not yet ready for relevant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Progress: Week over Week</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What changed in status since the last report?</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graphicFrame>
        <p:nvGraphicFramePr>
          <p:cNvPr id="7" name="Table 6"/>
          <p:cNvGraphicFramePr>
            <a:graphicFrameLocks noGrp="1"/>
          </p:cNvGraphicFramePr>
          <p:nvPr/>
        </p:nvGraphicFramePr>
        <p:xfrm>
          <a:off x="502920" y="1280160"/>
          <a:ext cx="11155680" cy="2880360"/>
        </p:xfrm>
        <a:graphic>
          <a:graphicData uri="http://schemas.openxmlformats.org/drawingml/2006/table">
            <a:tbl>
              <a:tblPr firstRow="1" bandRow="1">
                <a:tableStyleId>{5C22544A-7EE6-4342-B048-85BDC9FD1C3A}</a:tableStyleId>
              </a:tblPr>
              <a:tblGrid>
                <a:gridCol w="4206240"/>
                <a:gridCol w="1463040"/>
                <a:gridCol w="1463040"/>
                <a:gridCol w="2011680"/>
                <a:gridCol w="2011680"/>
              </a:tblGrid>
              <a:tr h="411480">
                <a:tc>
                  <a:txBody>
                    <a:bodyPr/>
                    <a:lstStyle/>
                    <a:p>
                      <a:r>
                        <a:rPr sz="1100" b="1" i="0">
                          <a:solidFill>
                            <a:srgbClr val="FFFFFF"/>
                          </a:solidFill>
                          <a:latin typeface="Segoe UI"/>
                        </a:rPr>
                        <a:t>Objective</a:t>
                      </a:r>
                    </a:p>
                  </a:txBody>
                  <a:tcPr>
                    <a:solidFill>
                      <a:srgbClr val="1F3A5F"/>
                    </a:solidFill>
                  </a:tcPr>
                </a:tc>
                <a:tc>
                  <a:txBody>
                    <a:bodyPr/>
                    <a:lstStyle/>
                    <a:p>
                      <a:pPr algn="ctr"/>
                      <a:r>
                        <a:rPr sz="1100" b="1" i="0">
                          <a:solidFill>
                            <a:srgbClr val="FFFFFF"/>
                          </a:solidFill>
                          <a:latin typeface="Segoe UI"/>
                        </a:rPr>
                        <a:t>Last week</a:t>
                      </a:r>
                    </a:p>
                  </a:txBody>
                  <a:tcPr>
                    <a:solidFill>
                      <a:srgbClr val="1F3A5F"/>
                    </a:solidFill>
                  </a:tcPr>
                </a:tc>
                <a:tc>
                  <a:txBody>
                    <a:bodyPr/>
                    <a:lstStyle/>
                    <a:p>
                      <a:pPr algn="ctr"/>
                      <a:r>
                        <a:rPr sz="1100" b="1" i="0">
                          <a:solidFill>
                            <a:srgbClr val="FFFFFF"/>
                          </a:solidFill>
                          <a:latin typeface="Segoe UI"/>
                        </a:rPr>
                        <a:t>This week</a:t>
                      </a:r>
                    </a:p>
                  </a:txBody>
                  <a:tcPr>
                    <a:solidFill>
                      <a:srgbClr val="1F3A5F"/>
                    </a:solidFill>
                  </a:tcPr>
                </a:tc>
                <a:tc>
                  <a:txBody>
                    <a:bodyPr/>
                    <a:lstStyle/>
                    <a:p>
                      <a:pPr algn="ctr"/>
                      <a:r>
                        <a:rPr sz="1100" b="1" i="0">
                          <a:solidFill>
                            <a:srgbClr val="FFFFFF"/>
                          </a:solidFill>
                          <a:latin typeface="Segoe UI"/>
                        </a:rPr>
                        <a:t>Δ stories</a:t>
                      </a:r>
                    </a:p>
                  </a:txBody>
                  <a:tcPr>
                    <a:solidFill>
                      <a:srgbClr val="1F3A5F"/>
                    </a:solidFill>
                  </a:tcPr>
                </a:tc>
                <a:tc>
                  <a:txBody>
                    <a:bodyPr/>
                    <a:lstStyle/>
                    <a:p>
                      <a:pPr algn="ctr"/>
                      <a:r>
                        <a:rPr sz="1100" b="1" i="0">
                          <a:solidFill>
                            <a:srgbClr val="FFFFFF"/>
                          </a:solidFill>
                          <a:latin typeface="Segoe UI"/>
                        </a:rPr>
                        <a:t>Trend</a:t>
                      </a:r>
                    </a:p>
                  </a:txBody>
                  <a:tcPr>
                    <a:solidFill>
                      <a:srgbClr val="1F3A5F"/>
                    </a:solidFill>
                  </a:tcPr>
                </a:tc>
              </a:tr>
              <a:tr h="411480">
                <a:tc>
                  <a:txBody>
                    <a:bodyPr/>
                    <a:lstStyle/>
                    <a:p>
                      <a:r>
                        <a:rPr sz="1050" b="0" i="0">
                          <a:solidFill>
                            <a:srgbClr val="2D2D2D"/>
                          </a:solidFill>
                          <a:latin typeface="Segoe UI"/>
                        </a:rPr>
                        <a:t>Governed VMware-to-Azure Migration (Airlift)</a:t>
                      </a:r>
                    </a:p>
                  </a:txBody>
                  <a:tcPr>
                    <a:solidFill>
                      <a:srgbClr val="F4F6F9"/>
                    </a:solidFill>
                  </a:tcPr>
                </a:tc>
                <a:tc>
                  <a:txBody>
                    <a:bodyPr/>
                    <a:lstStyle/>
                    <a:p>
                      <a:pPr algn="ctr"/>
                      <a:r>
                        <a:rPr sz="1050" b="1" i="0">
                          <a:solidFill>
                            <a:srgbClr val="2E8B57"/>
                          </a:solidFill>
                          <a:latin typeface="Segoe UI"/>
                        </a:rPr>
                        <a:t>On track</a:t>
                      </a:r>
                    </a:p>
                  </a:txBody>
                  <a:tcPr>
                    <a:solidFill>
                      <a:srgbClr val="F4F6F9"/>
                    </a:solidFill>
                  </a:tcPr>
                </a:tc>
                <a:tc>
                  <a:txBody>
                    <a:bodyPr/>
                    <a:lstStyle/>
                    <a:p>
                      <a:pPr algn="ctr"/>
                      <a:r>
                        <a:rPr sz="1050" b="1" i="0">
                          <a:solidFill>
                            <a:srgbClr val="2E8B57"/>
                          </a:solidFill>
                          <a:latin typeface="Segoe UI"/>
                        </a:rPr>
                        <a:t>On track</a:t>
                      </a:r>
                    </a:p>
                  </a:txBody>
                  <a:tcPr>
                    <a:solidFill>
                      <a:srgbClr val="F4F6F9"/>
                    </a:solidFill>
                  </a:tcPr>
                </a:tc>
                <a:tc>
                  <a:txBody>
                    <a:bodyPr/>
                    <a:lstStyle/>
                    <a:p>
                      <a:pPr algn="ctr"/>
                      <a:r>
                        <a:rPr sz="1000" b="0" i="0">
                          <a:solidFill>
                            <a:srgbClr val="2D2D2D"/>
                          </a:solidFill>
                          <a:latin typeface="Segoe UI"/>
                        </a:rPr>
                        <a:t>+0 mv / +0 stk</a:t>
                      </a:r>
                    </a:p>
                  </a:txBody>
                  <a:tcPr>
                    <a:solidFill>
                      <a:srgbClr val="F4F6F9"/>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Automate Discovery Coverage for Network Gear</a:t>
                      </a:r>
                    </a:p>
                  </a:txBody>
                  <a:tcPr>
                    <a:solidFill>
                      <a:srgbClr val="FFFFFF"/>
                    </a:solidFill>
                  </a:tcPr>
                </a:tc>
                <a:tc>
                  <a:txBody>
                    <a:bodyPr/>
                    <a:lstStyle/>
                    <a:p>
                      <a:pPr algn="ctr"/>
                      <a:r>
                        <a:rPr sz="1050" b="1" i="0">
                          <a:solidFill>
                            <a:srgbClr val="E08A00"/>
                          </a:solidFill>
                          <a:latin typeface="Segoe UI"/>
                        </a:rPr>
                        <a:t>Watch</a:t>
                      </a:r>
                    </a:p>
                  </a:txBody>
                  <a:tcPr>
                    <a:solidFill>
                      <a:srgbClr val="FFFFFF"/>
                    </a:solidFill>
                  </a:tcPr>
                </a:tc>
                <a:tc>
                  <a:txBody>
                    <a:bodyPr/>
                    <a:lstStyle/>
                    <a:p>
                      <a:pPr algn="ctr"/>
                      <a:r>
                        <a:rPr sz="1050" b="1" i="0">
                          <a:solidFill>
                            <a:srgbClr val="E08A00"/>
                          </a:solidFill>
                          <a:latin typeface="Segoe UI"/>
                        </a:rPr>
                        <a:t>Watch</a:t>
                      </a:r>
                    </a:p>
                  </a:txBody>
                  <a:tcPr>
                    <a:solidFill>
                      <a:srgbClr val="FFFFFF"/>
                    </a:solidFill>
                  </a:tcPr>
                </a:tc>
                <a:tc>
                  <a:txBody>
                    <a:bodyPr/>
                    <a:lstStyle/>
                    <a:p>
                      <a:pPr algn="ctr"/>
                      <a:r>
                        <a:rPr sz="1000" b="0" i="0">
                          <a:solidFill>
                            <a:srgbClr val="2D2D2D"/>
                          </a:solidFill>
                          <a:latin typeface="Segoe UI"/>
                        </a:rPr>
                        <a:t>+3 mv / -3 stk</a:t>
                      </a:r>
                    </a:p>
                  </a:txBody>
                  <a:tcPr>
                    <a:solidFill>
                      <a:srgbClr val="FFFFFF"/>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Establish CI Data Certification Program</a:t>
                      </a:r>
                    </a:p>
                  </a:txBody>
                  <a:tcPr>
                    <a:solidFill>
                      <a:srgbClr val="F4F6F9"/>
                    </a:solidFill>
                  </a:tcPr>
                </a:tc>
                <a:tc>
                  <a:txBody>
                    <a:bodyPr/>
                    <a:lstStyle/>
                    <a:p>
                      <a:pPr algn="ctr"/>
                      <a:r>
                        <a:rPr sz="1050" b="1" i="0">
                          <a:solidFill>
                            <a:srgbClr val="2E8B57"/>
                          </a:solidFill>
                          <a:latin typeface="Segoe UI"/>
                        </a:rPr>
                        <a:t>On track</a:t>
                      </a:r>
                    </a:p>
                  </a:txBody>
                  <a:tcPr>
                    <a:solidFill>
                      <a:srgbClr val="F4F6F9"/>
                    </a:solidFill>
                  </a:tcPr>
                </a:tc>
                <a:tc>
                  <a:txBody>
                    <a:bodyPr/>
                    <a:lstStyle/>
                    <a:p>
                      <a:pPr algn="ctr"/>
                      <a:r>
                        <a:rPr sz="1050" b="1" i="0">
                          <a:solidFill>
                            <a:srgbClr val="2E8B57"/>
                          </a:solidFill>
                          <a:latin typeface="Segoe UI"/>
                        </a:rPr>
                        <a:t>On track</a:t>
                      </a:r>
                    </a:p>
                  </a:txBody>
                  <a:tcPr>
                    <a:solidFill>
                      <a:srgbClr val="F4F6F9"/>
                    </a:solidFill>
                  </a:tcPr>
                </a:tc>
                <a:tc>
                  <a:txBody>
                    <a:bodyPr/>
                    <a:lstStyle/>
                    <a:p>
                      <a:pPr algn="ctr"/>
                      <a:r>
                        <a:rPr sz="1000" b="0" i="0">
                          <a:solidFill>
                            <a:srgbClr val="2D2D2D"/>
                          </a:solidFill>
                          <a:latin typeface="Segoe UI"/>
                        </a:rPr>
                        <a:t>+1 mv / +0 stk</a:t>
                      </a:r>
                    </a:p>
                  </a:txBody>
                  <a:tcPr>
                    <a:solidFill>
                      <a:srgbClr val="F4F6F9"/>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Expand Service Mapping Foundation</a:t>
                      </a:r>
                    </a:p>
                  </a:txBody>
                  <a:tcPr>
                    <a:solidFill>
                      <a:srgbClr val="FFFFFF"/>
                    </a:solidFill>
                  </a:tcPr>
                </a:tc>
                <a:tc>
                  <a:txBody>
                    <a:bodyPr/>
                    <a:lstStyle/>
                    <a:p>
                      <a:pPr algn="ctr"/>
                      <a:r>
                        <a:rPr sz="1050" b="1" i="0">
                          <a:solidFill>
                            <a:srgbClr val="E08A00"/>
                          </a:solidFill>
                          <a:latin typeface="Segoe UI"/>
                        </a:rPr>
                        <a:t>Watch</a:t>
                      </a:r>
                    </a:p>
                  </a:txBody>
                  <a:tcPr>
                    <a:solidFill>
                      <a:srgbClr val="FFFFFF"/>
                    </a:solidFill>
                  </a:tcPr>
                </a:tc>
                <a:tc>
                  <a:txBody>
                    <a:bodyPr/>
                    <a:lstStyle/>
                    <a:p>
                      <a:pPr algn="ctr"/>
                      <a:r>
                        <a:rPr sz="1050" b="1" i="0">
                          <a:solidFill>
                            <a:srgbClr val="E08A00"/>
                          </a:solidFill>
                          <a:latin typeface="Segoe UI"/>
                        </a:rPr>
                        <a:t>Watch</a:t>
                      </a:r>
                    </a:p>
                  </a:txBody>
                  <a:tcPr>
                    <a:solidFill>
                      <a:srgbClr val="FFFFFF"/>
                    </a:solidFill>
                  </a:tcPr>
                </a:tc>
                <a:tc>
                  <a:txBody>
                    <a:bodyPr/>
                    <a:lstStyle/>
                    <a:p>
                      <a:pPr algn="ctr"/>
                      <a:r>
                        <a:rPr sz="1000" b="0" i="0">
                          <a:solidFill>
                            <a:srgbClr val="2D2D2D"/>
                          </a:solidFill>
                          <a:latin typeface="Segoe UI"/>
                        </a:rPr>
                        <a:t>+0 mv / +0 stk</a:t>
                      </a:r>
                    </a:p>
                  </a:txBody>
                  <a:tcPr>
                    <a:solidFill>
                      <a:srgbClr val="FFFFFF"/>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Regulatory &amp; Security Integrations (Qualys/NERC/CCB)</a:t>
                      </a:r>
                    </a:p>
                  </a:txBody>
                  <a:tcPr>
                    <a:solidFill>
                      <a:srgbClr val="F4F6F9"/>
                    </a:solidFill>
                  </a:tcPr>
                </a:tc>
                <a:tc>
                  <a:txBody>
                    <a:bodyPr/>
                    <a:lstStyle/>
                    <a:p>
                      <a:pPr algn="ctr"/>
                      <a:r>
                        <a:rPr sz="1050" b="1" i="0">
                          <a:solidFill>
                            <a:srgbClr val="E08A00"/>
                          </a:solidFill>
                          <a:latin typeface="Segoe UI"/>
                        </a:rPr>
                        <a:t>Watch</a:t>
                      </a:r>
                    </a:p>
                  </a:txBody>
                  <a:tcPr>
                    <a:solidFill>
                      <a:srgbClr val="F4F6F9"/>
                    </a:solidFill>
                  </a:tcPr>
                </a:tc>
                <a:tc>
                  <a:txBody>
                    <a:bodyPr/>
                    <a:lstStyle/>
                    <a:p>
                      <a:pPr algn="ctr"/>
                      <a:r>
                        <a:rPr sz="1050" b="1" i="0">
                          <a:solidFill>
                            <a:srgbClr val="E08A00"/>
                          </a:solidFill>
                          <a:latin typeface="Segoe UI"/>
                        </a:rPr>
                        <a:t>Watch</a:t>
                      </a:r>
                    </a:p>
                  </a:txBody>
                  <a:tcPr>
                    <a:solidFill>
                      <a:srgbClr val="F4F6F9"/>
                    </a:solidFill>
                  </a:tcPr>
                </a:tc>
                <a:tc>
                  <a:txBody>
                    <a:bodyPr/>
                    <a:lstStyle/>
                    <a:p>
                      <a:pPr algn="ctr"/>
                      <a:r>
                        <a:rPr sz="1000" b="0" i="0">
                          <a:solidFill>
                            <a:srgbClr val="2D2D2D"/>
                          </a:solidFill>
                          <a:latin typeface="Segoe UI"/>
                        </a:rPr>
                        <a:t>-2 mv / +2 stk</a:t>
                      </a:r>
                    </a:p>
                  </a:txBody>
                  <a:tcPr>
                    <a:solidFill>
                      <a:srgbClr val="F4F6F9"/>
                    </a:solidFill>
                  </a:tcPr>
                </a:tc>
                <a:tc>
                  <a:txBody>
                    <a:bodyPr/>
                    <a:lstStyle/>
                    <a:p>
                      <a:pPr algn="ctr"/>
                      <a:r>
                        <a:rPr sz="1050" b="1" i="0">
                          <a:solidFill>
                            <a:srgbClr val="FFFFFF"/>
                          </a:solidFill>
                          <a:latin typeface="Segoe UI"/>
                        </a:rPr>
                        <a:t>→ No change</a:t>
                      </a:r>
                    </a:p>
                  </a:txBody>
                  <a:tcPr>
                    <a:solidFill>
                      <a:srgbClr val="6B7280"/>
                    </a:solidFill>
                  </a:tcPr>
                </a:tc>
              </a:tr>
              <a:tr h="411480">
                <a:tc>
                  <a:txBody>
                    <a:bodyPr/>
                    <a:lstStyle/>
                    <a:p>
                      <a:r>
                        <a:rPr sz="1050" b="0" i="0">
                          <a:solidFill>
                            <a:srgbClr val="2D2D2D"/>
                          </a:solidFill>
                          <a:latin typeface="Segoe UI"/>
                        </a:rPr>
                        <a:t>Embed NowAssist AI Across CMDB &amp; ITSM</a:t>
                      </a:r>
                    </a:p>
                  </a:txBody>
                  <a:tcPr>
                    <a:solidFill>
                      <a:srgbClr val="FFFFFF"/>
                    </a:solidFill>
                  </a:tcPr>
                </a:tc>
                <a:tc>
                  <a:txBody>
                    <a:bodyPr/>
                    <a:lstStyle/>
                    <a:p>
                      <a:pPr algn="ctr"/>
                      <a:r>
                        <a:rPr sz="1050" b="1" i="0">
                          <a:solidFill>
                            <a:srgbClr val="E08A00"/>
                          </a:solidFill>
                          <a:latin typeface="Segoe UI"/>
                        </a:rPr>
                        <a:t>Watch</a:t>
                      </a:r>
                    </a:p>
                  </a:txBody>
                  <a:tcPr>
                    <a:solidFill>
                      <a:srgbClr val="FFFFFF"/>
                    </a:solidFill>
                  </a:tcPr>
                </a:tc>
                <a:tc>
                  <a:txBody>
                    <a:bodyPr/>
                    <a:lstStyle/>
                    <a:p>
                      <a:pPr algn="ctr"/>
                      <a:r>
                        <a:rPr sz="1050" b="1" i="0">
                          <a:solidFill>
                            <a:srgbClr val="2E8B57"/>
                          </a:solidFill>
                          <a:latin typeface="Segoe UI"/>
                        </a:rPr>
                        <a:t>On track</a:t>
                      </a:r>
                    </a:p>
                  </a:txBody>
                  <a:tcPr>
                    <a:solidFill>
                      <a:srgbClr val="FFFFFF"/>
                    </a:solidFill>
                  </a:tcPr>
                </a:tc>
                <a:tc>
                  <a:txBody>
                    <a:bodyPr/>
                    <a:lstStyle/>
                    <a:p>
                      <a:pPr algn="ctr"/>
                      <a:r>
                        <a:rPr sz="1000" b="0" i="0">
                          <a:solidFill>
                            <a:srgbClr val="2D2D2D"/>
                          </a:solidFill>
                          <a:latin typeface="Segoe UI"/>
                        </a:rPr>
                        <a:t>+5 mv / -4 stk</a:t>
                      </a:r>
                    </a:p>
                  </a:txBody>
                  <a:tcPr>
                    <a:solidFill>
                      <a:srgbClr val="FFFFFF"/>
                    </a:solidFill>
                  </a:tcPr>
                </a:tc>
                <a:tc>
                  <a:txBody>
                    <a:bodyPr/>
                    <a:lstStyle/>
                    <a:p>
                      <a:pPr algn="ctr"/>
                      <a:r>
                        <a:rPr sz="1050" b="1" i="0">
                          <a:solidFill>
                            <a:srgbClr val="FFFFFF"/>
                          </a:solidFill>
                          <a:latin typeface="Segoe UI"/>
                        </a:rPr>
                        <a:t>▲ Improved</a:t>
                      </a:r>
                    </a:p>
                  </a:txBody>
                  <a:tcPr>
                    <a:solidFill>
                      <a:srgbClr val="2E8B57"/>
                    </a:solidFill>
                  </a:tcPr>
                </a:tc>
              </a:tr>
            </a:tbl>
          </a:graphicData>
        </a:graphic>
      </p:graphicFrame>
      <p:sp>
        <p:nvSpPr>
          <p:cNvPr id="8" name="TextBox 7"/>
          <p:cNvSpPr txBox="1"/>
          <p:nvPr/>
        </p:nvSpPr>
        <p:spPr>
          <a:xfrm>
            <a:off x="502920" y="4343400"/>
            <a:ext cx="11155680" cy="731520"/>
          </a:xfrm>
          <a:prstGeom prst="rect">
            <a:avLst/>
          </a:prstGeom>
          <a:noFill/>
        </p:spPr>
        <p:txBody>
          <a:bodyPr wrap="square" anchor="t" lIns="50800" rIns="50800" tIns="25400" bIns="25400">
            <a:spAutoFit/>
          </a:bodyPr>
          <a:lstStyle/>
          <a:p>
            <a:pPr algn="l"/>
            <a:r>
              <a:rPr sz="1100" b="1" i="0">
                <a:solidFill>
                  <a:srgbClr val="2E8B57"/>
                </a:solidFill>
                <a:latin typeface="Segoe UI"/>
              </a:rPr>
              <a:t>Newly unblocked:  none</a:t>
            </a:r>
          </a:p>
          <a:p>
            <a:pPr algn="l"/>
            <a:r>
              <a:rPr sz="1100" b="1" i="0">
                <a:solidFill>
                  <a:srgbClr val="C0392B"/>
                </a:solidFill>
                <a:latin typeface="Segoe UI"/>
              </a:rPr>
              <a:t>Newly blocked:  none</a:t>
            </a:r>
          </a:p>
        </p:txBody>
      </p:sp>
      <p:sp>
        <p:nvSpPr>
          <p:cNvPr id="9" name="Rectangle 8"/>
          <p:cNvSpPr/>
          <p:nvPr/>
        </p:nvSpPr>
        <p:spPr>
          <a:xfrm>
            <a:off x="502920" y="5212080"/>
            <a:ext cx="11155680" cy="8229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212080"/>
            <a:ext cx="109728" cy="82296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8952" y="5358384"/>
            <a:ext cx="155448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PENDING DATA</a:t>
            </a:r>
          </a:p>
        </p:txBody>
      </p:sp>
      <p:sp>
        <p:nvSpPr>
          <p:cNvPr id="12" name="TextBox 11"/>
          <p:cNvSpPr txBox="1"/>
          <p:nvPr/>
        </p:nvSpPr>
        <p:spPr>
          <a:xfrm>
            <a:off x="2468880" y="5330952"/>
            <a:ext cx="8961120" cy="411480"/>
          </a:xfrm>
          <a:prstGeom prst="rect">
            <a:avLst/>
          </a:prstGeom>
          <a:noFill/>
        </p:spPr>
        <p:txBody>
          <a:bodyPr wrap="square" anchor="ctr" lIns="50800" rIns="50800" tIns="25400" bIns="25400">
            <a:spAutoFit/>
          </a:bodyPr>
          <a:lstStyle/>
          <a:p>
            <a:pPr algn="l"/>
            <a:r>
              <a:rPr sz="1250" b="1" i="0">
                <a:solidFill>
                  <a:srgbClr val="1F3A5F"/>
                </a:solidFill>
                <a:latin typeface="Segoe UI"/>
              </a:rPr>
              <a:t>Completed / delivered this period</a:t>
            </a:r>
          </a:p>
        </p:txBody>
      </p:sp>
      <p:sp>
        <p:nvSpPr>
          <p:cNvPr id="13" name="TextBox 12"/>
          <p:cNvSpPr txBox="1"/>
          <p:nvPr/>
        </p:nvSpPr>
        <p:spPr>
          <a:xfrm>
            <a:off x="758952" y="5779008"/>
            <a:ext cx="10652760" cy="164592"/>
          </a:xfrm>
          <a:prstGeom prst="rect">
            <a:avLst/>
          </a:prstGeom>
          <a:noFill/>
        </p:spPr>
        <p:txBody>
          <a:bodyPr wrap="square" anchor="t" lIns="50800" rIns="50800" tIns="25400" bIns="25400">
            <a:spAutoFit/>
          </a:bodyPr>
          <a:lstStyle/>
          <a:p>
            <a:pPr algn="l"/>
            <a:r>
              <a:rPr sz="1050" b="0" i="1">
                <a:solidFill>
                  <a:srgbClr val="6B7280"/>
                </a:solidFill>
                <a:latin typeface="Segoe UI"/>
              </a:rPr>
              <a:t>Delivery tracking (completed &amp; accepted stories) begins at first PROD deploy (Jun 23). Current 'moving' counts reflect activity in flight, not completion. Not yet ready for relevant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Highest-Priority Objectives (P0 - P1)</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Status and detail by objective</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Rectangle 6"/>
          <p:cNvSpPr/>
          <p:nvPr/>
        </p:nvSpPr>
        <p:spPr>
          <a:xfrm>
            <a:off x="502920" y="146304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9" name="TextBox 8"/>
          <p:cNvSpPr txBox="1"/>
          <p:nvPr/>
        </p:nvSpPr>
        <p:spPr>
          <a:xfrm>
            <a:off x="1874519" y="160020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Airlift (P0)</a:t>
            </a:r>
          </a:p>
        </p:txBody>
      </p:sp>
      <p:sp>
        <p:nvSpPr>
          <p:cNvPr id="10" name="TextBox 9"/>
          <p:cNvSpPr txBox="1"/>
          <p:nvPr/>
        </p:nvSpPr>
        <p:spPr>
          <a:xfrm>
            <a:off x="1874519" y="201168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Pre/During/Post-Migration stories in validation; CI auto-populate active. Dev access resolved 6/9.</a:t>
            </a:r>
          </a:p>
        </p:txBody>
      </p:sp>
      <p:sp>
        <p:nvSpPr>
          <p:cNvPr id="11" name="Rectangle 10"/>
          <p:cNvSpPr/>
          <p:nvPr/>
        </p:nvSpPr>
        <p:spPr>
          <a:xfrm>
            <a:off x="502920" y="297180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15468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13" name="TextBox 12"/>
          <p:cNvSpPr txBox="1"/>
          <p:nvPr/>
        </p:nvSpPr>
        <p:spPr>
          <a:xfrm>
            <a:off x="1874519" y="310896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Data Certification (P1)</a:t>
            </a:r>
          </a:p>
        </p:txBody>
      </p:sp>
      <p:sp>
        <p:nvSpPr>
          <p:cNvPr id="14" name="TextBox 13"/>
          <p:cNvSpPr txBox="1"/>
          <p:nvPr/>
        </p:nvSpPr>
        <p:spPr>
          <a:xfrm>
            <a:off x="1874519" y="352044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Dashboard signed off 6/10; PROD Jun 23, Todd validates Jun 24-25. Pilot changes in validation.</a:t>
            </a:r>
          </a:p>
        </p:txBody>
      </p:sp>
      <p:sp>
        <p:nvSpPr>
          <p:cNvPr id="15" name="Rectangle 14"/>
          <p:cNvSpPr/>
          <p:nvPr/>
        </p:nvSpPr>
        <p:spPr>
          <a:xfrm>
            <a:off x="502920" y="448056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66344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7" name="TextBox 16"/>
          <p:cNvSpPr txBox="1"/>
          <p:nvPr/>
        </p:nvSpPr>
        <p:spPr>
          <a:xfrm>
            <a:off x="1874519" y="461772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Discovery / SCCM (P1)</a:t>
            </a:r>
          </a:p>
        </p:txBody>
      </p:sp>
      <p:sp>
        <p:nvSpPr>
          <p:cNvPr id="18" name="TextBox 17"/>
          <p:cNvSpPr txBox="1"/>
          <p:nvPr/>
        </p:nvSpPr>
        <p:spPr>
          <a:xfrm>
            <a:off x="1874519" y="502920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SCCM approval gate cleared - timestamp story unblocked; precedence stories in validation. ~6 stories still need ADO IDs.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Supporting Objectives (P2 - P3)</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Status and detail by objective</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Rectangle 6"/>
          <p:cNvSpPr/>
          <p:nvPr/>
        </p:nvSpPr>
        <p:spPr>
          <a:xfrm>
            <a:off x="502920" y="146304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9" name="TextBox 8"/>
          <p:cNvSpPr txBox="1"/>
          <p:nvPr/>
        </p:nvSpPr>
        <p:spPr>
          <a:xfrm>
            <a:off x="1874519" y="160020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Service Mapping (P2)</a:t>
            </a:r>
          </a:p>
        </p:txBody>
      </p:sp>
      <p:sp>
        <p:nvSpPr>
          <p:cNvPr id="10" name="TextBox 9"/>
          <p:cNvSpPr txBox="1"/>
          <p:nvPr/>
        </p:nvSpPr>
        <p:spPr>
          <a:xfrm>
            <a:off x="1874519" y="201168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Discovery scaling - infrastructure previously invisible now found. DNS dependency still open.</a:t>
            </a:r>
          </a:p>
        </p:txBody>
      </p:sp>
      <p:sp>
        <p:nvSpPr>
          <p:cNvPr id="11" name="Rectangle 10"/>
          <p:cNvSpPr/>
          <p:nvPr/>
        </p:nvSpPr>
        <p:spPr>
          <a:xfrm>
            <a:off x="502920" y="297180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154680"/>
            <a:ext cx="1005840" cy="274320"/>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AMBER</a:t>
            </a:r>
          </a:p>
        </p:txBody>
      </p:sp>
      <p:sp>
        <p:nvSpPr>
          <p:cNvPr id="13" name="TextBox 12"/>
          <p:cNvSpPr txBox="1"/>
          <p:nvPr/>
        </p:nvSpPr>
        <p:spPr>
          <a:xfrm>
            <a:off x="1874519" y="310896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Regulatory / Qualys (P2)</a:t>
            </a:r>
          </a:p>
        </p:txBody>
      </p:sp>
      <p:sp>
        <p:nvSpPr>
          <p:cNvPr id="14" name="TextBox 13"/>
          <p:cNvSpPr txBox="1"/>
          <p:nvPr/>
        </p:nvSpPr>
        <p:spPr>
          <a:xfrm>
            <a:off x="1874519" y="352044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Qualys read-only stories BLOCKED - vendor plugin replacement pending approval. CCB Jun 16, Audit Sync Jun 18. NERC-CIP early engagement.</a:t>
            </a:r>
          </a:p>
        </p:txBody>
      </p:sp>
      <p:sp>
        <p:nvSpPr>
          <p:cNvPr id="15" name="Rectangle 14"/>
          <p:cNvSpPr/>
          <p:nvPr/>
        </p:nvSpPr>
        <p:spPr>
          <a:xfrm>
            <a:off x="502920" y="4480560"/>
            <a:ext cx="11155680" cy="13258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663440"/>
            <a:ext cx="1005840" cy="2743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i="0">
                <a:solidFill>
                  <a:srgbClr val="FFFFFF"/>
                </a:solidFill>
                <a:latin typeface="Segoe UI"/>
              </a:rPr>
              <a:t>GREEN</a:t>
            </a:r>
          </a:p>
        </p:txBody>
      </p:sp>
      <p:sp>
        <p:nvSpPr>
          <p:cNvPr id="17" name="TextBox 16"/>
          <p:cNvSpPr txBox="1"/>
          <p:nvPr/>
        </p:nvSpPr>
        <p:spPr>
          <a:xfrm>
            <a:off x="1874519" y="4617720"/>
            <a:ext cx="9509760" cy="365760"/>
          </a:xfrm>
          <a:prstGeom prst="rect">
            <a:avLst/>
          </a:prstGeom>
          <a:noFill/>
        </p:spPr>
        <p:txBody>
          <a:bodyPr wrap="square" anchor="t" lIns="50800" rIns="50800" tIns="25400" bIns="25400">
            <a:spAutoFit/>
          </a:bodyPr>
          <a:lstStyle/>
          <a:p>
            <a:pPr algn="l"/>
            <a:r>
              <a:rPr sz="1500" b="1" i="0">
                <a:solidFill>
                  <a:srgbClr val="1F3A5F"/>
                </a:solidFill>
                <a:latin typeface="Segoe UI"/>
              </a:rPr>
              <a:t>NowAssist AI (P3)</a:t>
            </a:r>
          </a:p>
        </p:txBody>
      </p:sp>
      <p:sp>
        <p:nvSpPr>
          <p:cNvPr id="18" name="TextBox 17"/>
          <p:cNvSpPr txBox="1"/>
          <p:nvPr/>
        </p:nvSpPr>
        <p:spPr>
          <a:xfrm>
            <a:off x="1874519" y="5029200"/>
            <a:ext cx="9509760" cy="731520"/>
          </a:xfrm>
          <a:prstGeom prst="rect">
            <a:avLst/>
          </a:prstGeom>
          <a:noFill/>
        </p:spPr>
        <p:txBody>
          <a:bodyPr wrap="square" anchor="t" lIns="50800" rIns="50800" tIns="25400" bIns="25400">
            <a:spAutoFit/>
          </a:bodyPr>
          <a:lstStyle/>
          <a:p>
            <a:pPr algn="l"/>
            <a:r>
              <a:rPr sz="1200" b="0" i="0">
                <a:solidFill>
                  <a:srgbClr val="2D2D2D"/>
                </a:solidFill>
                <a:latin typeface="Segoe UI"/>
              </a:rPr>
              <a:t>Resourcing resolved - 4 OOB stories reassigned to Kiran Dhobale; 1 active, 3 ready + health-baseline spike. Feature 1436574 confirmed.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Key Milestones &amp; Upcoming Dates</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Iteration 2.3 critical path</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Rectangle 6"/>
          <p:cNvSpPr/>
          <p:nvPr/>
        </p:nvSpPr>
        <p:spPr>
          <a:xfrm>
            <a:off x="502920" y="1371600"/>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15</a:t>
            </a:r>
          </a:p>
        </p:txBody>
      </p:sp>
      <p:sp>
        <p:nvSpPr>
          <p:cNvPr id="9" name="Rectangle 8"/>
          <p:cNvSpPr/>
          <p:nvPr/>
        </p:nvSpPr>
        <p:spPr>
          <a:xfrm>
            <a:off x="2331720" y="1371600"/>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4600" y="1371600"/>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Data Certification UAT gate</a:t>
            </a:r>
          </a:p>
        </p:txBody>
      </p:sp>
      <p:sp>
        <p:nvSpPr>
          <p:cNvPr id="11" name="Rectangle 10"/>
          <p:cNvSpPr/>
          <p:nvPr/>
        </p:nvSpPr>
        <p:spPr>
          <a:xfrm>
            <a:off x="502920" y="1993392"/>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93392"/>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16</a:t>
            </a:r>
          </a:p>
        </p:txBody>
      </p:sp>
      <p:sp>
        <p:nvSpPr>
          <p:cNvPr id="13" name="Rectangle 12"/>
          <p:cNvSpPr/>
          <p:nvPr/>
        </p:nvSpPr>
        <p:spPr>
          <a:xfrm>
            <a:off x="2331720" y="1993392"/>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993392"/>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CMDB CCB Meeting</a:t>
            </a:r>
          </a:p>
        </p:txBody>
      </p:sp>
      <p:sp>
        <p:nvSpPr>
          <p:cNvPr id="15" name="Rectangle 14"/>
          <p:cNvSpPr/>
          <p:nvPr/>
        </p:nvSpPr>
        <p:spPr>
          <a:xfrm>
            <a:off x="502920" y="2615184"/>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615184"/>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17</a:t>
            </a:r>
          </a:p>
        </p:txBody>
      </p:sp>
      <p:sp>
        <p:nvSpPr>
          <p:cNvPr id="17" name="Rectangle 16"/>
          <p:cNvSpPr/>
          <p:nvPr/>
        </p:nvSpPr>
        <p:spPr>
          <a:xfrm>
            <a:off x="2331720" y="2615184"/>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4600" y="2615184"/>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Backlog Refinement 2.3</a:t>
            </a:r>
          </a:p>
        </p:txBody>
      </p:sp>
      <p:sp>
        <p:nvSpPr>
          <p:cNvPr id="19" name="Rectangle 18"/>
          <p:cNvSpPr/>
          <p:nvPr/>
        </p:nvSpPr>
        <p:spPr>
          <a:xfrm>
            <a:off x="502920" y="3236976"/>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236976"/>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18</a:t>
            </a:r>
          </a:p>
        </p:txBody>
      </p:sp>
      <p:sp>
        <p:nvSpPr>
          <p:cNvPr id="21" name="Rectangle 20"/>
          <p:cNvSpPr/>
          <p:nvPr/>
        </p:nvSpPr>
        <p:spPr>
          <a:xfrm>
            <a:off x="2331720" y="3236976"/>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4600" y="3236976"/>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CMDB Audit Sync</a:t>
            </a:r>
          </a:p>
        </p:txBody>
      </p:sp>
      <p:sp>
        <p:nvSpPr>
          <p:cNvPr id="23" name="Rectangle 22"/>
          <p:cNvSpPr/>
          <p:nvPr/>
        </p:nvSpPr>
        <p:spPr>
          <a:xfrm>
            <a:off x="502920" y="3858768"/>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858768"/>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19</a:t>
            </a:r>
          </a:p>
        </p:txBody>
      </p:sp>
      <p:sp>
        <p:nvSpPr>
          <p:cNvPr id="25" name="Rectangle 24"/>
          <p:cNvSpPr/>
          <p:nvPr/>
        </p:nvSpPr>
        <p:spPr>
          <a:xfrm>
            <a:off x="2331720" y="3858768"/>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4600" y="3858768"/>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PROD Change Request - Data Certification</a:t>
            </a:r>
          </a:p>
        </p:txBody>
      </p:sp>
      <p:sp>
        <p:nvSpPr>
          <p:cNvPr id="27" name="Rectangle 26"/>
          <p:cNvSpPr/>
          <p:nvPr/>
        </p:nvSpPr>
        <p:spPr>
          <a:xfrm>
            <a:off x="502920" y="4480560"/>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480560"/>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23</a:t>
            </a:r>
          </a:p>
        </p:txBody>
      </p:sp>
      <p:sp>
        <p:nvSpPr>
          <p:cNvPr id="29" name="Rectangle 28"/>
          <p:cNvSpPr/>
          <p:nvPr/>
        </p:nvSpPr>
        <p:spPr>
          <a:xfrm>
            <a:off x="2331720" y="4480560"/>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4600" y="4480560"/>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Sprint 2.3 end + Data Certification PROD deployment</a:t>
            </a:r>
          </a:p>
        </p:txBody>
      </p:sp>
      <p:sp>
        <p:nvSpPr>
          <p:cNvPr id="31" name="Rectangle 30"/>
          <p:cNvSpPr/>
          <p:nvPr/>
        </p:nvSpPr>
        <p:spPr>
          <a:xfrm>
            <a:off x="502920" y="5102352"/>
            <a:ext cx="1737360" cy="5029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102352"/>
            <a:ext cx="1645920" cy="502920"/>
          </a:xfrm>
          <a:prstGeom prst="rect">
            <a:avLst/>
          </a:prstGeom>
          <a:noFill/>
        </p:spPr>
        <p:txBody>
          <a:bodyPr wrap="square" anchor="ctr" lIns="50800" rIns="50800" tIns="25400" bIns="25400">
            <a:spAutoFit/>
          </a:bodyPr>
          <a:lstStyle/>
          <a:p>
            <a:pPr algn="ctr"/>
            <a:r>
              <a:rPr sz="1300" b="1" i="0">
                <a:solidFill>
                  <a:srgbClr val="FFFFFF"/>
                </a:solidFill>
                <a:latin typeface="Segoe UI"/>
              </a:rPr>
              <a:t>Jun 24-25</a:t>
            </a:r>
          </a:p>
        </p:txBody>
      </p:sp>
      <p:sp>
        <p:nvSpPr>
          <p:cNvPr id="33" name="Rectangle 32"/>
          <p:cNvSpPr/>
          <p:nvPr/>
        </p:nvSpPr>
        <p:spPr>
          <a:xfrm>
            <a:off x="2331720" y="5102352"/>
            <a:ext cx="9326880" cy="5029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14600" y="5102352"/>
            <a:ext cx="9052560" cy="502920"/>
          </a:xfrm>
          <a:prstGeom prst="rect">
            <a:avLst/>
          </a:prstGeom>
          <a:noFill/>
        </p:spPr>
        <p:txBody>
          <a:bodyPr wrap="square" anchor="ctr" lIns="50800" rIns="50800" tIns="25400" bIns="25400">
            <a:spAutoFit/>
          </a:bodyPr>
          <a:lstStyle/>
          <a:p>
            <a:pPr algn="l"/>
            <a:r>
              <a:rPr sz="1300" b="0" i="0">
                <a:solidFill>
                  <a:srgbClr val="2D2D2D"/>
                </a:solidFill>
                <a:latin typeface="Segoe UI"/>
              </a:rPr>
              <a:t>Todd validates Data Certification in PROD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Risks &amp; Leadership Asks</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Where we need help to stay on track</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graphicFrame>
        <p:nvGraphicFramePr>
          <p:cNvPr id="7" name="Table 6"/>
          <p:cNvGraphicFramePr>
            <a:graphicFrameLocks noGrp="1"/>
          </p:cNvGraphicFramePr>
          <p:nvPr/>
        </p:nvGraphicFramePr>
        <p:xfrm>
          <a:off x="502920" y="1280160"/>
          <a:ext cx="11155679" cy="4206240"/>
        </p:xfrm>
        <a:graphic>
          <a:graphicData uri="http://schemas.openxmlformats.org/drawingml/2006/table">
            <a:tbl>
              <a:tblPr firstRow="1" bandRow="1">
                <a:tableStyleId>{5C22544A-7EE6-4342-B048-85BDC9FD1C3A}</a:tableStyleId>
              </a:tblPr>
              <a:tblGrid>
                <a:gridCol w="2377440"/>
                <a:gridCol w="1005840"/>
                <a:gridCol w="4023360"/>
                <a:gridCol w="3749039"/>
              </a:tblGrid>
              <a:tr h="1051560">
                <a:tc>
                  <a:txBody>
                    <a:bodyPr/>
                    <a:lstStyle/>
                    <a:p>
                      <a:r>
                        <a:rPr sz="1200" b="1" i="0">
                          <a:solidFill>
                            <a:srgbClr val="FFFFFF"/>
                          </a:solidFill>
                          <a:latin typeface="Segoe UI"/>
                        </a:rPr>
                        <a:t>Risk</a:t>
                      </a:r>
                    </a:p>
                  </a:txBody>
                  <a:tcPr>
                    <a:solidFill>
                      <a:srgbClr val="1F3A5F"/>
                    </a:solidFill>
                  </a:tcPr>
                </a:tc>
                <a:tc>
                  <a:txBody>
                    <a:bodyPr/>
                    <a:lstStyle/>
                    <a:p>
                      <a:r>
                        <a:rPr sz="1200" b="1" i="0">
                          <a:solidFill>
                            <a:srgbClr val="FFFFFF"/>
                          </a:solidFill>
                          <a:latin typeface="Segoe UI"/>
                        </a:rPr>
                        <a:t>Severity</a:t>
                      </a:r>
                    </a:p>
                  </a:txBody>
                  <a:tcPr>
                    <a:solidFill>
                      <a:srgbClr val="1F3A5F"/>
                    </a:solidFill>
                  </a:tcPr>
                </a:tc>
                <a:tc>
                  <a:txBody>
                    <a:bodyPr/>
                    <a:lstStyle/>
                    <a:p>
                      <a:r>
                        <a:rPr sz="1200" b="1" i="0">
                          <a:solidFill>
                            <a:srgbClr val="FFFFFF"/>
                          </a:solidFill>
                          <a:latin typeface="Segoe UI"/>
                        </a:rPr>
                        <a:t>Detail</a:t>
                      </a:r>
                    </a:p>
                  </a:txBody>
                  <a:tcPr>
                    <a:solidFill>
                      <a:srgbClr val="1F3A5F"/>
                    </a:solidFill>
                  </a:tcPr>
                </a:tc>
                <a:tc>
                  <a:txBody>
                    <a:bodyPr/>
                    <a:lstStyle/>
                    <a:p>
                      <a:r>
                        <a:rPr sz="1200" b="1" i="0">
                          <a:solidFill>
                            <a:srgbClr val="FFFFFF"/>
                          </a:solidFill>
                          <a:latin typeface="Segoe UI"/>
                        </a:rPr>
                        <a:t>Ask of Leadership</a:t>
                      </a:r>
                    </a:p>
                  </a:txBody>
                  <a:tcPr>
                    <a:solidFill>
                      <a:srgbClr val="1F3A5F"/>
                    </a:solidFill>
                  </a:tcPr>
                </a:tc>
              </a:tr>
              <a:tr h="1051560">
                <a:tc>
                  <a:txBody>
                    <a:bodyPr/>
                    <a:lstStyle/>
                    <a:p>
                      <a:r>
                        <a:rPr sz="1100" b="1" i="0">
                          <a:solidFill>
                            <a:srgbClr val="1F3A5F"/>
                          </a:solidFill>
                          <a:latin typeface="Segoe UI"/>
                        </a:rPr>
                        <a:t>Qualys vendor approval</a:t>
                      </a:r>
                    </a:p>
                  </a:txBody>
                  <a:tcPr>
                    <a:solidFill>
                      <a:srgbClr val="F4F6F9"/>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Qualys replaced its plugin version; previous uninstalled, new one requested. Stories 1428703/1428704 blocked.</a:t>
                      </a:r>
                    </a:p>
                  </a:txBody>
                  <a:tcPr>
                    <a:solidFill>
                      <a:srgbClr val="F4F6F9"/>
                    </a:solidFill>
                  </a:tcPr>
                </a:tc>
                <a:tc>
                  <a:txBody>
                    <a:bodyPr/>
                    <a:lstStyle/>
                    <a:p>
                      <a:r>
                        <a:rPr sz="1050" b="0" i="0">
                          <a:solidFill>
                            <a:srgbClr val="2D2D2D"/>
                          </a:solidFill>
                          <a:latin typeface="Segoe UI"/>
                        </a:rPr>
                        <a:t>Support / expedite vendor approval to unblock the read-only integration.</a:t>
                      </a:r>
                    </a:p>
                  </a:txBody>
                  <a:tcPr>
                    <a:solidFill>
                      <a:srgbClr val="F4F6F9"/>
                    </a:solidFill>
                  </a:tcPr>
                </a:tc>
              </a:tr>
              <a:tr h="1051560">
                <a:tc>
                  <a:txBody>
                    <a:bodyPr/>
                    <a:lstStyle/>
                    <a:p>
                      <a:r>
                        <a:rPr sz="1100" b="1" i="0">
                          <a:solidFill>
                            <a:srgbClr val="1F3A5F"/>
                          </a:solidFill>
                          <a:latin typeface="Segoe UI"/>
                        </a:rPr>
                        <a:t>Service Mapping DNS</a:t>
                      </a:r>
                    </a:p>
                  </a:txBody>
                  <a:tcPr>
                    <a:solidFill>
                      <a:srgbClr val="FFFFFF"/>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Reverse-DNS issue limits full discovery coverage.</a:t>
                      </a:r>
                    </a:p>
                  </a:txBody>
                  <a:tcPr>
                    <a:solidFill>
                      <a:srgbClr val="FFFFFF"/>
                    </a:solidFill>
                  </a:tcPr>
                </a:tc>
                <a:tc>
                  <a:txBody>
                    <a:bodyPr/>
                    <a:lstStyle/>
                    <a:p>
                      <a:r>
                        <a:rPr sz="1050" b="0" i="0">
                          <a:solidFill>
                            <a:srgbClr val="2D2D2D"/>
                          </a:solidFill>
                          <a:latin typeface="Segoe UI"/>
                        </a:rPr>
                        <a:t>Leadership support on the DNS / infra dependency.</a:t>
                      </a:r>
                    </a:p>
                  </a:txBody>
                  <a:tcPr>
                    <a:solidFill>
                      <a:srgbClr val="FFFFFF"/>
                    </a:solidFill>
                  </a:tcPr>
                </a:tc>
              </a:tr>
              <a:tr h="1051560">
                <a:tc>
                  <a:txBody>
                    <a:bodyPr/>
                    <a:lstStyle/>
                    <a:p>
                      <a:r>
                        <a:rPr sz="1100" b="1" i="0">
                          <a:solidFill>
                            <a:srgbClr val="1F3A5F"/>
                          </a:solidFill>
                          <a:latin typeface="Segoe UI"/>
                        </a:rPr>
                        <a:t>Code-freeze windows</a:t>
                      </a:r>
                    </a:p>
                  </a:txBody>
                  <a:tcPr>
                    <a:solidFill>
                      <a:srgbClr val="F4F6F9"/>
                    </a:solidFill>
                  </a:tcPr>
                </a:tc>
                <a:tc>
                  <a:txBody>
                    <a:bodyPr/>
                    <a:lstStyle/>
                    <a:p>
                      <a:pPr algn="ctr"/>
                      <a:r>
                        <a:rPr sz="1100" b="1" i="0">
                          <a:solidFill>
                            <a:srgbClr val="FFFFFF"/>
                          </a:solidFill>
                          <a:latin typeface="Segoe UI"/>
                        </a:rPr>
                        <a:t>HIGH</a:t>
                      </a:r>
                    </a:p>
                  </a:txBody>
                  <a:tcPr>
                    <a:solidFill>
                      <a:srgbClr val="C0392B"/>
                    </a:solidFill>
                  </a:tcPr>
                </a:tc>
                <a:tc>
                  <a:txBody>
                    <a:bodyPr/>
                    <a:lstStyle/>
                    <a:p>
                      <a:r>
                        <a:rPr sz="1050" b="0" i="0">
                          <a:solidFill>
                            <a:srgbClr val="2D2D2D"/>
                          </a:solidFill>
                          <a:latin typeface="Segoe UI"/>
                        </a:rPr>
                        <a:t>Dev freeze Jun 27 - Jul 18; Test freeze Jul 18 - Aug 15 compresses PI-2 completion.</a:t>
                      </a:r>
                    </a:p>
                  </a:txBody>
                  <a:tcPr>
                    <a:solidFill>
                      <a:srgbClr val="F4F6F9"/>
                    </a:solidFill>
                  </a:tcPr>
                </a:tc>
                <a:tc>
                  <a:txBody>
                    <a:bodyPr/>
                    <a:lstStyle/>
                    <a:p>
                      <a:r>
                        <a:rPr sz="1050" b="0" i="0">
                          <a:solidFill>
                            <a:srgbClr val="2D2D2D"/>
                          </a:solidFill>
                          <a:latin typeface="Segoe UI"/>
                        </a:rPr>
                        <a:t>Awareness; sequence deployments around freezes.</a:t>
                      </a:r>
                    </a:p>
                  </a:txBody>
                  <a:tcPr>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What's Next</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Looking ahead to PI-3 and the IP iteration</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Rectangle 6"/>
          <p:cNvSpPr/>
          <p:nvPr/>
        </p:nvSpPr>
        <p:spPr>
          <a:xfrm>
            <a:off x="502920" y="160020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PI-3 Planning during the IP iteration (Jul 22 - Aug 4).</a:t>
            </a:r>
          </a:p>
        </p:txBody>
      </p:sp>
      <p:sp>
        <p:nvSpPr>
          <p:cNvPr id="9" name="Rectangle 8"/>
          <p:cNvSpPr/>
          <p:nvPr/>
        </p:nvSpPr>
        <p:spPr>
          <a:xfrm>
            <a:off x="502920" y="237744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3172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NowAssist Phase 1+: Duplicate CI Elimination, NL CMDB Search.</a:t>
            </a:r>
          </a:p>
        </p:txBody>
      </p:sp>
      <p:sp>
        <p:nvSpPr>
          <p:cNvPr id="11" name="Rectangle 10"/>
          <p:cNvSpPr/>
          <p:nvPr/>
        </p:nvSpPr>
        <p:spPr>
          <a:xfrm>
            <a:off x="502920" y="315468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10896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Qualys Phase 2: two-way integration for data completeness.</a:t>
            </a:r>
          </a:p>
        </p:txBody>
      </p:sp>
      <p:sp>
        <p:nvSpPr>
          <p:cNvPr id="13" name="Rectangle 12"/>
          <p:cNvSpPr/>
          <p:nvPr/>
        </p:nvSpPr>
        <p:spPr>
          <a:xfrm>
            <a:off x="502920" y="393192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8620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CI Certification: extend program beyond Business Apps.</a:t>
            </a:r>
          </a:p>
        </p:txBody>
      </p:sp>
      <p:sp>
        <p:nvSpPr>
          <p:cNvPr id="15" name="Rectangle 14"/>
          <p:cNvSpPr/>
          <p:nvPr/>
        </p:nvSpPr>
        <p:spPr>
          <a:xfrm>
            <a:off x="502920" y="4709160"/>
            <a:ext cx="109728"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663440"/>
            <a:ext cx="10789920" cy="640080"/>
          </a:xfrm>
          <a:prstGeom prst="rect">
            <a:avLst/>
          </a:prstGeom>
          <a:noFill/>
        </p:spPr>
        <p:txBody>
          <a:bodyPr wrap="square" anchor="t" lIns="50800" rIns="50800" tIns="25400" bIns="25400">
            <a:spAutoFit/>
          </a:bodyPr>
          <a:lstStyle/>
          <a:p>
            <a:pPr algn="l"/>
            <a:r>
              <a:rPr sz="1400" b="0" i="0">
                <a:solidFill>
                  <a:srgbClr val="2D2D2D"/>
                </a:solidFill>
                <a:latin typeface="Segoe UI"/>
              </a:rPr>
              <a:t>Plan delivery around code freezes (Dev Jun 27-Jul 18, Test Jul 18-Aug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0515600" cy="502920"/>
          </a:xfrm>
          <a:prstGeom prst="rect">
            <a:avLst/>
          </a:prstGeom>
          <a:noFill/>
        </p:spPr>
        <p:txBody>
          <a:bodyPr wrap="square" anchor="ctr" lIns="50800" rIns="50800" tIns="25400" bIns="25400">
            <a:spAutoFit/>
          </a:bodyPr>
          <a:lstStyle/>
          <a:p>
            <a:pPr algn="l"/>
            <a:r>
              <a:rPr sz="2600" b="1" i="0">
                <a:solidFill>
                  <a:srgbClr val="FFFFFF"/>
                </a:solidFill>
                <a:latin typeface="Segoe UI"/>
              </a:rPr>
              <a:t>Appendix</a:t>
            </a:r>
          </a:p>
        </p:txBody>
      </p:sp>
      <p:sp>
        <p:nvSpPr>
          <p:cNvPr id="5" name="TextBox 4"/>
          <p:cNvSpPr txBox="1"/>
          <p:nvPr/>
        </p:nvSpPr>
        <p:spPr>
          <a:xfrm>
            <a:off x="521207" y="603504"/>
            <a:ext cx="10515600" cy="292608"/>
          </a:xfrm>
          <a:prstGeom prst="rect">
            <a:avLst/>
          </a:prstGeom>
          <a:noFill/>
        </p:spPr>
        <p:txBody>
          <a:bodyPr wrap="square" anchor="ctr" lIns="50800" rIns="50800" tIns="25400" bIns="25400">
            <a:spAutoFit/>
          </a:bodyPr>
          <a:lstStyle/>
          <a:p>
            <a:pPr algn="l"/>
            <a:r>
              <a:rPr sz="1200" b="0" i="0">
                <a:solidFill>
                  <a:srgbClr val="C9D6E6"/>
                </a:solidFill>
                <a:latin typeface="Segoe UI"/>
              </a:rPr>
              <a:t>Story-level detail</a:t>
            </a:r>
          </a:p>
        </p:txBody>
      </p:sp>
      <p:sp>
        <p:nvSpPr>
          <p:cNvPr id="6" name="TextBox 5"/>
          <p:cNvSpPr txBox="1"/>
          <p:nvPr/>
        </p:nvSpPr>
        <p:spPr>
          <a:xfrm>
            <a:off x="502920" y="6446520"/>
            <a:ext cx="7315200" cy="320040"/>
          </a:xfrm>
          <a:prstGeom prst="rect">
            <a:avLst/>
          </a:prstGeom>
          <a:noFill/>
        </p:spPr>
        <p:txBody>
          <a:bodyPr wrap="square" anchor="t" lIns="50800" rIns="50800" tIns="25400" bIns="25400">
            <a:spAutoFit/>
          </a:bodyPr>
          <a:lstStyle/>
          <a:p>
            <a:pPr algn="l"/>
            <a:r>
              <a:rPr sz="900" b="0" i="0">
                <a:solidFill>
                  <a:srgbClr val="6B7280"/>
                </a:solidFill>
                <a:latin typeface="Segoe UI"/>
              </a:rPr>
              <a:t>PPL CMDB-CSDM  |  PI-2  |  Week of June 11, 2026  (updated June 12, 12:00pm EST)</a:t>
            </a:r>
          </a:p>
        </p:txBody>
      </p:sp>
      <p:sp>
        <p:nvSpPr>
          <p:cNvPr id="7" name="TextBox 6"/>
          <p:cNvSpPr txBox="1"/>
          <p:nvPr/>
        </p:nvSpPr>
        <p:spPr>
          <a:xfrm>
            <a:off x="502920" y="1645920"/>
            <a:ext cx="10972800" cy="2743200"/>
          </a:xfrm>
          <a:prstGeom prst="rect">
            <a:avLst/>
          </a:prstGeom>
          <a:noFill/>
        </p:spPr>
        <p:txBody>
          <a:bodyPr wrap="square" anchor="t" lIns="50800" rIns="50800" tIns="25400" bIns="25400">
            <a:spAutoFit/>
          </a:bodyPr>
          <a:lstStyle/>
          <a:p>
            <a:pPr algn="l"/>
            <a:r>
              <a:rPr sz="1400" b="1" i="0">
                <a:solidFill>
                  <a:srgbClr val="2D2D2D"/>
                </a:solidFill>
                <a:latin typeface="Segoe UI"/>
              </a:rPr>
              <a:t>Full traceability is maintained in the team's working notes:</a:t>
            </a:r>
          </a:p>
          <a:p>
            <a:pPr algn="l"/>
            <a:r>
              <a:rPr sz="800" b="0" i="0">
                <a:solidFill>
                  <a:srgbClr val="2D2D2D"/>
                </a:solidFill>
                <a:latin typeface="Segoe UI"/>
              </a:rPr>
              <a:t/>
            </a:r>
          </a:p>
          <a:p>
            <a:pPr algn="l"/>
            <a:r>
              <a:rPr sz="1200" b="0" i="0">
                <a:solidFill>
                  <a:srgbClr val="2E6DB4"/>
                </a:solidFill>
                <a:latin typeface="Segoe UI"/>
              </a:rPr>
              <a:t>- Objectives -&gt; Features -&gt; Stories:  PI-2/pi2-objectives-features-stories.md</a:t>
            </a:r>
          </a:p>
          <a:p>
            <a:pPr algn="l"/>
            <a:r>
              <a:rPr sz="1200" b="0" i="0">
                <a:solidFill>
                  <a:srgbClr val="2E6DB4"/>
                </a:solidFill>
                <a:latin typeface="Segoe UI"/>
              </a:rPr>
              <a:t>- Activity by Iteration (2.1 / 2.2 / 2.3):  PI-2/pi2-iteration-activity.md</a:t>
            </a:r>
          </a:p>
          <a:p>
            <a:pPr algn="l"/>
            <a:r>
              <a:rPr sz="1200" b="0" i="0">
                <a:solidFill>
                  <a:srgbClr val="2E6DB4"/>
                </a:solidFill>
                <a:latin typeface="Segoe UI"/>
              </a:rPr>
              <a:t>- Program Backlog Review notes:  PI-2/Program-Backlog-Review/</a:t>
            </a:r>
          </a:p>
          <a:p>
            <a:pPr algn="l"/>
            <a:r>
              <a:rPr sz="800" b="0" i="0">
                <a:solidFill>
                  <a:srgbClr val="2D2D2D"/>
                </a:solidFill>
                <a:latin typeface="Segoe UI"/>
              </a:rPr>
              <a:t/>
            </a:r>
          </a:p>
          <a:p>
            <a:pPr algn="l"/>
            <a:r>
              <a:rPr sz="1100" b="0" i="1">
                <a:solidFill>
                  <a:srgbClr val="6B7280"/>
                </a:solidFill>
                <a:latin typeface="Segoe UI"/>
              </a:rPr>
              <a:t>This deck is regenerated weekly from build_status_deck.py.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