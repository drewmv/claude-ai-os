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73152"/>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698480" cy="914400"/>
          </a:xfrm>
          <a:prstGeom prst="rect">
            <a:avLst/>
          </a:prstGeom>
          <a:noFill/>
        </p:spPr>
        <p:txBody>
          <a:bodyPr wrap="square" anchor="t" lIns="50800" rIns="50800" tIns="25400" bIns="25400">
            <a:spAutoFit/>
          </a:bodyPr>
          <a:lstStyle/>
          <a:p>
            <a:pPr algn="l"/>
            <a:r>
              <a:rPr sz="4400" b="1" i="0">
                <a:solidFill>
                  <a:srgbClr val="FFFFFF"/>
                </a:solidFill>
                <a:latin typeface="Segoe UI"/>
              </a:rPr>
              <a:t>CMDB-CSDM Delivery Status</a:t>
            </a:r>
          </a:p>
        </p:txBody>
      </p:sp>
      <p:sp>
        <p:nvSpPr>
          <p:cNvPr id="5" name="TextBox 4"/>
          <p:cNvSpPr txBox="1"/>
          <p:nvPr/>
        </p:nvSpPr>
        <p:spPr>
          <a:xfrm>
            <a:off x="749808" y="2788920"/>
            <a:ext cx="10698480" cy="548640"/>
          </a:xfrm>
          <a:prstGeom prst="rect">
            <a:avLst/>
          </a:prstGeom>
          <a:noFill/>
        </p:spPr>
        <p:txBody>
          <a:bodyPr wrap="square" anchor="t" lIns="50800" rIns="50800" tIns="25400" bIns="25400">
            <a:spAutoFit/>
          </a:bodyPr>
          <a:lstStyle/>
          <a:p>
            <a:pPr algn="l"/>
            <a:r>
              <a:rPr sz="2200" b="0" i="0">
                <a:solidFill>
                  <a:srgbClr val="C9D6E6"/>
                </a:solidFill>
                <a:latin typeface="Segoe UI"/>
              </a:rPr>
              <a:t>Weekly Leadership Report</a:t>
            </a:r>
          </a:p>
        </p:txBody>
      </p:sp>
      <p:sp>
        <p:nvSpPr>
          <p:cNvPr id="6" name="TextBox 5"/>
          <p:cNvSpPr txBox="1"/>
          <p:nvPr/>
        </p:nvSpPr>
        <p:spPr>
          <a:xfrm>
            <a:off x="749808" y="4343400"/>
            <a:ext cx="10698480" cy="1280160"/>
          </a:xfrm>
          <a:prstGeom prst="rect">
            <a:avLst/>
          </a:prstGeom>
          <a:noFill/>
        </p:spPr>
        <p:txBody>
          <a:bodyPr wrap="square" anchor="t" lIns="50800" rIns="50800" tIns="25400" bIns="25400">
            <a:spAutoFit/>
          </a:bodyPr>
          <a:lstStyle/>
          <a:p>
            <a:pPr algn="l"/>
            <a:r>
              <a:rPr sz="1600" b="1" i="0">
                <a:solidFill>
                  <a:srgbClr val="FFFFFF"/>
                </a:solidFill>
                <a:latin typeface="Segoe UI"/>
              </a:rPr>
              <a:t>PI-2  ·  Iteration 2.3  (Jun 10 - 23)</a:t>
            </a:r>
          </a:p>
          <a:p>
            <a:pPr algn="l"/>
            <a:r>
              <a:rPr sz="1400" b="0" i="0">
                <a:solidFill>
                  <a:srgbClr val="C9D6E6"/>
                </a:solidFill>
                <a:latin typeface="Segoe UI"/>
              </a:rPr>
              <a:t>Week of June 11, 2026</a:t>
            </a:r>
          </a:p>
          <a:p>
            <a:pPr algn="l"/>
            <a:r>
              <a:rPr sz="1200" b="0" i="0">
                <a:solidFill>
                  <a:srgbClr val="9FB2CC"/>
                </a:solidFill>
                <a:latin typeface="Segoe UI"/>
              </a:rPr>
              <a:t>Manuel Vazquez  -  Scrum Master, CMDB-CSDM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How to Read This Report</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Baseline edition - week-over-week deltas begin next week.</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a:t>
            </a:r>
          </a:p>
        </p:txBody>
      </p:sp>
      <p:sp>
        <p:nvSpPr>
          <p:cNvPr id="7" name="TextBox 6"/>
          <p:cNvSpPr txBox="1"/>
          <p:nvPr/>
        </p:nvSpPr>
        <p:spPr>
          <a:xfrm>
            <a:off x="502920" y="1280160"/>
            <a:ext cx="10972800" cy="365760"/>
          </a:xfrm>
          <a:prstGeom prst="rect">
            <a:avLst/>
          </a:prstGeom>
          <a:noFill/>
        </p:spPr>
        <p:txBody>
          <a:bodyPr wrap="square" anchor="t" lIns="50800" rIns="50800" tIns="25400" bIns="25400">
            <a:spAutoFit/>
          </a:bodyPr>
          <a:lstStyle/>
          <a:p>
            <a:pPr algn="l"/>
            <a:r>
              <a:rPr sz="1500" b="1" i="0">
                <a:solidFill>
                  <a:srgbClr val="2D2D2D"/>
                </a:solidFill>
                <a:latin typeface="Segoe UI"/>
              </a:rPr>
              <a:t>Three progress lenses, refreshed every week:</a:t>
            </a:r>
          </a:p>
        </p:txBody>
      </p:sp>
      <p:sp>
        <p:nvSpPr>
          <p:cNvPr id="8" name="Rectangle 7"/>
          <p:cNvSpPr/>
          <p:nvPr/>
        </p:nvSpPr>
        <p:spPr>
          <a:xfrm>
            <a:off x="502920" y="1828800"/>
            <a:ext cx="109728"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10515600" cy="548640"/>
          </a:xfrm>
          <a:prstGeom prst="rect">
            <a:avLst/>
          </a:prstGeom>
          <a:noFill/>
        </p:spPr>
        <p:txBody>
          <a:bodyPr wrap="square" anchor="t" lIns="50800" rIns="50800" tIns="25400" bIns="25400">
            <a:spAutoFit/>
          </a:bodyPr>
          <a:lstStyle/>
          <a:p>
            <a:pPr algn="l"/>
            <a:r>
              <a:rPr sz="1400" b="1" i="0">
                <a:solidFill>
                  <a:srgbClr val="2E6DB4"/>
                </a:solidFill>
                <a:latin typeface="Segoe UI"/>
              </a:rPr>
              <a:t>PI over PI</a:t>
            </a:r>
          </a:p>
          <a:p>
            <a:pPr algn="l"/>
            <a:r>
              <a:rPr sz="1200" b="0" i="0">
                <a:solidFill>
                  <a:srgbClr val="2D2D2D"/>
                </a:solidFill>
                <a:latin typeface="Segoe UI"/>
              </a:rPr>
              <a:t>Are we delivering more value each Program Increment?</a:t>
            </a:r>
          </a:p>
        </p:txBody>
      </p:sp>
      <p:sp>
        <p:nvSpPr>
          <p:cNvPr id="10" name="Rectangle 9"/>
          <p:cNvSpPr/>
          <p:nvPr/>
        </p:nvSpPr>
        <p:spPr>
          <a:xfrm>
            <a:off x="502920" y="2514600"/>
            <a:ext cx="109728"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14600"/>
            <a:ext cx="10515600" cy="548640"/>
          </a:xfrm>
          <a:prstGeom prst="rect">
            <a:avLst/>
          </a:prstGeom>
          <a:noFill/>
        </p:spPr>
        <p:txBody>
          <a:bodyPr wrap="square" anchor="t" lIns="50800" rIns="50800" tIns="25400" bIns="25400">
            <a:spAutoFit/>
          </a:bodyPr>
          <a:lstStyle/>
          <a:p>
            <a:pPr algn="l"/>
            <a:r>
              <a:rPr sz="1400" b="1" i="0">
                <a:solidFill>
                  <a:srgbClr val="2E6DB4"/>
                </a:solidFill>
                <a:latin typeface="Segoe UI"/>
              </a:rPr>
              <a:t>Iteration over Iteration</a:t>
            </a:r>
          </a:p>
          <a:p>
            <a:pPr algn="l"/>
            <a:r>
              <a:rPr sz="1200" b="0" i="0">
                <a:solidFill>
                  <a:srgbClr val="2D2D2D"/>
                </a:solidFill>
                <a:latin typeface="Segoe UI"/>
              </a:rPr>
              <a:t>Is each 2-week sprint building on the last?</a:t>
            </a:r>
          </a:p>
        </p:txBody>
      </p:sp>
      <p:sp>
        <p:nvSpPr>
          <p:cNvPr id="12" name="Rectangle 11"/>
          <p:cNvSpPr/>
          <p:nvPr/>
        </p:nvSpPr>
        <p:spPr>
          <a:xfrm>
            <a:off x="502920" y="3200400"/>
            <a:ext cx="109728"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200400"/>
            <a:ext cx="10515600" cy="548640"/>
          </a:xfrm>
          <a:prstGeom prst="rect">
            <a:avLst/>
          </a:prstGeom>
          <a:noFill/>
        </p:spPr>
        <p:txBody>
          <a:bodyPr wrap="square" anchor="t" lIns="50800" rIns="50800" tIns="25400" bIns="25400">
            <a:spAutoFit/>
          </a:bodyPr>
          <a:lstStyle/>
          <a:p>
            <a:pPr algn="l"/>
            <a:r>
              <a:rPr sz="1400" b="1" i="0">
                <a:solidFill>
                  <a:srgbClr val="2E6DB4"/>
                </a:solidFill>
                <a:latin typeface="Segoe UI"/>
              </a:rPr>
              <a:t>Week over Week</a:t>
            </a:r>
          </a:p>
          <a:p>
            <a:pPr algn="l"/>
            <a:r>
              <a:rPr sz="1200" b="0" i="0">
                <a:solidFill>
                  <a:srgbClr val="2D2D2D"/>
                </a:solidFill>
                <a:latin typeface="Segoe UI"/>
              </a:rPr>
              <a:t>What concretely moved since the last report?</a:t>
            </a:r>
          </a:p>
        </p:txBody>
      </p:sp>
      <p:sp>
        <p:nvSpPr>
          <p:cNvPr id="14" name="TextBox 13"/>
          <p:cNvSpPr txBox="1"/>
          <p:nvPr/>
        </p:nvSpPr>
        <p:spPr>
          <a:xfrm>
            <a:off x="502920" y="4206240"/>
            <a:ext cx="5486400" cy="365760"/>
          </a:xfrm>
          <a:prstGeom prst="rect">
            <a:avLst/>
          </a:prstGeom>
          <a:noFill/>
        </p:spPr>
        <p:txBody>
          <a:bodyPr wrap="square" anchor="t" lIns="50800" rIns="50800" tIns="25400" bIns="25400">
            <a:spAutoFit/>
          </a:bodyPr>
          <a:lstStyle/>
          <a:p>
            <a:pPr algn="l"/>
            <a:r>
              <a:rPr sz="1300" b="1" i="0">
                <a:solidFill>
                  <a:srgbClr val="2D2D2D"/>
                </a:solidFill>
                <a:latin typeface="Segoe UI"/>
              </a:rPr>
              <a:t>Status legend:</a:t>
            </a:r>
          </a:p>
        </p:txBody>
      </p:sp>
      <p:sp>
        <p:nvSpPr>
          <p:cNvPr id="15" name="Rectangle 14"/>
          <p:cNvSpPr/>
          <p:nvPr/>
        </p:nvSpPr>
        <p:spPr>
          <a:xfrm>
            <a:off x="502920" y="4617720"/>
            <a:ext cx="1005840" cy="2743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GREEN</a:t>
            </a:r>
          </a:p>
        </p:txBody>
      </p:sp>
      <p:sp>
        <p:nvSpPr>
          <p:cNvPr id="16" name="TextBox 15"/>
          <p:cNvSpPr txBox="1"/>
          <p:nvPr/>
        </p:nvSpPr>
        <p:spPr>
          <a:xfrm>
            <a:off x="1645920" y="4617720"/>
            <a:ext cx="4572000" cy="274320"/>
          </a:xfrm>
          <a:prstGeom prst="rect">
            <a:avLst/>
          </a:prstGeom>
          <a:noFill/>
        </p:spPr>
        <p:txBody>
          <a:bodyPr wrap="square" anchor="t" lIns="50800" rIns="50800" tIns="25400" bIns="25400">
            <a:spAutoFit/>
          </a:bodyPr>
          <a:lstStyle/>
          <a:p>
            <a:pPr algn="l"/>
            <a:r>
              <a:rPr sz="1200" b="0" i="0">
                <a:solidFill>
                  <a:srgbClr val="2D2D2D"/>
                </a:solidFill>
                <a:latin typeface="Segoe UI"/>
              </a:rPr>
              <a:t>On track</a:t>
            </a:r>
          </a:p>
        </p:txBody>
      </p:sp>
      <p:sp>
        <p:nvSpPr>
          <p:cNvPr id="17" name="Rectangle 16"/>
          <p:cNvSpPr/>
          <p:nvPr/>
        </p:nvSpPr>
        <p:spPr>
          <a:xfrm>
            <a:off x="502920" y="5029200"/>
            <a:ext cx="100584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AMBER</a:t>
            </a:r>
          </a:p>
        </p:txBody>
      </p:sp>
      <p:sp>
        <p:nvSpPr>
          <p:cNvPr id="18" name="TextBox 17"/>
          <p:cNvSpPr txBox="1"/>
          <p:nvPr/>
        </p:nvSpPr>
        <p:spPr>
          <a:xfrm>
            <a:off x="1645920" y="5029200"/>
            <a:ext cx="5486400" cy="274320"/>
          </a:xfrm>
          <a:prstGeom prst="rect">
            <a:avLst/>
          </a:prstGeom>
          <a:noFill/>
        </p:spPr>
        <p:txBody>
          <a:bodyPr wrap="square" anchor="t" lIns="50800" rIns="50800" tIns="25400" bIns="25400">
            <a:spAutoFit/>
          </a:bodyPr>
          <a:lstStyle/>
          <a:p>
            <a:pPr algn="l"/>
            <a:r>
              <a:rPr sz="1200" b="0" i="0">
                <a:solidFill>
                  <a:srgbClr val="2D2D2D"/>
                </a:solidFill>
                <a:latin typeface="Segoe UI"/>
              </a:rPr>
              <a:t>Progressing, with watch items</a:t>
            </a:r>
          </a:p>
        </p:txBody>
      </p:sp>
      <p:sp>
        <p:nvSpPr>
          <p:cNvPr id="19" name="Rectangle 18"/>
          <p:cNvSpPr/>
          <p:nvPr/>
        </p:nvSpPr>
        <p:spPr>
          <a:xfrm>
            <a:off x="502920" y="5440680"/>
            <a:ext cx="1005840" cy="274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RED</a:t>
            </a:r>
          </a:p>
        </p:txBody>
      </p:sp>
      <p:sp>
        <p:nvSpPr>
          <p:cNvPr id="20" name="TextBox 19"/>
          <p:cNvSpPr txBox="1"/>
          <p:nvPr/>
        </p:nvSpPr>
        <p:spPr>
          <a:xfrm>
            <a:off x="1645920" y="5440680"/>
            <a:ext cx="5486400" cy="274320"/>
          </a:xfrm>
          <a:prstGeom prst="rect">
            <a:avLst/>
          </a:prstGeom>
          <a:noFill/>
        </p:spPr>
        <p:txBody>
          <a:bodyPr wrap="square" anchor="t" lIns="50800" rIns="50800" tIns="25400" bIns="25400">
            <a:spAutoFit/>
          </a:bodyPr>
          <a:lstStyle/>
          <a:p>
            <a:pPr algn="l"/>
            <a:r>
              <a:rPr sz="1200" b="0" i="0">
                <a:solidFill>
                  <a:srgbClr val="2D2D2D"/>
                </a:solidFill>
                <a:latin typeface="Segoe UI"/>
              </a:rPr>
              <a:t>Blocked / needs intervention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Executive Summary</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Iteration 2.3  (Jun 10 - 23)</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a:t>
            </a:r>
          </a:p>
        </p:txBody>
      </p:sp>
      <p:sp>
        <p:nvSpPr>
          <p:cNvPr id="7" name="Rectangle 6"/>
          <p:cNvSpPr/>
          <p:nvPr/>
        </p:nvSpPr>
        <p:spPr>
          <a:xfrm>
            <a:off x="502920" y="1234440"/>
            <a:ext cx="4023360" cy="2743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ON TRACK - WITH WATCH ITEMS</a:t>
            </a:r>
          </a:p>
        </p:txBody>
      </p:sp>
      <p:sp>
        <p:nvSpPr>
          <p:cNvPr id="8" name="TextBox 7"/>
          <p:cNvSpPr txBox="1"/>
          <p:nvPr/>
        </p:nvSpPr>
        <p:spPr>
          <a:xfrm>
            <a:off x="502920" y="1691640"/>
            <a:ext cx="11155680" cy="731520"/>
          </a:xfrm>
          <a:prstGeom prst="rect">
            <a:avLst/>
          </a:prstGeom>
          <a:noFill/>
        </p:spPr>
        <p:txBody>
          <a:bodyPr wrap="square" anchor="t" lIns="50800" rIns="50800" tIns="25400" bIns="25400">
            <a:spAutoFit/>
          </a:bodyPr>
          <a:lstStyle/>
          <a:p>
            <a:pPr algn="l"/>
            <a:r>
              <a:rPr sz="1300" b="0" i="0">
                <a:solidFill>
                  <a:srgbClr val="2D2D2D"/>
                </a:solidFill>
                <a:latin typeface="Segoe UI"/>
              </a:rPr>
              <a:t>Delivery is progressing across all 6 objectives. Three items need leadership attention: NowAssist resourcing, an SCCM approval gate, and the DNS dependency.</a:t>
            </a:r>
          </a:p>
        </p:txBody>
      </p:sp>
      <p:sp>
        <p:nvSpPr>
          <p:cNvPr id="9" name="TextBox 8"/>
          <p:cNvSpPr txBox="1"/>
          <p:nvPr/>
        </p:nvSpPr>
        <p:spPr>
          <a:xfrm>
            <a:off x="502920" y="2514600"/>
            <a:ext cx="5486400" cy="320040"/>
          </a:xfrm>
          <a:prstGeom prst="rect">
            <a:avLst/>
          </a:prstGeom>
          <a:noFill/>
        </p:spPr>
        <p:txBody>
          <a:bodyPr wrap="square" anchor="t" lIns="50800" rIns="50800" tIns="25400" bIns="25400">
            <a:spAutoFit/>
          </a:bodyPr>
          <a:lstStyle/>
          <a:p>
            <a:pPr algn="l"/>
            <a:r>
              <a:rPr sz="1500" b="1" i="0">
                <a:solidFill>
                  <a:srgbClr val="2E8B57"/>
                </a:solidFill>
                <a:latin typeface="Segoe UI"/>
              </a:rPr>
              <a:t>Wins this period</a:t>
            </a:r>
          </a:p>
        </p:txBody>
      </p:sp>
      <p:sp>
        <p:nvSpPr>
          <p:cNvPr id="10" name="TextBox 9"/>
          <p:cNvSpPr txBox="1"/>
          <p:nvPr/>
        </p:nvSpPr>
        <p:spPr>
          <a:xfrm>
            <a:off x="640080" y="2880360"/>
            <a:ext cx="5486400" cy="640080"/>
          </a:xfrm>
          <a:prstGeom prst="rect">
            <a:avLst/>
          </a:prstGeom>
          <a:noFill/>
        </p:spPr>
        <p:txBody>
          <a:bodyPr wrap="square" anchor="t" lIns="50800" rIns="50800" tIns="25400" bIns="25400">
            <a:spAutoFit/>
          </a:bodyPr>
          <a:lstStyle/>
          <a:p>
            <a:pPr algn="l"/>
            <a:r>
              <a:rPr sz="1150" b="0" i="0">
                <a:solidFill>
                  <a:srgbClr val="2D2D2D"/>
                </a:solidFill>
                <a:latin typeface="Segoe UI"/>
              </a:rPr>
              <a:t>+  Data Certification UAT signed off by Sonika (6/10) - clear path to PROD on Jun 23.</a:t>
            </a:r>
          </a:p>
        </p:txBody>
      </p:sp>
      <p:sp>
        <p:nvSpPr>
          <p:cNvPr id="11" name="TextBox 10"/>
          <p:cNvSpPr txBox="1"/>
          <p:nvPr/>
        </p:nvSpPr>
        <p:spPr>
          <a:xfrm>
            <a:off x="640080" y="3593592"/>
            <a:ext cx="5486400" cy="640080"/>
          </a:xfrm>
          <a:prstGeom prst="rect">
            <a:avLst/>
          </a:prstGeom>
          <a:noFill/>
        </p:spPr>
        <p:txBody>
          <a:bodyPr wrap="square" anchor="t" lIns="50800" rIns="50800" tIns="25400" bIns="25400">
            <a:spAutoFit/>
          </a:bodyPr>
          <a:lstStyle/>
          <a:p>
            <a:pPr algn="l"/>
            <a:r>
              <a:rPr sz="1150" b="0" i="0">
                <a:solidFill>
                  <a:srgbClr val="2D2D2D"/>
                </a:solidFill>
                <a:latin typeface="Segoe UI"/>
              </a:rPr>
              <a:t>+  Service Mapping discovery breakthrough - credentials working; Linux servers, Oracle DBs, and listeners now visible.</a:t>
            </a:r>
          </a:p>
        </p:txBody>
      </p:sp>
      <p:sp>
        <p:nvSpPr>
          <p:cNvPr id="12" name="TextBox 11"/>
          <p:cNvSpPr txBox="1"/>
          <p:nvPr/>
        </p:nvSpPr>
        <p:spPr>
          <a:xfrm>
            <a:off x="640080" y="4306824"/>
            <a:ext cx="5486400" cy="640080"/>
          </a:xfrm>
          <a:prstGeom prst="rect">
            <a:avLst/>
          </a:prstGeom>
          <a:noFill/>
        </p:spPr>
        <p:txBody>
          <a:bodyPr wrap="square" anchor="t" lIns="50800" rIns="50800" tIns="25400" bIns="25400">
            <a:spAutoFit/>
          </a:bodyPr>
          <a:lstStyle/>
          <a:p>
            <a:pPr algn="l"/>
            <a:r>
              <a:rPr sz="1150" b="0" i="0">
                <a:solidFill>
                  <a:srgbClr val="2D2D2D"/>
                </a:solidFill>
                <a:latin typeface="Segoe UI"/>
              </a:rPr>
              <a:t>+  Airlift dev admin access resolved (6/9) - migration stories unblocked.</a:t>
            </a:r>
          </a:p>
        </p:txBody>
      </p:sp>
      <p:sp>
        <p:nvSpPr>
          <p:cNvPr id="13" name="TextBox 12"/>
          <p:cNvSpPr txBox="1"/>
          <p:nvPr/>
        </p:nvSpPr>
        <p:spPr>
          <a:xfrm>
            <a:off x="640080" y="5020056"/>
            <a:ext cx="5486400" cy="640080"/>
          </a:xfrm>
          <a:prstGeom prst="rect">
            <a:avLst/>
          </a:prstGeom>
          <a:noFill/>
        </p:spPr>
        <p:txBody>
          <a:bodyPr wrap="square" anchor="t" lIns="50800" rIns="50800" tIns="25400" bIns="25400">
            <a:spAutoFit/>
          </a:bodyPr>
          <a:lstStyle/>
          <a:p>
            <a:pPr algn="l"/>
            <a:r>
              <a:rPr sz="1150" b="0" i="0">
                <a:solidFill>
                  <a:srgbClr val="2D2D2D"/>
                </a:solidFill>
                <a:latin typeface="Segoe UI"/>
              </a:rPr>
              <a:t>+  Scrum Master transition complete - Manuel now leading CMDB ceremonies &amp; delivery tracking.</a:t>
            </a:r>
          </a:p>
        </p:txBody>
      </p:sp>
      <p:sp>
        <p:nvSpPr>
          <p:cNvPr id="14" name="TextBox 13"/>
          <p:cNvSpPr txBox="1"/>
          <p:nvPr/>
        </p:nvSpPr>
        <p:spPr>
          <a:xfrm>
            <a:off x="6309360" y="2514600"/>
            <a:ext cx="5486400" cy="320040"/>
          </a:xfrm>
          <a:prstGeom prst="rect">
            <a:avLst/>
          </a:prstGeom>
          <a:noFill/>
        </p:spPr>
        <p:txBody>
          <a:bodyPr wrap="square" anchor="t" lIns="50800" rIns="50800" tIns="25400" bIns="25400">
            <a:spAutoFit/>
          </a:bodyPr>
          <a:lstStyle/>
          <a:p>
            <a:pPr algn="l"/>
            <a:r>
              <a:rPr sz="1500" b="1" i="0">
                <a:solidFill>
                  <a:srgbClr val="C0392B"/>
                </a:solidFill>
                <a:latin typeface="Segoe UI"/>
              </a:rPr>
              <a:t>Needs leadership attention</a:t>
            </a:r>
          </a:p>
        </p:txBody>
      </p:sp>
      <p:sp>
        <p:nvSpPr>
          <p:cNvPr id="15" name="TextBox 14"/>
          <p:cNvSpPr txBox="1"/>
          <p:nvPr/>
        </p:nvSpPr>
        <p:spPr>
          <a:xfrm>
            <a:off x="6446520" y="2880360"/>
            <a:ext cx="5303520" cy="640080"/>
          </a:xfrm>
          <a:prstGeom prst="rect">
            <a:avLst/>
          </a:prstGeom>
          <a:noFill/>
        </p:spPr>
        <p:txBody>
          <a:bodyPr wrap="square" anchor="t" lIns="50800" rIns="50800" tIns="25400" bIns="25400">
            <a:spAutoFit/>
          </a:bodyPr>
          <a:lstStyle/>
          <a:p>
            <a:pPr algn="l"/>
            <a:r>
              <a:rPr sz="1150" b="0" i="0">
                <a:solidFill>
                  <a:srgbClr val="2D2D2D"/>
                </a:solidFill>
                <a:latin typeface="Segoe UI"/>
              </a:rPr>
              <a:t>!  NowAssist resourcing - Confirm replacement owner / approve reassignment.</a:t>
            </a:r>
          </a:p>
        </p:txBody>
      </p:sp>
      <p:sp>
        <p:nvSpPr>
          <p:cNvPr id="16" name="TextBox 15"/>
          <p:cNvSpPr txBox="1"/>
          <p:nvPr/>
        </p:nvSpPr>
        <p:spPr>
          <a:xfrm>
            <a:off x="6446520" y="3593592"/>
            <a:ext cx="5303520" cy="640080"/>
          </a:xfrm>
          <a:prstGeom prst="rect">
            <a:avLst/>
          </a:prstGeom>
          <a:noFill/>
        </p:spPr>
        <p:txBody>
          <a:bodyPr wrap="square" anchor="t" lIns="50800" rIns="50800" tIns="25400" bIns="25400">
            <a:spAutoFit/>
          </a:bodyPr>
          <a:lstStyle/>
          <a:p>
            <a:pPr algn="l"/>
            <a:r>
              <a:rPr sz="1150" b="0" i="0">
                <a:solidFill>
                  <a:srgbClr val="2D2D2D"/>
                </a:solidFill>
                <a:latin typeface="Segoe UI"/>
              </a:rPr>
              <a:t>!  SCCM approval gate - Expedite approval to keep the story in-sprint.</a:t>
            </a:r>
          </a:p>
        </p:txBody>
      </p:sp>
      <p:sp>
        <p:nvSpPr>
          <p:cNvPr id="17" name="TextBox 16"/>
          <p:cNvSpPr txBox="1"/>
          <p:nvPr/>
        </p:nvSpPr>
        <p:spPr>
          <a:xfrm>
            <a:off x="6446520" y="4306824"/>
            <a:ext cx="5303520" cy="640080"/>
          </a:xfrm>
          <a:prstGeom prst="rect">
            <a:avLst/>
          </a:prstGeom>
          <a:noFill/>
        </p:spPr>
        <p:txBody>
          <a:bodyPr wrap="square" anchor="t" lIns="50800" rIns="50800" tIns="25400" bIns="25400">
            <a:spAutoFit/>
          </a:bodyPr>
          <a:lstStyle/>
          <a:p>
            <a:pPr algn="l"/>
            <a:r>
              <a:rPr sz="1150" b="0" i="0">
                <a:solidFill>
                  <a:srgbClr val="2D2D2D"/>
                </a:solidFill>
                <a:latin typeface="Segoe UI"/>
              </a:rPr>
              <a:t>!  Service Mapping DNS - Leadership support on the DNS / infra dependency.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PI-2 Objectives Scorecard</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Status explains itself  ·  Stories = moving / in-scope (provisional)</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a:t>
            </a:r>
          </a:p>
        </p:txBody>
      </p:sp>
      <p:sp>
        <p:nvSpPr>
          <p:cNvPr id="7" name="Rectangle 6"/>
          <p:cNvSpPr/>
          <p:nvPr/>
        </p:nvSpPr>
        <p:spPr>
          <a:xfrm>
            <a:off x="502920" y="1188720"/>
            <a:ext cx="3657600" cy="23317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188720"/>
            <a:ext cx="3657600" cy="658368"/>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25296"/>
            <a:ext cx="3291840" cy="585216"/>
          </a:xfrm>
          <a:prstGeom prst="rect">
            <a:avLst/>
          </a:prstGeom>
          <a:noFill/>
        </p:spPr>
        <p:txBody>
          <a:bodyPr wrap="square" anchor="ctr" lIns="50800" rIns="50800" tIns="25400" bIns="25400">
            <a:spAutoFit/>
          </a:bodyPr>
          <a:lstStyle/>
          <a:p>
            <a:pPr algn="l"/>
            <a:r>
              <a:rPr sz="1150" b="1" i="0">
                <a:solidFill>
                  <a:srgbClr val="FFFFFF"/>
                </a:solidFill>
                <a:latin typeface="Segoe UI"/>
              </a:rPr>
              <a:t>P0   Governed VMware-to-Azure Migration (Airlift)</a:t>
            </a:r>
          </a:p>
        </p:txBody>
      </p:sp>
      <p:sp>
        <p:nvSpPr>
          <p:cNvPr id="10" name="TextBox 9"/>
          <p:cNvSpPr txBox="1"/>
          <p:nvPr/>
        </p:nvSpPr>
        <p:spPr>
          <a:xfrm>
            <a:off x="685800" y="1938528"/>
            <a:ext cx="3291840" cy="731520"/>
          </a:xfrm>
          <a:prstGeom prst="rect">
            <a:avLst/>
          </a:prstGeom>
          <a:noFill/>
        </p:spPr>
        <p:txBody>
          <a:bodyPr wrap="square" anchor="t" lIns="50800" rIns="50800" tIns="25400" bIns="25400">
            <a:spAutoFit/>
          </a:bodyPr>
          <a:lstStyle/>
          <a:p>
            <a:pPr algn="l"/>
            <a:r>
              <a:rPr sz="4400" b="1" i="0">
                <a:solidFill>
                  <a:srgbClr val="1F3A5F"/>
                </a:solidFill>
                <a:latin typeface="Segoe UI"/>
              </a:rPr>
              <a:t>4</a:t>
            </a:r>
          </a:p>
        </p:txBody>
      </p:sp>
      <p:sp>
        <p:nvSpPr>
          <p:cNvPr id="11" name="TextBox 10"/>
          <p:cNvSpPr txBox="1"/>
          <p:nvPr/>
        </p:nvSpPr>
        <p:spPr>
          <a:xfrm>
            <a:off x="1783080" y="2212848"/>
            <a:ext cx="2286000" cy="548640"/>
          </a:xfrm>
          <a:prstGeom prst="rect">
            <a:avLst/>
          </a:prstGeom>
          <a:noFill/>
        </p:spPr>
        <p:txBody>
          <a:bodyPr wrap="square" anchor="t" lIns="50800" rIns="50800" tIns="25400" bIns="25400">
            <a:spAutoFit/>
          </a:bodyPr>
          <a:lstStyle/>
          <a:p>
            <a:pPr algn="l"/>
            <a:r>
              <a:rPr sz="1100" b="0" i="0">
                <a:solidFill>
                  <a:srgbClr val="6B7280"/>
                </a:solidFill>
                <a:latin typeface="Segoe UI"/>
              </a:rPr>
              <a:t>stories in scope</a:t>
            </a:r>
          </a:p>
          <a:p>
            <a:pPr algn="l"/>
            <a:r>
              <a:rPr sz="1100" b="1" i="0">
                <a:solidFill>
                  <a:srgbClr val="2D2D2D"/>
                </a:solidFill>
                <a:latin typeface="Segoe UI"/>
              </a:rPr>
              <a:t>4 moving  ·  0 stuck</a:t>
            </a:r>
          </a:p>
        </p:txBody>
      </p:sp>
      <p:sp>
        <p:nvSpPr>
          <p:cNvPr id="12" name="TextBox 11"/>
          <p:cNvSpPr txBox="1"/>
          <p:nvPr/>
        </p:nvSpPr>
        <p:spPr>
          <a:xfrm>
            <a:off x="685800" y="2880360"/>
            <a:ext cx="3291840" cy="566928"/>
          </a:xfrm>
          <a:prstGeom prst="rect">
            <a:avLst/>
          </a:prstGeom>
          <a:noFill/>
        </p:spPr>
        <p:txBody>
          <a:bodyPr wrap="square" anchor="t" lIns="50800" rIns="50800" tIns="25400" bIns="25400">
            <a:spAutoFit/>
          </a:bodyPr>
          <a:lstStyle/>
          <a:p>
            <a:pPr algn="l"/>
            <a:r>
              <a:rPr sz="1000" b="0" i="0">
                <a:solidFill>
                  <a:srgbClr val="2D2D2D"/>
                </a:solidFill>
                <a:latin typeface="Segoe UI"/>
              </a:rPr>
              <a:t>On track - dev access resolved; 4 stories active</a:t>
            </a:r>
          </a:p>
        </p:txBody>
      </p:sp>
      <p:sp>
        <p:nvSpPr>
          <p:cNvPr id="13" name="Rectangle 12"/>
          <p:cNvSpPr/>
          <p:nvPr/>
        </p:nvSpPr>
        <p:spPr>
          <a:xfrm>
            <a:off x="4434840" y="1188720"/>
            <a:ext cx="3657600" cy="23317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188720"/>
            <a:ext cx="3657600" cy="658368"/>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1225296"/>
            <a:ext cx="3291840" cy="585216"/>
          </a:xfrm>
          <a:prstGeom prst="rect">
            <a:avLst/>
          </a:prstGeom>
          <a:noFill/>
        </p:spPr>
        <p:txBody>
          <a:bodyPr wrap="square" anchor="ctr" lIns="50800" rIns="50800" tIns="25400" bIns="25400">
            <a:spAutoFit/>
          </a:bodyPr>
          <a:lstStyle/>
          <a:p>
            <a:pPr algn="l"/>
            <a:r>
              <a:rPr sz="1150" b="1" i="0">
                <a:solidFill>
                  <a:srgbClr val="FFFFFF"/>
                </a:solidFill>
                <a:latin typeface="Segoe UI"/>
              </a:rPr>
              <a:t>P1   Automate Discovery Coverage for Network Gear</a:t>
            </a:r>
          </a:p>
        </p:txBody>
      </p:sp>
      <p:sp>
        <p:nvSpPr>
          <p:cNvPr id="16" name="TextBox 15"/>
          <p:cNvSpPr txBox="1"/>
          <p:nvPr/>
        </p:nvSpPr>
        <p:spPr>
          <a:xfrm>
            <a:off x="4617720" y="1938528"/>
            <a:ext cx="3291840" cy="731520"/>
          </a:xfrm>
          <a:prstGeom prst="rect">
            <a:avLst/>
          </a:prstGeom>
          <a:noFill/>
        </p:spPr>
        <p:txBody>
          <a:bodyPr wrap="square" anchor="t" lIns="50800" rIns="50800" tIns="25400" bIns="25400">
            <a:spAutoFit/>
          </a:bodyPr>
          <a:lstStyle/>
          <a:p>
            <a:pPr algn="l"/>
            <a:r>
              <a:rPr sz="4400" b="1" i="0">
                <a:solidFill>
                  <a:srgbClr val="1F3A5F"/>
                </a:solidFill>
                <a:latin typeface="Segoe UI"/>
              </a:rPr>
              <a:t>6</a:t>
            </a:r>
          </a:p>
        </p:txBody>
      </p:sp>
      <p:sp>
        <p:nvSpPr>
          <p:cNvPr id="17" name="TextBox 16"/>
          <p:cNvSpPr txBox="1"/>
          <p:nvPr/>
        </p:nvSpPr>
        <p:spPr>
          <a:xfrm>
            <a:off x="5715000" y="2212848"/>
            <a:ext cx="2286000" cy="548640"/>
          </a:xfrm>
          <a:prstGeom prst="rect">
            <a:avLst/>
          </a:prstGeom>
          <a:noFill/>
        </p:spPr>
        <p:txBody>
          <a:bodyPr wrap="square" anchor="t" lIns="50800" rIns="50800" tIns="25400" bIns="25400">
            <a:spAutoFit/>
          </a:bodyPr>
          <a:lstStyle/>
          <a:p>
            <a:pPr algn="l"/>
            <a:r>
              <a:rPr sz="1100" b="0" i="0">
                <a:solidFill>
                  <a:srgbClr val="6B7280"/>
                </a:solidFill>
                <a:latin typeface="Segoe UI"/>
              </a:rPr>
              <a:t>stories in scope</a:t>
            </a:r>
          </a:p>
          <a:p>
            <a:pPr algn="l"/>
            <a:r>
              <a:rPr sz="1100" b="1" i="0">
                <a:solidFill>
                  <a:srgbClr val="2D2D2D"/>
                </a:solidFill>
                <a:latin typeface="Segoe UI"/>
              </a:rPr>
              <a:t>3 moving  ·  3 stuck</a:t>
            </a:r>
          </a:p>
        </p:txBody>
      </p:sp>
      <p:sp>
        <p:nvSpPr>
          <p:cNvPr id="18" name="TextBox 17"/>
          <p:cNvSpPr txBox="1"/>
          <p:nvPr/>
        </p:nvSpPr>
        <p:spPr>
          <a:xfrm>
            <a:off x="4617720" y="2880360"/>
            <a:ext cx="3291840" cy="566928"/>
          </a:xfrm>
          <a:prstGeom prst="rect">
            <a:avLst/>
          </a:prstGeom>
          <a:noFill/>
        </p:spPr>
        <p:txBody>
          <a:bodyPr wrap="square" anchor="t" lIns="50800" rIns="50800" tIns="25400" bIns="25400">
            <a:spAutoFit/>
          </a:bodyPr>
          <a:lstStyle/>
          <a:p>
            <a:pPr algn="l"/>
            <a:r>
              <a:rPr sz="1000" b="0" i="0">
                <a:solidFill>
                  <a:srgbClr val="2D2D2D"/>
                </a:solidFill>
                <a:latin typeface="Segoe UI"/>
              </a:rPr>
              <a:t>At risk - 1 approval gate + 1 on-hold; ~6 stories not yet ID'd</a:t>
            </a:r>
          </a:p>
        </p:txBody>
      </p:sp>
      <p:sp>
        <p:nvSpPr>
          <p:cNvPr id="19" name="Rectangle 18"/>
          <p:cNvSpPr/>
          <p:nvPr/>
        </p:nvSpPr>
        <p:spPr>
          <a:xfrm>
            <a:off x="8366760" y="1188720"/>
            <a:ext cx="3657600" cy="23317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66760" y="1188720"/>
            <a:ext cx="3657600" cy="658368"/>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49640" y="1225296"/>
            <a:ext cx="3291840" cy="585216"/>
          </a:xfrm>
          <a:prstGeom prst="rect">
            <a:avLst/>
          </a:prstGeom>
          <a:noFill/>
        </p:spPr>
        <p:txBody>
          <a:bodyPr wrap="square" anchor="ctr" lIns="50800" rIns="50800" tIns="25400" bIns="25400">
            <a:spAutoFit/>
          </a:bodyPr>
          <a:lstStyle/>
          <a:p>
            <a:pPr algn="l"/>
            <a:r>
              <a:rPr sz="1150" b="1" i="0">
                <a:solidFill>
                  <a:srgbClr val="FFFFFF"/>
                </a:solidFill>
                <a:latin typeface="Segoe UI"/>
              </a:rPr>
              <a:t>P1   Establish CI Data Certification Program</a:t>
            </a:r>
          </a:p>
        </p:txBody>
      </p:sp>
      <p:sp>
        <p:nvSpPr>
          <p:cNvPr id="22" name="TextBox 21"/>
          <p:cNvSpPr txBox="1"/>
          <p:nvPr/>
        </p:nvSpPr>
        <p:spPr>
          <a:xfrm>
            <a:off x="8549640" y="1938528"/>
            <a:ext cx="3291840" cy="731520"/>
          </a:xfrm>
          <a:prstGeom prst="rect">
            <a:avLst/>
          </a:prstGeom>
          <a:noFill/>
        </p:spPr>
        <p:txBody>
          <a:bodyPr wrap="square" anchor="t" lIns="50800" rIns="50800" tIns="25400" bIns="25400">
            <a:spAutoFit/>
          </a:bodyPr>
          <a:lstStyle/>
          <a:p>
            <a:pPr algn="l"/>
            <a:r>
              <a:rPr sz="4400" b="1" i="0">
                <a:solidFill>
                  <a:srgbClr val="1F3A5F"/>
                </a:solidFill>
                <a:latin typeface="Segoe UI"/>
              </a:rPr>
              <a:t>1</a:t>
            </a:r>
          </a:p>
        </p:txBody>
      </p:sp>
      <p:sp>
        <p:nvSpPr>
          <p:cNvPr id="23" name="TextBox 22"/>
          <p:cNvSpPr txBox="1"/>
          <p:nvPr/>
        </p:nvSpPr>
        <p:spPr>
          <a:xfrm>
            <a:off x="9646920" y="2212848"/>
            <a:ext cx="2286000" cy="548640"/>
          </a:xfrm>
          <a:prstGeom prst="rect">
            <a:avLst/>
          </a:prstGeom>
          <a:noFill/>
        </p:spPr>
        <p:txBody>
          <a:bodyPr wrap="square" anchor="t" lIns="50800" rIns="50800" tIns="25400" bIns="25400">
            <a:spAutoFit/>
          </a:bodyPr>
          <a:lstStyle/>
          <a:p>
            <a:pPr algn="l"/>
            <a:r>
              <a:rPr sz="1100" b="0" i="0">
                <a:solidFill>
                  <a:srgbClr val="6B7280"/>
                </a:solidFill>
                <a:latin typeface="Segoe UI"/>
              </a:rPr>
              <a:t>stories in scope</a:t>
            </a:r>
          </a:p>
          <a:p>
            <a:pPr algn="l"/>
            <a:r>
              <a:rPr sz="1100" b="1" i="0">
                <a:solidFill>
                  <a:srgbClr val="2D2D2D"/>
                </a:solidFill>
                <a:latin typeface="Segoe UI"/>
              </a:rPr>
              <a:t>1 moving  ·  0 stuck</a:t>
            </a:r>
          </a:p>
        </p:txBody>
      </p:sp>
      <p:sp>
        <p:nvSpPr>
          <p:cNvPr id="24" name="TextBox 23"/>
          <p:cNvSpPr txBox="1"/>
          <p:nvPr/>
        </p:nvSpPr>
        <p:spPr>
          <a:xfrm>
            <a:off x="8549640" y="2880360"/>
            <a:ext cx="3291840" cy="566928"/>
          </a:xfrm>
          <a:prstGeom prst="rect">
            <a:avLst/>
          </a:prstGeom>
          <a:noFill/>
        </p:spPr>
        <p:txBody>
          <a:bodyPr wrap="square" anchor="t" lIns="50800" rIns="50800" tIns="25400" bIns="25400">
            <a:spAutoFit/>
          </a:bodyPr>
          <a:lstStyle/>
          <a:p>
            <a:pPr algn="l"/>
            <a:r>
              <a:rPr sz="1000" b="0" i="0">
                <a:solidFill>
                  <a:srgbClr val="2D2D2D"/>
                </a:solidFill>
                <a:latin typeface="Segoe UI"/>
              </a:rPr>
              <a:t>On track - in UAT, signed off; PROD Jun 23</a:t>
            </a:r>
          </a:p>
        </p:txBody>
      </p:sp>
      <p:sp>
        <p:nvSpPr>
          <p:cNvPr id="25" name="Rectangle 24"/>
          <p:cNvSpPr/>
          <p:nvPr/>
        </p:nvSpPr>
        <p:spPr>
          <a:xfrm>
            <a:off x="502920" y="3749040"/>
            <a:ext cx="3657600" cy="23317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3749040"/>
            <a:ext cx="3657600" cy="658368"/>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3785616"/>
            <a:ext cx="3291840" cy="585216"/>
          </a:xfrm>
          <a:prstGeom prst="rect">
            <a:avLst/>
          </a:prstGeom>
          <a:noFill/>
        </p:spPr>
        <p:txBody>
          <a:bodyPr wrap="square" anchor="ctr" lIns="50800" rIns="50800" tIns="25400" bIns="25400">
            <a:spAutoFit/>
          </a:bodyPr>
          <a:lstStyle/>
          <a:p>
            <a:pPr algn="l"/>
            <a:r>
              <a:rPr sz="1150" b="1" i="0">
                <a:solidFill>
                  <a:srgbClr val="FFFFFF"/>
                </a:solidFill>
                <a:latin typeface="Segoe UI"/>
              </a:rPr>
              <a:t>P2   Expand Service Mapping Foundation</a:t>
            </a:r>
          </a:p>
        </p:txBody>
      </p:sp>
      <p:sp>
        <p:nvSpPr>
          <p:cNvPr id="28" name="TextBox 27"/>
          <p:cNvSpPr txBox="1"/>
          <p:nvPr/>
        </p:nvSpPr>
        <p:spPr>
          <a:xfrm>
            <a:off x="685800" y="4498848"/>
            <a:ext cx="3291840" cy="731520"/>
          </a:xfrm>
          <a:prstGeom prst="rect">
            <a:avLst/>
          </a:prstGeom>
          <a:noFill/>
        </p:spPr>
        <p:txBody>
          <a:bodyPr wrap="square" anchor="t" lIns="50800" rIns="50800" tIns="25400" bIns="25400">
            <a:spAutoFit/>
          </a:bodyPr>
          <a:lstStyle/>
          <a:p>
            <a:pPr algn="l"/>
            <a:r>
              <a:rPr sz="4400" b="1" i="0">
                <a:solidFill>
                  <a:srgbClr val="1F3A5F"/>
                </a:solidFill>
                <a:latin typeface="Segoe UI"/>
              </a:rPr>
              <a:t>6</a:t>
            </a:r>
          </a:p>
        </p:txBody>
      </p:sp>
      <p:sp>
        <p:nvSpPr>
          <p:cNvPr id="29" name="TextBox 28"/>
          <p:cNvSpPr txBox="1"/>
          <p:nvPr/>
        </p:nvSpPr>
        <p:spPr>
          <a:xfrm>
            <a:off x="1783080" y="4773168"/>
            <a:ext cx="2286000" cy="548640"/>
          </a:xfrm>
          <a:prstGeom prst="rect">
            <a:avLst/>
          </a:prstGeom>
          <a:noFill/>
        </p:spPr>
        <p:txBody>
          <a:bodyPr wrap="square" anchor="t" lIns="50800" rIns="50800" tIns="25400" bIns="25400">
            <a:spAutoFit/>
          </a:bodyPr>
          <a:lstStyle/>
          <a:p>
            <a:pPr algn="l"/>
            <a:r>
              <a:rPr sz="1100" b="0" i="0">
                <a:solidFill>
                  <a:srgbClr val="6B7280"/>
                </a:solidFill>
                <a:latin typeface="Segoe UI"/>
              </a:rPr>
              <a:t>stories in scope</a:t>
            </a:r>
          </a:p>
          <a:p>
            <a:pPr algn="l"/>
            <a:r>
              <a:rPr sz="1100" b="1" i="0">
                <a:solidFill>
                  <a:srgbClr val="2D2D2D"/>
                </a:solidFill>
                <a:latin typeface="Segoe UI"/>
              </a:rPr>
              <a:t>6 moving  ·  0 stuck</a:t>
            </a:r>
          </a:p>
        </p:txBody>
      </p:sp>
      <p:sp>
        <p:nvSpPr>
          <p:cNvPr id="30" name="TextBox 29"/>
          <p:cNvSpPr txBox="1"/>
          <p:nvPr/>
        </p:nvSpPr>
        <p:spPr>
          <a:xfrm>
            <a:off x="685800" y="5440680"/>
            <a:ext cx="3291840" cy="566928"/>
          </a:xfrm>
          <a:prstGeom prst="rect">
            <a:avLst/>
          </a:prstGeom>
          <a:noFill/>
        </p:spPr>
        <p:txBody>
          <a:bodyPr wrap="square" anchor="t" lIns="50800" rIns="50800" tIns="25400" bIns="25400">
            <a:spAutoFit/>
          </a:bodyPr>
          <a:lstStyle/>
          <a:p>
            <a:pPr algn="l"/>
            <a:r>
              <a:rPr sz="1000" b="0" i="0">
                <a:solidFill>
                  <a:srgbClr val="2D2D2D"/>
                </a:solidFill>
                <a:latin typeface="Segoe UI"/>
              </a:rPr>
              <a:t>On track - discovery scaling; DNS dependency still open</a:t>
            </a:r>
          </a:p>
        </p:txBody>
      </p:sp>
      <p:sp>
        <p:nvSpPr>
          <p:cNvPr id="31" name="Rectangle 30"/>
          <p:cNvSpPr/>
          <p:nvPr/>
        </p:nvSpPr>
        <p:spPr>
          <a:xfrm>
            <a:off x="4434840" y="3749040"/>
            <a:ext cx="3657600" cy="23317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34840" y="3749040"/>
            <a:ext cx="3657600" cy="658368"/>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17720" y="3785616"/>
            <a:ext cx="3291840" cy="585216"/>
          </a:xfrm>
          <a:prstGeom prst="rect">
            <a:avLst/>
          </a:prstGeom>
          <a:noFill/>
        </p:spPr>
        <p:txBody>
          <a:bodyPr wrap="square" anchor="ctr" lIns="50800" rIns="50800" tIns="25400" bIns="25400">
            <a:spAutoFit/>
          </a:bodyPr>
          <a:lstStyle/>
          <a:p>
            <a:pPr algn="l"/>
            <a:r>
              <a:rPr sz="1150" b="1" i="0">
                <a:solidFill>
                  <a:srgbClr val="FFFFFF"/>
                </a:solidFill>
                <a:latin typeface="Segoe UI"/>
              </a:rPr>
              <a:t>P2   Regulatory &amp; Security Integrations (Qualys/NERC/CCB)</a:t>
            </a:r>
          </a:p>
        </p:txBody>
      </p:sp>
      <p:sp>
        <p:nvSpPr>
          <p:cNvPr id="34" name="TextBox 33"/>
          <p:cNvSpPr txBox="1"/>
          <p:nvPr/>
        </p:nvSpPr>
        <p:spPr>
          <a:xfrm>
            <a:off x="4617720" y="4498848"/>
            <a:ext cx="3291840" cy="731520"/>
          </a:xfrm>
          <a:prstGeom prst="rect">
            <a:avLst/>
          </a:prstGeom>
          <a:noFill/>
        </p:spPr>
        <p:txBody>
          <a:bodyPr wrap="square" anchor="t" lIns="50800" rIns="50800" tIns="25400" bIns="25400">
            <a:spAutoFit/>
          </a:bodyPr>
          <a:lstStyle/>
          <a:p>
            <a:pPr algn="l"/>
            <a:r>
              <a:rPr sz="4400" b="1" i="0">
                <a:solidFill>
                  <a:srgbClr val="1F3A5F"/>
                </a:solidFill>
                <a:latin typeface="Segoe UI"/>
              </a:rPr>
              <a:t>3</a:t>
            </a:r>
          </a:p>
        </p:txBody>
      </p:sp>
      <p:sp>
        <p:nvSpPr>
          <p:cNvPr id="35" name="TextBox 34"/>
          <p:cNvSpPr txBox="1"/>
          <p:nvPr/>
        </p:nvSpPr>
        <p:spPr>
          <a:xfrm>
            <a:off x="5715000" y="4773168"/>
            <a:ext cx="2286000" cy="548640"/>
          </a:xfrm>
          <a:prstGeom prst="rect">
            <a:avLst/>
          </a:prstGeom>
          <a:noFill/>
        </p:spPr>
        <p:txBody>
          <a:bodyPr wrap="square" anchor="t" lIns="50800" rIns="50800" tIns="25400" bIns="25400">
            <a:spAutoFit/>
          </a:bodyPr>
          <a:lstStyle/>
          <a:p>
            <a:pPr algn="l"/>
            <a:r>
              <a:rPr sz="1100" b="0" i="0">
                <a:solidFill>
                  <a:srgbClr val="6B7280"/>
                </a:solidFill>
                <a:latin typeface="Segoe UI"/>
              </a:rPr>
              <a:t>stories in scope</a:t>
            </a:r>
          </a:p>
          <a:p>
            <a:pPr algn="l"/>
            <a:r>
              <a:rPr sz="1100" b="1" i="0">
                <a:solidFill>
                  <a:srgbClr val="2D2D2D"/>
                </a:solidFill>
                <a:latin typeface="Segoe UI"/>
              </a:rPr>
              <a:t>3 moving  ·  0 stuck</a:t>
            </a:r>
          </a:p>
        </p:txBody>
      </p:sp>
      <p:sp>
        <p:nvSpPr>
          <p:cNvPr id="36" name="TextBox 35"/>
          <p:cNvSpPr txBox="1"/>
          <p:nvPr/>
        </p:nvSpPr>
        <p:spPr>
          <a:xfrm>
            <a:off x="4617720" y="5440680"/>
            <a:ext cx="3291840" cy="566928"/>
          </a:xfrm>
          <a:prstGeom prst="rect">
            <a:avLst/>
          </a:prstGeom>
          <a:noFill/>
        </p:spPr>
        <p:txBody>
          <a:bodyPr wrap="square" anchor="t" lIns="50800" rIns="50800" tIns="25400" bIns="25400">
            <a:spAutoFit/>
          </a:bodyPr>
          <a:lstStyle/>
          <a:p>
            <a:pPr algn="l"/>
            <a:r>
              <a:rPr sz="1000" b="0" i="0">
                <a:solidFill>
                  <a:srgbClr val="2D2D2D"/>
                </a:solidFill>
                <a:latin typeface="Segoe UI"/>
              </a:rPr>
              <a:t>Progressing - Qualys active; CCB/NERC-CIP not yet storied</a:t>
            </a:r>
          </a:p>
        </p:txBody>
      </p:sp>
      <p:sp>
        <p:nvSpPr>
          <p:cNvPr id="37" name="Rectangle 36"/>
          <p:cNvSpPr/>
          <p:nvPr/>
        </p:nvSpPr>
        <p:spPr>
          <a:xfrm>
            <a:off x="8366760" y="3749040"/>
            <a:ext cx="3657600" cy="23317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66760" y="3749040"/>
            <a:ext cx="3657600" cy="658368"/>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49640" y="3785616"/>
            <a:ext cx="3291840" cy="585216"/>
          </a:xfrm>
          <a:prstGeom prst="rect">
            <a:avLst/>
          </a:prstGeom>
          <a:noFill/>
        </p:spPr>
        <p:txBody>
          <a:bodyPr wrap="square" anchor="ctr" lIns="50800" rIns="50800" tIns="25400" bIns="25400">
            <a:spAutoFit/>
          </a:bodyPr>
          <a:lstStyle/>
          <a:p>
            <a:pPr algn="l"/>
            <a:r>
              <a:rPr sz="1150" b="1" i="0">
                <a:solidFill>
                  <a:srgbClr val="FFFFFF"/>
                </a:solidFill>
                <a:latin typeface="Segoe UI"/>
              </a:rPr>
              <a:t>P3   Embed NowAssist AI Across CMDB &amp; ITSM</a:t>
            </a:r>
          </a:p>
        </p:txBody>
      </p:sp>
      <p:sp>
        <p:nvSpPr>
          <p:cNvPr id="40" name="TextBox 39"/>
          <p:cNvSpPr txBox="1"/>
          <p:nvPr/>
        </p:nvSpPr>
        <p:spPr>
          <a:xfrm>
            <a:off x="8549640" y="4498848"/>
            <a:ext cx="3291840" cy="731520"/>
          </a:xfrm>
          <a:prstGeom prst="rect">
            <a:avLst/>
          </a:prstGeom>
          <a:noFill/>
        </p:spPr>
        <p:txBody>
          <a:bodyPr wrap="square" anchor="t" lIns="50800" rIns="50800" tIns="25400" bIns="25400">
            <a:spAutoFit/>
          </a:bodyPr>
          <a:lstStyle/>
          <a:p>
            <a:pPr algn="l"/>
            <a:r>
              <a:rPr sz="4400" b="1" i="0">
                <a:solidFill>
                  <a:srgbClr val="1F3A5F"/>
                </a:solidFill>
                <a:latin typeface="Segoe UI"/>
              </a:rPr>
              <a:t>4</a:t>
            </a:r>
          </a:p>
        </p:txBody>
      </p:sp>
      <p:sp>
        <p:nvSpPr>
          <p:cNvPr id="41" name="TextBox 40"/>
          <p:cNvSpPr txBox="1"/>
          <p:nvPr/>
        </p:nvSpPr>
        <p:spPr>
          <a:xfrm>
            <a:off x="9646920" y="4773168"/>
            <a:ext cx="2286000" cy="548640"/>
          </a:xfrm>
          <a:prstGeom prst="rect">
            <a:avLst/>
          </a:prstGeom>
          <a:noFill/>
        </p:spPr>
        <p:txBody>
          <a:bodyPr wrap="square" anchor="t" lIns="50800" rIns="50800" tIns="25400" bIns="25400">
            <a:spAutoFit/>
          </a:bodyPr>
          <a:lstStyle/>
          <a:p>
            <a:pPr algn="l"/>
            <a:r>
              <a:rPr sz="1100" b="0" i="0">
                <a:solidFill>
                  <a:srgbClr val="6B7280"/>
                </a:solidFill>
                <a:latin typeface="Segoe UI"/>
              </a:rPr>
              <a:t>stories in scope</a:t>
            </a:r>
          </a:p>
          <a:p>
            <a:pPr algn="l"/>
            <a:r>
              <a:rPr sz="1100" b="1" i="0">
                <a:solidFill>
                  <a:srgbClr val="2D2D2D"/>
                </a:solidFill>
                <a:latin typeface="Segoe UI"/>
              </a:rPr>
              <a:t>0 moving  ·  4 stuck</a:t>
            </a:r>
          </a:p>
        </p:txBody>
      </p:sp>
      <p:sp>
        <p:nvSpPr>
          <p:cNvPr id="42" name="TextBox 41"/>
          <p:cNvSpPr txBox="1"/>
          <p:nvPr/>
        </p:nvSpPr>
        <p:spPr>
          <a:xfrm>
            <a:off x="8549640" y="5440680"/>
            <a:ext cx="3291840" cy="566928"/>
          </a:xfrm>
          <a:prstGeom prst="rect">
            <a:avLst/>
          </a:prstGeom>
          <a:noFill/>
        </p:spPr>
        <p:txBody>
          <a:bodyPr wrap="square" anchor="t" lIns="50800" rIns="50800" tIns="25400" bIns="25400">
            <a:spAutoFit/>
          </a:bodyPr>
          <a:lstStyle/>
          <a:p>
            <a:pPr algn="l"/>
            <a:r>
              <a:rPr sz="1000" b="0" i="0">
                <a:solidFill>
                  <a:srgbClr val="2D2D2D"/>
                </a:solidFill>
                <a:latin typeface="Segoe UI"/>
              </a:rPr>
              <a:t>Blocked - 4 stories await owner reassignment</a:t>
            </a:r>
          </a:p>
        </p:txBody>
      </p:sp>
      <p:sp>
        <p:nvSpPr>
          <p:cNvPr id="43" name="TextBox 42"/>
          <p:cNvSpPr txBox="1"/>
          <p:nvPr/>
        </p:nvSpPr>
        <p:spPr>
          <a:xfrm>
            <a:off x="502920" y="6144768"/>
            <a:ext cx="11201400" cy="320040"/>
          </a:xfrm>
          <a:prstGeom prst="rect">
            <a:avLst/>
          </a:prstGeom>
          <a:noFill/>
        </p:spPr>
        <p:txBody>
          <a:bodyPr wrap="square" anchor="t" lIns="50800" rIns="50800" tIns="25400" bIns="25400">
            <a:spAutoFit/>
          </a:bodyPr>
          <a:lstStyle/>
          <a:p>
            <a:pPr algn="l"/>
            <a:r>
              <a:rPr sz="850" b="0" i="1">
                <a:solidFill>
                  <a:srgbClr val="6B7280"/>
                </a:solidFill>
                <a:latin typeface="Segoe UI"/>
              </a:rPr>
              <a:t>Story counts derived from team notes - PROVISIONAL, not ADO-validated. 'Completed' tracking begins at first PROD deploy (Jun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Progress: PI over PI</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Are we delivering more value each Program Increment?</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a:t>
            </a:r>
          </a:p>
        </p:txBody>
      </p:sp>
      <p:sp>
        <p:nvSpPr>
          <p:cNvPr id="7" name="Rectangle 6"/>
          <p:cNvSpPr/>
          <p:nvPr/>
        </p:nvSpPr>
        <p:spPr>
          <a:xfrm>
            <a:off x="502920" y="1371600"/>
            <a:ext cx="5486400" cy="310896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371600"/>
            <a:ext cx="5486400" cy="6400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63040"/>
            <a:ext cx="5029200" cy="457200"/>
          </a:xfrm>
          <a:prstGeom prst="rect">
            <a:avLst/>
          </a:prstGeom>
          <a:noFill/>
        </p:spPr>
        <p:txBody>
          <a:bodyPr wrap="square" anchor="ctr" lIns="50800" rIns="50800" tIns="25400" bIns="25400">
            <a:spAutoFit/>
          </a:bodyPr>
          <a:lstStyle/>
          <a:p>
            <a:pPr algn="l"/>
            <a:r>
              <a:rPr sz="1800" b="1" i="0">
                <a:solidFill>
                  <a:srgbClr val="FFFFFF"/>
                </a:solidFill>
                <a:latin typeface="Segoe UI"/>
              </a:rPr>
              <a:t>PI-2   ACTIVE</a:t>
            </a:r>
          </a:p>
        </p:txBody>
      </p:sp>
      <p:sp>
        <p:nvSpPr>
          <p:cNvPr id="10" name="TextBox 9"/>
          <p:cNvSpPr txBox="1"/>
          <p:nvPr/>
        </p:nvSpPr>
        <p:spPr>
          <a:xfrm>
            <a:off x="731520" y="2194560"/>
            <a:ext cx="5029200" cy="2103120"/>
          </a:xfrm>
          <a:prstGeom prst="rect">
            <a:avLst/>
          </a:prstGeom>
          <a:noFill/>
        </p:spPr>
        <p:txBody>
          <a:bodyPr wrap="square" anchor="t" lIns="50800" rIns="50800" tIns="25400" bIns="25400">
            <a:spAutoFit/>
          </a:bodyPr>
          <a:lstStyle/>
          <a:p>
            <a:pPr algn="l"/>
            <a:r>
              <a:rPr sz="1300" b="1" i="0">
                <a:solidFill>
                  <a:srgbClr val="2E6DB4"/>
                </a:solidFill>
                <a:latin typeface="Segoe UI"/>
              </a:rPr>
              <a:t>May 13 - Aug 4, 2026</a:t>
            </a:r>
          </a:p>
          <a:p>
            <a:pPr algn="l"/>
            <a:r>
              <a:rPr sz="1200" b="0" i="1">
                <a:solidFill>
                  <a:srgbClr val="6B7280"/>
                </a:solidFill>
                <a:latin typeface="Segoe UI"/>
              </a:rPr>
              <a:t>Iteration 2.3 of 6</a:t>
            </a:r>
          </a:p>
          <a:p>
            <a:pPr algn="l"/>
            <a:r>
              <a:rPr sz="600" b="0" i="0">
                <a:solidFill>
                  <a:srgbClr val="2D2D2D"/>
                </a:solidFill>
                <a:latin typeface="Segoe UI"/>
              </a:rPr>
              <a:t/>
            </a:r>
          </a:p>
          <a:p>
            <a:pPr algn="l"/>
            <a:r>
              <a:rPr sz="1300" b="0" i="0">
                <a:solidFill>
                  <a:srgbClr val="2D2D2D"/>
                </a:solidFill>
                <a:latin typeface="Segoe UI"/>
              </a:rPr>
              <a:t>6 objectives in flight; foundation laid + first PROD deployment</a:t>
            </a:r>
          </a:p>
        </p:txBody>
      </p:sp>
      <p:sp>
        <p:nvSpPr>
          <p:cNvPr id="11" name="Rectangle 10"/>
          <p:cNvSpPr/>
          <p:nvPr/>
        </p:nvSpPr>
        <p:spPr>
          <a:xfrm>
            <a:off x="6263640" y="1371600"/>
            <a:ext cx="5486400" cy="310896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371600"/>
            <a:ext cx="5486400" cy="6400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463040"/>
            <a:ext cx="5029200" cy="457200"/>
          </a:xfrm>
          <a:prstGeom prst="rect">
            <a:avLst/>
          </a:prstGeom>
          <a:noFill/>
        </p:spPr>
        <p:txBody>
          <a:bodyPr wrap="square" anchor="ctr" lIns="50800" rIns="50800" tIns="25400" bIns="25400">
            <a:spAutoFit/>
          </a:bodyPr>
          <a:lstStyle/>
          <a:p>
            <a:pPr algn="l"/>
            <a:r>
              <a:rPr sz="1800" b="1" i="0">
                <a:solidFill>
                  <a:srgbClr val="FFFFFF"/>
                </a:solidFill>
                <a:latin typeface="Segoe UI"/>
              </a:rPr>
              <a:t>PI-3   PLANNING</a:t>
            </a:r>
          </a:p>
        </p:txBody>
      </p:sp>
      <p:sp>
        <p:nvSpPr>
          <p:cNvPr id="14" name="TextBox 13"/>
          <p:cNvSpPr txBox="1"/>
          <p:nvPr/>
        </p:nvSpPr>
        <p:spPr>
          <a:xfrm>
            <a:off x="6492240" y="2194560"/>
            <a:ext cx="5029200" cy="2103120"/>
          </a:xfrm>
          <a:prstGeom prst="rect">
            <a:avLst/>
          </a:prstGeom>
          <a:noFill/>
        </p:spPr>
        <p:txBody>
          <a:bodyPr wrap="square" anchor="t" lIns="50800" rIns="50800" tIns="25400" bIns="25400">
            <a:spAutoFit/>
          </a:bodyPr>
          <a:lstStyle/>
          <a:p>
            <a:pPr algn="l"/>
            <a:r>
              <a:rPr sz="1300" b="1" i="0">
                <a:solidFill>
                  <a:srgbClr val="2E6DB4"/>
                </a:solidFill>
                <a:latin typeface="Segoe UI"/>
              </a:rPr>
              <a:t>Aug 5 - Oct 27, 2026</a:t>
            </a:r>
          </a:p>
          <a:p>
            <a:pPr algn="l"/>
            <a:r>
              <a:rPr sz="1200" b="0" i="1">
                <a:solidFill>
                  <a:srgbClr val="6B7280"/>
                </a:solidFill>
                <a:latin typeface="Segoe UI"/>
              </a:rPr>
              <a:t>Planning Jul 22 - Aug 4</a:t>
            </a:r>
          </a:p>
          <a:p>
            <a:pPr algn="l"/>
            <a:r>
              <a:rPr sz="600" b="0" i="0">
                <a:solidFill>
                  <a:srgbClr val="2D2D2D"/>
                </a:solidFill>
                <a:latin typeface="Segoe UI"/>
              </a:rPr>
              <a:t/>
            </a:r>
          </a:p>
          <a:p>
            <a:pPr algn="l"/>
            <a:r>
              <a:rPr sz="1300" b="0" i="0">
                <a:solidFill>
                  <a:srgbClr val="2D2D2D"/>
                </a:solidFill>
                <a:latin typeface="Segoe UI"/>
              </a:rPr>
              <a:t>NowAssist 5-phase rollout, Qualys Phase 2, CI Cert extended scope</a:t>
            </a:r>
          </a:p>
        </p:txBody>
      </p:sp>
      <p:sp>
        <p:nvSpPr>
          <p:cNvPr id="15" name="Rectangle 14"/>
          <p:cNvSpPr/>
          <p:nvPr/>
        </p:nvSpPr>
        <p:spPr>
          <a:xfrm>
            <a:off x="502920" y="4617720"/>
            <a:ext cx="11155680" cy="8686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617720"/>
            <a:ext cx="109728" cy="86868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8952" y="4764024"/>
            <a:ext cx="155448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PENDING DATA</a:t>
            </a:r>
          </a:p>
        </p:txBody>
      </p:sp>
      <p:sp>
        <p:nvSpPr>
          <p:cNvPr id="18" name="TextBox 17"/>
          <p:cNvSpPr txBox="1"/>
          <p:nvPr/>
        </p:nvSpPr>
        <p:spPr>
          <a:xfrm>
            <a:off x="2468880" y="4736592"/>
            <a:ext cx="8961120" cy="411480"/>
          </a:xfrm>
          <a:prstGeom prst="rect">
            <a:avLst/>
          </a:prstGeom>
          <a:noFill/>
        </p:spPr>
        <p:txBody>
          <a:bodyPr wrap="square" anchor="ctr" lIns="50800" rIns="50800" tIns="25400" bIns="25400">
            <a:spAutoFit/>
          </a:bodyPr>
          <a:lstStyle/>
          <a:p>
            <a:pPr algn="l"/>
            <a:r>
              <a:rPr sz="1250" b="1" i="0">
                <a:solidFill>
                  <a:srgbClr val="1F3A5F"/>
                </a:solidFill>
                <a:latin typeface="Segoe UI"/>
              </a:rPr>
              <a:t>PI-over-PI comparison metric</a:t>
            </a:r>
          </a:p>
        </p:txBody>
      </p:sp>
      <p:sp>
        <p:nvSpPr>
          <p:cNvPr id="19" name="TextBox 18"/>
          <p:cNvSpPr txBox="1"/>
          <p:nvPr/>
        </p:nvSpPr>
        <p:spPr>
          <a:xfrm>
            <a:off x="758952" y="5184648"/>
            <a:ext cx="10652760" cy="210312"/>
          </a:xfrm>
          <a:prstGeom prst="rect">
            <a:avLst/>
          </a:prstGeom>
          <a:noFill/>
        </p:spPr>
        <p:txBody>
          <a:bodyPr wrap="square" anchor="t" lIns="50800" rIns="50800" tIns="25400" bIns="25400">
            <a:spAutoFit/>
          </a:bodyPr>
          <a:lstStyle/>
          <a:p>
            <a:pPr algn="l"/>
            <a:r>
              <a:rPr sz="1050" b="0" i="1">
                <a:solidFill>
                  <a:srgbClr val="6B7280"/>
                </a:solidFill>
                <a:latin typeface="Segoe UI"/>
              </a:rPr>
              <a:t>Comparison basis (objectives completed / business value delivered / stories accepted per PI) to be fixed before PI-3 begins. Only PI-2 has live data today - not yet ready for relevant data.</a:t>
            </a:r>
          </a:p>
        </p:txBody>
      </p:sp>
      <p:sp>
        <p:nvSpPr>
          <p:cNvPr id="20" name="TextBox 19"/>
          <p:cNvSpPr txBox="1"/>
          <p:nvPr/>
        </p:nvSpPr>
        <p:spPr>
          <a:xfrm>
            <a:off x="502920" y="5623560"/>
            <a:ext cx="11155680" cy="640080"/>
          </a:xfrm>
          <a:prstGeom prst="rect">
            <a:avLst/>
          </a:prstGeom>
          <a:noFill/>
        </p:spPr>
        <p:txBody>
          <a:bodyPr wrap="square" anchor="t" lIns="50800" rIns="50800" tIns="25400" bIns="25400">
            <a:spAutoFit/>
          </a:bodyPr>
          <a:lstStyle/>
          <a:p>
            <a:pPr algn="l"/>
            <a:r>
              <a:rPr sz="1100" b="0" i="1">
                <a:solidFill>
                  <a:srgbClr val="6B7280"/>
                </a:solidFill>
                <a:latin typeface="Segoe UI"/>
              </a:rPr>
              <a:t>Note: Only PI-2 has live data today. PI-over-PI comparison populates once PI-3 begins (planning during the PI-2 IP iteration).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Progress: Iteration over Iteration</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Is each 2-week sprint building on the last?</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a:t>
            </a:r>
          </a:p>
        </p:txBody>
      </p:sp>
      <p:sp>
        <p:nvSpPr>
          <p:cNvPr id="7" name="Rectangle 6"/>
          <p:cNvSpPr/>
          <p:nvPr/>
        </p:nvSpPr>
        <p:spPr>
          <a:xfrm>
            <a:off x="502920" y="1325880"/>
            <a:ext cx="3657600" cy="713232"/>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71600"/>
            <a:ext cx="3383280" cy="640080"/>
          </a:xfrm>
          <a:prstGeom prst="rect">
            <a:avLst/>
          </a:prstGeom>
          <a:noFill/>
        </p:spPr>
        <p:txBody>
          <a:bodyPr wrap="square" anchor="ctr" lIns="50800" rIns="50800" tIns="25400" bIns="25400">
            <a:spAutoFit/>
          </a:bodyPr>
          <a:lstStyle/>
          <a:p>
            <a:pPr algn="l"/>
            <a:r>
              <a:rPr sz="1600" b="1" i="0">
                <a:solidFill>
                  <a:srgbClr val="FFFFFF"/>
                </a:solidFill>
                <a:latin typeface="Segoe UI"/>
              </a:rPr>
              <a:t>Sprint 2.1</a:t>
            </a:r>
          </a:p>
          <a:p>
            <a:pPr algn="l"/>
            <a:r>
              <a:rPr sz="1000" b="0" i="0">
                <a:solidFill>
                  <a:srgbClr val="E8EEF6"/>
                </a:solidFill>
                <a:latin typeface="Segoe UI"/>
              </a:rPr>
              <a:t>May 13 - 26  ·  COMPLETED</a:t>
            </a:r>
          </a:p>
        </p:txBody>
      </p:sp>
      <p:sp>
        <p:nvSpPr>
          <p:cNvPr id="9" name="Rectangle 8"/>
          <p:cNvSpPr/>
          <p:nvPr/>
        </p:nvSpPr>
        <p:spPr>
          <a:xfrm>
            <a:off x="502920" y="2039112"/>
            <a:ext cx="3657600" cy="31546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130552"/>
            <a:ext cx="3383280" cy="365760"/>
          </a:xfrm>
          <a:prstGeom prst="rect">
            <a:avLst/>
          </a:prstGeom>
          <a:noFill/>
        </p:spPr>
        <p:txBody>
          <a:bodyPr wrap="square" anchor="t" lIns="50800" rIns="50800" tIns="25400" bIns="25400">
            <a:spAutoFit/>
          </a:bodyPr>
          <a:lstStyle/>
          <a:p>
            <a:pPr algn="l"/>
            <a:r>
              <a:rPr sz="1200" b="1" i="1">
                <a:solidFill>
                  <a:srgbClr val="2E6DB4"/>
                </a:solidFill>
                <a:latin typeface="Segoe UI"/>
              </a:rPr>
              <a:t>Foundation &amp; refinement</a:t>
            </a:r>
          </a:p>
        </p:txBody>
      </p:sp>
      <p:sp>
        <p:nvSpPr>
          <p:cNvPr id="11" name="TextBox 10"/>
          <p:cNvSpPr txBox="1"/>
          <p:nvPr/>
        </p:nvSpPr>
        <p:spPr>
          <a:xfrm>
            <a:off x="685800" y="2606040"/>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Airlift + CI auto-population stories shaped</a:t>
            </a:r>
          </a:p>
        </p:txBody>
      </p:sp>
      <p:sp>
        <p:nvSpPr>
          <p:cNvPr id="12" name="TextBox 11"/>
          <p:cNvSpPr txBox="1"/>
          <p:nvPr/>
        </p:nvSpPr>
        <p:spPr>
          <a:xfrm>
            <a:off x="685800" y="3172968"/>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OOTB-first &amp; customization governance established</a:t>
            </a:r>
          </a:p>
        </p:txBody>
      </p:sp>
      <p:sp>
        <p:nvSpPr>
          <p:cNvPr id="13" name="TextBox 12"/>
          <p:cNvSpPr txBox="1"/>
          <p:nvPr/>
        </p:nvSpPr>
        <p:spPr>
          <a:xfrm>
            <a:off x="685800" y="3739896"/>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Retro theme: credential blockers dominated the sprint</a:t>
            </a:r>
          </a:p>
        </p:txBody>
      </p:sp>
      <p:sp>
        <p:nvSpPr>
          <p:cNvPr id="14" name="Rectangle 13"/>
          <p:cNvSpPr/>
          <p:nvPr/>
        </p:nvSpPr>
        <p:spPr>
          <a:xfrm>
            <a:off x="4434840" y="1325880"/>
            <a:ext cx="3657600" cy="713232"/>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1371600"/>
            <a:ext cx="3383280" cy="640080"/>
          </a:xfrm>
          <a:prstGeom prst="rect">
            <a:avLst/>
          </a:prstGeom>
          <a:noFill/>
        </p:spPr>
        <p:txBody>
          <a:bodyPr wrap="square" anchor="ctr" lIns="50800" rIns="50800" tIns="25400" bIns="25400">
            <a:spAutoFit/>
          </a:bodyPr>
          <a:lstStyle/>
          <a:p>
            <a:pPr algn="l"/>
            <a:r>
              <a:rPr sz="1600" b="1" i="0">
                <a:solidFill>
                  <a:srgbClr val="FFFFFF"/>
                </a:solidFill>
                <a:latin typeface="Segoe UI"/>
              </a:rPr>
              <a:t>Sprint 2.2</a:t>
            </a:r>
          </a:p>
          <a:p>
            <a:pPr algn="l"/>
            <a:r>
              <a:rPr sz="1000" b="0" i="0">
                <a:solidFill>
                  <a:srgbClr val="E8EEF6"/>
                </a:solidFill>
                <a:latin typeface="Segoe UI"/>
              </a:rPr>
              <a:t>May 27 - Jun 9  ·  COMPLETED</a:t>
            </a:r>
          </a:p>
        </p:txBody>
      </p:sp>
      <p:sp>
        <p:nvSpPr>
          <p:cNvPr id="16" name="Rectangle 15"/>
          <p:cNvSpPr/>
          <p:nvPr/>
        </p:nvSpPr>
        <p:spPr>
          <a:xfrm>
            <a:off x="4434840" y="2039112"/>
            <a:ext cx="3657600" cy="31546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2130552"/>
            <a:ext cx="3383280" cy="365760"/>
          </a:xfrm>
          <a:prstGeom prst="rect">
            <a:avLst/>
          </a:prstGeom>
          <a:noFill/>
        </p:spPr>
        <p:txBody>
          <a:bodyPr wrap="square" anchor="t" lIns="50800" rIns="50800" tIns="25400" bIns="25400">
            <a:spAutoFit/>
          </a:bodyPr>
          <a:lstStyle/>
          <a:p>
            <a:pPr algn="l"/>
            <a:r>
              <a:rPr sz="1200" b="1" i="1">
                <a:solidFill>
                  <a:srgbClr val="2E6DB4"/>
                </a:solidFill>
                <a:latin typeface="Segoe UI"/>
              </a:rPr>
              <a:t>SCCM precedence &amp; unblocking</a:t>
            </a:r>
          </a:p>
        </p:txBody>
      </p:sp>
      <p:sp>
        <p:nvSpPr>
          <p:cNvPr id="18" name="TextBox 17"/>
          <p:cNvSpPr txBox="1"/>
          <p:nvPr/>
        </p:nvSpPr>
        <p:spPr>
          <a:xfrm>
            <a:off x="4617720" y="2606040"/>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SCCM locked as authoritative for 6 hardware attributes</a:t>
            </a:r>
          </a:p>
        </p:txBody>
      </p:sp>
      <p:sp>
        <p:nvSpPr>
          <p:cNvPr id="19" name="TextBox 18"/>
          <p:cNvSpPr txBox="1"/>
          <p:nvPr/>
        </p:nvSpPr>
        <p:spPr>
          <a:xfrm>
            <a:off x="4617720" y="3172968"/>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Service Mapping credentials resolved (6/9)</a:t>
            </a:r>
          </a:p>
        </p:txBody>
      </p:sp>
      <p:sp>
        <p:nvSpPr>
          <p:cNvPr id="20" name="TextBox 19"/>
          <p:cNvSpPr txBox="1"/>
          <p:nvPr/>
        </p:nvSpPr>
        <p:spPr>
          <a:xfrm>
            <a:off x="4617720" y="3739896"/>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Airlift dev admin access resolved (6/9)</a:t>
            </a:r>
          </a:p>
        </p:txBody>
      </p:sp>
      <p:sp>
        <p:nvSpPr>
          <p:cNvPr id="21" name="TextBox 20"/>
          <p:cNvSpPr txBox="1"/>
          <p:nvPr/>
        </p:nvSpPr>
        <p:spPr>
          <a:xfrm>
            <a:off x="4617720" y="4306824"/>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NowAssist activation stories created &amp; assigned</a:t>
            </a:r>
          </a:p>
        </p:txBody>
      </p:sp>
      <p:sp>
        <p:nvSpPr>
          <p:cNvPr id="22" name="Rectangle 21"/>
          <p:cNvSpPr/>
          <p:nvPr/>
        </p:nvSpPr>
        <p:spPr>
          <a:xfrm>
            <a:off x="8366760" y="1325880"/>
            <a:ext cx="3657600" cy="713232"/>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49640" y="1371600"/>
            <a:ext cx="3383280" cy="640080"/>
          </a:xfrm>
          <a:prstGeom prst="rect">
            <a:avLst/>
          </a:prstGeom>
          <a:noFill/>
        </p:spPr>
        <p:txBody>
          <a:bodyPr wrap="square" anchor="ctr" lIns="50800" rIns="50800" tIns="25400" bIns="25400">
            <a:spAutoFit/>
          </a:bodyPr>
          <a:lstStyle/>
          <a:p>
            <a:pPr algn="l"/>
            <a:r>
              <a:rPr sz="1600" b="1" i="0">
                <a:solidFill>
                  <a:srgbClr val="FFFFFF"/>
                </a:solidFill>
                <a:latin typeface="Segoe UI"/>
              </a:rPr>
              <a:t>Sprint 2.3</a:t>
            </a:r>
          </a:p>
          <a:p>
            <a:pPr algn="l"/>
            <a:r>
              <a:rPr sz="1000" b="0" i="0">
                <a:solidFill>
                  <a:srgbClr val="E8EEF6"/>
                </a:solidFill>
                <a:latin typeface="Segoe UI"/>
              </a:rPr>
              <a:t>Jun 10 - 23  ·  ACTIVE</a:t>
            </a:r>
          </a:p>
        </p:txBody>
      </p:sp>
      <p:sp>
        <p:nvSpPr>
          <p:cNvPr id="24" name="Rectangle 23"/>
          <p:cNvSpPr/>
          <p:nvPr/>
        </p:nvSpPr>
        <p:spPr>
          <a:xfrm>
            <a:off x="8366760" y="2039112"/>
            <a:ext cx="3657600" cy="31546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49640" y="2130552"/>
            <a:ext cx="3383280" cy="365760"/>
          </a:xfrm>
          <a:prstGeom prst="rect">
            <a:avLst/>
          </a:prstGeom>
          <a:noFill/>
        </p:spPr>
        <p:txBody>
          <a:bodyPr wrap="square" anchor="t" lIns="50800" rIns="50800" tIns="25400" bIns="25400">
            <a:spAutoFit/>
          </a:bodyPr>
          <a:lstStyle/>
          <a:p>
            <a:pPr algn="l"/>
            <a:r>
              <a:rPr sz="1200" b="1" i="1">
                <a:solidFill>
                  <a:srgbClr val="2E6DB4"/>
                </a:solidFill>
                <a:latin typeface="Segoe UI"/>
              </a:rPr>
              <a:t>Deploy &amp; scale</a:t>
            </a:r>
          </a:p>
        </p:txBody>
      </p:sp>
      <p:sp>
        <p:nvSpPr>
          <p:cNvPr id="26" name="TextBox 25"/>
          <p:cNvSpPr txBox="1"/>
          <p:nvPr/>
        </p:nvSpPr>
        <p:spPr>
          <a:xfrm>
            <a:off x="8549640" y="2606040"/>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Data Certification -&gt; PROD (Jun 23)</a:t>
            </a:r>
          </a:p>
        </p:txBody>
      </p:sp>
      <p:sp>
        <p:nvSpPr>
          <p:cNvPr id="27" name="TextBox 26"/>
          <p:cNvSpPr txBox="1"/>
          <p:nvPr/>
        </p:nvSpPr>
        <p:spPr>
          <a:xfrm>
            <a:off x="8549640" y="3172968"/>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Service Mapping subnet scans expanding</a:t>
            </a:r>
          </a:p>
        </p:txBody>
      </p:sp>
      <p:sp>
        <p:nvSpPr>
          <p:cNvPr id="28" name="TextBox 27"/>
          <p:cNvSpPr txBox="1"/>
          <p:nvPr/>
        </p:nvSpPr>
        <p:spPr>
          <a:xfrm>
            <a:off x="8549640" y="3739896"/>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Qualys read-only integration active</a:t>
            </a:r>
          </a:p>
        </p:txBody>
      </p:sp>
      <p:sp>
        <p:nvSpPr>
          <p:cNvPr id="29" name="TextBox 28"/>
          <p:cNvSpPr txBox="1"/>
          <p:nvPr/>
        </p:nvSpPr>
        <p:spPr>
          <a:xfrm>
            <a:off x="8549640" y="4306824"/>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NowAssist activation pending owner reassignment</a:t>
            </a:r>
          </a:p>
        </p:txBody>
      </p:sp>
      <p:sp>
        <p:nvSpPr>
          <p:cNvPr id="30" name="Rectangle 29"/>
          <p:cNvSpPr/>
          <p:nvPr/>
        </p:nvSpPr>
        <p:spPr>
          <a:xfrm>
            <a:off x="502920" y="5303520"/>
            <a:ext cx="11155680" cy="9144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5303520"/>
            <a:ext cx="109728" cy="91440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58952" y="5449824"/>
            <a:ext cx="155448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PENDING DATA</a:t>
            </a:r>
          </a:p>
        </p:txBody>
      </p:sp>
      <p:sp>
        <p:nvSpPr>
          <p:cNvPr id="33" name="TextBox 32"/>
          <p:cNvSpPr txBox="1"/>
          <p:nvPr/>
        </p:nvSpPr>
        <p:spPr>
          <a:xfrm>
            <a:off x="2468880" y="5422392"/>
            <a:ext cx="8961120" cy="411480"/>
          </a:xfrm>
          <a:prstGeom prst="rect">
            <a:avLst/>
          </a:prstGeom>
          <a:noFill/>
        </p:spPr>
        <p:txBody>
          <a:bodyPr wrap="square" anchor="ctr" lIns="50800" rIns="50800" tIns="25400" bIns="25400">
            <a:spAutoFit/>
          </a:bodyPr>
          <a:lstStyle/>
          <a:p>
            <a:pPr algn="l"/>
            <a:r>
              <a:rPr sz="1250" b="1" i="0">
                <a:solidFill>
                  <a:srgbClr val="1F3A5F"/>
                </a:solidFill>
                <a:latin typeface="Segoe UI"/>
              </a:rPr>
              <a:t>Iteration velocity - committed vs. accepted stories</a:t>
            </a:r>
          </a:p>
        </p:txBody>
      </p:sp>
      <p:sp>
        <p:nvSpPr>
          <p:cNvPr id="34" name="TextBox 33"/>
          <p:cNvSpPr txBox="1"/>
          <p:nvPr/>
        </p:nvSpPr>
        <p:spPr>
          <a:xfrm>
            <a:off x="758952" y="5870448"/>
            <a:ext cx="10652760" cy="256032"/>
          </a:xfrm>
          <a:prstGeom prst="rect">
            <a:avLst/>
          </a:prstGeom>
          <a:noFill/>
        </p:spPr>
        <p:txBody>
          <a:bodyPr wrap="square" anchor="t" lIns="50800" rIns="50800" tIns="25400" bIns="25400">
            <a:spAutoFit/>
          </a:bodyPr>
          <a:lstStyle/>
          <a:p>
            <a:pPr algn="l"/>
            <a:r>
              <a:rPr sz="1050" b="0" i="1">
                <a:solidFill>
                  <a:srgbClr val="6B7280"/>
                </a:solidFill>
                <a:latin typeface="Segoe UI"/>
              </a:rPr>
              <a:t>Per-sprint committed -&gt; accepted counts will quantify whether each iteration builds on the last. Quantitative velocity (committed vs. accepted points) is not yet captured in sprint ceremonies. Establishing this metric is an active process-improvement item. Not yet ready for relevant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Progress: Week over Week</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What changed in status since the last report?</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a:t>
            </a:r>
          </a:p>
        </p:txBody>
      </p:sp>
      <p:sp>
        <p:nvSpPr>
          <p:cNvPr id="7" name="TextBox 6"/>
          <p:cNvSpPr txBox="1"/>
          <p:nvPr/>
        </p:nvSpPr>
        <p:spPr>
          <a:xfrm>
            <a:off x="502920" y="1280160"/>
            <a:ext cx="11155680" cy="411480"/>
          </a:xfrm>
          <a:prstGeom prst="rect">
            <a:avLst/>
          </a:prstGeom>
          <a:noFill/>
        </p:spPr>
        <p:txBody>
          <a:bodyPr wrap="square" anchor="t" lIns="50800" rIns="50800" tIns="25400" bIns="25400">
            <a:spAutoFit/>
          </a:bodyPr>
          <a:lstStyle/>
          <a:p>
            <a:pPr algn="l"/>
            <a:r>
              <a:rPr sz="1600" b="1" i="0">
                <a:solidFill>
                  <a:srgbClr val="2E6DB4"/>
                </a:solidFill>
                <a:latin typeface="Segoe UI"/>
              </a:rPr>
              <a:t>Baseline snapshot captured - this edition is the reference point.</a:t>
            </a:r>
          </a:p>
        </p:txBody>
      </p:sp>
      <p:sp>
        <p:nvSpPr>
          <p:cNvPr id="8" name="TextBox 7"/>
          <p:cNvSpPr txBox="1"/>
          <p:nvPr/>
        </p:nvSpPr>
        <p:spPr>
          <a:xfrm>
            <a:off x="502920" y="1783080"/>
            <a:ext cx="11155680" cy="594360"/>
          </a:xfrm>
          <a:prstGeom prst="rect">
            <a:avLst/>
          </a:prstGeom>
          <a:noFill/>
        </p:spPr>
        <p:txBody>
          <a:bodyPr wrap="square" anchor="t" lIns="50800" rIns="50800" tIns="25400" bIns="25400">
            <a:spAutoFit/>
          </a:bodyPr>
          <a:lstStyle/>
          <a:p>
            <a:pPr algn="l"/>
            <a:r>
              <a:rPr sz="1200" b="0" i="1">
                <a:solidFill>
                  <a:srgbClr val="6B7280"/>
                </a:solidFill>
                <a:latin typeface="Segoe UI"/>
              </a:rPr>
              <a:t>First edition = baseline. From next week this slide shows what moved vs. the prior report. Status changes (▲ improved / ▼ slipped), story movement, and newly blocked/unblocked objectives will be computed automatically from next edition.</a:t>
            </a:r>
          </a:p>
        </p:txBody>
      </p:sp>
      <p:sp>
        <p:nvSpPr>
          <p:cNvPr id="9" name="TextBox 8"/>
          <p:cNvSpPr txBox="1"/>
          <p:nvPr/>
        </p:nvSpPr>
        <p:spPr>
          <a:xfrm>
            <a:off x="502920" y="2560320"/>
            <a:ext cx="11155680" cy="320040"/>
          </a:xfrm>
          <a:prstGeom prst="rect">
            <a:avLst/>
          </a:prstGeom>
          <a:noFill/>
        </p:spPr>
        <p:txBody>
          <a:bodyPr wrap="square" anchor="t" lIns="50800" rIns="50800" tIns="25400" bIns="25400">
            <a:spAutoFit/>
          </a:bodyPr>
          <a:lstStyle/>
          <a:p>
            <a:pPr algn="l"/>
            <a:r>
              <a:rPr sz="1300" b="1" i="0">
                <a:solidFill>
                  <a:srgbClr val="1F3A5F"/>
                </a:solidFill>
                <a:latin typeface="Segoe UI"/>
              </a:rPr>
              <a:t>This week's baseline status</a:t>
            </a:r>
          </a:p>
        </p:txBody>
      </p:sp>
      <p:sp>
        <p:nvSpPr>
          <p:cNvPr id="10" name="Rectangle 9"/>
          <p:cNvSpPr/>
          <p:nvPr/>
        </p:nvSpPr>
        <p:spPr>
          <a:xfrm>
            <a:off x="502920" y="2926080"/>
            <a:ext cx="1051560" cy="2743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On track</a:t>
            </a:r>
          </a:p>
        </p:txBody>
      </p:sp>
      <p:sp>
        <p:nvSpPr>
          <p:cNvPr id="11" name="TextBox 10"/>
          <p:cNvSpPr txBox="1"/>
          <p:nvPr/>
        </p:nvSpPr>
        <p:spPr>
          <a:xfrm>
            <a:off x="1691640" y="2907792"/>
            <a:ext cx="7680960" cy="365760"/>
          </a:xfrm>
          <a:prstGeom prst="rect">
            <a:avLst/>
          </a:prstGeom>
          <a:noFill/>
        </p:spPr>
        <p:txBody>
          <a:bodyPr wrap="square" anchor="ctr" lIns="50800" rIns="50800" tIns="25400" bIns="25400">
            <a:spAutoFit/>
          </a:bodyPr>
          <a:lstStyle/>
          <a:p>
            <a:pPr algn="l"/>
            <a:r>
              <a:rPr sz="1200" b="0" i="0">
                <a:solidFill>
                  <a:srgbClr val="2D2D2D"/>
                </a:solidFill>
                <a:latin typeface="Segoe UI"/>
              </a:rPr>
              <a:t>P0  Governed VMware-to-Azure Migration (Airlift)</a:t>
            </a:r>
          </a:p>
        </p:txBody>
      </p:sp>
      <p:sp>
        <p:nvSpPr>
          <p:cNvPr id="12" name="TextBox 11"/>
          <p:cNvSpPr txBox="1"/>
          <p:nvPr/>
        </p:nvSpPr>
        <p:spPr>
          <a:xfrm>
            <a:off x="9464040" y="2907792"/>
            <a:ext cx="2240280" cy="365760"/>
          </a:xfrm>
          <a:prstGeom prst="rect">
            <a:avLst/>
          </a:prstGeom>
          <a:noFill/>
        </p:spPr>
        <p:txBody>
          <a:bodyPr wrap="square" anchor="ctr" lIns="50800" rIns="50800" tIns="25400" bIns="25400">
            <a:spAutoFit/>
          </a:bodyPr>
          <a:lstStyle/>
          <a:p>
            <a:pPr algn="l"/>
            <a:r>
              <a:rPr sz="1100" b="0" i="0">
                <a:solidFill>
                  <a:srgbClr val="6B7280"/>
                </a:solidFill>
                <a:latin typeface="Segoe UI"/>
              </a:rPr>
              <a:t>4/4 moving</a:t>
            </a:r>
          </a:p>
        </p:txBody>
      </p:sp>
      <p:sp>
        <p:nvSpPr>
          <p:cNvPr id="13" name="Rectangle 12"/>
          <p:cNvSpPr/>
          <p:nvPr/>
        </p:nvSpPr>
        <p:spPr>
          <a:xfrm>
            <a:off x="502920" y="3346704"/>
            <a:ext cx="105156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Watch</a:t>
            </a:r>
          </a:p>
        </p:txBody>
      </p:sp>
      <p:sp>
        <p:nvSpPr>
          <p:cNvPr id="14" name="TextBox 13"/>
          <p:cNvSpPr txBox="1"/>
          <p:nvPr/>
        </p:nvSpPr>
        <p:spPr>
          <a:xfrm>
            <a:off x="1691640" y="3328416"/>
            <a:ext cx="7680960" cy="365760"/>
          </a:xfrm>
          <a:prstGeom prst="rect">
            <a:avLst/>
          </a:prstGeom>
          <a:noFill/>
        </p:spPr>
        <p:txBody>
          <a:bodyPr wrap="square" anchor="ctr" lIns="50800" rIns="50800" tIns="25400" bIns="25400">
            <a:spAutoFit/>
          </a:bodyPr>
          <a:lstStyle/>
          <a:p>
            <a:pPr algn="l"/>
            <a:r>
              <a:rPr sz="1200" b="0" i="0">
                <a:solidFill>
                  <a:srgbClr val="2D2D2D"/>
                </a:solidFill>
                <a:latin typeface="Segoe UI"/>
              </a:rPr>
              <a:t>P1  Automate Discovery Coverage for Network Gear</a:t>
            </a:r>
          </a:p>
        </p:txBody>
      </p:sp>
      <p:sp>
        <p:nvSpPr>
          <p:cNvPr id="15" name="TextBox 14"/>
          <p:cNvSpPr txBox="1"/>
          <p:nvPr/>
        </p:nvSpPr>
        <p:spPr>
          <a:xfrm>
            <a:off x="9464040" y="3328416"/>
            <a:ext cx="2240280" cy="365760"/>
          </a:xfrm>
          <a:prstGeom prst="rect">
            <a:avLst/>
          </a:prstGeom>
          <a:noFill/>
        </p:spPr>
        <p:txBody>
          <a:bodyPr wrap="square" anchor="ctr" lIns="50800" rIns="50800" tIns="25400" bIns="25400">
            <a:spAutoFit/>
          </a:bodyPr>
          <a:lstStyle/>
          <a:p>
            <a:pPr algn="l"/>
            <a:r>
              <a:rPr sz="1100" b="0" i="0">
                <a:solidFill>
                  <a:srgbClr val="6B7280"/>
                </a:solidFill>
                <a:latin typeface="Segoe UI"/>
              </a:rPr>
              <a:t>3/6 moving</a:t>
            </a:r>
          </a:p>
        </p:txBody>
      </p:sp>
      <p:sp>
        <p:nvSpPr>
          <p:cNvPr id="16" name="Rectangle 15"/>
          <p:cNvSpPr/>
          <p:nvPr/>
        </p:nvSpPr>
        <p:spPr>
          <a:xfrm>
            <a:off x="502920" y="3767328"/>
            <a:ext cx="1051560" cy="2743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On track</a:t>
            </a:r>
          </a:p>
        </p:txBody>
      </p:sp>
      <p:sp>
        <p:nvSpPr>
          <p:cNvPr id="17" name="TextBox 16"/>
          <p:cNvSpPr txBox="1"/>
          <p:nvPr/>
        </p:nvSpPr>
        <p:spPr>
          <a:xfrm>
            <a:off x="1691640" y="3749040"/>
            <a:ext cx="7680960" cy="365760"/>
          </a:xfrm>
          <a:prstGeom prst="rect">
            <a:avLst/>
          </a:prstGeom>
          <a:noFill/>
        </p:spPr>
        <p:txBody>
          <a:bodyPr wrap="square" anchor="ctr" lIns="50800" rIns="50800" tIns="25400" bIns="25400">
            <a:spAutoFit/>
          </a:bodyPr>
          <a:lstStyle/>
          <a:p>
            <a:pPr algn="l"/>
            <a:r>
              <a:rPr sz="1200" b="0" i="0">
                <a:solidFill>
                  <a:srgbClr val="2D2D2D"/>
                </a:solidFill>
                <a:latin typeface="Segoe UI"/>
              </a:rPr>
              <a:t>P1  Establish CI Data Certification Program</a:t>
            </a:r>
          </a:p>
        </p:txBody>
      </p:sp>
      <p:sp>
        <p:nvSpPr>
          <p:cNvPr id="18" name="TextBox 17"/>
          <p:cNvSpPr txBox="1"/>
          <p:nvPr/>
        </p:nvSpPr>
        <p:spPr>
          <a:xfrm>
            <a:off x="9464040" y="3749040"/>
            <a:ext cx="2240280" cy="365760"/>
          </a:xfrm>
          <a:prstGeom prst="rect">
            <a:avLst/>
          </a:prstGeom>
          <a:noFill/>
        </p:spPr>
        <p:txBody>
          <a:bodyPr wrap="square" anchor="ctr" lIns="50800" rIns="50800" tIns="25400" bIns="25400">
            <a:spAutoFit/>
          </a:bodyPr>
          <a:lstStyle/>
          <a:p>
            <a:pPr algn="l"/>
            <a:r>
              <a:rPr sz="1100" b="0" i="0">
                <a:solidFill>
                  <a:srgbClr val="6B7280"/>
                </a:solidFill>
                <a:latin typeface="Segoe UI"/>
              </a:rPr>
              <a:t>1/1 moving</a:t>
            </a:r>
          </a:p>
        </p:txBody>
      </p:sp>
      <p:sp>
        <p:nvSpPr>
          <p:cNvPr id="19" name="Rectangle 18"/>
          <p:cNvSpPr/>
          <p:nvPr/>
        </p:nvSpPr>
        <p:spPr>
          <a:xfrm>
            <a:off x="502920" y="4187952"/>
            <a:ext cx="105156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Watch</a:t>
            </a:r>
          </a:p>
        </p:txBody>
      </p:sp>
      <p:sp>
        <p:nvSpPr>
          <p:cNvPr id="20" name="TextBox 19"/>
          <p:cNvSpPr txBox="1"/>
          <p:nvPr/>
        </p:nvSpPr>
        <p:spPr>
          <a:xfrm>
            <a:off x="1691640" y="4169664"/>
            <a:ext cx="7680960" cy="365760"/>
          </a:xfrm>
          <a:prstGeom prst="rect">
            <a:avLst/>
          </a:prstGeom>
          <a:noFill/>
        </p:spPr>
        <p:txBody>
          <a:bodyPr wrap="square" anchor="ctr" lIns="50800" rIns="50800" tIns="25400" bIns="25400">
            <a:spAutoFit/>
          </a:bodyPr>
          <a:lstStyle/>
          <a:p>
            <a:pPr algn="l"/>
            <a:r>
              <a:rPr sz="1200" b="0" i="0">
                <a:solidFill>
                  <a:srgbClr val="2D2D2D"/>
                </a:solidFill>
                <a:latin typeface="Segoe UI"/>
              </a:rPr>
              <a:t>P2  Expand Service Mapping Foundation</a:t>
            </a:r>
          </a:p>
        </p:txBody>
      </p:sp>
      <p:sp>
        <p:nvSpPr>
          <p:cNvPr id="21" name="TextBox 20"/>
          <p:cNvSpPr txBox="1"/>
          <p:nvPr/>
        </p:nvSpPr>
        <p:spPr>
          <a:xfrm>
            <a:off x="9464040" y="4169664"/>
            <a:ext cx="2240280" cy="365760"/>
          </a:xfrm>
          <a:prstGeom prst="rect">
            <a:avLst/>
          </a:prstGeom>
          <a:noFill/>
        </p:spPr>
        <p:txBody>
          <a:bodyPr wrap="square" anchor="ctr" lIns="50800" rIns="50800" tIns="25400" bIns="25400">
            <a:spAutoFit/>
          </a:bodyPr>
          <a:lstStyle/>
          <a:p>
            <a:pPr algn="l"/>
            <a:r>
              <a:rPr sz="1100" b="0" i="0">
                <a:solidFill>
                  <a:srgbClr val="6B7280"/>
                </a:solidFill>
                <a:latin typeface="Segoe UI"/>
              </a:rPr>
              <a:t>6/6 moving</a:t>
            </a:r>
          </a:p>
        </p:txBody>
      </p:sp>
      <p:sp>
        <p:nvSpPr>
          <p:cNvPr id="22" name="Rectangle 21"/>
          <p:cNvSpPr/>
          <p:nvPr/>
        </p:nvSpPr>
        <p:spPr>
          <a:xfrm>
            <a:off x="502920" y="4608576"/>
            <a:ext cx="105156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Watch</a:t>
            </a:r>
          </a:p>
        </p:txBody>
      </p:sp>
      <p:sp>
        <p:nvSpPr>
          <p:cNvPr id="23" name="TextBox 22"/>
          <p:cNvSpPr txBox="1"/>
          <p:nvPr/>
        </p:nvSpPr>
        <p:spPr>
          <a:xfrm>
            <a:off x="1691640" y="4590288"/>
            <a:ext cx="7680960" cy="365760"/>
          </a:xfrm>
          <a:prstGeom prst="rect">
            <a:avLst/>
          </a:prstGeom>
          <a:noFill/>
        </p:spPr>
        <p:txBody>
          <a:bodyPr wrap="square" anchor="ctr" lIns="50800" rIns="50800" tIns="25400" bIns="25400">
            <a:spAutoFit/>
          </a:bodyPr>
          <a:lstStyle/>
          <a:p>
            <a:pPr algn="l"/>
            <a:r>
              <a:rPr sz="1200" b="0" i="0">
                <a:solidFill>
                  <a:srgbClr val="2D2D2D"/>
                </a:solidFill>
                <a:latin typeface="Segoe UI"/>
              </a:rPr>
              <a:t>P2  Regulatory &amp; Security Integrations (Qualys/NERC/CCB)</a:t>
            </a:r>
          </a:p>
        </p:txBody>
      </p:sp>
      <p:sp>
        <p:nvSpPr>
          <p:cNvPr id="24" name="TextBox 23"/>
          <p:cNvSpPr txBox="1"/>
          <p:nvPr/>
        </p:nvSpPr>
        <p:spPr>
          <a:xfrm>
            <a:off x="9464040" y="4590288"/>
            <a:ext cx="2240280" cy="365760"/>
          </a:xfrm>
          <a:prstGeom prst="rect">
            <a:avLst/>
          </a:prstGeom>
          <a:noFill/>
        </p:spPr>
        <p:txBody>
          <a:bodyPr wrap="square" anchor="ctr" lIns="50800" rIns="50800" tIns="25400" bIns="25400">
            <a:spAutoFit/>
          </a:bodyPr>
          <a:lstStyle/>
          <a:p>
            <a:pPr algn="l"/>
            <a:r>
              <a:rPr sz="1100" b="0" i="0">
                <a:solidFill>
                  <a:srgbClr val="6B7280"/>
                </a:solidFill>
                <a:latin typeface="Segoe UI"/>
              </a:rPr>
              <a:t>3/3 moving</a:t>
            </a:r>
          </a:p>
        </p:txBody>
      </p:sp>
      <p:sp>
        <p:nvSpPr>
          <p:cNvPr id="25" name="Rectangle 24"/>
          <p:cNvSpPr/>
          <p:nvPr/>
        </p:nvSpPr>
        <p:spPr>
          <a:xfrm>
            <a:off x="502920" y="5029200"/>
            <a:ext cx="105156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Watch</a:t>
            </a:r>
          </a:p>
        </p:txBody>
      </p:sp>
      <p:sp>
        <p:nvSpPr>
          <p:cNvPr id="26" name="TextBox 25"/>
          <p:cNvSpPr txBox="1"/>
          <p:nvPr/>
        </p:nvSpPr>
        <p:spPr>
          <a:xfrm>
            <a:off x="1691640" y="5010912"/>
            <a:ext cx="7680960" cy="365760"/>
          </a:xfrm>
          <a:prstGeom prst="rect">
            <a:avLst/>
          </a:prstGeom>
          <a:noFill/>
        </p:spPr>
        <p:txBody>
          <a:bodyPr wrap="square" anchor="ctr" lIns="50800" rIns="50800" tIns="25400" bIns="25400">
            <a:spAutoFit/>
          </a:bodyPr>
          <a:lstStyle/>
          <a:p>
            <a:pPr algn="l"/>
            <a:r>
              <a:rPr sz="1200" b="0" i="0">
                <a:solidFill>
                  <a:srgbClr val="2D2D2D"/>
                </a:solidFill>
                <a:latin typeface="Segoe UI"/>
              </a:rPr>
              <a:t>P3  Embed NowAssist AI Across CMDB &amp; ITSM</a:t>
            </a:r>
          </a:p>
        </p:txBody>
      </p:sp>
      <p:sp>
        <p:nvSpPr>
          <p:cNvPr id="27" name="TextBox 26"/>
          <p:cNvSpPr txBox="1"/>
          <p:nvPr/>
        </p:nvSpPr>
        <p:spPr>
          <a:xfrm>
            <a:off x="9464040" y="5010912"/>
            <a:ext cx="2240280" cy="365760"/>
          </a:xfrm>
          <a:prstGeom prst="rect">
            <a:avLst/>
          </a:prstGeom>
          <a:noFill/>
        </p:spPr>
        <p:txBody>
          <a:bodyPr wrap="square" anchor="ctr" lIns="50800" rIns="50800" tIns="25400" bIns="25400">
            <a:spAutoFit/>
          </a:bodyPr>
          <a:lstStyle/>
          <a:p>
            <a:pPr algn="l"/>
            <a:r>
              <a:rPr sz="1100" b="0" i="0">
                <a:solidFill>
                  <a:srgbClr val="6B7280"/>
                </a:solidFill>
                <a:latin typeface="Segoe UI"/>
              </a:rPr>
              <a:t>0/4 moving</a:t>
            </a:r>
          </a:p>
        </p:txBody>
      </p:sp>
      <p:sp>
        <p:nvSpPr>
          <p:cNvPr id="28" name="Rectangle 27"/>
          <p:cNvSpPr/>
          <p:nvPr/>
        </p:nvSpPr>
        <p:spPr>
          <a:xfrm>
            <a:off x="502920" y="5440680"/>
            <a:ext cx="11155680" cy="7772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5440680"/>
            <a:ext cx="109728" cy="77724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58952" y="5586984"/>
            <a:ext cx="155448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PENDING DATA</a:t>
            </a:r>
          </a:p>
        </p:txBody>
      </p:sp>
      <p:sp>
        <p:nvSpPr>
          <p:cNvPr id="31" name="TextBox 30"/>
          <p:cNvSpPr txBox="1"/>
          <p:nvPr/>
        </p:nvSpPr>
        <p:spPr>
          <a:xfrm>
            <a:off x="2468880" y="5559552"/>
            <a:ext cx="8961120" cy="411480"/>
          </a:xfrm>
          <a:prstGeom prst="rect">
            <a:avLst/>
          </a:prstGeom>
          <a:noFill/>
        </p:spPr>
        <p:txBody>
          <a:bodyPr wrap="square" anchor="ctr" lIns="50800" rIns="50800" tIns="25400" bIns="25400">
            <a:spAutoFit/>
          </a:bodyPr>
          <a:lstStyle/>
          <a:p>
            <a:pPr algn="l"/>
            <a:r>
              <a:rPr sz="1250" b="1" i="0">
                <a:solidFill>
                  <a:srgbClr val="1F3A5F"/>
                </a:solidFill>
                <a:latin typeface="Segoe UI"/>
              </a:rPr>
              <a:t>Completed / delivered this period</a:t>
            </a:r>
          </a:p>
        </p:txBody>
      </p:sp>
      <p:sp>
        <p:nvSpPr>
          <p:cNvPr id="32" name="TextBox 31"/>
          <p:cNvSpPr txBox="1"/>
          <p:nvPr/>
        </p:nvSpPr>
        <p:spPr>
          <a:xfrm>
            <a:off x="758952" y="6007608"/>
            <a:ext cx="10652760" cy="118872"/>
          </a:xfrm>
          <a:prstGeom prst="rect">
            <a:avLst/>
          </a:prstGeom>
          <a:noFill/>
        </p:spPr>
        <p:txBody>
          <a:bodyPr wrap="square" anchor="t" lIns="50800" rIns="50800" tIns="25400" bIns="25400">
            <a:spAutoFit/>
          </a:bodyPr>
          <a:lstStyle/>
          <a:p>
            <a:pPr algn="l"/>
            <a:r>
              <a:rPr sz="1050" b="0" i="1">
                <a:solidFill>
                  <a:srgbClr val="6B7280"/>
                </a:solidFill>
                <a:latin typeface="Segoe UI"/>
              </a:rPr>
              <a:t>Delivery tracking (completed &amp; accepted stories) begins at first PROD deploy (Jun 23). Current 'moving' counts reflect activity in flight, not completion. Not yet ready for relevant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Highest-Priority Objectives (P0 - P1)</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Status and detail by objective</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a:t>
            </a:r>
          </a:p>
        </p:txBody>
      </p:sp>
      <p:sp>
        <p:nvSpPr>
          <p:cNvPr id="7" name="Rectangle 6"/>
          <p:cNvSpPr/>
          <p:nvPr/>
        </p:nvSpPr>
        <p:spPr>
          <a:xfrm>
            <a:off x="502920" y="1463040"/>
            <a:ext cx="11155680"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645920"/>
            <a:ext cx="1005840" cy="2743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GREEN</a:t>
            </a:r>
          </a:p>
        </p:txBody>
      </p:sp>
      <p:sp>
        <p:nvSpPr>
          <p:cNvPr id="9" name="TextBox 8"/>
          <p:cNvSpPr txBox="1"/>
          <p:nvPr/>
        </p:nvSpPr>
        <p:spPr>
          <a:xfrm>
            <a:off x="1874519" y="1600200"/>
            <a:ext cx="9509760" cy="365760"/>
          </a:xfrm>
          <a:prstGeom prst="rect">
            <a:avLst/>
          </a:prstGeom>
          <a:noFill/>
        </p:spPr>
        <p:txBody>
          <a:bodyPr wrap="square" anchor="t" lIns="50800" rIns="50800" tIns="25400" bIns="25400">
            <a:spAutoFit/>
          </a:bodyPr>
          <a:lstStyle/>
          <a:p>
            <a:pPr algn="l"/>
            <a:r>
              <a:rPr sz="1500" b="1" i="0">
                <a:solidFill>
                  <a:srgbClr val="1F3A5F"/>
                </a:solidFill>
                <a:latin typeface="Segoe UI"/>
              </a:rPr>
              <a:t>Airlift (P0)</a:t>
            </a:r>
          </a:p>
        </p:txBody>
      </p:sp>
      <p:sp>
        <p:nvSpPr>
          <p:cNvPr id="10" name="TextBox 9"/>
          <p:cNvSpPr txBox="1"/>
          <p:nvPr/>
        </p:nvSpPr>
        <p:spPr>
          <a:xfrm>
            <a:off x="1874519" y="2011680"/>
            <a:ext cx="9509760" cy="731520"/>
          </a:xfrm>
          <a:prstGeom prst="rect">
            <a:avLst/>
          </a:prstGeom>
          <a:noFill/>
        </p:spPr>
        <p:txBody>
          <a:bodyPr wrap="square" anchor="t" lIns="50800" rIns="50800" tIns="25400" bIns="25400">
            <a:spAutoFit/>
          </a:bodyPr>
          <a:lstStyle/>
          <a:p>
            <a:pPr algn="l"/>
            <a:r>
              <a:rPr sz="1200" b="0" i="0">
                <a:solidFill>
                  <a:srgbClr val="2D2D2D"/>
                </a:solidFill>
                <a:latin typeface="Segoe UI"/>
              </a:rPr>
              <a:t>Pre/During/Post-Migration + CI auto-populate stories active. Dev access resolved 6/9.</a:t>
            </a:r>
          </a:p>
        </p:txBody>
      </p:sp>
      <p:sp>
        <p:nvSpPr>
          <p:cNvPr id="11" name="Rectangle 10"/>
          <p:cNvSpPr/>
          <p:nvPr/>
        </p:nvSpPr>
        <p:spPr>
          <a:xfrm>
            <a:off x="502920" y="2971800"/>
            <a:ext cx="11155680"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3154680"/>
            <a:ext cx="1005840" cy="2743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GREEN</a:t>
            </a:r>
          </a:p>
        </p:txBody>
      </p:sp>
      <p:sp>
        <p:nvSpPr>
          <p:cNvPr id="13" name="TextBox 12"/>
          <p:cNvSpPr txBox="1"/>
          <p:nvPr/>
        </p:nvSpPr>
        <p:spPr>
          <a:xfrm>
            <a:off x="1874519" y="3108960"/>
            <a:ext cx="9509760" cy="365760"/>
          </a:xfrm>
          <a:prstGeom prst="rect">
            <a:avLst/>
          </a:prstGeom>
          <a:noFill/>
        </p:spPr>
        <p:txBody>
          <a:bodyPr wrap="square" anchor="t" lIns="50800" rIns="50800" tIns="25400" bIns="25400">
            <a:spAutoFit/>
          </a:bodyPr>
          <a:lstStyle/>
          <a:p>
            <a:pPr algn="l"/>
            <a:r>
              <a:rPr sz="1500" b="1" i="0">
                <a:solidFill>
                  <a:srgbClr val="1F3A5F"/>
                </a:solidFill>
                <a:latin typeface="Segoe UI"/>
              </a:rPr>
              <a:t>Data Certification (P1)</a:t>
            </a:r>
          </a:p>
        </p:txBody>
      </p:sp>
      <p:sp>
        <p:nvSpPr>
          <p:cNvPr id="14" name="TextBox 13"/>
          <p:cNvSpPr txBox="1"/>
          <p:nvPr/>
        </p:nvSpPr>
        <p:spPr>
          <a:xfrm>
            <a:off x="1874519" y="3520440"/>
            <a:ext cx="9509760" cy="731520"/>
          </a:xfrm>
          <a:prstGeom prst="rect">
            <a:avLst/>
          </a:prstGeom>
          <a:noFill/>
        </p:spPr>
        <p:txBody>
          <a:bodyPr wrap="square" anchor="t" lIns="50800" rIns="50800" tIns="25400" bIns="25400">
            <a:spAutoFit/>
          </a:bodyPr>
          <a:lstStyle/>
          <a:p>
            <a:pPr algn="l"/>
            <a:r>
              <a:rPr sz="1200" b="0" i="0">
                <a:solidFill>
                  <a:srgbClr val="2D2D2D"/>
                </a:solidFill>
                <a:latin typeface="Segoe UI"/>
              </a:rPr>
              <a:t>Dashboard in UAT, signed off 6/10. PROD deployment Jun 23; Todd validates Jun 24-25.</a:t>
            </a:r>
          </a:p>
        </p:txBody>
      </p:sp>
      <p:sp>
        <p:nvSpPr>
          <p:cNvPr id="15" name="Rectangle 14"/>
          <p:cNvSpPr/>
          <p:nvPr/>
        </p:nvSpPr>
        <p:spPr>
          <a:xfrm>
            <a:off x="502920" y="4480560"/>
            <a:ext cx="11155680"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4663440"/>
            <a:ext cx="100584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AMBER</a:t>
            </a:r>
          </a:p>
        </p:txBody>
      </p:sp>
      <p:sp>
        <p:nvSpPr>
          <p:cNvPr id="17" name="TextBox 16"/>
          <p:cNvSpPr txBox="1"/>
          <p:nvPr/>
        </p:nvSpPr>
        <p:spPr>
          <a:xfrm>
            <a:off x="1874519" y="4617720"/>
            <a:ext cx="9509760" cy="365760"/>
          </a:xfrm>
          <a:prstGeom prst="rect">
            <a:avLst/>
          </a:prstGeom>
          <a:noFill/>
        </p:spPr>
        <p:txBody>
          <a:bodyPr wrap="square" anchor="t" lIns="50800" rIns="50800" tIns="25400" bIns="25400">
            <a:spAutoFit/>
          </a:bodyPr>
          <a:lstStyle/>
          <a:p>
            <a:pPr algn="l"/>
            <a:r>
              <a:rPr sz="1500" b="1" i="0">
                <a:solidFill>
                  <a:srgbClr val="1F3A5F"/>
                </a:solidFill>
                <a:latin typeface="Segoe UI"/>
              </a:rPr>
              <a:t>Discovery / SCCM (P1)</a:t>
            </a:r>
          </a:p>
        </p:txBody>
      </p:sp>
      <p:sp>
        <p:nvSpPr>
          <p:cNvPr id="18" name="TextBox 17"/>
          <p:cNvSpPr txBox="1"/>
          <p:nvPr/>
        </p:nvSpPr>
        <p:spPr>
          <a:xfrm>
            <a:off x="1874519" y="5029200"/>
            <a:ext cx="9509760" cy="731520"/>
          </a:xfrm>
          <a:prstGeom prst="rect">
            <a:avLst/>
          </a:prstGeom>
          <a:noFill/>
        </p:spPr>
        <p:txBody>
          <a:bodyPr wrap="square" anchor="t" lIns="50800" rIns="50800" tIns="25400" bIns="25400">
            <a:spAutoFit/>
          </a:bodyPr>
          <a:lstStyle/>
          <a:p>
            <a:pPr algn="l"/>
            <a:r>
              <a:rPr sz="1200" b="0" i="0">
                <a:solidFill>
                  <a:srgbClr val="2D2D2D"/>
                </a:solidFill>
                <a:latin typeface="Segoe UI"/>
              </a:rPr>
              <a:t>Hardware-attribute precedence approved. Timestamp story blocked on approval; gap analysis in progress.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Supporting Objectives (P2 - P3)</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Status and detail by objective</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a:t>
            </a:r>
          </a:p>
        </p:txBody>
      </p:sp>
      <p:sp>
        <p:nvSpPr>
          <p:cNvPr id="7" name="Rectangle 6"/>
          <p:cNvSpPr/>
          <p:nvPr/>
        </p:nvSpPr>
        <p:spPr>
          <a:xfrm>
            <a:off x="502920" y="1463040"/>
            <a:ext cx="11155680"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645920"/>
            <a:ext cx="100584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AMBER</a:t>
            </a:r>
          </a:p>
        </p:txBody>
      </p:sp>
      <p:sp>
        <p:nvSpPr>
          <p:cNvPr id="9" name="TextBox 8"/>
          <p:cNvSpPr txBox="1"/>
          <p:nvPr/>
        </p:nvSpPr>
        <p:spPr>
          <a:xfrm>
            <a:off x="1874519" y="1600200"/>
            <a:ext cx="9509760" cy="365760"/>
          </a:xfrm>
          <a:prstGeom prst="rect">
            <a:avLst/>
          </a:prstGeom>
          <a:noFill/>
        </p:spPr>
        <p:txBody>
          <a:bodyPr wrap="square" anchor="t" lIns="50800" rIns="50800" tIns="25400" bIns="25400">
            <a:spAutoFit/>
          </a:bodyPr>
          <a:lstStyle/>
          <a:p>
            <a:pPr algn="l"/>
            <a:r>
              <a:rPr sz="1500" b="1" i="0">
                <a:solidFill>
                  <a:srgbClr val="1F3A5F"/>
                </a:solidFill>
                <a:latin typeface="Segoe UI"/>
              </a:rPr>
              <a:t>Service Mapping (P2)</a:t>
            </a:r>
          </a:p>
        </p:txBody>
      </p:sp>
      <p:sp>
        <p:nvSpPr>
          <p:cNvPr id="10" name="TextBox 9"/>
          <p:cNvSpPr txBox="1"/>
          <p:nvPr/>
        </p:nvSpPr>
        <p:spPr>
          <a:xfrm>
            <a:off x="1874519" y="2011680"/>
            <a:ext cx="9509760" cy="731520"/>
          </a:xfrm>
          <a:prstGeom prst="rect">
            <a:avLst/>
          </a:prstGeom>
          <a:noFill/>
        </p:spPr>
        <p:txBody>
          <a:bodyPr wrap="square" anchor="t" lIns="50800" rIns="50800" tIns="25400" bIns="25400">
            <a:spAutoFit/>
          </a:bodyPr>
          <a:lstStyle/>
          <a:p>
            <a:pPr algn="l"/>
            <a:r>
              <a:rPr sz="1200" b="0" i="0">
                <a:solidFill>
                  <a:srgbClr val="2D2D2D"/>
                </a:solidFill>
                <a:latin typeface="Segoe UI"/>
              </a:rPr>
              <a:t>Credentials resolved - discovery now finding infrastructure previously invisible. DNS dependency still open.</a:t>
            </a:r>
          </a:p>
        </p:txBody>
      </p:sp>
      <p:sp>
        <p:nvSpPr>
          <p:cNvPr id="11" name="Rectangle 10"/>
          <p:cNvSpPr/>
          <p:nvPr/>
        </p:nvSpPr>
        <p:spPr>
          <a:xfrm>
            <a:off x="502920" y="2971800"/>
            <a:ext cx="11155680"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3154680"/>
            <a:ext cx="100584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AMBER</a:t>
            </a:r>
          </a:p>
        </p:txBody>
      </p:sp>
      <p:sp>
        <p:nvSpPr>
          <p:cNvPr id="13" name="TextBox 12"/>
          <p:cNvSpPr txBox="1"/>
          <p:nvPr/>
        </p:nvSpPr>
        <p:spPr>
          <a:xfrm>
            <a:off x="1874519" y="3108960"/>
            <a:ext cx="9509760" cy="365760"/>
          </a:xfrm>
          <a:prstGeom prst="rect">
            <a:avLst/>
          </a:prstGeom>
          <a:noFill/>
        </p:spPr>
        <p:txBody>
          <a:bodyPr wrap="square" anchor="t" lIns="50800" rIns="50800" tIns="25400" bIns="25400">
            <a:spAutoFit/>
          </a:bodyPr>
          <a:lstStyle/>
          <a:p>
            <a:pPr algn="l"/>
            <a:r>
              <a:rPr sz="1500" b="1" i="0">
                <a:solidFill>
                  <a:srgbClr val="1F3A5F"/>
                </a:solidFill>
                <a:latin typeface="Segoe UI"/>
              </a:rPr>
              <a:t>Regulatory / Qualys (P2)</a:t>
            </a:r>
          </a:p>
        </p:txBody>
      </p:sp>
      <p:sp>
        <p:nvSpPr>
          <p:cNvPr id="14" name="TextBox 13"/>
          <p:cNvSpPr txBox="1"/>
          <p:nvPr/>
        </p:nvSpPr>
        <p:spPr>
          <a:xfrm>
            <a:off x="1874519" y="3520440"/>
            <a:ext cx="9509760" cy="731520"/>
          </a:xfrm>
          <a:prstGeom prst="rect">
            <a:avLst/>
          </a:prstGeom>
          <a:noFill/>
        </p:spPr>
        <p:txBody>
          <a:bodyPr wrap="square" anchor="t" lIns="50800" rIns="50800" tIns="25400" bIns="25400">
            <a:spAutoFit/>
          </a:bodyPr>
          <a:lstStyle/>
          <a:p>
            <a:pPr algn="l"/>
            <a:r>
              <a:rPr sz="1200" b="0" i="0">
                <a:solidFill>
                  <a:srgbClr val="2D2D2D"/>
                </a:solidFill>
                <a:latin typeface="Segoe UI"/>
              </a:rPr>
              <a:t>Qualys read-only integration active (3 stories). CCB Jun 16, Audit Sync Jun 18. NERC-CIP in early engagement.</a:t>
            </a:r>
          </a:p>
        </p:txBody>
      </p:sp>
      <p:sp>
        <p:nvSpPr>
          <p:cNvPr id="15" name="Rectangle 14"/>
          <p:cNvSpPr/>
          <p:nvPr/>
        </p:nvSpPr>
        <p:spPr>
          <a:xfrm>
            <a:off x="502920" y="4480560"/>
            <a:ext cx="11155680"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4663440"/>
            <a:ext cx="100584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AMBER</a:t>
            </a:r>
          </a:p>
        </p:txBody>
      </p:sp>
      <p:sp>
        <p:nvSpPr>
          <p:cNvPr id="17" name="TextBox 16"/>
          <p:cNvSpPr txBox="1"/>
          <p:nvPr/>
        </p:nvSpPr>
        <p:spPr>
          <a:xfrm>
            <a:off x="1874519" y="4617720"/>
            <a:ext cx="9509760" cy="365760"/>
          </a:xfrm>
          <a:prstGeom prst="rect">
            <a:avLst/>
          </a:prstGeom>
          <a:noFill/>
        </p:spPr>
        <p:txBody>
          <a:bodyPr wrap="square" anchor="t" lIns="50800" rIns="50800" tIns="25400" bIns="25400">
            <a:spAutoFit/>
          </a:bodyPr>
          <a:lstStyle/>
          <a:p>
            <a:pPr algn="l"/>
            <a:r>
              <a:rPr sz="1500" b="1" i="0">
                <a:solidFill>
                  <a:srgbClr val="1F3A5F"/>
                </a:solidFill>
                <a:latin typeface="Segoe UI"/>
              </a:rPr>
              <a:t>NowAssist AI (P3)</a:t>
            </a:r>
          </a:p>
        </p:txBody>
      </p:sp>
      <p:sp>
        <p:nvSpPr>
          <p:cNvPr id="18" name="TextBox 17"/>
          <p:cNvSpPr txBox="1"/>
          <p:nvPr/>
        </p:nvSpPr>
        <p:spPr>
          <a:xfrm>
            <a:off x="1874519" y="5029200"/>
            <a:ext cx="9509760" cy="731520"/>
          </a:xfrm>
          <a:prstGeom prst="rect">
            <a:avLst/>
          </a:prstGeom>
          <a:noFill/>
        </p:spPr>
        <p:txBody>
          <a:bodyPr wrap="square" anchor="t" lIns="50800" rIns="50800" tIns="25400" bIns="25400">
            <a:spAutoFit/>
          </a:bodyPr>
          <a:lstStyle/>
          <a:p>
            <a:pPr algn="l"/>
            <a:r>
              <a:rPr sz="1200" b="0" i="0">
                <a:solidFill>
                  <a:srgbClr val="2D2D2D"/>
                </a:solidFill>
                <a:latin typeface="Segoe UI"/>
              </a:rPr>
              <a:t>4 OOB activation stories ready but assigned to a departing team member - reassignment needed.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Key Milestones &amp; Upcoming Dates</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Iteration 2.3 critical path</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a:t>
            </a:r>
          </a:p>
        </p:txBody>
      </p:sp>
      <p:sp>
        <p:nvSpPr>
          <p:cNvPr id="7" name="Rectangle 6"/>
          <p:cNvSpPr/>
          <p:nvPr/>
        </p:nvSpPr>
        <p:spPr>
          <a:xfrm>
            <a:off x="502920" y="1371600"/>
            <a:ext cx="1737360"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1645920" cy="502920"/>
          </a:xfrm>
          <a:prstGeom prst="rect">
            <a:avLst/>
          </a:prstGeom>
          <a:noFill/>
        </p:spPr>
        <p:txBody>
          <a:bodyPr wrap="square" anchor="ctr" lIns="50800" rIns="50800" tIns="25400" bIns="25400">
            <a:spAutoFit/>
          </a:bodyPr>
          <a:lstStyle/>
          <a:p>
            <a:pPr algn="ctr"/>
            <a:r>
              <a:rPr sz="1300" b="1" i="0">
                <a:solidFill>
                  <a:srgbClr val="FFFFFF"/>
                </a:solidFill>
                <a:latin typeface="Segoe UI"/>
              </a:rPr>
              <a:t>Jun 15</a:t>
            </a:r>
          </a:p>
        </p:txBody>
      </p:sp>
      <p:sp>
        <p:nvSpPr>
          <p:cNvPr id="9" name="Rectangle 8"/>
          <p:cNvSpPr/>
          <p:nvPr/>
        </p:nvSpPr>
        <p:spPr>
          <a:xfrm>
            <a:off x="2331720" y="1371600"/>
            <a:ext cx="9326880" cy="5029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4600" y="1371600"/>
            <a:ext cx="9052560" cy="502920"/>
          </a:xfrm>
          <a:prstGeom prst="rect">
            <a:avLst/>
          </a:prstGeom>
          <a:noFill/>
        </p:spPr>
        <p:txBody>
          <a:bodyPr wrap="square" anchor="ctr" lIns="50800" rIns="50800" tIns="25400" bIns="25400">
            <a:spAutoFit/>
          </a:bodyPr>
          <a:lstStyle/>
          <a:p>
            <a:pPr algn="l"/>
            <a:r>
              <a:rPr sz="1300" b="0" i="0">
                <a:solidFill>
                  <a:srgbClr val="2D2D2D"/>
                </a:solidFill>
                <a:latin typeface="Segoe UI"/>
              </a:rPr>
              <a:t>Data Certification UAT gate</a:t>
            </a:r>
          </a:p>
        </p:txBody>
      </p:sp>
      <p:sp>
        <p:nvSpPr>
          <p:cNvPr id="11" name="Rectangle 10"/>
          <p:cNvSpPr/>
          <p:nvPr/>
        </p:nvSpPr>
        <p:spPr>
          <a:xfrm>
            <a:off x="502920" y="1993392"/>
            <a:ext cx="1737360"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993392"/>
            <a:ext cx="1645920" cy="502920"/>
          </a:xfrm>
          <a:prstGeom prst="rect">
            <a:avLst/>
          </a:prstGeom>
          <a:noFill/>
        </p:spPr>
        <p:txBody>
          <a:bodyPr wrap="square" anchor="ctr" lIns="50800" rIns="50800" tIns="25400" bIns="25400">
            <a:spAutoFit/>
          </a:bodyPr>
          <a:lstStyle/>
          <a:p>
            <a:pPr algn="ctr"/>
            <a:r>
              <a:rPr sz="1300" b="1" i="0">
                <a:solidFill>
                  <a:srgbClr val="FFFFFF"/>
                </a:solidFill>
                <a:latin typeface="Segoe UI"/>
              </a:rPr>
              <a:t>Jun 16</a:t>
            </a:r>
          </a:p>
        </p:txBody>
      </p:sp>
      <p:sp>
        <p:nvSpPr>
          <p:cNvPr id="13" name="Rectangle 12"/>
          <p:cNvSpPr/>
          <p:nvPr/>
        </p:nvSpPr>
        <p:spPr>
          <a:xfrm>
            <a:off x="2331720" y="1993392"/>
            <a:ext cx="9326880" cy="5029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1993392"/>
            <a:ext cx="9052560" cy="502920"/>
          </a:xfrm>
          <a:prstGeom prst="rect">
            <a:avLst/>
          </a:prstGeom>
          <a:noFill/>
        </p:spPr>
        <p:txBody>
          <a:bodyPr wrap="square" anchor="ctr" lIns="50800" rIns="50800" tIns="25400" bIns="25400">
            <a:spAutoFit/>
          </a:bodyPr>
          <a:lstStyle/>
          <a:p>
            <a:pPr algn="l"/>
            <a:r>
              <a:rPr sz="1300" b="0" i="0">
                <a:solidFill>
                  <a:srgbClr val="2D2D2D"/>
                </a:solidFill>
                <a:latin typeface="Segoe UI"/>
              </a:rPr>
              <a:t>CMDB CCB Meeting</a:t>
            </a:r>
          </a:p>
        </p:txBody>
      </p:sp>
      <p:sp>
        <p:nvSpPr>
          <p:cNvPr id="15" name="Rectangle 14"/>
          <p:cNvSpPr/>
          <p:nvPr/>
        </p:nvSpPr>
        <p:spPr>
          <a:xfrm>
            <a:off x="502920" y="2615184"/>
            <a:ext cx="1737360"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615184"/>
            <a:ext cx="1645920" cy="502920"/>
          </a:xfrm>
          <a:prstGeom prst="rect">
            <a:avLst/>
          </a:prstGeom>
          <a:noFill/>
        </p:spPr>
        <p:txBody>
          <a:bodyPr wrap="square" anchor="ctr" lIns="50800" rIns="50800" tIns="25400" bIns="25400">
            <a:spAutoFit/>
          </a:bodyPr>
          <a:lstStyle/>
          <a:p>
            <a:pPr algn="ctr"/>
            <a:r>
              <a:rPr sz="1300" b="1" i="0">
                <a:solidFill>
                  <a:srgbClr val="FFFFFF"/>
                </a:solidFill>
                <a:latin typeface="Segoe UI"/>
              </a:rPr>
              <a:t>Jun 17</a:t>
            </a:r>
          </a:p>
        </p:txBody>
      </p:sp>
      <p:sp>
        <p:nvSpPr>
          <p:cNvPr id="17" name="Rectangle 16"/>
          <p:cNvSpPr/>
          <p:nvPr/>
        </p:nvSpPr>
        <p:spPr>
          <a:xfrm>
            <a:off x="2331720" y="2615184"/>
            <a:ext cx="9326880" cy="5029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4600" y="2615184"/>
            <a:ext cx="9052560" cy="502920"/>
          </a:xfrm>
          <a:prstGeom prst="rect">
            <a:avLst/>
          </a:prstGeom>
          <a:noFill/>
        </p:spPr>
        <p:txBody>
          <a:bodyPr wrap="square" anchor="ctr" lIns="50800" rIns="50800" tIns="25400" bIns="25400">
            <a:spAutoFit/>
          </a:bodyPr>
          <a:lstStyle/>
          <a:p>
            <a:pPr algn="l"/>
            <a:r>
              <a:rPr sz="1300" b="0" i="0">
                <a:solidFill>
                  <a:srgbClr val="2D2D2D"/>
                </a:solidFill>
                <a:latin typeface="Segoe UI"/>
              </a:rPr>
              <a:t>Backlog Refinement 2.3</a:t>
            </a:r>
          </a:p>
        </p:txBody>
      </p:sp>
      <p:sp>
        <p:nvSpPr>
          <p:cNvPr id="19" name="Rectangle 18"/>
          <p:cNvSpPr/>
          <p:nvPr/>
        </p:nvSpPr>
        <p:spPr>
          <a:xfrm>
            <a:off x="502920" y="3236976"/>
            <a:ext cx="1737360"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236976"/>
            <a:ext cx="1645920" cy="502920"/>
          </a:xfrm>
          <a:prstGeom prst="rect">
            <a:avLst/>
          </a:prstGeom>
          <a:noFill/>
        </p:spPr>
        <p:txBody>
          <a:bodyPr wrap="square" anchor="ctr" lIns="50800" rIns="50800" tIns="25400" bIns="25400">
            <a:spAutoFit/>
          </a:bodyPr>
          <a:lstStyle/>
          <a:p>
            <a:pPr algn="ctr"/>
            <a:r>
              <a:rPr sz="1300" b="1" i="0">
                <a:solidFill>
                  <a:srgbClr val="FFFFFF"/>
                </a:solidFill>
                <a:latin typeface="Segoe UI"/>
              </a:rPr>
              <a:t>Jun 18</a:t>
            </a:r>
          </a:p>
        </p:txBody>
      </p:sp>
      <p:sp>
        <p:nvSpPr>
          <p:cNvPr id="21" name="Rectangle 20"/>
          <p:cNvSpPr/>
          <p:nvPr/>
        </p:nvSpPr>
        <p:spPr>
          <a:xfrm>
            <a:off x="2331720" y="3236976"/>
            <a:ext cx="9326880" cy="5029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14600" y="3236976"/>
            <a:ext cx="9052560" cy="502920"/>
          </a:xfrm>
          <a:prstGeom prst="rect">
            <a:avLst/>
          </a:prstGeom>
          <a:noFill/>
        </p:spPr>
        <p:txBody>
          <a:bodyPr wrap="square" anchor="ctr" lIns="50800" rIns="50800" tIns="25400" bIns="25400">
            <a:spAutoFit/>
          </a:bodyPr>
          <a:lstStyle/>
          <a:p>
            <a:pPr algn="l"/>
            <a:r>
              <a:rPr sz="1300" b="0" i="0">
                <a:solidFill>
                  <a:srgbClr val="2D2D2D"/>
                </a:solidFill>
                <a:latin typeface="Segoe UI"/>
              </a:rPr>
              <a:t>CMDB Audit Sync</a:t>
            </a:r>
          </a:p>
        </p:txBody>
      </p:sp>
      <p:sp>
        <p:nvSpPr>
          <p:cNvPr id="23" name="Rectangle 22"/>
          <p:cNvSpPr/>
          <p:nvPr/>
        </p:nvSpPr>
        <p:spPr>
          <a:xfrm>
            <a:off x="502920" y="3858768"/>
            <a:ext cx="1737360"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858768"/>
            <a:ext cx="1645920" cy="502920"/>
          </a:xfrm>
          <a:prstGeom prst="rect">
            <a:avLst/>
          </a:prstGeom>
          <a:noFill/>
        </p:spPr>
        <p:txBody>
          <a:bodyPr wrap="square" anchor="ctr" lIns="50800" rIns="50800" tIns="25400" bIns="25400">
            <a:spAutoFit/>
          </a:bodyPr>
          <a:lstStyle/>
          <a:p>
            <a:pPr algn="ctr"/>
            <a:r>
              <a:rPr sz="1300" b="1" i="0">
                <a:solidFill>
                  <a:srgbClr val="FFFFFF"/>
                </a:solidFill>
                <a:latin typeface="Segoe UI"/>
              </a:rPr>
              <a:t>Jun 19</a:t>
            </a:r>
          </a:p>
        </p:txBody>
      </p:sp>
      <p:sp>
        <p:nvSpPr>
          <p:cNvPr id="25" name="Rectangle 24"/>
          <p:cNvSpPr/>
          <p:nvPr/>
        </p:nvSpPr>
        <p:spPr>
          <a:xfrm>
            <a:off x="2331720" y="3858768"/>
            <a:ext cx="9326880" cy="5029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14600" y="3858768"/>
            <a:ext cx="9052560" cy="502920"/>
          </a:xfrm>
          <a:prstGeom prst="rect">
            <a:avLst/>
          </a:prstGeom>
          <a:noFill/>
        </p:spPr>
        <p:txBody>
          <a:bodyPr wrap="square" anchor="ctr" lIns="50800" rIns="50800" tIns="25400" bIns="25400">
            <a:spAutoFit/>
          </a:bodyPr>
          <a:lstStyle/>
          <a:p>
            <a:pPr algn="l"/>
            <a:r>
              <a:rPr sz="1300" b="0" i="0">
                <a:solidFill>
                  <a:srgbClr val="2D2D2D"/>
                </a:solidFill>
                <a:latin typeface="Segoe UI"/>
              </a:rPr>
              <a:t>PROD Change Request - Data Certification</a:t>
            </a:r>
          </a:p>
        </p:txBody>
      </p:sp>
      <p:sp>
        <p:nvSpPr>
          <p:cNvPr id="27" name="Rectangle 26"/>
          <p:cNvSpPr/>
          <p:nvPr/>
        </p:nvSpPr>
        <p:spPr>
          <a:xfrm>
            <a:off x="502920" y="4480560"/>
            <a:ext cx="1737360"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480560"/>
            <a:ext cx="1645920" cy="502920"/>
          </a:xfrm>
          <a:prstGeom prst="rect">
            <a:avLst/>
          </a:prstGeom>
          <a:noFill/>
        </p:spPr>
        <p:txBody>
          <a:bodyPr wrap="square" anchor="ctr" lIns="50800" rIns="50800" tIns="25400" bIns="25400">
            <a:spAutoFit/>
          </a:bodyPr>
          <a:lstStyle/>
          <a:p>
            <a:pPr algn="ctr"/>
            <a:r>
              <a:rPr sz="1300" b="1" i="0">
                <a:solidFill>
                  <a:srgbClr val="FFFFFF"/>
                </a:solidFill>
                <a:latin typeface="Segoe UI"/>
              </a:rPr>
              <a:t>Jun 23</a:t>
            </a:r>
          </a:p>
        </p:txBody>
      </p:sp>
      <p:sp>
        <p:nvSpPr>
          <p:cNvPr id="29" name="Rectangle 28"/>
          <p:cNvSpPr/>
          <p:nvPr/>
        </p:nvSpPr>
        <p:spPr>
          <a:xfrm>
            <a:off x="2331720" y="4480560"/>
            <a:ext cx="9326880" cy="5029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14600" y="4480560"/>
            <a:ext cx="9052560" cy="502920"/>
          </a:xfrm>
          <a:prstGeom prst="rect">
            <a:avLst/>
          </a:prstGeom>
          <a:noFill/>
        </p:spPr>
        <p:txBody>
          <a:bodyPr wrap="square" anchor="ctr" lIns="50800" rIns="50800" tIns="25400" bIns="25400">
            <a:spAutoFit/>
          </a:bodyPr>
          <a:lstStyle/>
          <a:p>
            <a:pPr algn="l"/>
            <a:r>
              <a:rPr sz="1300" b="0" i="0">
                <a:solidFill>
                  <a:srgbClr val="2D2D2D"/>
                </a:solidFill>
                <a:latin typeface="Segoe UI"/>
              </a:rPr>
              <a:t>Sprint 2.3 end + Data Certification PROD deployment</a:t>
            </a:r>
          </a:p>
        </p:txBody>
      </p:sp>
      <p:sp>
        <p:nvSpPr>
          <p:cNvPr id="31" name="Rectangle 30"/>
          <p:cNvSpPr/>
          <p:nvPr/>
        </p:nvSpPr>
        <p:spPr>
          <a:xfrm>
            <a:off x="502920" y="5102352"/>
            <a:ext cx="1737360"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5102352"/>
            <a:ext cx="1645920" cy="502920"/>
          </a:xfrm>
          <a:prstGeom prst="rect">
            <a:avLst/>
          </a:prstGeom>
          <a:noFill/>
        </p:spPr>
        <p:txBody>
          <a:bodyPr wrap="square" anchor="ctr" lIns="50800" rIns="50800" tIns="25400" bIns="25400">
            <a:spAutoFit/>
          </a:bodyPr>
          <a:lstStyle/>
          <a:p>
            <a:pPr algn="ctr"/>
            <a:r>
              <a:rPr sz="1300" b="1" i="0">
                <a:solidFill>
                  <a:srgbClr val="FFFFFF"/>
                </a:solidFill>
                <a:latin typeface="Segoe UI"/>
              </a:rPr>
              <a:t>Jun 24-25</a:t>
            </a:r>
          </a:p>
        </p:txBody>
      </p:sp>
      <p:sp>
        <p:nvSpPr>
          <p:cNvPr id="33" name="Rectangle 32"/>
          <p:cNvSpPr/>
          <p:nvPr/>
        </p:nvSpPr>
        <p:spPr>
          <a:xfrm>
            <a:off x="2331720" y="5102352"/>
            <a:ext cx="9326880" cy="5029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514600" y="5102352"/>
            <a:ext cx="9052560" cy="502920"/>
          </a:xfrm>
          <a:prstGeom prst="rect">
            <a:avLst/>
          </a:prstGeom>
          <a:noFill/>
        </p:spPr>
        <p:txBody>
          <a:bodyPr wrap="square" anchor="ctr" lIns="50800" rIns="50800" tIns="25400" bIns="25400">
            <a:spAutoFit/>
          </a:bodyPr>
          <a:lstStyle/>
          <a:p>
            <a:pPr algn="l"/>
            <a:r>
              <a:rPr sz="1300" b="0" i="0">
                <a:solidFill>
                  <a:srgbClr val="2D2D2D"/>
                </a:solidFill>
                <a:latin typeface="Segoe UI"/>
              </a:rPr>
              <a:t>Todd validates Data Certification in PROD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Risks &amp; Leadership Asks</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Where we need help to stay on track</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a:t>
            </a:r>
          </a:p>
        </p:txBody>
      </p:sp>
      <p:graphicFrame>
        <p:nvGraphicFramePr>
          <p:cNvPr id="7" name="Table 6"/>
          <p:cNvGraphicFramePr>
            <a:graphicFrameLocks noGrp="1"/>
          </p:cNvGraphicFramePr>
          <p:nvPr/>
        </p:nvGraphicFramePr>
        <p:xfrm>
          <a:off x="502920" y="1280160"/>
          <a:ext cx="11155679" cy="4206240"/>
        </p:xfrm>
        <a:graphic>
          <a:graphicData uri="http://schemas.openxmlformats.org/drawingml/2006/table">
            <a:tbl>
              <a:tblPr firstRow="1" bandRow="1">
                <a:tableStyleId>{5C22544A-7EE6-4342-B048-85BDC9FD1C3A}</a:tableStyleId>
              </a:tblPr>
              <a:tblGrid>
                <a:gridCol w="2377440"/>
                <a:gridCol w="1005840"/>
                <a:gridCol w="4023360"/>
                <a:gridCol w="3749039"/>
              </a:tblGrid>
              <a:tr h="841248">
                <a:tc>
                  <a:txBody>
                    <a:bodyPr/>
                    <a:lstStyle/>
                    <a:p>
                      <a:r>
                        <a:rPr sz="1200" b="1" i="0">
                          <a:solidFill>
                            <a:srgbClr val="FFFFFF"/>
                          </a:solidFill>
                          <a:latin typeface="Segoe UI"/>
                        </a:rPr>
                        <a:t>Risk</a:t>
                      </a:r>
                    </a:p>
                  </a:txBody>
                  <a:tcPr>
                    <a:solidFill>
                      <a:srgbClr val="1F3A5F"/>
                    </a:solidFill>
                  </a:tcPr>
                </a:tc>
                <a:tc>
                  <a:txBody>
                    <a:bodyPr/>
                    <a:lstStyle/>
                    <a:p>
                      <a:r>
                        <a:rPr sz="1200" b="1" i="0">
                          <a:solidFill>
                            <a:srgbClr val="FFFFFF"/>
                          </a:solidFill>
                          <a:latin typeface="Segoe UI"/>
                        </a:rPr>
                        <a:t>Severity</a:t>
                      </a:r>
                    </a:p>
                  </a:txBody>
                  <a:tcPr>
                    <a:solidFill>
                      <a:srgbClr val="1F3A5F"/>
                    </a:solidFill>
                  </a:tcPr>
                </a:tc>
                <a:tc>
                  <a:txBody>
                    <a:bodyPr/>
                    <a:lstStyle/>
                    <a:p>
                      <a:r>
                        <a:rPr sz="1200" b="1" i="0">
                          <a:solidFill>
                            <a:srgbClr val="FFFFFF"/>
                          </a:solidFill>
                          <a:latin typeface="Segoe UI"/>
                        </a:rPr>
                        <a:t>Detail</a:t>
                      </a:r>
                    </a:p>
                  </a:txBody>
                  <a:tcPr>
                    <a:solidFill>
                      <a:srgbClr val="1F3A5F"/>
                    </a:solidFill>
                  </a:tcPr>
                </a:tc>
                <a:tc>
                  <a:txBody>
                    <a:bodyPr/>
                    <a:lstStyle/>
                    <a:p>
                      <a:r>
                        <a:rPr sz="1200" b="1" i="0">
                          <a:solidFill>
                            <a:srgbClr val="FFFFFF"/>
                          </a:solidFill>
                          <a:latin typeface="Segoe UI"/>
                        </a:rPr>
                        <a:t>Ask of Leadership</a:t>
                      </a:r>
                    </a:p>
                  </a:txBody>
                  <a:tcPr>
                    <a:solidFill>
                      <a:srgbClr val="1F3A5F"/>
                    </a:solidFill>
                  </a:tcPr>
                </a:tc>
              </a:tr>
              <a:tr h="841248">
                <a:tc>
                  <a:txBody>
                    <a:bodyPr/>
                    <a:lstStyle/>
                    <a:p>
                      <a:r>
                        <a:rPr sz="1100" b="1" i="0">
                          <a:solidFill>
                            <a:srgbClr val="1F3A5F"/>
                          </a:solidFill>
                          <a:latin typeface="Segoe UI"/>
                        </a:rPr>
                        <a:t>NowAssist resourcing</a:t>
                      </a:r>
                    </a:p>
                  </a:txBody>
                  <a:tcPr>
                    <a:solidFill>
                      <a:srgbClr val="F4F6F9"/>
                    </a:solidFill>
                  </a:tcPr>
                </a:tc>
                <a:tc>
                  <a:txBody>
                    <a:bodyPr/>
                    <a:lstStyle/>
                    <a:p>
                      <a:pPr algn="ctr"/>
                      <a:r>
                        <a:rPr sz="1100" b="1" i="0">
                          <a:solidFill>
                            <a:srgbClr val="FFFFFF"/>
                          </a:solidFill>
                          <a:latin typeface="Segoe UI"/>
                        </a:rPr>
                        <a:t>HIGH</a:t>
                      </a:r>
                    </a:p>
                  </a:txBody>
                  <a:tcPr>
                    <a:solidFill>
                      <a:srgbClr val="C0392B"/>
                    </a:solidFill>
                  </a:tcPr>
                </a:tc>
                <a:tc>
                  <a:txBody>
                    <a:bodyPr/>
                    <a:lstStyle/>
                    <a:p>
                      <a:r>
                        <a:rPr sz="1050" b="0" i="0">
                          <a:solidFill>
                            <a:srgbClr val="2D2D2D"/>
                          </a:solidFill>
                          <a:latin typeface="Segoe UI"/>
                        </a:rPr>
                        <a:t>4 activation stories assigned to a team member rolling off the project.</a:t>
                      </a:r>
                    </a:p>
                  </a:txBody>
                  <a:tcPr>
                    <a:solidFill>
                      <a:srgbClr val="F4F6F9"/>
                    </a:solidFill>
                  </a:tcPr>
                </a:tc>
                <a:tc>
                  <a:txBody>
                    <a:bodyPr/>
                    <a:lstStyle/>
                    <a:p>
                      <a:r>
                        <a:rPr sz="1050" b="0" i="0">
                          <a:solidFill>
                            <a:srgbClr val="2D2D2D"/>
                          </a:solidFill>
                          <a:latin typeface="Segoe UI"/>
                        </a:rPr>
                        <a:t>Confirm replacement owner / approve reassignment.</a:t>
                      </a:r>
                    </a:p>
                  </a:txBody>
                  <a:tcPr>
                    <a:solidFill>
                      <a:srgbClr val="F4F6F9"/>
                    </a:solidFill>
                  </a:tcPr>
                </a:tc>
              </a:tr>
              <a:tr h="841248">
                <a:tc>
                  <a:txBody>
                    <a:bodyPr/>
                    <a:lstStyle/>
                    <a:p>
                      <a:r>
                        <a:rPr sz="1100" b="1" i="0">
                          <a:solidFill>
                            <a:srgbClr val="1F3A5F"/>
                          </a:solidFill>
                          <a:latin typeface="Segoe UI"/>
                        </a:rPr>
                        <a:t>SCCM approval gate</a:t>
                      </a:r>
                    </a:p>
                  </a:txBody>
                  <a:tcPr>
                    <a:solidFill>
                      <a:srgbClr val="FFFFFF"/>
                    </a:solidFill>
                  </a:tcPr>
                </a:tc>
                <a:tc>
                  <a:txBody>
                    <a:bodyPr/>
                    <a:lstStyle/>
                    <a:p>
                      <a:pPr algn="ctr"/>
                      <a:r>
                        <a:rPr sz="1100" b="1" i="0">
                          <a:solidFill>
                            <a:srgbClr val="FFFFFF"/>
                          </a:solidFill>
                          <a:latin typeface="Segoe UI"/>
                        </a:rPr>
                        <a:t>HIGH</a:t>
                      </a:r>
                    </a:p>
                  </a:txBody>
                  <a:tcPr>
                    <a:solidFill>
                      <a:srgbClr val="C0392B"/>
                    </a:solidFill>
                  </a:tcPr>
                </a:tc>
                <a:tc>
                  <a:txBody>
                    <a:bodyPr/>
                    <a:lstStyle/>
                    <a:p>
                      <a:r>
                        <a:rPr sz="1050" b="0" i="0">
                          <a:solidFill>
                            <a:srgbClr val="2D2D2D"/>
                          </a:solidFill>
                          <a:latin typeface="Segoe UI"/>
                        </a:rPr>
                        <a:t>Timestamp-alignment story blocked pending customization approval.</a:t>
                      </a:r>
                    </a:p>
                  </a:txBody>
                  <a:tcPr>
                    <a:solidFill>
                      <a:srgbClr val="FFFFFF"/>
                    </a:solidFill>
                  </a:tcPr>
                </a:tc>
                <a:tc>
                  <a:txBody>
                    <a:bodyPr/>
                    <a:lstStyle/>
                    <a:p>
                      <a:r>
                        <a:rPr sz="1050" b="0" i="0">
                          <a:solidFill>
                            <a:srgbClr val="2D2D2D"/>
                          </a:solidFill>
                          <a:latin typeface="Segoe UI"/>
                        </a:rPr>
                        <a:t>Expedite approval to keep the story in-sprint.</a:t>
                      </a:r>
                    </a:p>
                  </a:txBody>
                  <a:tcPr>
                    <a:solidFill>
                      <a:srgbClr val="FFFFFF"/>
                    </a:solidFill>
                  </a:tcPr>
                </a:tc>
              </a:tr>
              <a:tr h="841248">
                <a:tc>
                  <a:txBody>
                    <a:bodyPr/>
                    <a:lstStyle/>
                    <a:p>
                      <a:r>
                        <a:rPr sz="1100" b="1" i="0">
                          <a:solidFill>
                            <a:srgbClr val="1F3A5F"/>
                          </a:solidFill>
                          <a:latin typeface="Segoe UI"/>
                        </a:rPr>
                        <a:t>Service Mapping DNS</a:t>
                      </a:r>
                    </a:p>
                  </a:txBody>
                  <a:tcPr>
                    <a:solidFill>
                      <a:srgbClr val="F4F6F9"/>
                    </a:solidFill>
                  </a:tcPr>
                </a:tc>
                <a:tc>
                  <a:txBody>
                    <a:bodyPr/>
                    <a:lstStyle/>
                    <a:p>
                      <a:pPr algn="ctr"/>
                      <a:r>
                        <a:rPr sz="1100" b="1" i="0">
                          <a:solidFill>
                            <a:srgbClr val="FFFFFF"/>
                          </a:solidFill>
                          <a:latin typeface="Segoe UI"/>
                        </a:rPr>
                        <a:t>HIGH</a:t>
                      </a:r>
                    </a:p>
                  </a:txBody>
                  <a:tcPr>
                    <a:solidFill>
                      <a:srgbClr val="C0392B"/>
                    </a:solidFill>
                  </a:tcPr>
                </a:tc>
                <a:tc>
                  <a:txBody>
                    <a:bodyPr/>
                    <a:lstStyle/>
                    <a:p>
                      <a:r>
                        <a:rPr sz="1050" b="0" i="0">
                          <a:solidFill>
                            <a:srgbClr val="2D2D2D"/>
                          </a:solidFill>
                          <a:latin typeface="Segoe UI"/>
                        </a:rPr>
                        <a:t>Reverse-DNS issue limits full discovery coverage.</a:t>
                      </a:r>
                    </a:p>
                  </a:txBody>
                  <a:tcPr>
                    <a:solidFill>
                      <a:srgbClr val="F4F6F9"/>
                    </a:solidFill>
                  </a:tcPr>
                </a:tc>
                <a:tc>
                  <a:txBody>
                    <a:bodyPr/>
                    <a:lstStyle/>
                    <a:p>
                      <a:r>
                        <a:rPr sz="1050" b="0" i="0">
                          <a:solidFill>
                            <a:srgbClr val="2D2D2D"/>
                          </a:solidFill>
                          <a:latin typeface="Segoe UI"/>
                        </a:rPr>
                        <a:t>Leadership support on the DNS / infra dependency.</a:t>
                      </a:r>
                    </a:p>
                  </a:txBody>
                  <a:tcPr>
                    <a:solidFill>
                      <a:srgbClr val="F4F6F9"/>
                    </a:solidFill>
                  </a:tcPr>
                </a:tc>
              </a:tr>
              <a:tr h="841248">
                <a:tc>
                  <a:txBody>
                    <a:bodyPr/>
                    <a:lstStyle/>
                    <a:p>
                      <a:r>
                        <a:rPr sz="1100" b="1" i="0">
                          <a:solidFill>
                            <a:srgbClr val="1F3A5F"/>
                          </a:solidFill>
                          <a:latin typeface="Segoe UI"/>
                        </a:rPr>
                        <a:t>Code-freeze windows</a:t>
                      </a:r>
                    </a:p>
                  </a:txBody>
                  <a:tcPr>
                    <a:solidFill>
                      <a:srgbClr val="FFFFFF"/>
                    </a:solidFill>
                  </a:tcPr>
                </a:tc>
                <a:tc>
                  <a:txBody>
                    <a:bodyPr/>
                    <a:lstStyle/>
                    <a:p>
                      <a:pPr algn="ctr"/>
                      <a:r>
                        <a:rPr sz="1100" b="1" i="0">
                          <a:solidFill>
                            <a:srgbClr val="FFFFFF"/>
                          </a:solidFill>
                          <a:latin typeface="Segoe UI"/>
                        </a:rPr>
                        <a:t>HIGH</a:t>
                      </a:r>
                    </a:p>
                  </a:txBody>
                  <a:tcPr>
                    <a:solidFill>
                      <a:srgbClr val="C0392B"/>
                    </a:solidFill>
                  </a:tcPr>
                </a:tc>
                <a:tc>
                  <a:txBody>
                    <a:bodyPr/>
                    <a:lstStyle/>
                    <a:p>
                      <a:r>
                        <a:rPr sz="1050" b="0" i="0">
                          <a:solidFill>
                            <a:srgbClr val="2D2D2D"/>
                          </a:solidFill>
                          <a:latin typeface="Segoe UI"/>
                        </a:rPr>
                        <a:t>Dev freeze Jun 27 - Jul 18; Test freeze Jul 18 - Aug 15 compresses PI-2 completion.</a:t>
                      </a:r>
                    </a:p>
                  </a:txBody>
                  <a:tcPr>
                    <a:solidFill>
                      <a:srgbClr val="FFFFFF"/>
                    </a:solidFill>
                  </a:tcPr>
                </a:tc>
                <a:tc>
                  <a:txBody>
                    <a:bodyPr/>
                    <a:lstStyle/>
                    <a:p>
                      <a:r>
                        <a:rPr sz="1050" b="0" i="0">
                          <a:solidFill>
                            <a:srgbClr val="2D2D2D"/>
                          </a:solidFill>
                          <a:latin typeface="Segoe UI"/>
                        </a:rPr>
                        <a:t>Awareness; sequence deployments around freezes.</a:t>
                      </a:r>
                    </a:p>
                  </a:txBody>
                  <a:tcP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What's Next</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Looking ahead to PI-3 and the IP iteration</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a:t>
            </a:r>
          </a:p>
        </p:txBody>
      </p:sp>
      <p:sp>
        <p:nvSpPr>
          <p:cNvPr id="7" name="Rectangle 6"/>
          <p:cNvSpPr/>
          <p:nvPr/>
        </p:nvSpPr>
        <p:spPr>
          <a:xfrm>
            <a:off x="502920" y="1600200"/>
            <a:ext cx="109728" cy="45720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54480"/>
            <a:ext cx="10789920" cy="640080"/>
          </a:xfrm>
          <a:prstGeom prst="rect">
            <a:avLst/>
          </a:prstGeom>
          <a:noFill/>
        </p:spPr>
        <p:txBody>
          <a:bodyPr wrap="square" anchor="t" lIns="50800" rIns="50800" tIns="25400" bIns="25400">
            <a:spAutoFit/>
          </a:bodyPr>
          <a:lstStyle/>
          <a:p>
            <a:pPr algn="l"/>
            <a:r>
              <a:rPr sz="1400" b="0" i="0">
                <a:solidFill>
                  <a:srgbClr val="2D2D2D"/>
                </a:solidFill>
                <a:latin typeface="Segoe UI"/>
              </a:rPr>
              <a:t>PI-3 Planning during the IP iteration (Jul 22 - Aug 4).</a:t>
            </a:r>
          </a:p>
        </p:txBody>
      </p:sp>
      <p:sp>
        <p:nvSpPr>
          <p:cNvPr id="9" name="Rectangle 8"/>
          <p:cNvSpPr/>
          <p:nvPr/>
        </p:nvSpPr>
        <p:spPr>
          <a:xfrm>
            <a:off x="502920" y="2377440"/>
            <a:ext cx="109728" cy="45720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331720"/>
            <a:ext cx="10789920" cy="640080"/>
          </a:xfrm>
          <a:prstGeom prst="rect">
            <a:avLst/>
          </a:prstGeom>
          <a:noFill/>
        </p:spPr>
        <p:txBody>
          <a:bodyPr wrap="square" anchor="t" lIns="50800" rIns="50800" tIns="25400" bIns="25400">
            <a:spAutoFit/>
          </a:bodyPr>
          <a:lstStyle/>
          <a:p>
            <a:pPr algn="l"/>
            <a:r>
              <a:rPr sz="1400" b="0" i="0">
                <a:solidFill>
                  <a:srgbClr val="2D2D2D"/>
                </a:solidFill>
                <a:latin typeface="Segoe UI"/>
              </a:rPr>
              <a:t>NowAssist Phase 1+: Duplicate CI Elimination, NL CMDB Search.</a:t>
            </a:r>
          </a:p>
        </p:txBody>
      </p:sp>
      <p:sp>
        <p:nvSpPr>
          <p:cNvPr id="11" name="Rectangle 10"/>
          <p:cNvSpPr/>
          <p:nvPr/>
        </p:nvSpPr>
        <p:spPr>
          <a:xfrm>
            <a:off x="502920" y="3154680"/>
            <a:ext cx="109728" cy="45720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108960"/>
            <a:ext cx="10789920" cy="640080"/>
          </a:xfrm>
          <a:prstGeom prst="rect">
            <a:avLst/>
          </a:prstGeom>
          <a:noFill/>
        </p:spPr>
        <p:txBody>
          <a:bodyPr wrap="square" anchor="t" lIns="50800" rIns="50800" tIns="25400" bIns="25400">
            <a:spAutoFit/>
          </a:bodyPr>
          <a:lstStyle/>
          <a:p>
            <a:pPr algn="l"/>
            <a:r>
              <a:rPr sz="1400" b="0" i="0">
                <a:solidFill>
                  <a:srgbClr val="2D2D2D"/>
                </a:solidFill>
                <a:latin typeface="Segoe UI"/>
              </a:rPr>
              <a:t>Qualys Phase 2: two-way integration for data completeness.</a:t>
            </a:r>
          </a:p>
        </p:txBody>
      </p:sp>
      <p:sp>
        <p:nvSpPr>
          <p:cNvPr id="13" name="Rectangle 12"/>
          <p:cNvSpPr/>
          <p:nvPr/>
        </p:nvSpPr>
        <p:spPr>
          <a:xfrm>
            <a:off x="502920" y="3931920"/>
            <a:ext cx="109728" cy="45720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886200"/>
            <a:ext cx="10789920" cy="640080"/>
          </a:xfrm>
          <a:prstGeom prst="rect">
            <a:avLst/>
          </a:prstGeom>
          <a:noFill/>
        </p:spPr>
        <p:txBody>
          <a:bodyPr wrap="square" anchor="t" lIns="50800" rIns="50800" tIns="25400" bIns="25400">
            <a:spAutoFit/>
          </a:bodyPr>
          <a:lstStyle/>
          <a:p>
            <a:pPr algn="l"/>
            <a:r>
              <a:rPr sz="1400" b="0" i="0">
                <a:solidFill>
                  <a:srgbClr val="2D2D2D"/>
                </a:solidFill>
                <a:latin typeface="Segoe UI"/>
              </a:rPr>
              <a:t>CI Certification: extend program beyond Business Apps.</a:t>
            </a:r>
          </a:p>
        </p:txBody>
      </p:sp>
      <p:sp>
        <p:nvSpPr>
          <p:cNvPr id="15" name="Rectangle 14"/>
          <p:cNvSpPr/>
          <p:nvPr/>
        </p:nvSpPr>
        <p:spPr>
          <a:xfrm>
            <a:off x="502920" y="4709160"/>
            <a:ext cx="109728" cy="45720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663440"/>
            <a:ext cx="10789920" cy="640080"/>
          </a:xfrm>
          <a:prstGeom prst="rect">
            <a:avLst/>
          </a:prstGeom>
          <a:noFill/>
        </p:spPr>
        <p:txBody>
          <a:bodyPr wrap="square" anchor="t" lIns="50800" rIns="50800" tIns="25400" bIns="25400">
            <a:spAutoFit/>
          </a:bodyPr>
          <a:lstStyle/>
          <a:p>
            <a:pPr algn="l"/>
            <a:r>
              <a:rPr sz="1400" b="0" i="0">
                <a:solidFill>
                  <a:srgbClr val="2D2D2D"/>
                </a:solidFill>
                <a:latin typeface="Segoe UI"/>
              </a:rPr>
              <a:t>Plan delivery around code freezes (Dev Jun 27-Jul 18, Test Jul 18-Aug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Appendix</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Story-level detail</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a:t>
            </a:r>
          </a:p>
        </p:txBody>
      </p:sp>
      <p:sp>
        <p:nvSpPr>
          <p:cNvPr id="7" name="TextBox 6"/>
          <p:cNvSpPr txBox="1"/>
          <p:nvPr/>
        </p:nvSpPr>
        <p:spPr>
          <a:xfrm>
            <a:off x="502920" y="1645920"/>
            <a:ext cx="10972800" cy="2743200"/>
          </a:xfrm>
          <a:prstGeom prst="rect">
            <a:avLst/>
          </a:prstGeom>
          <a:noFill/>
        </p:spPr>
        <p:txBody>
          <a:bodyPr wrap="square" anchor="t" lIns="50800" rIns="50800" tIns="25400" bIns="25400">
            <a:spAutoFit/>
          </a:bodyPr>
          <a:lstStyle/>
          <a:p>
            <a:pPr algn="l"/>
            <a:r>
              <a:rPr sz="1400" b="1" i="0">
                <a:solidFill>
                  <a:srgbClr val="2D2D2D"/>
                </a:solidFill>
                <a:latin typeface="Segoe UI"/>
              </a:rPr>
              <a:t>Full traceability is maintained in the team's working notes:</a:t>
            </a:r>
          </a:p>
          <a:p>
            <a:pPr algn="l"/>
            <a:r>
              <a:rPr sz="800" b="0" i="0">
                <a:solidFill>
                  <a:srgbClr val="2D2D2D"/>
                </a:solidFill>
                <a:latin typeface="Segoe UI"/>
              </a:rPr>
              <a:t/>
            </a:r>
          </a:p>
          <a:p>
            <a:pPr algn="l"/>
            <a:r>
              <a:rPr sz="1200" b="0" i="0">
                <a:solidFill>
                  <a:srgbClr val="2E6DB4"/>
                </a:solidFill>
                <a:latin typeface="Segoe UI"/>
              </a:rPr>
              <a:t>- Objectives -&gt; Features -&gt; Stories:  PI-2/pi2-objectives-features-stories.md</a:t>
            </a:r>
          </a:p>
          <a:p>
            <a:pPr algn="l"/>
            <a:r>
              <a:rPr sz="1200" b="0" i="0">
                <a:solidFill>
                  <a:srgbClr val="2E6DB4"/>
                </a:solidFill>
                <a:latin typeface="Segoe UI"/>
              </a:rPr>
              <a:t>- Activity by Iteration (2.1 / 2.2 / 2.3):  PI-2/pi2-iteration-activity.md</a:t>
            </a:r>
          </a:p>
          <a:p>
            <a:pPr algn="l"/>
            <a:r>
              <a:rPr sz="1200" b="0" i="0">
                <a:solidFill>
                  <a:srgbClr val="2E6DB4"/>
                </a:solidFill>
                <a:latin typeface="Segoe UI"/>
              </a:rPr>
              <a:t>- Program Backlog Review notes:  PI-2/Program-Backlog-Review/</a:t>
            </a:r>
          </a:p>
          <a:p>
            <a:pPr algn="l"/>
            <a:r>
              <a:rPr sz="800" b="0" i="0">
                <a:solidFill>
                  <a:srgbClr val="2D2D2D"/>
                </a:solidFill>
                <a:latin typeface="Segoe UI"/>
              </a:rPr>
              <a:t/>
            </a:r>
          </a:p>
          <a:p>
            <a:pPr algn="l"/>
            <a:r>
              <a:rPr sz="1100" b="0" i="1">
                <a:solidFill>
                  <a:srgbClr val="6B7280"/>
                </a:solidFill>
                <a:latin typeface="Segoe UI"/>
              </a:rPr>
              <a:t>This deck is regenerated weekly from build_status_deck.py.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