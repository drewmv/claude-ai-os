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686800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Objectives - Story Progress (Variation A)</a:t>
            </a:r>
          </a:p>
        </p:txBody>
      </p:sp>
      <p:sp>
        <p:nvSpPr>
          <p:cNvPr id="5" name="Rectangle 4"/>
          <p:cNvSpPr/>
          <p:nvPr/>
        </p:nvSpPr>
        <p:spPr>
          <a:xfrm>
            <a:off x="9692640" y="256032"/>
            <a:ext cx="2011680" cy="38404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BARS + 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Segoe UI"/>
              </a:rPr>
              <a:t>Derived from team notes - not ADO-validated. 'Completed' tracking begins at first PROD deployment (Jun 23); today's view shows work in flight.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2468880" cy="8686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91440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143000"/>
            <a:ext cx="219456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Segoe UI"/>
              </a:rP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45920"/>
            <a:ext cx="219456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stories in 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097280"/>
            <a:ext cx="2468880" cy="8686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1097280"/>
            <a:ext cx="91440" cy="8686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143000"/>
            <a:ext cx="219456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3000" b="1" i="0">
                <a:solidFill>
                  <a:srgbClr val="2E8B57"/>
                </a:solidFill>
                <a:latin typeface="Segoe UI"/>
              </a:rPr>
              <a:t>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645920"/>
            <a:ext cx="219456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moving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1097280"/>
            <a:ext cx="2468880" cy="8686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52160" y="1097280"/>
            <a:ext cx="91440" cy="868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1143000"/>
            <a:ext cx="219456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3000" b="1" i="0">
                <a:solidFill>
                  <a:srgbClr val="C0392B"/>
                </a:solidFill>
                <a:latin typeface="Segoe U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1645920"/>
            <a:ext cx="219456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need attention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240280"/>
            <a:ext cx="548640" cy="4572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300" b="1" i="0">
                <a:solidFill>
                  <a:srgbClr val="2E6DB4"/>
                </a:solidFill>
                <a:latin typeface="Segoe UI"/>
              </a:rPr>
              <a:t>P0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240280"/>
            <a:ext cx="3657600" cy="4572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  <a:latin typeface="Segoe UI"/>
              </a:rPr>
              <a:t>Airlift (Azure Migration)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2313432"/>
            <a:ext cx="2560320" cy="29260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2240280"/>
            <a:ext cx="2743200" cy="4572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4 in scope  /  4 moving  /  0 stuck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807208"/>
            <a:ext cx="548640" cy="4572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300" b="1" i="0">
                <a:solidFill>
                  <a:srgbClr val="2E6DB4"/>
                </a:solidFill>
                <a:latin typeface="Segoe UI"/>
              </a:rPr>
              <a:t>P1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2807208"/>
            <a:ext cx="3657600" cy="4572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  <a:latin typeface="Segoe UI"/>
              </a:rPr>
              <a:t>Discovery / SCCM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2880360"/>
            <a:ext cx="1920240" cy="29260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75120" y="2880360"/>
            <a:ext cx="1920240" cy="2926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2807208"/>
            <a:ext cx="2743200" cy="4572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6 in scope  /  3 moving  /  3 stuck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374136"/>
            <a:ext cx="548640" cy="4572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300" b="1" i="0">
                <a:solidFill>
                  <a:srgbClr val="2E6DB4"/>
                </a:solidFill>
                <a:latin typeface="Segoe UI"/>
              </a:rPr>
              <a:t>P1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374136"/>
            <a:ext cx="3657600" cy="4572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  <a:latin typeface="Segoe UI"/>
              </a:rPr>
              <a:t>Data Certification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3447288"/>
            <a:ext cx="640080" cy="29260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3374136"/>
            <a:ext cx="2743200" cy="4572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1 in scope  /  1 moving  /  0 stuck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941064"/>
            <a:ext cx="548640" cy="4572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300" b="1" i="0">
                <a:solidFill>
                  <a:srgbClr val="2E6DB4"/>
                </a:solidFill>
                <a:latin typeface="Segoe UI"/>
              </a:rPr>
              <a:t>P2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3941064"/>
            <a:ext cx="3657600" cy="4572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  <a:latin typeface="Segoe UI"/>
              </a:rPr>
              <a:t>Service Mapping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4014216"/>
            <a:ext cx="3840480" cy="29260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3941064"/>
            <a:ext cx="2743200" cy="4572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6 in scope  /  6 moving  /  0 stuck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507992"/>
            <a:ext cx="548640" cy="4572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300" b="1" i="0">
                <a:solidFill>
                  <a:srgbClr val="2E6DB4"/>
                </a:solidFill>
                <a:latin typeface="Segoe UI"/>
              </a:rPr>
              <a:t>P2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4507992"/>
            <a:ext cx="3657600" cy="4572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  <a:latin typeface="Segoe UI"/>
              </a:rPr>
              <a:t>Regulatory / Qualys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80" y="4581144"/>
            <a:ext cx="1920240" cy="29260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0" y="4507992"/>
            <a:ext cx="2743200" cy="4572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3 in scope  /  3 moving  /  0 stuck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074920"/>
            <a:ext cx="548640" cy="4572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300" b="1" i="0">
                <a:solidFill>
                  <a:srgbClr val="2E6DB4"/>
                </a:solidFill>
                <a:latin typeface="Segoe UI"/>
              </a:rPr>
              <a:t>P3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5074920"/>
            <a:ext cx="3657600" cy="4572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  <a:latin typeface="Segoe UI"/>
              </a:rPr>
              <a:t>NowAssist AI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0" y="5148072"/>
            <a:ext cx="2560320" cy="2926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5074920"/>
            <a:ext cx="2743200" cy="4572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4 in scope  /  0 moving  /  4 stuck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5687568"/>
            <a:ext cx="640080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  <a:latin typeface="Segoe UI"/>
              </a:rPr>
              <a:t>Bar length = stories in scope (magnitude);  green = moving, red = needs attention.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686800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Objectives - Status Explained (Variation B)</a:t>
            </a:r>
          </a:p>
        </p:txBody>
      </p:sp>
      <p:sp>
        <p:nvSpPr>
          <p:cNvPr id="5" name="Rectangle 4"/>
          <p:cNvSpPr/>
          <p:nvPr/>
        </p:nvSpPr>
        <p:spPr>
          <a:xfrm>
            <a:off x="9692640" y="256032"/>
            <a:ext cx="2011680" cy="38404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SELF-EXPLAINING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Segoe UI"/>
              </a:rPr>
              <a:t>Derived from team notes - not ADO-validated. 'Completed' tracking begins at first PROD deployment (Jun 23); today's view shows work in flight.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2468880" cy="8686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91440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143000"/>
            <a:ext cx="219456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Segoe UI"/>
              </a:rP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45920"/>
            <a:ext cx="219456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stories in 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097280"/>
            <a:ext cx="2468880" cy="8686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1097280"/>
            <a:ext cx="91440" cy="8686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143000"/>
            <a:ext cx="219456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3000" b="1" i="0">
                <a:solidFill>
                  <a:srgbClr val="2E8B57"/>
                </a:solidFill>
                <a:latin typeface="Segoe UI"/>
              </a:rPr>
              <a:t>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645920"/>
            <a:ext cx="219456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moving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1097280"/>
            <a:ext cx="2468880" cy="8686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52160" y="1097280"/>
            <a:ext cx="91440" cy="868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1143000"/>
            <a:ext cx="219456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3000" b="1" i="0">
                <a:solidFill>
                  <a:srgbClr val="C0392B"/>
                </a:solidFill>
                <a:latin typeface="Segoe U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1645920"/>
            <a:ext cx="219456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need attention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94560"/>
            <a:ext cx="1124712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194560"/>
            <a:ext cx="109728" cy="62179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2340864"/>
            <a:ext cx="1051560" cy="32918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GREEN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2231136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P0  Airlift (Azure Migration)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231136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On track - dev access resolved; 4 stories active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2231136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400" b="1" i="0">
                <a:solidFill>
                  <a:srgbClr val="2E8B57"/>
                </a:solidFill>
                <a:latin typeface="Segoe UI"/>
              </a:rPr>
              <a:t>4/4</a:t>
            </a:r>
          </a:p>
          <a:p>
            <a:pPr algn="ctr"/>
            <a:r>
              <a:rPr sz="800" b="0" i="0">
                <a:solidFill>
                  <a:srgbClr val="6B7280"/>
                </a:solidFill>
                <a:latin typeface="Segoe UI"/>
              </a:rPr>
              <a:t>moving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871216"/>
            <a:ext cx="1124712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871216"/>
            <a:ext cx="109728" cy="6217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3017520"/>
            <a:ext cx="1051560" cy="3291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19" y="2907792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P1  Discovery / SCCM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2907792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At risk - 1 approval gate + 1 on-hold; ~6 stories not yet ID'd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2907792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Segoe UI"/>
              </a:rPr>
              <a:t>3/6</a:t>
            </a:r>
          </a:p>
          <a:p>
            <a:pPr algn="ctr"/>
            <a:r>
              <a:rPr sz="800" b="0" i="0">
                <a:solidFill>
                  <a:srgbClr val="6B7280"/>
                </a:solidFill>
                <a:latin typeface="Segoe UI"/>
              </a:rPr>
              <a:t>moving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547872"/>
            <a:ext cx="1124712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547872"/>
            <a:ext cx="109728" cy="62179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3694176"/>
            <a:ext cx="1051560" cy="32918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GREEN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4519" y="3584448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P1  Data Certification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3584448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On track - in UAT, signed off; PROD Jun 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3584448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400" b="1" i="0">
                <a:solidFill>
                  <a:srgbClr val="2E8B57"/>
                </a:solidFill>
                <a:latin typeface="Segoe UI"/>
              </a:rPr>
              <a:t>1/1</a:t>
            </a:r>
          </a:p>
          <a:p>
            <a:pPr algn="ctr"/>
            <a:r>
              <a:rPr sz="800" b="0" i="0">
                <a:solidFill>
                  <a:srgbClr val="6B7280"/>
                </a:solidFill>
                <a:latin typeface="Segoe UI"/>
              </a:rPr>
              <a:t>moving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224528"/>
            <a:ext cx="1124712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4224528"/>
            <a:ext cx="109728" cy="62179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5800" y="4370832"/>
            <a:ext cx="1051560" cy="32918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GREEN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261104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P2  Service Mapping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4261104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On track - discovery scaling; Wave 20-21 not yet storied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4261104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400" b="1" i="0">
                <a:solidFill>
                  <a:srgbClr val="2E8B57"/>
                </a:solidFill>
                <a:latin typeface="Segoe UI"/>
              </a:rPr>
              <a:t>6/6</a:t>
            </a:r>
          </a:p>
          <a:p>
            <a:pPr algn="ctr"/>
            <a:r>
              <a:rPr sz="800" b="0" i="0">
                <a:solidFill>
                  <a:srgbClr val="6B7280"/>
                </a:solidFill>
                <a:latin typeface="Segoe UI"/>
              </a:rPr>
              <a:t>moving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901184"/>
            <a:ext cx="1124712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4901184"/>
            <a:ext cx="109728" cy="62179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5800" y="5047488"/>
            <a:ext cx="1051560" cy="32918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GREEN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74519" y="4937760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P2  Regulatory / Qualys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4937760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Progressing - Qualys active; CCB/NERC-CIP not yet storied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2720" y="4937760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400" b="1" i="0">
                <a:solidFill>
                  <a:srgbClr val="2E8B57"/>
                </a:solidFill>
                <a:latin typeface="Segoe UI"/>
              </a:rPr>
              <a:t>3/3</a:t>
            </a:r>
          </a:p>
          <a:p>
            <a:pPr algn="ctr"/>
            <a:r>
              <a:rPr sz="800" b="0" i="0">
                <a:solidFill>
                  <a:srgbClr val="6B7280"/>
                </a:solidFill>
                <a:latin typeface="Segoe UI"/>
              </a:rPr>
              <a:t>moving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577840"/>
            <a:ext cx="1124712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7200" y="5577840"/>
            <a:ext cx="109728" cy="6217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5800" y="5724144"/>
            <a:ext cx="1051560" cy="3291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RED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74519" y="5614416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P3  NowAssist AI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80" y="5614416"/>
            <a:ext cx="5486400" cy="54864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Blocked - all 4 stories await owner reassignment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2720" y="5614416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Segoe UI"/>
              </a:rPr>
              <a:t>0/4</a:t>
            </a:r>
          </a:p>
          <a:p>
            <a:pPr algn="ctr"/>
            <a:r>
              <a:rPr sz="800" b="0" i="0">
                <a:solidFill>
                  <a:srgbClr val="6B7280"/>
                </a:solidFill>
                <a:latin typeface="Segoe UI"/>
              </a:rPr>
              <a:t>moving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8686800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Objectives - Executive Tiles (Variation C)</a:t>
            </a:r>
          </a:p>
        </p:txBody>
      </p:sp>
      <p:sp>
        <p:nvSpPr>
          <p:cNvPr id="5" name="Rectangle 4"/>
          <p:cNvSpPr/>
          <p:nvPr/>
        </p:nvSpPr>
        <p:spPr>
          <a:xfrm>
            <a:off x="9692640" y="256032"/>
            <a:ext cx="2011680" cy="38404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VISUAL GRID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Segoe UI"/>
              </a:rPr>
              <a:t>Derived from team notes - not ADO-validated. 'Completed' tracking begins at first PROD deployment (Jun 23); today's view shows work in flight.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3657600" cy="2331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3657600" cy="5029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3291840" cy="4114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P0   Airlift (Azure Migration)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3291840" cy="8229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4400" b="1" i="0">
                <a:solidFill>
                  <a:srgbClr val="1F3A5F"/>
                </a:solidFill>
                <a:latin typeface="Segoe U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011680"/>
            <a:ext cx="228600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Segoe UI"/>
              </a:rPr>
              <a:t>stories</a:t>
            </a:r>
          </a:p>
          <a:p>
            <a:pPr algn="l"/>
            <a:r>
              <a:rPr sz="1100" b="1" i="0">
                <a:solidFill>
                  <a:srgbClr val="2D2D2D"/>
                </a:solidFill>
                <a:latin typeface="Segoe UI"/>
              </a:rPr>
              <a:t>4 moving  ·  0 stuck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3291840" cy="6858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On track - dev access resolved; 4 stories active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143000"/>
            <a:ext cx="3657600" cy="2331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143000"/>
            <a:ext cx="365760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188720"/>
            <a:ext cx="3291840" cy="4114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P1   Discovery / SCCM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709928"/>
            <a:ext cx="3291840" cy="8229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4400" b="1" i="0">
                <a:solidFill>
                  <a:srgbClr val="1F3A5F"/>
                </a:solidFill>
                <a:latin typeface="Segoe U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011680"/>
            <a:ext cx="228600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Segoe UI"/>
              </a:rPr>
              <a:t>stories</a:t>
            </a:r>
          </a:p>
          <a:p>
            <a:pPr algn="l"/>
            <a:r>
              <a:rPr sz="1100" b="1" i="0">
                <a:solidFill>
                  <a:srgbClr val="2D2D2D"/>
                </a:solidFill>
                <a:latin typeface="Segoe UI"/>
              </a:rPr>
              <a:t>3 moving  ·  3 stuck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743200"/>
            <a:ext cx="3291840" cy="6858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At risk - 1 approval gate + 1 on-hold; ~6 stories not yet ID'd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1143000"/>
            <a:ext cx="3657600" cy="2331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1143000"/>
            <a:ext cx="3657600" cy="5029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1188720"/>
            <a:ext cx="3291840" cy="4114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P1   Data Certification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1709928"/>
            <a:ext cx="3291840" cy="8229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4400" b="1" i="0">
                <a:solidFill>
                  <a:srgbClr val="1F3A5F"/>
                </a:solidFill>
                <a:latin typeface="Segoe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011680"/>
            <a:ext cx="228600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Segoe UI"/>
              </a:rPr>
              <a:t>stories</a:t>
            </a:r>
          </a:p>
          <a:p>
            <a:pPr algn="l"/>
            <a:r>
              <a:rPr sz="1100" b="1" i="0">
                <a:solidFill>
                  <a:srgbClr val="2D2D2D"/>
                </a:solidFill>
                <a:latin typeface="Segoe UI"/>
              </a:rPr>
              <a:t>1 moving  ·  0 stuck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743200"/>
            <a:ext cx="3291840" cy="6858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On track - in UAT, signed off; PROD Jun 23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703320"/>
            <a:ext cx="3657600" cy="2331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703320"/>
            <a:ext cx="3657600" cy="5029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749040"/>
            <a:ext cx="3291840" cy="4114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P2   Service Mapping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270248"/>
            <a:ext cx="3291840" cy="8229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4400" b="1" i="0">
                <a:solidFill>
                  <a:srgbClr val="1F3A5F"/>
                </a:solidFill>
                <a:latin typeface="Segoe U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572000"/>
            <a:ext cx="228600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Segoe UI"/>
              </a:rPr>
              <a:t>stories</a:t>
            </a:r>
          </a:p>
          <a:p>
            <a:pPr algn="l"/>
            <a:r>
              <a:rPr sz="1100" b="1" i="0">
                <a:solidFill>
                  <a:srgbClr val="2D2D2D"/>
                </a:solidFill>
                <a:latin typeface="Segoe UI"/>
              </a:rPr>
              <a:t>6 moving  ·  0 stuck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303520"/>
            <a:ext cx="3291840" cy="6858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On track - discovery scaling; Wave 20-21 not yet storied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3703320"/>
            <a:ext cx="3657600" cy="2331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0" y="3703320"/>
            <a:ext cx="3657600" cy="5029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3749040"/>
            <a:ext cx="3291840" cy="4114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P2   Regulatory / Qualys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270248"/>
            <a:ext cx="3291840" cy="8229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4400" b="1" i="0">
                <a:solidFill>
                  <a:srgbClr val="1F3A5F"/>
                </a:solidFill>
                <a:latin typeface="Segoe U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572000"/>
            <a:ext cx="228600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Segoe UI"/>
              </a:rPr>
              <a:t>stories</a:t>
            </a:r>
          </a:p>
          <a:p>
            <a:pPr algn="l"/>
            <a:r>
              <a:rPr sz="1100" b="1" i="0">
                <a:solidFill>
                  <a:srgbClr val="2D2D2D"/>
                </a:solidFill>
                <a:latin typeface="Segoe UI"/>
              </a:rPr>
              <a:t>3 moving  ·  0 stuck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303520"/>
            <a:ext cx="3291840" cy="6858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Progressing - Qualys active; CCB/NERC-CIP not yet storied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21040" y="3703320"/>
            <a:ext cx="3657600" cy="2331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21040" y="3703320"/>
            <a:ext cx="365760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0" y="3749040"/>
            <a:ext cx="3291840" cy="4114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P3   NowAssist 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270248"/>
            <a:ext cx="3291840" cy="8229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4400" b="1" i="0">
                <a:solidFill>
                  <a:srgbClr val="1F3A5F"/>
                </a:solidFill>
                <a:latin typeface="Segoe U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4572000"/>
            <a:ext cx="228600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Segoe UI"/>
              </a:rPr>
              <a:t>stories</a:t>
            </a:r>
          </a:p>
          <a:p>
            <a:pPr algn="l"/>
            <a:r>
              <a:rPr sz="1100" b="1" i="0">
                <a:solidFill>
                  <a:srgbClr val="2D2D2D"/>
                </a:solidFill>
                <a:latin typeface="Segoe UI"/>
              </a:rPr>
              <a:t>0 moving  ·  4 stuck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5303520"/>
            <a:ext cx="3291840" cy="6858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Blocked - all 4 stories await owner reassignment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