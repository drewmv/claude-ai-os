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0" y="5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CMDB-CSDM Delivery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1069848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200" b="0" i="0">
                <a:solidFill>
                  <a:srgbClr val="C9D6E6"/>
                </a:solidFill>
                <a:latin typeface="Segoe UI"/>
              </a:rPr>
              <a:t>Weekly Leadership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69762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Segoe UI"/>
              </a:rPr>
              <a:t>PI-2  ·  Iteration 2.5  (Jul 8 - Jul 21)</a:t>
            </a:r>
          </a:p>
          <a:p>
            <a:pPr algn="l"/>
            <a:r>
              <a:rPr sz="1400" b="0" i="0" dirty="0">
                <a:solidFill>
                  <a:srgbClr val="C9D6E6"/>
                </a:solidFill>
                <a:latin typeface="Segoe UI"/>
              </a:rPr>
              <a:t>Week of July </a:t>
            </a:r>
            <a:r>
              <a:rPr lang="en-US" sz="1400" b="0" i="0" dirty="0">
                <a:solidFill>
                  <a:srgbClr val="C9D6E6"/>
                </a:solidFill>
                <a:latin typeface="Segoe UI"/>
              </a:rPr>
              <a:t>6</a:t>
            </a:r>
            <a:r>
              <a:rPr sz="1400" b="0" i="0" dirty="0">
                <a:solidFill>
                  <a:srgbClr val="C9D6E6"/>
                </a:solidFill>
                <a:latin typeface="Segoe UI"/>
              </a:rPr>
              <a:t>, 2026</a:t>
            </a:r>
          </a:p>
          <a:p>
            <a:pPr algn="l"/>
            <a:r>
              <a:rPr sz="1200" b="0" i="0" dirty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How to Read This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Sprint 2.4 close-out (Jul 7). Board state: Jul 8 ADO snapshot. Sprint 2.5 scope TBD — work items to be added once planning is confirmed. CO6 pending execution as of Jul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2D2D2D"/>
                </a:solidFill>
                <a:latin typeface="Segoe UI"/>
              </a:rPr>
              <a:t>Three progress lenses, refreshed every week: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PI over PI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Are we delivering more value each Program Increment?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Iteration over Iteration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Is each 2-week sprint building on the last?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109728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Week over Week</a:t>
            </a:r>
          </a:p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What concretely moved since the last report?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06240"/>
            <a:ext cx="5486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2D2D2D"/>
                </a:solidFill>
                <a:latin typeface="Segoe UI"/>
              </a:rPr>
              <a:t>Status legend: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617720"/>
            <a:ext cx="45720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On track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2920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029200"/>
            <a:ext cx="54864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Progressing, with watch items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40680"/>
            <a:ext cx="100584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440680"/>
            <a:ext cx="54864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Blocked / needs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Iteration 2.5  (Jul 8 - Jul 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475488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CO5 FOCUS - CO6 PENDING; DEV FREEZE 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1155680" cy="436017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 i="0" dirty="0">
                <a:solidFill>
                  <a:srgbClr val="2D2D2D"/>
                </a:solidFill>
                <a:latin typeface="Segoe UI"/>
              </a:rPr>
              <a:t>Delivery momentum is real - SOX BA review done, Airlift exports complete, CI retirement executed - but the CO5 acceptance gate (Data Dictionary CCB approval Jul 21) is 13 days out</a:t>
            </a:r>
            <a:r>
              <a:rPr lang="en-US" sz="1250" b="0" i="0" dirty="0">
                <a:solidFill>
                  <a:srgbClr val="2D2D2D"/>
                </a:solidFill>
                <a:latin typeface="Segoe UI"/>
              </a:rPr>
              <a:t>.</a:t>
            </a:r>
            <a:r>
              <a:rPr sz="1250" b="0" i="0" dirty="0">
                <a:solidFill>
                  <a:srgbClr val="2D2D2D"/>
                </a:solidFill>
                <a:latin typeface="Segoe UI"/>
              </a:rPr>
              <a:t> Dev code freeze (Jul 4-18) is now active, constraining Sprint 2.5 delivery capacity.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54864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Segoe UI"/>
              </a:rPr>
              <a:t>Wins this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5486400" cy="38985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2D2D2D"/>
                </a:solidFill>
                <a:latin typeface="Segoe UI"/>
              </a:rPr>
              <a:t>+  Sprint 2.4 closed (Jul 7)</a:t>
            </a:r>
            <a:r>
              <a:rPr lang="en-US" sz="1100" b="0" i="0" dirty="0">
                <a:solidFill>
                  <a:srgbClr val="2D2D2D"/>
                </a:solidFill>
                <a:latin typeface="Segoe UI"/>
              </a:rPr>
              <a:t>;</a:t>
            </a:r>
            <a:r>
              <a:rPr sz="1100" b="0" i="0" dirty="0">
                <a:solidFill>
                  <a:srgbClr val="2D2D2D"/>
                </a:solidFill>
                <a:latin typeface="Segoe UI"/>
              </a:rPr>
              <a:t> SOX BA review, Airlift exports (PA/KY VMware + PA Physical), bulk CI retirement, </a:t>
            </a:r>
            <a:r>
              <a:rPr sz="1100" b="0" i="0" dirty="0" err="1">
                <a:solidFill>
                  <a:srgbClr val="2D2D2D"/>
                </a:solidFill>
                <a:latin typeface="Segoe UI"/>
              </a:rPr>
              <a:t>NowAssist</a:t>
            </a:r>
            <a:r>
              <a:rPr sz="1100" b="0" i="0" dirty="0">
                <a:solidFill>
                  <a:srgbClr val="2D2D2D"/>
                </a:solidFill>
                <a:latin typeface="Segoe UI"/>
              </a:rPr>
              <a:t> Duplicate CIs skill, IRE </a:t>
            </a:r>
            <a:r>
              <a:rPr sz="1100" b="0" i="0" dirty="0" err="1">
                <a:solidFill>
                  <a:srgbClr val="2D2D2D"/>
                </a:solidFill>
                <a:latin typeface="Segoe UI"/>
              </a:rPr>
              <a:t>behaviour</a:t>
            </a:r>
            <a:r>
              <a:rPr sz="1100" b="0" i="0" dirty="0">
                <a:solidFill>
                  <a:srgbClr val="2D2D2D"/>
                </a:solidFill>
                <a:latin typeface="Segoe UI"/>
              </a:rPr>
              <a:t> review spike.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67328"/>
            <a:ext cx="54864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+  SOX Business Apps (1480105) Closed - CO5 D1 acceptance evidence confirmed; Airlift inventory export cluster complete.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17136"/>
            <a:ext cx="548640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+  Data Dictionaries (Servers/Computers/Biz Apps/DB) delivered to Validation - CCB review Jul 7-20, approval target Jul 21.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51760"/>
            <a:ext cx="54864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Segoe UI"/>
              </a:rPr>
              <a:t>Needs leadership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17520"/>
            <a:ext cx="53035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!  CO6 pending execution - Execute CO6 this week. Confirm with Christian / Aaron Simeon — effective date is already Jun 30; delay only extends holdback exposure.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67328"/>
            <a:ext cx="53035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!  Dev code freeze Jul 4-18 - Awareness; prioritize validation and documentation work in 2.5 through Jul 18.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17136"/>
            <a:ext cx="53035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!  3 audit dashboard spikes incomplete - Prioritize spike completion in 2.5; required before 90%-coverage acceptance stories can be created.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CO5 Deliverables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The 3 contractual deliverables  ·  sub-items = moving / in-scope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3657600" cy="6583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225296"/>
            <a:ext cx="3291840" cy="58521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D1   Governance - Data Dictionary, Data Cert, ESS-02, SOX, CCB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329184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212848"/>
            <a:ext cx="22860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sub-items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8 moving  ·  0 stuck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3291840" cy="5669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SOX BA review (1480105) Closed - D1 acceptance evidence confirmed; 4 Data Dictionaries in Validation (CCB review Jul 7-20, approval Jul 21); ESS-02 (1480102) and Monthly CCB (1480107) Ready DoR; Data Cert pilot (1480099) Ready DoR; code freeze gates ESS-02/CCB until Jul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1887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188720"/>
            <a:ext cx="3657600" cy="6583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225296"/>
            <a:ext cx="3291840" cy="58521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D2   Automated Data Ingestion - Computers / Servers / Databases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38528"/>
            <a:ext cx="329184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2212848"/>
            <a:ext cx="22860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sub-items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3 moving  ·  0 stuck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880360"/>
            <a:ext cx="3291840" cy="5669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Airlift exports (PA/KY VMware + PA Physical) Closed; imports in Validation; 3 audit-dashboard spikes (Servers/DB/Computer) carried from 2.4 Active - did not close; no formal 90%-measurement acceptance 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1188720"/>
            <a:ext cx="3657600" cy="23317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66760" y="1188720"/>
            <a:ext cx="3657600" cy="658368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1225296"/>
            <a:ext cx="3291840" cy="58521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D3   Other Enhancement - Evaluate Qualys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938528"/>
            <a:ext cx="329184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4400" b="1" i="0">
                <a:solidFill>
                  <a:srgbClr val="1F3A5F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212848"/>
            <a:ext cx="228600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Segoe UI"/>
              </a:rPr>
              <a:t>sub-items in scope</a:t>
            </a:r>
          </a:p>
          <a:p>
            <a:pPr algn="l"/>
            <a:r>
              <a:rPr sz="1100" b="1" i="0">
                <a:solidFill>
                  <a:srgbClr val="2D2D2D"/>
                </a:solidFill>
                <a:latin typeface="Segoe UI"/>
              </a:rPr>
              <a:t>1 moving  ·  1 stuck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880360"/>
            <a:ext cx="3291840" cy="56692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Segoe UI"/>
              </a:rPr>
              <a:t>Part 1 (1428703) still Active - did not close in 2.4; dev freeze further delays; Part 2 (1428704) status unconfirmed (G4); CO5 bar = evaluate + document; CO6 (Sep 30) delivers full one-way PROD integration (ServiceNow → Qualys)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Progress: PI over 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Are we delivering more value each Program Increment?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8640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PI-2  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10207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 dirty="0">
                <a:solidFill>
                  <a:srgbClr val="2E6DB4"/>
                </a:solidFill>
                <a:latin typeface="Segoe UI"/>
              </a:rPr>
              <a:t>May 13 - Aug 4, 2026</a:t>
            </a:r>
          </a:p>
          <a:p>
            <a:pPr algn="l"/>
            <a:r>
              <a:rPr sz="1200" b="0" i="1" dirty="0">
                <a:solidFill>
                  <a:srgbClr val="6B7280"/>
                </a:solidFill>
                <a:latin typeface="Segoe UI"/>
              </a:rPr>
              <a:t>Iteration 2.5 of 6</a:t>
            </a:r>
          </a:p>
          <a:p>
            <a:pPr algn="l"/>
            <a:endParaRPr sz="1200" b="0" i="1" dirty="0">
              <a:solidFill>
                <a:srgbClr val="6B7280"/>
              </a:solidFill>
              <a:latin typeface="Segoe UI"/>
            </a:endParaRPr>
          </a:p>
          <a:p>
            <a:pPr algn="l"/>
            <a:r>
              <a:rPr sz="1300" b="0" i="0" dirty="0">
                <a:solidFill>
                  <a:srgbClr val="2D2D2D"/>
                </a:solidFill>
                <a:latin typeface="Segoe UI"/>
              </a:rPr>
              <a:t>Sprint 2.4 closed Jul 7</a:t>
            </a:r>
            <a:r>
              <a:rPr lang="en-US" sz="1300" b="0" i="0" dirty="0">
                <a:solidFill>
                  <a:srgbClr val="2D2D2D"/>
                </a:solidFill>
                <a:latin typeface="Segoe UI"/>
              </a:rPr>
              <a:t>; </a:t>
            </a:r>
            <a:r>
              <a:rPr sz="1300" b="0" i="0" dirty="0">
                <a:solidFill>
                  <a:srgbClr val="2D2D2D"/>
                </a:solidFill>
                <a:latin typeface="Segoe UI"/>
              </a:rPr>
              <a:t>CO5 acceptance gate = Data Dictionary CCB approval Jul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31089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8640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PI-3  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5029200" cy="21031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Aug 5 - Oct 27, 2026</a:t>
            </a:r>
          </a:p>
          <a:p>
            <a:pPr algn="l"/>
            <a:r>
              <a:rPr sz="1200" b="0" i="1">
                <a:solidFill>
                  <a:srgbClr val="6B7280"/>
                </a:solidFill>
                <a:latin typeface="Segoe UI"/>
              </a:rPr>
              <a:t>Planning Jul 22 - Aug 4</a:t>
            </a:r>
          </a:p>
          <a:p>
            <a:pPr algn="l"/>
            <a:endParaRPr sz="1200" b="0" i="1">
              <a:solidFill>
                <a:srgbClr val="6B7280"/>
              </a:solidFill>
              <a:latin typeface="Segoe UI"/>
            </a:endParaRPr>
          </a:p>
          <a:p>
            <a:pPr algn="l"/>
            <a:r>
              <a:rPr sz="1300" b="0" i="0">
                <a:solidFill>
                  <a:srgbClr val="2D2D2D"/>
                </a:solidFill>
                <a:latin typeface="Segoe UI"/>
              </a:rPr>
              <a:t>CO6 gap closure (if signed), NowAssist rollout, Qualys full integration, CI Cert extended scope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17720"/>
            <a:ext cx="1115568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4617720"/>
            <a:ext cx="109728" cy="86868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" y="4764024"/>
            <a:ext cx="155448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PENDING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736592"/>
            <a:ext cx="896112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PI-over-PI comparison 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184648"/>
            <a:ext cx="10652760" cy="21031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Segoe UI"/>
              </a:rPr>
              <a:t>Comparison basis (objectives completed / business value delivered / stories accepted per PI) to be fixed before PI-3 begins. Only PI-2 has live data today - not yet ready for relevant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Segoe UI"/>
              </a:rPr>
              <a:t>Note: Only PI-2 has live data today. PI-over-PI comparison populates once PI-3 begins (planning during the PI-2 IP iteration, Jul 22 - Aug 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Progress: Iteration over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Is each 2-week sprint building on the last?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657600" cy="7132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338328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Sprint 2.3</a:t>
            </a:r>
          </a:p>
          <a:p>
            <a:pPr algn="l"/>
            <a:r>
              <a:rPr sz="1000" b="0" i="0">
                <a:solidFill>
                  <a:srgbClr val="E8EEF6"/>
                </a:solidFill>
                <a:latin typeface="Segoe UI"/>
              </a:rPr>
              <a:t>Jun 10 - 23  ·  COMPLETED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39112"/>
            <a:ext cx="365760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30552"/>
            <a:ext cx="33832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1" i="1">
                <a:solidFill>
                  <a:srgbClr val="2E6DB4"/>
                </a:solidFill>
                <a:latin typeface="Segoe UI"/>
              </a:rPr>
              <a:t>Deploy &amp;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3375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Data Certification dashboard -&gt; PROD (6/23)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36392"/>
            <a:ext cx="33375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NowAssist accepted: prerequisites, plugin activation, CI summarization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66744"/>
            <a:ext cx="33375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- 11 pts accepted; 23 pts delivered into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325880"/>
            <a:ext cx="3657600" cy="7132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371600"/>
            <a:ext cx="338328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Sprint 2.4</a:t>
            </a:r>
          </a:p>
          <a:p>
            <a:pPr algn="l"/>
            <a:r>
              <a:rPr sz="1000" b="0" i="0">
                <a:solidFill>
                  <a:srgbClr val="E8EEF6"/>
                </a:solidFill>
                <a:latin typeface="Segoe UI"/>
              </a:rPr>
              <a:t>Jun 24 - Jul 7  ·  COMPLETED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039112"/>
            <a:ext cx="365760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2130552"/>
            <a:ext cx="33832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1" i="1">
                <a:solidFill>
                  <a:srgbClr val="2E6DB4"/>
                </a:solidFill>
                <a:latin typeface="Segoe UI"/>
              </a:rPr>
              <a:t>CO5 acceptance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606040"/>
            <a:ext cx="33375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- 9 items / 10 pts accepted: SOX BA review, Airlift exports, CI retirement, NowAssist Duplicate CIs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136392"/>
            <a:ext cx="33375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Data Dictionaries (Servers/Computers/Biz Apps/DB) delivered to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666744"/>
            <a:ext cx="33375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- 12 items / 18 pts in validation - largest carry-over pipeline of PI-2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197096"/>
            <a:ext cx="33375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- 3 audit dashboard spikes carried to 2.5 Active (Servers/DB/Computer)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1325880"/>
            <a:ext cx="3657600" cy="71323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1371600"/>
            <a:ext cx="3383280" cy="6400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Sprint 2.5</a:t>
            </a:r>
          </a:p>
          <a:p>
            <a:pPr algn="l"/>
            <a:r>
              <a:rPr sz="1000" b="0" i="0">
                <a:solidFill>
                  <a:srgbClr val="E8EEF6"/>
                </a:solidFill>
                <a:latin typeface="Segoe UI"/>
              </a:rPr>
              <a:t>Jul 8 - Jul 21  ·  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039112"/>
            <a:ext cx="365760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9640" y="2130552"/>
            <a:ext cx="33832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1" i="1">
                <a:solidFill>
                  <a:srgbClr val="2E6DB4"/>
                </a:solidFill>
                <a:latin typeface="Segoe UI"/>
              </a:rPr>
              <a:t>CO5 acceptance gate + code freeze navigation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606040"/>
            <a:ext cx="33375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Scope TBD - 2.5 work items to be confirmed; planning in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136392"/>
            <a:ext cx="33375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Dev code freeze Jul 4-18 constrains first 10 days of sprint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666744"/>
            <a:ext cx="33375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Data Dictionary CCB approval target Jul 21 (sprint end)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197096"/>
            <a:ext cx="33375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- 3 audit spikes (Servers/DB/Computer) carried from 2.4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937760"/>
            <a:ext cx="1115568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Segoe UI"/>
              </a:rPr>
              <a:t>Sprint 2.4 delivery - derived from the Jul 8 ADO board (sprint close-out)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25780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257800"/>
            <a:ext cx="2697480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404104"/>
            <a:ext cx="24231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On 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715000"/>
            <a:ext cx="2423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~38 items / ~48 pts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10128" y="525780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310128" y="5257800"/>
            <a:ext cx="269748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47288" y="5404104"/>
            <a:ext cx="24231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Accepted / Done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47288" y="5715000"/>
            <a:ext cx="2423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9 items - 10 pts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17336" y="525780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17336" y="5257800"/>
            <a:ext cx="2697480" cy="7315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54496" y="5404104"/>
            <a:ext cx="24231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Delivered, in 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4496" y="5715000"/>
            <a:ext cx="2423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 dirty="0">
                <a:solidFill>
                  <a:srgbClr val="1F3A5F"/>
                </a:solidFill>
                <a:latin typeface="Segoe UI"/>
              </a:rPr>
              <a:t>12 items - 18 pts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24544" y="525780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924544" y="5257800"/>
            <a:ext cx="2697480" cy="7315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61704" y="5404104"/>
            <a:ext cx="24231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Active / not started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5715000"/>
            <a:ext cx="2423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 dirty="0">
                <a:solidFill>
                  <a:srgbClr val="1F3A5F"/>
                </a:solidFill>
                <a:latin typeface="Segoe UI"/>
              </a:rPr>
              <a:t>~17 items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Derived from the Jul 8 ADO board (Sprint 2.4 close-out). Board grew during sprint with retirement cluster and Airlift imports added mid-sprint. 18 pts in validation carry into Sprint 2.5 pending acceptance.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Progress: Week over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What changed in status since the last report?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50" b="0" i="1">
                <a:solidFill>
                  <a:srgbClr val="6B7280"/>
                </a:solidFill>
                <a:latin typeface="Segoe UI"/>
              </a:rPr>
              <a:t>Sprint 2.4 closed Jul 7. Reporting continues on the CO5 contractual deliverable frame. Week-over-week deltas reflect movement since the Jun 29 report.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115568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Delivered this period (Sprint 2.4 close-out)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2697480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386584"/>
            <a:ext cx="24231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On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423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~38 items / ~48 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24028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0128" y="2240280"/>
            <a:ext cx="269748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2386584"/>
            <a:ext cx="24231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Accepted /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697480"/>
            <a:ext cx="2423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9 items - 10 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224028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2240280"/>
            <a:ext cx="2697480" cy="73152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54496" y="2386584"/>
            <a:ext cx="24231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Delivered, in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697480"/>
            <a:ext cx="2423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12 items - 18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24544" y="2240280"/>
            <a:ext cx="2697480" cy="9144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24544" y="2240280"/>
            <a:ext cx="2697480" cy="7315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61704" y="2386584"/>
            <a:ext cx="242316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Active / not started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2697480"/>
            <a:ext cx="242316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~17 items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11155680" cy="29260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Segoe UI"/>
              </a:rPr>
              <a:t>Key moves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49039"/>
            <a:ext cx="10972800" cy="2282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50" b="0" i="0" dirty="0">
                <a:solidFill>
                  <a:srgbClr val="2D2D2D"/>
                </a:solidFill>
                <a:latin typeface="Segoe UI"/>
              </a:rPr>
              <a:t>+  Sprint 2.4 closed (Jul 7: SOX BA review, Airlift exports (PA/KY VMware + PA Physical), bulk CI retirement, </a:t>
            </a:r>
            <a:r>
              <a:rPr sz="1150" b="0" i="0" dirty="0" err="1">
                <a:solidFill>
                  <a:srgbClr val="2D2D2D"/>
                </a:solidFill>
                <a:latin typeface="Segoe UI"/>
              </a:rPr>
              <a:t>NowAssist</a:t>
            </a:r>
            <a:r>
              <a:rPr sz="1150" b="0" i="0" dirty="0">
                <a:solidFill>
                  <a:srgbClr val="2D2D2D"/>
                </a:solidFill>
                <a:latin typeface="Segoe UI"/>
              </a:rPr>
              <a:t> Duplicate CIs, IRE review spike.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06239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+  SOX Business Apps (1480105) Closed - CO5 D1 acceptance evidence confirmed.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63439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+  Data Dictionaries (Servers/Computers/Biz Apps/DB) delivered to Validation - CCB review Jul 7-20, approval target Jul 21.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39"/>
            <a:ext cx="1097280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+  12 items / 18 pts in validation entering Sprint 2.5 - largest carry-over pipeline of PI-2.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669279"/>
            <a:ext cx="1115568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 i="0">
                <a:solidFill>
                  <a:srgbClr val="E08A00"/>
                </a:solidFill>
                <a:latin typeface="Segoe UI"/>
              </a:rPr>
              <a:t>Newly closed:  SOX BA review · Airlift exports · CI retirement execution   ·   Newly carried to 2.5:  3 audit spikes (Servers/DB/Computer)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CO5 Deliverable 1 -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Status and detail by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00200"/>
            <a:ext cx="95097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Data Dictionaries (Servers/Computers/Biz Apps/DB)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11680"/>
            <a:ext cx="95097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All 4 dictionaries in Validation (1480088/090/097/098) - CCB customer review Jul 7-20, approval target Jul 21 (monthly CCB). Databases closes G1 at artifact level.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7180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154680"/>
            <a:ext cx="100584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08960"/>
            <a:ext cx="95097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SOX + Data Certification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20440"/>
            <a:ext cx="95097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SOX BA review (1480105) Closed - CO5 D1 acceptance evidence confirmed. Data Cert pilot (1480099) Ready DoR; dashboard in PROD since 6/23.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8056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66344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617720"/>
            <a:ext cx="95097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ESS-02 / Monthly CCB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029200"/>
            <a:ext cx="95097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ESS-02 alignment (1480102) and Monthly CCB (1480107) remain Ready DoR - not started; dev-dependent work gated by code freeze (lifts Jul 18). CCB story closes G5.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CO5 Deliverables 2 &amp; 3 - Data Ingestion + Qualys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Status and detail by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600200"/>
            <a:ext cx="95097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Data Ingestion - Airlift inventory + SCCM/Discovery precedence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11680"/>
            <a:ext cx="95097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Airlift exports (PA/KY VMware + PA Physical) Closed; imports (1487867/868/869) in Validation. Retirement: execute Closed (1487878), validate Active (1487872). SCCM/Discovery precedence reported complete.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7180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15468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08960"/>
            <a:ext cx="95097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90% Coverage (Computers G2 / Servers G3 / 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20440"/>
            <a:ext cx="95097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3 audit-dashboard spikes (1480112 Servers, 1480113 DB, 1480114 Computer) carried from 2.4 Active - did not close in sprint. BA spike (1480111) in Validation. No formal 90%-measurement acceptance story yet.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80560"/>
            <a:ext cx="11155680" cy="13258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663440"/>
            <a:ext cx="1005840" cy="27432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617720"/>
            <a:ext cx="950976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Segoe UI"/>
              </a:rPr>
              <a:t>Qualys Integration (Other Enhancement)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029200"/>
            <a:ext cx="9509760" cy="7315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Segoe UI"/>
              </a:rPr>
              <a:t>Part 1 (1428703) still Active - did not close in 2.4; dev freeze (Jul 4-18) further delays. Part 2 (1428704) status unconfirmed (G4). CO5 bar = evaluate + document. CO6 (pending signature) delivers full one-way PROD integration (ServiceNow → Qualys) by Sep 30.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Key Milestones &amp; Upcoming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CO5 acceptance critical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645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Jul 4-18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234440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14600" y="1234440"/>
            <a:ext cx="90525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Dev code freeze — ACTIVE NOW; constrains Sprint 2.5 delivery through Jul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56232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856232"/>
            <a:ext cx="1645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Jul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856232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14600" y="1856232"/>
            <a:ext cx="90525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Sprint 2.4 end ✓ — 9 items / 10 pts accepted; 12 items / 18 pts to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78024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478024"/>
            <a:ext cx="1645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Jul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478024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14600" y="2478024"/>
            <a:ext cx="90525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Sprint 2.5 start — CO5 acceptance gate; Data Dictionary CCB push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099816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099816"/>
            <a:ext cx="1645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Jul 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3099816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14600" y="3099816"/>
            <a:ext cx="90525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Dev code freeze lifts — ESS-02 / CCB / Qualys work can resume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21608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721608"/>
            <a:ext cx="1645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Jul 18-Aug 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3721608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14600" y="3721608"/>
            <a:ext cx="90525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Test code freeze — overlaps Sprint 2.5 tail and IP iteration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343400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645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Jul 21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4343400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4600" y="4343400"/>
            <a:ext cx="90525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Data Dictionary CCB approval (monthly CCB) — critical CO5 D1 gate; Sprint 2.5 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965192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965192"/>
            <a:ext cx="1645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Jul 22-Aug 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4965192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514600" y="4965192"/>
            <a:ext cx="90525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IP Iteration — PI-3 planning begins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586984"/>
            <a:ext cx="1737360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586984"/>
            <a:ext cx="1645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Aug 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31720" y="5586984"/>
            <a:ext cx="932688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14600" y="5586984"/>
            <a:ext cx="90525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50" b="0" i="0">
                <a:solidFill>
                  <a:srgbClr val="2D2D2D"/>
                </a:solidFill>
                <a:latin typeface="Segoe UI"/>
              </a:rPr>
              <a:t>PI-3 begins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Risks &amp; Leadership 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Where we need help to stay on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7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Severity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Ask of Leadership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CO6 pending execution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CO6 unsigned as of Jul 8; signature expected this week. Effective Jun 30 retroactively when signed. $2.7M, 9 workstreams through Oct 30: Network Discovery, Service Mapping, Qualys PROD (Sep 30), CMDB Governance (Data Cert expanded), Legacy Rationalization, ITSM PO, ATF Strategy, Platform Support, NERC-CIP Strategy. $533,775 June holdback stands until signed.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Execute CO6 this week. Confirm with Christian / Aaron Simeon — effective date is already Jun 30; delay only extends holdback exposure.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Dev code freeze Jul 4-18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Freeze is currently active - spans first 10 days of Sprint 2.5. Dev-dependent CO5 items (ESS-02, CCB story, Qualys Part 1) cannot land until Jul 18.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Awareness; prioritize validation and documentation work in 2.5 through Jul 18.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3 audit dashboard spikes incomplete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Servers (1480112), Database (1480113), Computer (1480114) audit spikes carried into 2.5 Active - did not close in 2.4. G2/G3 coverage measurement evidence incomplete.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Prioritize spike completion in 2.5; required before 90%-coverage acceptance stories can be created.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90% coverage acceptance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No formal 90%-measurement acceptance story for Computers (G2) or Servers (G3). Audit spikes must complete first; stories must then be created and accepted.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Endorse creating coverage-measurement acceptance stories once spikes close.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Deprioritized streams stranded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Service Mapping, Network Discovery, and NowAssist phases 2-5 remain paused. Test freeze (Jul 18-Aug 15) further limits resumption window.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Confirm resumption plan after CO5 acceptance; sequence around test freeze.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CO5 acceptance, CO6 gap closure, and resuming paused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789920" cy="2667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 dirty="0">
                <a:solidFill>
                  <a:srgbClr val="2D2D2D"/>
                </a:solidFill>
                <a:latin typeface="Segoe UI"/>
              </a:rPr>
              <a:t>Execute CO6 this week (effective Jun 30 retroactively)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7899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Secure Data Dictionary CCB approval Jul 21 — critical CO5 D1 gate; validation window Jul 7-20.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107899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Complete 3 audit dashboard spikes (Servers/DB/Computer) in 2.5 — prerequisite for G2/G3 acceptance stories.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107899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Progress ESS-02 (1480102) and Monthly CCB (1480107) off Ready DoR — code freeze lifts Jul 18.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70916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107899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Confirm Qualys Part 1 (1428703) path to completion; CO6 delivers full PROD integration by Sep 30.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486400"/>
            <a:ext cx="109728" cy="45720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789920" cy="6400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Segoe UI"/>
              </a:rPr>
              <a:t>Begin CO6 workstream onboarding: Network Discovery, Service Mapping, ITSM PO, Platform Support, Legacy Rationalization.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51560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Story-level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PI-2  |  Week of July 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0972800" cy="2743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Segoe UI"/>
              </a:rPr>
              <a:t>Full traceability is maintained in the team's working notes:</a:t>
            </a:r>
          </a:p>
          <a:p>
            <a:pPr algn="l"/>
            <a:endParaRPr sz="1400" b="1" i="0">
              <a:solidFill>
                <a:srgbClr val="2D2D2D"/>
              </a:solidFill>
              <a:latin typeface="Segoe UI"/>
            </a:endParaRPr>
          </a:p>
          <a:p>
            <a:pPr algn="l"/>
            <a:r>
              <a:rPr sz="1200" b="0" i="0">
                <a:solidFill>
                  <a:srgbClr val="2E6DB4"/>
                </a:solidFill>
                <a:latin typeface="Segoe UI"/>
              </a:rPr>
              <a:t>- CO5 deliverable traceability:  co5-deliverable-tracking.md</a:t>
            </a:r>
          </a:p>
          <a:p>
            <a:pPr algn="l"/>
            <a:r>
              <a:rPr sz="1200" b="0" i="0">
                <a:solidFill>
                  <a:srgbClr val="2E6DB4"/>
                </a:solidFill>
                <a:latin typeface="Segoe UI"/>
              </a:rPr>
              <a:t>- Objectives -&gt; Features -&gt; Stories:  PI-2/pi2-objectives-features-stories.md</a:t>
            </a:r>
          </a:p>
          <a:p>
            <a:pPr algn="l"/>
            <a:r>
              <a:rPr sz="1200" b="0" i="0">
                <a:solidFill>
                  <a:srgbClr val="2E6DB4"/>
                </a:solidFill>
                <a:latin typeface="Segoe UI"/>
              </a:rPr>
              <a:t>- Activity by Iteration (2.1 - 2.4):  PI-2/pi2-iteration-activity.md</a:t>
            </a:r>
          </a:p>
          <a:p>
            <a:pPr algn="l"/>
            <a:r>
              <a:rPr sz="1200" b="0" i="0">
                <a:solidFill>
                  <a:srgbClr val="2E6DB4"/>
                </a:solidFill>
                <a:latin typeface="Segoe UI"/>
              </a:rPr>
              <a:t>- Program Backlog Review notes:  PI-2/Program-Backlog-Review/</a:t>
            </a:r>
          </a:p>
          <a:p>
            <a:pPr algn="l"/>
            <a:endParaRPr sz="1200" b="0" i="0">
              <a:solidFill>
                <a:srgbClr val="2E6DB4"/>
              </a:solidFill>
              <a:latin typeface="Segoe UI"/>
            </a:endParaRPr>
          </a:p>
          <a:p>
            <a:pPr algn="l"/>
            <a:r>
              <a:rPr sz="1100" b="0" i="1">
                <a:solidFill>
                  <a:srgbClr val="6B7280"/>
                </a:solidFill>
                <a:latin typeface="Segoe UI"/>
              </a:rPr>
              <a:t>This deck is regenerated weekly from build_status_deck.py.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5659</TotalTime>
  <Words>2305</Words>
  <Application>Microsoft Office PowerPoint</Application>
  <PresentationFormat>Widescreen</PresentationFormat>
  <Paragraphs>212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Vazquez, Manuel</cp:lastModifiedBy>
  <cp:revision>2</cp:revision>
  <dcterms:created xsi:type="dcterms:W3CDTF">2013-01-27T09:14:16Z</dcterms:created>
  <dcterms:modified xsi:type="dcterms:W3CDTF">2026-07-12T15:06:01Z</dcterms:modified>
  <cp:category/>
</cp:coreProperties>
</file>