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Segoe UI"/>
              </a:rPr>
              <a:t>CMDB-CSDM Delivery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788920"/>
            <a:ext cx="106984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200" b="0" i="0">
                <a:solidFill>
                  <a:srgbClr val="C9D6E6"/>
                </a:solidFill>
                <a:latin typeface="Segoe UI"/>
              </a:rPr>
              <a:t>Weekly Leadership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4343400"/>
            <a:ext cx="1069848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PI-2  ·  Iteration 2.5  (Jul 8 - Jul 21)</a:t>
            </a:r>
          </a:p>
          <a:p>
            <a:pPr algn="l"/>
            <a:r>
              <a:rPr sz="1400" b="0" i="0">
                <a:solidFill>
                  <a:srgbClr val="C9D6E6"/>
                </a:solidFill>
                <a:latin typeface="Segoe UI"/>
              </a:rPr>
              <a:t>Week of July 8, 2026</a:t>
            </a:r>
          </a:p>
          <a:p>
            <a:pPr algn="l"/>
            <a:r>
              <a:rPr sz="1200" b="0" i="0">
                <a:solidFill>
                  <a:srgbClr val="9FB2CC"/>
                </a:solidFill>
                <a:latin typeface="Segoe UI"/>
              </a:rPr>
              <a:t>Manuel Vazquez  -  Scrum Master, CMDB-CSDM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51560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How to Read This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051560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Sprint 2.4 close-out (Jul 7). Board state: Jul 8 ADO snapshot. Sprint 2.5 scope TBD — work items to be added once planning is confirmed. CO6 pending execution as of Jul 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PI-2  |  Week of July 8,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2D2D2D"/>
                </a:solidFill>
                <a:latin typeface="Segoe UI"/>
              </a:rPr>
              <a:t>Three progress lenses, refreshed every week: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109728" cy="50292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105156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1" i="0">
                <a:solidFill>
                  <a:srgbClr val="2E6DB4"/>
                </a:solidFill>
                <a:latin typeface="Segoe UI"/>
              </a:rPr>
              <a:t>PI over PI</a:t>
            </a:r>
          </a:p>
          <a:p>
            <a:pPr algn="l"/>
            <a:r>
              <a:rPr sz="1200" b="0" i="0">
                <a:solidFill>
                  <a:srgbClr val="2D2D2D"/>
                </a:solidFill>
                <a:latin typeface="Segoe UI"/>
              </a:rPr>
              <a:t>Are we delivering more value each Program Increment?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514600"/>
            <a:ext cx="109728" cy="50292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514600"/>
            <a:ext cx="105156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1" i="0">
                <a:solidFill>
                  <a:srgbClr val="2E6DB4"/>
                </a:solidFill>
                <a:latin typeface="Segoe UI"/>
              </a:rPr>
              <a:t>Iteration over Iteration</a:t>
            </a:r>
          </a:p>
          <a:p>
            <a:pPr algn="l"/>
            <a:r>
              <a:rPr sz="1200" b="0" i="0">
                <a:solidFill>
                  <a:srgbClr val="2D2D2D"/>
                </a:solidFill>
                <a:latin typeface="Segoe UI"/>
              </a:rPr>
              <a:t>Is each 2-week sprint building on the last?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00400"/>
            <a:ext cx="109728" cy="50292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200400"/>
            <a:ext cx="105156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1" i="0">
                <a:solidFill>
                  <a:srgbClr val="2E6DB4"/>
                </a:solidFill>
                <a:latin typeface="Segoe UI"/>
              </a:rPr>
              <a:t>Week over Week</a:t>
            </a:r>
          </a:p>
          <a:p>
            <a:pPr algn="l"/>
            <a:r>
              <a:rPr sz="1200" b="0" i="0">
                <a:solidFill>
                  <a:srgbClr val="2D2D2D"/>
                </a:solidFill>
                <a:latin typeface="Segoe UI"/>
              </a:rPr>
              <a:t>What concretely moved since the last report?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206240"/>
            <a:ext cx="5486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2D2D2D"/>
                </a:solidFill>
                <a:latin typeface="Segoe UI"/>
              </a:rPr>
              <a:t>Status legend: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617720"/>
            <a:ext cx="1005840" cy="2743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GREEN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617720"/>
            <a:ext cx="45720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2D2D2D"/>
                </a:solidFill>
                <a:latin typeface="Segoe UI"/>
              </a:rPr>
              <a:t>On track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029200"/>
            <a:ext cx="1005840" cy="27432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AMBER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5029200"/>
            <a:ext cx="54864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2D2D2D"/>
                </a:solidFill>
                <a:latin typeface="Segoe UI"/>
              </a:rPr>
              <a:t>Progressing, with watch items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440680"/>
            <a:ext cx="1005840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440680"/>
            <a:ext cx="54864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2D2D2D"/>
                </a:solidFill>
                <a:latin typeface="Segoe UI"/>
              </a:rPr>
              <a:t>Blocked / needs intervention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51560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051560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Iteration 2.5  (Jul 8 - Jul 21)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PI-2  |  Week of July 8,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4754880" cy="27432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CO5 FOCUS - CO6 PENDING; DEV FREEZE ACTIVE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91640"/>
            <a:ext cx="1115568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0" i="0">
                <a:solidFill>
                  <a:srgbClr val="2D2D2D"/>
                </a:solidFill>
                <a:latin typeface="Segoe UI"/>
              </a:rPr>
              <a:t>Sprint 2.4 closed Jul 7 with 9 items / 10 pts accepted. Delivery momentum is real - SOX BA review done, Airlift exports complete, CI retirement executed - but the CO5 acceptance gate (Data Dictionary CCB approval Jul 21) is 13 days out and CO6 is still unsigned. Dev code freeze (Jul 4-18) is now active, constraining Sprint 2.5 delivery capacity. The $533,775 holdback stands until CO6 is executed or CO5 is formally accepted.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2E8B57"/>
                </a:solidFill>
                <a:latin typeface="Segoe UI"/>
              </a:rPr>
              <a:t>Wins this period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54864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+  Sprint 2.4 closed (Jul 7) - 9 items / 10 pts accepted: SOX BA review, Airlift exports (PA/KY VMware + PA Physical), bulk CI retirement, NowAssist Duplicate CIs skill, IRE behaviour review spike.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67328"/>
            <a:ext cx="54864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+  SOX Business Apps (1480105) Closed - CO5 D1 acceptance evidence confirmed; Airlift inventory export cluster complete.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17136"/>
            <a:ext cx="54864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+  Data Dictionaries (Servers/Computers/Biz Apps/DB) delivered to Validation - CCB review Jul 7-20, approval target Jul 21.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66944"/>
            <a:ext cx="54864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+  12 items / 18 pts in validation entering Sprint 2.5 - largest carry-over pipeline of PI-2.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65176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C0392B"/>
                </a:solidFill>
                <a:latin typeface="Segoe UI"/>
              </a:rPr>
              <a:t>Needs leadership attention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017520"/>
            <a:ext cx="53035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!  CO6 pending execution - Execute CO6 this week. Confirm with Christian / Aaron Simeon — effective date is already Jun 30; delay only extends holdback exposure.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767328"/>
            <a:ext cx="53035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!  Dev code freeze Jul 4-18 - Awareness; prioritize validation and documentation work in 2.5 through Jul 18.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17136"/>
            <a:ext cx="53035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!  3 audit dashboard spikes incomplete - Prioritize spike completion in 2.5; required before 90%-coverage acceptance stories can be created.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51560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CO5 Deliverables Scorecard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051560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The 3 contractual deliverables  ·  sub-items = moving / in-scope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PI-2  |  Week of July 8,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3657600" cy="23317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3657600" cy="658368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25296"/>
            <a:ext cx="3291840" cy="58521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D1   Governance - Data Dictionary, Data Cert, ESS-02, SOX, CCB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38528"/>
            <a:ext cx="329184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4400" b="1" i="0">
                <a:solidFill>
                  <a:srgbClr val="1F3A5F"/>
                </a:solidFill>
                <a:latin typeface="Segoe UI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212848"/>
            <a:ext cx="22860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Segoe UI"/>
              </a:rPr>
              <a:t>sub-items in scope</a:t>
            </a:r>
          </a:p>
          <a:p>
            <a:pPr algn="l"/>
            <a:r>
              <a:rPr sz="1100" b="1" i="0">
                <a:solidFill>
                  <a:srgbClr val="2D2D2D"/>
                </a:solidFill>
                <a:latin typeface="Segoe UI"/>
              </a:rPr>
              <a:t>8 moving  ·  0 stuck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880360"/>
            <a:ext cx="3291840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850" b="0" i="0">
                <a:solidFill>
                  <a:srgbClr val="2D2D2D"/>
                </a:solidFill>
                <a:latin typeface="Segoe UI"/>
              </a:rPr>
              <a:t>SOX BA review (1480105) Closed - D1 acceptance evidence confirmed; 4 Data Dictionaries in Validation (CCB review Jul 7-20, approval Jul 21); ESS-02 (1480102) and Monthly CCB (1480107) Ready DoR; Data Cert pilot (1480099) Ready DoR; code freeze gates ESS-02/CCB until Jul 18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1188720"/>
            <a:ext cx="3657600" cy="23317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1188720"/>
            <a:ext cx="3657600" cy="658368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225296"/>
            <a:ext cx="3291840" cy="58521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D2   Automated Data Ingestion - Computers / Servers / Databases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1938528"/>
            <a:ext cx="329184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4400" b="1" i="0">
                <a:solidFill>
                  <a:srgbClr val="1F3A5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0" y="2212848"/>
            <a:ext cx="22860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Segoe UI"/>
              </a:rPr>
              <a:t>sub-items in scope</a:t>
            </a:r>
          </a:p>
          <a:p>
            <a:pPr algn="l"/>
            <a:r>
              <a:rPr sz="1100" b="1" i="0">
                <a:solidFill>
                  <a:srgbClr val="2D2D2D"/>
                </a:solidFill>
                <a:latin typeface="Segoe UI"/>
              </a:rPr>
              <a:t>3 moving  ·  0 stuck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80360"/>
            <a:ext cx="3291840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850" b="0" i="0">
                <a:solidFill>
                  <a:srgbClr val="2D2D2D"/>
                </a:solidFill>
                <a:latin typeface="Segoe UI"/>
              </a:rPr>
              <a:t>Airlift exports (PA/KY VMware + PA Physical) Closed; imports in Validation; 3 audit-dashboard spikes (Servers/DB/Computer) carried from 2.4 Active - did not close; no formal 90%-measurement acceptance story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66760" y="1188720"/>
            <a:ext cx="3657600" cy="23317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66760" y="1188720"/>
            <a:ext cx="3657600" cy="658368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1225296"/>
            <a:ext cx="3291840" cy="58521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D3   Other Enhancement - Evaluate Qualys Integration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1938528"/>
            <a:ext cx="329184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4400" b="1" i="0">
                <a:solidFill>
                  <a:srgbClr val="1F3A5F"/>
                </a:solidFill>
                <a:latin typeface="Segoe U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212848"/>
            <a:ext cx="22860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Segoe UI"/>
              </a:rPr>
              <a:t>sub-items in scope</a:t>
            </a:r>
          </a:p>
          <a:p>
            <a:pPr algn="l"/>
            <a:r>
              <a:rPr sz="1100" b="1" i="0">
                <a:solidFill>
                  <a:srgbClr val="2D2D2D"/>
                </a:solidFill>
                <a:latin typeface="Segoe UI"/>
              </a:rPr>
              <a:t>1 moving  ·  1 stuck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2880360"/>
            <a:ext cx="3291840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850" b="0" i="0">
                <a:solidFill>
                  <a:srgbClr val="2D2D2D"/>
                </a:solidFill>
                <a:latin typeface="Segoe UI"/>
              </a:rPr>
              <a:t>Part 1 (1428703) still Active - did not close in 2.4; dev freeze further delays; Part 2 (1428704) status unconfirmed (G4); CO5 bar = evaluate + document; CO6 (Sep 30) delivers full one-way PROD integration (ServiceNow → Qualys)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144768"/>
            <a:ext cx="112014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Segoe UI"/>
              </a:rPr>
              <a:t>Sprint 2.4 final board snapshot (Jul 8). Accepted/Done: 9 items / 10 pts. 12 items / 18 pts in validation carrying into Sprint 2.5. CO6 unsigned as of Jul 8 — $533,775 holdback risk persists.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51560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Progress: PI over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051560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Are we delivering more value each Program Increment?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PI-2  |  Week of July 8,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5486400" cy="31089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48640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502920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PI-2   ACTIVE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5029200" cy="21031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2E6DB4"/>
                </a:solidFill>
                <a:latin typeface="Segoe UI"/>
              </a:rPr>
              <a:t>May 13 - Aug 4, 2026</a:t>
            </a:r>
          </a:p>
          <a:p>
            <a:pPr algn="l"/>
            <a:r>
              <a:rPr sz="1200" b="0" i="1">
                <a:solidFill>
                  <a:srgbClr val="6B7280"/>
                </a:solidFill>
                <a:latin typeface="Segoe UI"/>
              </a:rPr>
              <a:t>Iteration 2.5 of 6</a:t>
            </a:r>
          </a:p>
          <a:p>
            <a:pPr algn="l"/>
            <a:r>
              <a:rPr sz="600" b="0" i="0">
                <a:solidFill>
                  <a:srgbClr val="2D2D2D"/>
                </a:solidFill>
                <a:latin typeface="Segoe UI"/>
              </a:rPr>
              <a:t/>
            </a:r>
          </a:p>
          <a:p>
            <a:pPr algn="l"/>
            <a:r>
              <a:rPr sz="1300" b="0" i="0">
                <a:solidFill>
                  <a:srgbClr val="2D2D2D"/>
                </a:solidFill>
                <a:latin typeface="Segoe UI"/>
              </a:rPr>
              <a:t>Sprint 2.4 closed Jul 7 (9 items / 10 pts); CO5 acceptance gate = Data Dictionary CCB approval Jul 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371600"/>
            <a:ext cx="5486400" cy="31089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8640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63040"/>
            <a:ext cx="502920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PI-3   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194560"/>
            <a:ext cx="5029200" cy="21031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2E6DB4"/>
                </a:solidFill>
                <a:latin typeface="Segoe UI"/>
              </a:rPr>
              <a:t>Aug 5 - Oct 27, 2026</a:t>
            </a:r>
          </a:p>
          <a:p>
            <a:pPr algn="l"/>
            <a:r>
              <a:rPr sz="1200" b="0" i="1">
                <a:solidFill>
                  <a:srgbClr val="6B7280"/>
                </a:solidFill>
                <a:latin typeface="Segoe UI"/>
              </a:rPr>
              <a:t>Planning Jul 22 - Aug 4</a:t>
            </a:r>
          </a:p>
          <a:p>
            <a:pPr algn="l"/>
            <a:r>
              <a:rPr sz="600" b="0" i="0">
                <a:solidFill>
                  <a:srgbClr val="2D2D2D"/>
                </a:solidFill>
                <a:latin typeface="Segoe UI"/>
              </a:rPr>
              <a:t/>
            </a:r>
          </a:p>
          <a:p>
            <a:pPr algn="l"/>
            <a:r>
              <a:rPr sz="1300" b="0" i="0">
                <a:solidFill>
                  <a:srgbClr val="2D2D2D"/>
                </a:solidFill>
                <a:latin typeface="Segoe UI"/>
              </a:rPr>
              <a:t>CO6 gap closure (if signed), NowAssist rollout, Qualys full integration, CI Cert extended scope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617720"/>
            <a:ext cx="11155680" cy="8686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617720"/>
            <a:ext cx="109728" cy="86868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58952" y="4764024"/>
            <a:ext cx="1554480" cy="27432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PENDING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736592"/>
            <a:ext cx="896112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Segoe UI"/>
              </a:rPr>
              <a:t>PI-over-PI comparison metric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" y="5184648"/>
            <a:ext cx="10652760" cy="2103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Segoe UI"/>
              </a:rPr>
              <a:t>Comparison basis (objectives completed / business value delivered / stories accepted per PI) to be fixed before PI-3 begins. Only PI-2 has live data today - not yet ready for relevant data.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623560"/>
            <a:ext cx="1115568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Segoe UI"/>
              </a:rPr>
              <a:t>Note: Only PI-2 has live data today. PI-over-PI comparison populates once PI-3 begins (planning during the PI-2 IP iteration, Jul 22 - Aug 4).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51560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Progress: Iteration over Iteration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051560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Is each 2-week sprint building on the last?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PI-2  |  Week of July 8,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3657600" cy="713232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338328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Sprint 2.3</a:t>
            </a:r>
          </a:p>
          <a:p>
            <a:pPr algn="l"/>
            <a:r>
              <a:rPr sz="1000" b="0" i="0">
                <a:solidFill>
                  <a:srgbClr val="E8EEF6"/>
                </a:solidFill>
                <a:latin typeface="Segoe UI"/>
              </a:rPr>
              <a:t>Jun 10 - 23  · 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39112"/>
            <a:ext cx="3657600" cy="2743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30552"/>
            <a:ext cx="33832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1" i="1">
                <a:solidFill>
                  <a:srgbClr val="2E6DB4"/>
                </a:solidFill>
                <a:latin typeface="Segoe UI"/>
              </a:rPr>
              <a:t>Deploy &amp;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06040"/>
            <a:ext cx="333756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- Data Certification dashboard -&gt; PROD (6/23)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36392"/>
            <a:ext cx="333756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- NowAssist accepted: prerequisites, plugin activation, CI summarization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66744"/>
            <a:ext cx="333756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- 11 pts accepted; 23 pts delivered into validation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1325880"/>
            <a:ext cx="3657600" cy="713232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371600"/>
            <a:ext cx="338328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Sprint 2.4</a:t>
            </a:r>
          </a:p>
          <a:p>
            <a:pPr algn="l"/>
            <a:r>
              <a:rPr sz="1000" b="0" i="0">
                <a:solidFill>
                  <a:srgbClr val="E8EEF6"/>
                </a:solidFill>
                <a:latin typeface="Segoe UI"/>
              </a:rPr>
              <a:t>Jun 24 - Jul 7  ·  COMPLETED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2039112"/>
            <a:ext cx="3657600" cy="2743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2130552"/>
            <a:ext cx="33832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1" i="1">
                <a:solidFill>
                  <a:srgbClr val="2E6DB4"/>
                </a:solidFill>
                <a:latin typeface="Segoe UI"/>
              </a:rPr>
              <a:t>CO5 acceptance push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606040"/>
            <a:ext cx="333756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- 9 items / 10 pts accepted: SOX BA review, Airlift exports, CI retirement, NowAssist Duplicate CIs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36392"/>
            <a:ext cx="333756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- Data Dictionaries (Servers/Computers/Biz Apps/DB) delivered to 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666744"/>
            <a:ext cx="333756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- 12 items / 18 pts in validation - largest carry-over pipeline of PI-2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197096"/>
            <a:ext cx="333756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- 3 audit dashboard spikes carried to 2.5 Active (Servers/DB/Computer)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66760" y="1325880"/>
            <a:ext cx="3657600" cy="71323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9640" y="1371600"/>
            <a:ext cx="338328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Sprint 2.5</a:t>
            </a:r>
          </a:p>
          <a:p>
            <a:pPr algn="l"/>
            <a:r>
              <a:rPr sz="1000" b="0" i="0">
                <a:solidFill>
                  <a:srgbClr val="E8EEF6"/>
                </a:solidFill>
                <a:latin typeface="Segoe UI"/>
              </a:rPr>
              <a:t>Jul 8 - Jul 21  ·  ACTIVE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66760" y="2039112"/>
            <a:ext cx="3657600" cy="2743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49640" y="2130552"/>
            <a:ext cx="33832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1" i="1">
                <a:solidFill>
                  <a:srgbClr val="2E6DB4"/>
                </a:solidFill>
                <a:latin typeface="Segoe UI"/>
              </a:rPr>
              <a:t>CO5 acceptance gate + code freeze navigation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2606040"/>
            <a:ext cx="333756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- Scope TBD - 2.5 work items to be confirmed; planning in progress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136392"/>
            <a:ext cx="333756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- Dev code freeze Jul 4-18 constrains first 10 days of sprint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3666744"/>
            <a:ext cx="333756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- Data Dictionary CCB approval target Jul 21 (sprint end)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197096"/>
            <a:ext cx="333756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- 3 audit spikes (Servers/DB/Computer) carried from 2.4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937760"/>
            <a:ext cx="1115568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Segoe UI"/>
              </a:rPr>
              <a:t>Sprint 2.4 delivery - derived from the Jul 8 ADO board (sprint close-out)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257800"/>
            <a:ext cx="2697480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257800"/>
            <a:ext cx="2697480" cy="73152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404104"/>
            <a:ext cx="24231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Segoe UI"/>
              </a:rPr>
              <a:t>On board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715000"/>
            <a:ext cx="242316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Segoe UI"/>
              </a:rPr>
              <a:t>~38 items / ~48 pts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10128" y="5257800"/>
            <a:ext cx="2697480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10128" y="5257800"/>
            <a:ext cx="2697480" cy="7315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47288" y="5404104"/>
            <a:ext cx="24231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Segoe UI"/>
              </a:rPr>
              <a:t>Accepted / Done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47288" y="5715000"/>
            <a:ext cx="242316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Segoe UI"/>
              </a:rPr>
              <a:t>9 items - 10 pts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17336" y="5257800"/>
            <a:ext cx="2697480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17336" y="5257800"/>
            <a:ext cx="2697480" cy="73152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54496" y="5404104"/>
            <a:ext cx="24231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Segoe UI"/>
              </a:rPr>
              <a:t>Delivered, in validation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54496" y="5715000"/>
            <a:ext cx="242316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Segoe UI"/>
              </a:rPr>
              <a:t>12 items - 18 pts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924544" y="5257800"/>
            <a:ext cx="2697480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924544" y="5257800"/>
            <a:ext cx="2697480" cy="73152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61704" y="5404104"/>
            <a:ext cx="24231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Segoe UI"/>
              </a:rPr>
              <a:t>Active / not started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61704" y="5715000"/>
            <a:ext cx="242316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Segoe UI"/>
              </a:rPr>
              <a:t>~17 items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6263640"/>
            <a:ext cx="1115568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Segoe UI"/>
              </a:rPr>
              <a:t>Derived from the Jul 8 ADO board (Sprint 2.4 close-out). Board grew during sprint with retirement cluster and Airlift imports added mid-sprint. 18 pts in validation carry into Sprint 2.5 pending acceptance.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51560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Progress: Week over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051560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What changed in status since the last report?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PI-2  |  Week of July 8,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11556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Segoe UI"/>
              </a:rPr>
              <a:t>Sprint 2.4 closed Jul 7. Reporting continues on the CO5 contractual deliverable frame. Week-over-week deltas reflect movement since the Jun 29 report.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74519"/>
            <a:ext cx="1115568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Segoe UI"/>
              </a:rPr>
              <a:t>Delivered this period (Sprint 2.4 close-out)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40280"/>
            <a:ext cx="2697480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40280"/>
            <a:ext cx="2697480" cy="73152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86584"/>
            <a:ext cx="24231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Segoe UI"/>
              </a:rPr>
              <a:t>On 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97480"/>
            <a:ext cx="242316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Segoe UI"/>
              </a:rPr>
              <a:t>~38 items / ~48 pts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240280"/>
            <a:ext cx="2697480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10128" y="2240280"/>
            <a:ext cx="2697480" cy="7315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47288" y="2386584"/>
            <a:ext cx="24231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Segoe UI"/>
              </a:rPr>
              <a:t>Accepted / Done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7288" y="2697480"/>
            <a:ext cx="242316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Segoe UI"/>
              </a:rPr>
              <a:t>9 items - 10 pts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7336" y="2240280"/>
            <a:ext cx="2697480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17336" y="2240280"/>
            <a:ext cx="2697480" cy="73152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4496" y="2386584"/>
            <a:ext cx="24231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Segoe UI"/>
              </a:rPr>
              <a:t>Delivered, in 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697480"/>
            <a:ext cx="242316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Segoe UI"/>
              </a:rPr>
              <a:t>12 items - 18 pts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24544" y="2240280"/>
            <a:ext cx="2697480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24544" y="2240280"/>
            <a:ext cx="2697480" cy="73152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61704" y="2386584"/>
            <a:ext cx="24231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Segoe UI"/>
              </a:rPr>
              <a:t>Active / not started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1704" y="2697480"/>
            <a:ext cx="242316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Segoe UI"/>
              </a:rPr>
              <a:t>~17 items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383280"/>
            <a:ext cx="1115568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Segoe UI"/>
              </a:rPr>
              <a:t>Key moves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749039"/>
            <a:ext cx="109728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50" b="0" i="0">
                <a:solidFill>
                  <a:srgbClr val="2D2D2D"/>
                </a:solidFill>
                <a:latin typeface="Segoe UI"/>
              </a:rPr>
              <a:t>+  Sprint 2.4 closed (Jul 7) - 9 items / 10 pts accepted: SOX BA review, Airlift exports (PA/KY VMware + PA Physical), bulk CI retirement, NowAssist Duplicate CIs, IRE review spike.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206239"/>
            <a:ext cx="109728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50" b="0" i="0">
                <a:solidFill>
                  <a:srgbClr val="2D2D2D"/>
                </a:solidFill>
                <a:latin typeface="Segoe UI"/>
              </a:rPr>
              <a:t>+  SOX Business Apps (1480105) Closed - CO5 D1 acceptance evidence confirmed.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663439"/>
            <a:ext cx="109728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50" b="0" i="0">
                <a:solidFill>
                  <a:srgbClr val="2D2D2D"/>
                </a:solidFill>
                <a:latin typeface="Segoe UI"/>
              </a:rPr>
              <a:t>+  Data Dictionaries (Servers/Computers/Biz Apps/DB) delivered to Validation - CCB review Jul 7-20, approval target Jul 21.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39"/>
            <a:ext cx="109728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50" b="0" i="0">
                <a:solidFill>
                  <a:srgbClr val="2D2D2D"/>
                </a:solidFill>
                <a:latin typeface="Segoe UI"/>
              </a:rPr>
              <a:t>+  12 items / 18 pts in validation entering Sprint 2.5 - largest carry-over pipeline of PI-2.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669279"/>
            <a:ext cx="1115568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E08A00"/>
                </a:solidFill>
                <a:latin typeface="Segoe UI"/>
              </a:rPr>
              <a:t>Newly closed:  SOX BA review · Airlift exports · CI retirement execution   ·   Newly carried to 2.5:  3 audit spikes (Servers/DB/Computer)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51560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CO5 Deliverable 1 -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051560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Status and detail by deliverable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PI-2  |  Week of July 8,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11155680" cy="13258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45920"/>
            <a:ext cx="1005840" cy="27432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AMBER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600200"/>
            <a:ext cx="95097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Segoe UI"/>
              </a:rPr>
              <a:t>Data Dictionaries (Servers/Computers/Biz Apps/DB)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11680"/>
            <a:ext cx="950976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2D2D2D"/>
                </a:solidFill>
                <a:latin typeface="Segoe UI"/>
              </a:rPr>
              <a:t>All 4 dictionaries in Validation (1480088/090/097/098) - CCB customer review Jul 7-20, approval target Jul 21 (monthly CCB). Databases closes G1 at artifact level.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971800"/>
            <a:ext cx="11155680" cy="13258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154680"/>
            <a:ext cx="1005840" cy="2743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GREEN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108960"/>
            <a:ext cx="95097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Segoe UI"/>
              </a:rPr>
              <a:t>SOX + Data Certification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520440"/>
            <a:ext cx="950976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2D2D2D"/>
                </a:solidFill>
                <a:latin typeface="Segoe UI"/>
              </a:rPr>
              <a:t>SOX BA review (1480105) Closed - CO5 D1 acceptance evidence confirmed. Data Cert pilot (1480099) Ready DoR; dashboard in PROD since 6/23.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480560"/>
            <a:ext cx="11155680" cy="13258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663440"/>
            <a:ext cx="1005840" cy="27432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AMBER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617720"/>
            <a:ext cx="95097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Segoe UI"/>
              </a:rPr>
              <a:t>ESS-02 / Monthly CCB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5029200"/>
            <a:ext cx="950976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2D2D2D"/>
                </a:solidFill>
                <a:latin typeface="Segoe UI"/>
              </a:rPr>
              <a:t>ESS-02 alignment (1480102) and Monthly CCB (1480107) remain Ready DoR - not started; dev-dependent work gated by code freeze (lifts Jul 18). CCB story closes G5.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51560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CO5 Deliverables 2 &amp; 3 - Data Ingestion + Qualys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051560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Status and detail by deliverable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PI-2  |  Week of July 8,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11155680" cy="13258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45920"/>
            <a:ext cx="1005840" cy="27432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AMBER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600200"/>
            <a:ext cx="95097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Segoe UI"/>
              </a:rPr>
              <a:t>Data Ingestion - Airlift inventory + SCCM/Discovery precedence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11680"/>
            <a:ext cx="950976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2D2D2D"/>
                </a:solidFill>
                <a:latin typeface="Segoe UI"/>
              </a:rPr>
              <a:t>Airlift exports (PA/KY VMware + PA Physical) Closed; imports (1487867/868/869) in Validation. Retirement: execute Closed (1487878), validate Active (1487872). SCCM/Discovery precedence reported complete.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971800"/>
            <a:ext cx="11155680" cy="13258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154680"/>
            <a:ext cx="1005840" cy="27432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AMBER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108960"/>
            <a:ext cx="95097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Segoe UI"/>
              </a:rPr>
              <a:t>90% Coverage (Computers G2 / Servers G3 / DB)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520440"/>
            <a:ext cx="950976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2D2D2D"/>
                </a:solidFill>
                <a:latin typeface="Segoe UI"/>
              </a:rPr>
              <a:t>3 audit-dashboard spikes (1480112 Servers, 1480113 DB, 1480114 Computer) carried from 2.4 Active - did not close in sprint. BA spike (1480111) in Validation. No formal 90%-measurement acceptance story yet.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480560"/>
            <a:ext cx="11155680" cy="13258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663440"/>
            <a:ext cx="1005840" cy="27432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AMBER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617720"/>
            <a:ext cx="95097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Segoe UI"/>
              </a:rPr>
              <a:t>Qualys Integration (Other Enhancement)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5029200"/>
            <a:ext cx="950976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2D2D2D"/>
                </a:solidFill>
                <a:latin typeface="Segoe UI"/>
              </a:rPr>
              <a:t>Part 1 (1428703) still Active - did not close in 2.4; dev freeze (Jul 4-18) further delays. Part 2 (1428704) status unconfirmed (G4). CO5 bar = evaluate + document. CO6 (pending signature) delivers full one-way PROD integration (ServiceNow → Qualys) by Sep 30.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51560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Key Milestones &amp; Upcoming Dates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051560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CO5 acceptance critical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PI-2  |  Week of July 8,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1737360" cy="50292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64592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Jul 4-18</a:t>
            </a:r>
          </a:p>
        </p:txBody>
      </p:sp>
      <p:sp>
        <p:nvSpPr>
          <p:cNvPr id="9" name="Rectangle 8"/>
          <p:cNvSpPr/>
          <p:nvPr/>
        </p:nvSpPr>
        <p:spPr>
          <a:xfrm>
            <a:off x="2331720" y="1234440"/>
            <a:ext cx="932688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1234440"/>
            <a:ext cx="905256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50" b="0" i="0">
                <a:solidFill>
                  <a:srgbClr val="2D2D2D"/>
                </a:solidFill>
                <a:latin typeface="Segoe UI"/>
              </a:rPr>
              <a:t>Dev code freeze — ACTIVE NOW; constrains Sprint 2.5 delivery through Jul 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56232"/>
            <a:ext cx="1737360" cy="50292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856232"/>
            <a:ext cx="164592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Jul 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31720" y="1856232"/>
            <a:ext cx="932688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14600" y="1856232"/>
            <a:ext cx="905256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50" b="0" i="0">
                <a:solidFill>
                  <a:srgbClr val="2D2D2D"/>
                </a:solidFill>
                <a:latin typeface="Segoe UI"/>
              </a:rPr>
              <a:t>Sprint 2.4 end ✓ — 9 items / 10 pts accepted; 12 items / 18 pts to validation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478024"/>
            <a:ext cx="1737360" cy="50292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478024"/>
            <a:ext cx="164592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Jul 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31720" y="2478024"/>
            <a:ext cx="932688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14600" y="2478024"/>
            <a:ext cx="905256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50" b="0" i="0">
                <a:solidFill>
                  <a:srgbClr val="2D2D2D"/>
                </a:solidFill>
                <a:latin typeface="Segoe UI"/>
              </a:rPr>
              <a:t>Sprint 2.5 start — CO5 acceptance gate; Data Dictionary CCB push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099816"/>
            <a:ext cx="1737360" cy="50292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099816"/>
            <a:ext cx="164592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Jul 18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31720" y="3099816"/>
            <a:ext cx="932688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14600" y="3099816"/>
            <a:ext cx="905256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50" b="0" i="0">
                <a:solidFill>
                  <a:srgbClr val="2D2D2D"/>
                </a:solidFill>
                <a:latin typeface="Segoe UI"/>
              </a:rPr>
              <a:t>Dev code freeze lifts — ESS-02 / CCB / Qualys work can resume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21608"/>
            <a:ext cx="1737360" cy="50292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721608"/>
            <a:ext cx="164592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Jul 18-Aug 15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3721608"/>
            <a:ext cx="932688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14600" y="3721608"/>
            <a:ext cx="905256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50" b="0" i="0">
                <a:solidFill>
                  <a:srgbClr val="2D2D2D"/>
                </a:solidFill>
                <a:latin typeface="Segoe UI"/>
              </a:rPr>
              <a:t>Test code freeze — overlaps Sprint 2.5 tail and IP iteration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343400"/>
            <a:ext cx="1737360" cy="50292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343400"/>
            <a:ext cx="164592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Jul 21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31720" y="4343400"/>
            <a:ext cx="932688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14600" y="4343400"/>
            <a:ext cx="905256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50" b="0" i="0">
                <a:solidFill>
                  <a:srgbClr val="2D2D2D"/>
                </a:solidFill>
                <a:latin typeface="Segoe UI"/>
              </a:rPr>
              <a:t>Data Dictionary CCB approval (monthly CCB) — critical CO5 D1 gate; Sprint 2.5 end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965192"/>
            <a:ext cx="1737360" cy="50292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965192"/>
            <a:ext cx="164592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Jul 22-Aug 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31720" y="4965192"/>
            <a:ext cx="932688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14600" y="4965192"/>
            <a:ext cx="905256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50" b="0" i="0">
                <a:solidFill>
                  <a:srgbClr val="2D2D2D"/>
                </a:solidFill>
                <a:latin typeface="Segoe UI"/>
              </a:rPr>
              <a:t>IP Iteration — PI-3 planning begins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586984"/>
            <a:ext cx="1737360" cy="50292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586984"/>
            <a:ext cx="164592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Aug 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331720" y="5586984"/>
            <a:ext cx="932688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14600" y="5586984"/>
            <a:ext cx="905256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50" b="0" i="0">
                <a:solidFill>
                  <a:srgbClr val="2D2D2D"/>
                </a:solidFill>
                <a:latin typeface="Segoe UI"/>
              </a:rPr>
              <a:t>PI-3 begins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51560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Risks &amp; Leadership Asks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051560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Where we need help to stay on track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PI-2  |  Week of July 8, 2026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80160"/>
          <a:ext cx="1115567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05840"/>
                <a:gridCol w="4023360"/>
                <a:gridCol w="3749039"/>
              </a:tblGrid>
              <a:tr h="70104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Risk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Severity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Detail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Ask of Leadership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3A5F"/>
                          </a:solidFill>
                          <a:latin typeface="Segoe UI"/>
                        </a:rPr>
                        <a:t>CO6 pending execution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HIGH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2D2D2D"/>
                          </a:solidFill>
                          <a:latin typeface="Segoe UI"/>
                        </a:rPr>
                        <a:t>CO6 unsigned as of Jul 8; signature expected this week. Effective Jun 30 retroactively when signed. $2.7M, 9 workstreams through Oct 30: Network Discovery, Service Mapping, Qualys PROD (Sep 30), CMDB Governance (Data Cert expanded), Legacy Rationalization, ITSM PO, ATF Strategy, Platform Support, NERC-CIP Strategy. $533,775 June holdback stands until signed.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2D2D2D"/>
                          </a:solidFill>
                          <a:latin typeface="Segoe UI"/>
                        </a:rPr>
                        <a:t>Execute CO6 this week. Confirm with Christian / Aaron Simeon — effective date is already Jun 30; delay only extends holdback exposure.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3A5F"/>
                          </a:solidFill>
                          <a:latin typeface="Segoe UI"/>
                        </a:rPr>
                        <a:t>Dev code freeze Jul 4-18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HIGH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2D2D2D"/>
                          </a:solidFill>
                          <a:latin typeface="Segoe UI"/>
                        </a:rPr>
                        <a:t>Freeze is currently active - spans first 10 days of Sprint 2.5. Dev-dependent CO5 items (ESS-02, CCB story, Qualys Part 1) cannot land until Jul 18.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2D2D2D"/>
                          </a:solidFill>
                          <a:latin typeface="Segoe UI"/>
                        </a:rPr>
                        <a:t>Awareness; prioritize validation and documentation work in 2.5 through Jul 18.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3A5F"/>
                          </a:solidFill>
                          <a:latin typeface="Segoe UI"/>
                        </a:rPr>
                        <a:t>3 audit dashboard spikes incomplete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MEDIUM</a:t>
                      </a:r>
                    </a:p>
                  </a:txBody>
                  <a:tcPr>
                    <a:solidFill>
                      <a:srgbClr val="E08A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2D2D2D"/>
                          </a:solidFill>
                          <a:latin typeface="Segoe UI"/>
                        </a:rPr>
                        <a:t>Servers (1480112), Database (1480113), Computer (1480114) audit spikes carried into 2.5 Active - did not close in 2.4. G2/G3 coverage measurement evidence incomplete.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2D2D2D"/>
                          </a:solidFill>
                          <a:latin typeface="Segoe UI"/>
                        </a:rPr>
                        <a:t>Prioritize spike completion in 2.5; required before 90%-coverage acceptance stories can be created.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3A5F"/>
                          </a:solidFill>
                          <a:latin typeface="Segoe UI"/>
                        </a:rPr>
                        <a:t>90% coverage acceptance gap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MEDIUM</a:t>
                      </a:r>
                    </a:p>
                  </a:txBody>
                  <a:tcPr>
                    <a:solidFill>
                      <a:srgbClr val="E08A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2D2D2D"/>
                          </a:solidFill>
                          <a:latin typeface="Segoe UI"/>
                        </a:rPr>
                        <a:t>No formal 90%-measurement acceptance story for Computers (G2) or Servers (G3). Audit spikes must complete first; stories must then be created and accepted.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2D2D2D"/>
                          </a:solidFill>
                          <a:latin typeface="Segoe UI"/>
                        </a:rPr>
                        <a:t>Endorse creating coverage-measurement acceptance stories once spikes close.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3A5F"/>
                          </a:solidFill>
                          <a:latin typeface="Segoe UI"/>
                        </a:rPr>
                        <a:t>Deprioritized streams stranded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LOW</a:t>
                      </a:r>
                    </a:p>
                  </a:txBody>
                  <a:tcPr>
                    <a:solidFill>
                      <a:srgbClr val="2E8B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2D2D2D"/>
                          </a:solidFill>
                          <a:latin typeface="Segoe UI"/>
                        </a:rPr>
                        <a:t>Service Mapping, Network Discovery, and NowAssist phases 2-5 remain paused. Test freeze (Jul 18-Aug 15) further limits resumption window.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2D2D2D"/>
                          </a:solidFill>
                          <a:latin typeface="Segoe UI"/>
                        </a:rPr>
                        <a:t>Confirm resumption plan after CO5 acceptance; sequence around test freeze.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51560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051560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CO5 acceptance, CO6 gap closure, and resuming paused streams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PI-2  |  Week of July 8,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109728" cy="4572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54480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0" i="0">
                <a:solidFill>
                  <a:srgbClr val="2D2D2D"/>
                </a:solidFill>
                <a:latin typeface="Segoe UI"/>
              </a:rPr>
              <a:t>Execute CO6 this week (effective Jun 30 retroactively) — $2.7M, 9 workstreams through Oct 30; releases $533,775 holdback.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377440"/>
            <a:ext cx="109728" cy="4572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0" i="0">
                <a:solidFill>
                  <a:srgbClr val="2D2D2D"/>
                </a:solidFill>
                <a:latin typeface="Segoe UI"/>
              </a:rPr>
              <a:t>Secure Data Dictionary CCB approval Jul 21 — critical CO5 D1 gate; validation window Jul 7-20.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154680"/>
            <a:ext cx="109728" cy="4572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108960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0" i="0">
                <a:solidFill>
                  <a:srgbClr val="2D2D2D"/>
                </a:solidFill>
                <a:latin typeface="Segoe UI"/>
              </a:rPr>
              <a:t>Complete 3 audit dashboard spikes (Servers/DB/Computer) in 2.5 — prerequisite for G2/G3 acceptance stories.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931920"/>
            <a:ext cx="109728" cy="4572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886200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0" i="0">
                <a:solidFill>
                  <a:srgbClr val="2D2D2D"/>
                </a:solidFill>
                <a:latin typeface="Segoe UI"/>
              </a:rPr>
              <a:t>Progress ESS-02 (1480102) and Monthly CCB (1480107) off Ready DoR — code freeze lifts Jul 18.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709160"/>
            <a:ext cx="109728" cy="4572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0" i="0">
                <a:solidFill>
                  <a:srgbClr val="2D2D2D"/>
                </a:solidFill>
                <a:latin typeface="Segoe UI"/>
              </a:rPr>
              <a:t>Confirm Qualys Part 1 (1428703) path to completion; CO6 delivers full PROD integration by Sep 30.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486400"/>
            <a:ext cx="109728" cy="4572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440680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0" i="0">
                <a:solidFill>
                  <a:srgbClr val="2D2D2D"/>
                </a:solidFill>
                <a:latin typeface="Segoe UI"/>
              </a:rPr>
              <a:t>Begin CO6 workstream onboarding: Network Discovery, Service Mapping, ITSM PO, Platform Support, Legacy Rationalization.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51560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051560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Story-level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PI-2  |  Week of July 8,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1097280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1" i="0">
                <a:solidFill>
                  <a:srgbClr val="2D2D2D"/>
                </a:solidFill>
                <a:latin typeface="Segoe UI"/>
              </a:rPr>
              <a:t>Full traceability is maintained in the team's working notes:</a:t>
            </a:r>
          </a:p>
          <a:p>
            <a:pPr algn="l"/>
            <a:r>
              <a:rPr sz="800" b="0" i="0">
                <a:solidFill>
                  <a:srgbClr val="2D2D2D"/>
                </a:solidFill>
                <a:latin typeface="Segoe UI"/>
              </a:rPr>
              <a:t/>
            </a:r>
          </a:p>
          <a:p>
            <a:pPr algn="l"/>
            <a:r>
              <a:rPr sz="1200" b="0" i="0">
                <a:solidFill>
                  <a:srgbClr val="2E6DB4"/>
                </a:solidFill>
                <a:latin typeface="Segoe UI"/>
              </a:rPr>
              <a:t>- CO5 deliverable traceability:  co5-deliverable-tracking.md</a:t>
            </a:r>
          </a:p>
          <a:p>
            <a:pPr algn="l"/>
            <a:r>
              <a:rPr sz="1200" b="0" i="0">
                <a:solidFill>
                  <a:srgbClr val="2E6DB4"/>
                </a:solidFill>
                <a:latin typeface="Segoe UI"/>
              </a:rPr>
              <a:t>- Objectives -&gt; Features -&gt; Stories:  PI-2/pi2-objectives-features-stories.md</a:t>
            </a:r>
          </a:p>
          <a:p>
            <a:pPr algn="l"/>
            <a:r>
              <a:rPr sz="1200" b="0" i="0">
                <a:solidFill>
                  <a:srgbClr val="2E6DB4"/>
                </a:solidFill>
                <a:latin typeface="Segoe UI"/>
              </a:rPr>
              <a:t>- Activity by Iteration (2.1 - 2.4):  PI-2/pi2-iteration-activity.md</a:t>
            </a:r>
          </a:p>
          <a:p>
            <a:pPr algn="l"/>
            <a:r>
              <a:rPr sz="1200" b="0" i="0">
                <a:solidFill>
                  <a:srgbClr val="2E6DB4"/>
                </a:solidFill>
                <a:latin typeface="Segoe UI"/>
              </a:rPr>
              <a:t>- Program Backlog Review notes:  PI-2/Program-Backlog-Review/</a:t>
            </a:r>
          </a:p>
          <a:p>
            <a:pPr algn="l"/>
            <a:r>
              <a:rPr sz="800" b="0" i="0">
                <a:solidFill>
                  <a:srgbClr val="2D2D2D"/>
                </a:solidFill>
                <a:latin typeface="Segoe UI"/>
              </a:rPr>
              <a:t/>
            </a:r>
          </a:p>
          <a:p>
            <a:pPr algn="l"/>
            <a:r>
              <a:rPr sz="1100" b="0" i="1">
                <a:solidFill>
                  <a:srgbClr val="6B7280"/>
                </a:solidFill>
                <a:latin typeface="Segoe UI"/>
              </a:rPr>
              <a:t>This deck is regenerated weekly from build_status_deck.py.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