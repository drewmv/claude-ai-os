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CMDB-CSDM Delivery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0" i="0">
                <a:solidFill>
                  <a:srgbClr val="C9D6E6"/>
                </a:solidFill>
                <a:latin typeface="Segoe UI"/>
              </a:rPr>
              <a:t>Weekly Leadership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106984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PI-2  ·  Iteration 2.4  (Jun 24 - Jul 7)</a:t>
            </a:r>
          </a:p>
          <a:p>
            <a:pPr algn="l"/>
            <a:r>
              <a:rPr sz="1400" b="0" i="0">
                <a:solidFill>
                  <a:srgbClr val="C9D6E6"/>
                </a:solidFill>
                <a:latin typeface="Segoe UI"/>
              </a:rPr>
              <a:t>Week of June 29, 2026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How to Read This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Reframed around the 3 CO5 contractual deliverables per the 6/29 CO5 Deliverable Alignment. Sub-item states from the 6/30 ADO board. Sprint 2.3 velocity derived from the board - committed-vs-accepted was not captured at the ceremony.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  <a:latin typeface="Segoe UI"/>
              </a:rPr>
              <a:t>Three progress lenses, refreshed every week: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  <a:latin typeface="Segoe UI"/>
              </a:rPr>
              <a:t>PI over PI</a:t>
            </a:r>
          </a:p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Are we delivering more value each Program Increment?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  <a:latin typeface="Segoe UI"/>
              </a:rPr>
              <a:t>Iteration over Iteration</a:t>
            </a:r>
          </a:p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Is each 2-week sprint building on the last?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  <a:latin typeface="Segoe UI"/>
              </a:rPr>
              <a:t>Week over Week</a:t>
            </a:r>
          </a:p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What concretely moved since the last report?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0624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Segoe UI"/>
              </a:rPr>
              <a:t>Status legend: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617720"/>
            <a:ext cx="4572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On track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2920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29200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Progressing, with watch items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40680"/>
            <a:ext cx="100584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440680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Blocked / needs intervention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Iteration 2.4  (Jun 24 - Jul 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29,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475488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CO5 FOCUS - ACCEPTANCE TIMELINE AT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11556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Sprint 2.4 was re-pointed entirely at the CO5 contractual deliverables per the 6/29 alignment; Service Mapping, Airlift, NowAssist and Network Discovery were temporarily deprioritized. Delivery is real - Sprint 2.3 closed 11 accepted points with a further 23 points delivered and now in validation - but most CO5 acceptance dates land after the 6/30 contractual deadline (Data Dictionary CCB approval 7/21). The $533,775 June holdback stands unless CO6 is executed. Qualys Part 2 and the 90%-coverage acceptance stories remain open gaps.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Segoe UI"/>
              </a:rPr>
              <a:t>Wins this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5486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+  Sprint 2.3 closed - 11 pts accepted (7 items): NowAssist activation (prereqs/plugin/CI summarization), Data Cert pilot changes, Virtual Computer auto-population, Virtual Location Mgmt, Data Cert KB article.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67328"/>
            <a:ext cx="5486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+  Data Certification dashboard deployed to PROD (6/23); Todd validation 6/24-25 - strongest CO5 acceptance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17136"/>
            <a:ext cx="5486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+  Sprint 2.4 re-pointed entirely to CO5: 30 items / 45 pts across the 3 contractual deliverables; Data Dictionaries in 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66944"/>
            <a:ext cx="5486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+  Qualys Part 1 unblocked - vendor plugin approval landed; plugin install (1428703) now Active.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5176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Segoe UI"/>
              </a:rPr>
              <a:t>Needs leadership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17520"/>
            <a:ext cx="53035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!  CO5 acceptance vs. 6/30 deadline - Confirm CO6 execution (re-baselines the open gaps to Jul 31 - Oct 30) or agree an acceptance / holdback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67328"/>
            <a:ext cx="53035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!  Qualys Part 2 unconfirmed - Confirm Part 2 status with Rich Santillo / Stan; close or formally defer to CO6.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17136"/>
            <a:ext cx="53035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!  Dev code freeze Jul 4-18 - Awareness; sequence CO5 dev deployments before Jul 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CO5 Deliverables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The 3 contractual deliverables  ·  sub-items = moving / in-scope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29,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3657600" cy="65836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25296"/>
            <a:ext cx="3291840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D1   Governance - Data Dictionary, Data Cert, ESS-02, SOX, CCB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32918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212848"/>
            <a:ext cx="22860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sub-items in scope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8 moving  ·  0 stuck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329184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Segoe UI"/>
              </a:rPr>
              <a:t>8 acceptance stories under Feature 1480087; Data Dictionaries (Servers/Computers/Biz Apps/DB) in Validation; G1 (Databases) &amp; G5 (CCB) closed at artifact level; DD CCB approval targets 7/21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18872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188720"/>
            <a:ext cx="3657600" cy="65836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225296"/>
            <a:ext cx="3291840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D2   Automated Data Ingestion - Computers / Servers / Databases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938528"/>
            <a:ext cx="32918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212848"/>
            <a:ext cx="22860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sub-items in scope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3 moving  ·  0 stuck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880360"/>
            <a:ext cx="329184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Segoe UI"/>
              </a:rPr>
              <a:t>SCCM/Discovery precedence reported complete (email); 90% coverage is the gap - Computer (G2) &amp; Server (G3) audit-dashboard spikes + inventory/retirement cluster in flight; no formal 90%-measurement acceptance story yet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118872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1188720"/>
            <a:ext cx="3657600" cy="65836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225296"/>
            <a:ext cx="3291840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D3   Other Enhancement - Evaluate Qualys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1938528"/>
            <a:ext cx="32918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212848"/>
            <a:ext cx="22860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sub-items in scope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1 moving  ·  1 stuck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880360"/>
            <a:ext cx="329184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Segoe UI"/>
              </a:rPr>
              <a:t>Part 1 (1428703) unblocked and Active after vendor-plugin approval; Part 2 (1428704) status unconfirmed (G4); CO5 bar = evaluate + document one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44768"/>
            <a:ext cx="11201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Scorecard reframed to CO5 contractual deliverables per the 6/29 alignment. Sub-item states from the 6/30 ADO board. No CO5-relevant story is confirmed Done as of the board; closest to acceptance is the Data Certification dashboard (PROD 6/23).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Progress: PI over 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Are we delivering more value each Program Increment?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29,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3108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8640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PI-2   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02920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Segoe UI"/>
              </a:rPr>
              <a:t>May 13 - Aug 4, 2026</a:t>
            </a:r>
          </a:p>
          <a:p>
            <a:pPr algn="l"/>
            <a:r>
              <a:rPr sz="1200" b="0" i="1">
                <a:solidFill>
                  <a:srgbClr val="6B7280"/>
                </a:solidFill>
                <a:latin typeface="Segoe UI"/>
              </a:rPr>
              <a:t>Iteration 2.4 of 6</a:t>
            </a:r>
          </a:p>
          <a:p>
            <a:pPr algn="l"/>
            <a:r>
              <a:rPr sz="6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Sprint 2.4 re-pointed to CO5 acceptance; first PROD deployment landed (Data Certification, 6/23)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3108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8640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PI-3  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502920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Segoe UI"/>
              </a:rPr>
              <a:t>Aug 5 - Oct 27, 2026</a:t>
            </a:r>
          </a:p>
          <a:p>
            <a:pPr algn="l"/>
            <a:r>
              <a:rPr sz="1200" b="0" i="1">
                <a:solidFill>
                  <a:srgbClr val="6B7280"/>
                </a:solidFill>
                <a:latin typeface="Segoe UI"/>
              </a:rPr>
              <a:t>Planning Jul 22 - Aug 4</a:t>
            </a:r>
          </a:p>
          <a:p>
            <a:pPr algn="l"/>
            <a:r>
              <a:rPr sz="6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CO6 gap closure (if signed), NowAssist rollout, Qualys full integration, CI Cert extended 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17720"/>
            <a:ext cx="1115568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617720"/>
            <a:ext cx="109728" cy="86868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" y="4764024"/>
            <a:ext cx="155448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PENDING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736592"/>
            <a:ext cx="896112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PI-over-PI comparison 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184648"/>
            <a:ext cx="10652760" cy="2103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Segoe UI"/>
              </a:rPr>
              <a:t>Comparison basis (objectives completed / business value delivered / stories accepted per PI) to be fixed before PI-3 begins. Only PI-2 has live data today - not yet ready for relevant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Segoe UI"/>
              </a:rPr>
              <a:t>Note: Only PI-2 has live data today. PI-over-PI comparison populates once PI-3 begins (planning during the PI-2 IP iteration).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Progress: Iteration over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Is each 2-week sprint building on the last?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29,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657600" cy="7132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33832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Sprint 2.2</a:t>
            </a:r>
          </a:p>
          <a:p>
            <a:pPr algn="l"/>
            <a:r>
              <a:rPr sz="1000" b="0" i="0">
                <a:solidFill>
                  <a:srgbClr val="E8EEF6"/>
                </a:solidFill>
                <a:latin typeface="Segoe UI"/>
              </a:rPr>
              <a:t>May 27 - Jun 9  ·  COMPLETED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39112"/>
            <a:ext cx="365760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1">
                <a:solidFill>
                  <a:srgbClr val="2E6DB4"/>
                </a:solidFill>
                <a:latin typeface="Segoe UI"/>
              </a:rPr>
              <a:t>SCCM precedence &amp; unblocking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SCCM locked as authoritative for 6 hardware attributes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36392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Service Mapping credentials resolved (6/9)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66744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Airlift dev admin access resolved (6/9)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97096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NowAssist activation stories created &amp; assigned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325880"/>
            <a:ext cx="3657600" cy="7132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371600"/>
            <a:ext cx="33832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Sprint 2.3</a:t>
            </a:r>
          </a:p>
          <a:p>
            <a:pPr algn="l"/>
            <a:r>
              <a:rPr sz="1000" b="0" i="0">
                <a:solidFill>
                  <a:srgbClr val="E8EEF6"/>
                </a:solidFill>
                <a:latin typeface="Segoe UI"/>
              </a:rPr>
              <a:t>Jun 10 - 23  ·  COMPLETED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39112"/>
            <a:ext cx="365760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130552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1">
                <a:solidFill>
                  <a:srgbClr val="2E6DB4"/>
                </a:solidFill>
                <a:latin typeface="Segoe UI"/>
              </a:rPr>
              <a:t>Deploy &amp;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06040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Data Certification dashboard -&gt; PROD (6/23); Todd validating 6/24-25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36392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NowAssist accepted: prerequisites, plugin activation, CI summarization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666744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SCCM server precedence set delivered to validation; approval gate cleared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197096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- 11 pts accepted; 23 pts delivered into validation (see velocity below)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1325880"/>
            <a:ext cx="3657600" cy="71323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1371600"/>
            <a:ext cx="33832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Sprint 2.4</a:t>
            </a:r>
          </a:p>
          <a:p>
            <a:pPr algn="l"/>
            <a:r>
              <a:rPr sz="1000" b="0" i="0">
                <a:solidFill>
                  <a:srgbClr val="E8EEF6"/>
                </a:solidFill>
                <a:latin typeface="Segoe UI"/>
              </a:rPr>
              <a:t>Jun 24 - Jul 7  ·  ACTIVE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2039112"/>
            <a:ext cx="365760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130552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1">
                <a:solidFill>
                  <a:srgbClr val="2E6DB4"/>
                </a:solidFill>
                <a:latin typeface="Segoe UI"/>
              </a:rPr>
              <a:t>CO5 acceptance push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606040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Sprint re-pointed entirely to CO5 - 30 items / 45 pts across 3 deliverables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136392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Data Dictionaries (Servers/Computers/Biz Apps/DB) in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666744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- 90%-coverage audit spikes + inventory/retirement cluster in flight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197096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Qualys Part 1 unblocked; Service Mapping/Airlift/NowAssist paused for CO5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93776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Sprint 2.3 delivery - derived from the 6/30 ADO 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5780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257800"/>
            <a:ext cx="2697480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04104"/>
            <a:ext cx="2423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On 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715000"/>
            <a:ext cx="24231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30 items - 44 pts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0128" y="525780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0128" y="5257800"/>
            <a:ext cx="269748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47288" y="5404104"/>
            <a:ext cx="2423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Accepted / Done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47288" y="5715000"/>
            <a:ext cx="24231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7 items - 11 pts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17336" y="525780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17336" y="5257800"/>
            <a:ext cx="2697480" cy="7315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4496" y="5404104"/>
            <a:ext cx="2423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Delivered, in 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54496" y="5715000"/>
            <a:ext cx="24231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13 items - 23 pts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24544" y="525780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24544" y="5257800"/>
            <a:ext cx="2697480" cy="7315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61704" y="5404104"/>
            <a:ext cx="2423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In progress / backlog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5715000"/>
            <a:ext cx="24231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10 items - 10 pts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Derived from the 6/30 ADO board - a committed-vs-accepted baseline was not captured at the 2.3 ceremony, and this is a post-sprint snapshot, so the 23-pt validation tail is delivered work that carried into 2.4 pending acceptance.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Progress: Week over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What changed in status since the last report?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Segoe UI"/>
              </a:rPr>
              <a:t>Reporting reframed this edition - from 6 PI objectives to 3 CO5 contractual deliverables. Objective-level week-over-week deltas reset to the CO5 baseline and resume next edition.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Delivered this period (Sprint 2.3 close-out)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2697480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86584"/>
            <a:ext cx="2423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On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24231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30 items - 44 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24028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2240280"/>
            <a:ext cx="269748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2386584"/>
            <a:ext cx="2423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Accepted /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697480"/>
            <a:ext cx="24231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7 items - 11 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224028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2240280"/>
            <a:ext cx="2697480" cy="7315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386584"/>
            <a:ext cx="2423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Delivered, in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697480"/>
            <a:ext cx="24231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13 items - 23 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24544" y="224028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24544" y="2240280"/>
            <a:ext cx="2697480" cy="7315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1704" y="2386584"/>
            <a:ext cx="2423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In progress / backlog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2697480"/>
            <a:ext cx="24231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10 items - 10 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8328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Key moves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+  Data Certification dashboard -&gt; PROD (Jun 23) - first PROD deployment; delivery tracking now live.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206239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+  NowAssist activation accepted: prerequisites Closed, plugin + CI summarization Resolved.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663439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+  SCCM server precedence set (1403759/760/762/763) delivered to Validation.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0639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+  Sprint 2.4 re-pointed to CO5 - 30 items / 45 pts across the 3 contractual deliverables.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669279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Segoe UI"/>
              </a:rPr>
              <a:t>Newly unblocked:  Qualys Part 1 (vendor plugin approval landed)   ·   Newly blocked:  none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CO5 Deliverable 1 -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Status and detail by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29,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600200"/>
            <a:ext cx="9509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Data Dictionaries (Servers/Computers/Biz Apps/DB)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11680"/>
            <a:ext cx="95097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Four class dictionaries in Validation under Feature 1480087 (1480088/090/097/098). Databases closes gap G1 at artifact level. CCB review 7/7-7/20, approval target 7/21.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7180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154680"/>
            <a:ext cx="1005840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08960"/>
            <a:ext cx="9509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Data Certification (pilot)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520440"/>
            <a:ext cx="95097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Dashboard deployed to PROD 6/23 (Todd validating 6/24-25) - strongest acceptance evidence. Pilot story 1480099 Ready DoR.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8056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66344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617720"/>
            <a:ext cx="9509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ESS-02 / SOX / Monthly CCB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029200"/>
            <a:ext cx="95097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ESS-02 alignment (1480102) validation chain 7/1-7/7 with Jason Dubreuil. SOX BA review (1480105) + Monthly CCB (1480107, closes G5) Ready DoR; PM validation with Sonika 6/30.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CO5 Deliverables 2 &amp; 3 - Data Ingestion + Qualys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Status and detail by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29,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1005840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600200"/>
            <a:ext cx="9509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Data Ingestion - SCCM/Discovery precedence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11680"/>
            <a:ext cx="95097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Computers/Servers/Databases SCCM &amp; Discovery precedence reported complete (6/29 email); SCCM server precedence set (1403759/760/762/763) in validation.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7180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15468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08960"/>
            <a:ext cx="9509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90% Coverage (Computers G2 / Servers G3 / DB)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520440"/>
            <a:ext cx="95097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Audit-dashboard spikes (1480112/114/113) + inventory &amp; bulk-retirement cluster in flight. Gap: no formal 90%-measurement acceptance story for CCB sign-off.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8056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66344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617720"/>
            <a:ext cx="9509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Qualys Integration (Other Enhancement)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029200"/>
            <a:ext cx="95097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Part 1 (1428703) unblocked and Active after vendor approval; Part 2 (1428704) unconfirmed (G4). CO5 bar = evaluate + document one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Key Milestones &amp; Upcoming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CO5 acceptance critical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29,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Jun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234440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234440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Sprint 2.3 end + Data Certification dashboard PROD deployment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56232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56232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Jun 24-25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856232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856232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Todd validates Data Certification in PROD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78024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78024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Jun 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2478024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478024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CO5 Deliverable Alignment; Data Certification pilot start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99816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99816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Jun 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3099816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099816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CO5 contractual deadline; Data Dictionary finalize; SOX + CCB PM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21608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21608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Jul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3721608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721608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Data Dictionary customer validation (Sonika)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43400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Jul 4-18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4343400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4343400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Dev code freeze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965192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65192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Jul 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4965192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4965192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Sprint 2.4 end; data/audit cleanup target (aggressive)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586984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586984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Jul 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31720" y="5586984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14600" y="5586984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Data Dictionary CCB approval (monthly CCB)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Risks &amp; Leadership 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Where we need help to stay on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29,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7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4023360"/>
                <a:gridCol w="3749039"/>
              </a:tblGrid>
              <a:tr h="7010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Severity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Ask of Leadership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CO5 acceptance vs. 6/30 deadline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Most CO5 acceptance dates fall after the 6/30 contractual deadline (Data Dictionary CCB approval 7/21). $533,775 of June fees held back until final acceptance.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Confirm CO6 execution (re-baselines the open gaps to Jul 31 - Oct 30) or agree an acceptance / holdback plan.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Qualys Part 2 unconfirmed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Part 1 (1428703) unblocked and Active; Part 2 (1428704) configure step status unconfirmed (gap G4).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Confirm Part 2 status with Rich Santillo / Stan; close or formally defer to CO6.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Dev code freeze Jul 4-18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Freeze spans the tail of Sprint 2.4; CO5 dev-dependent work must land before Jul 4 or wait until Jul 18.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Awareness; sequence CO5 dev deployments before Jul 4.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90% coverage acceptance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Computers (G2) and Servers (G3) have validation spikes but no formal 90%-measurement acceptance story for CCB sign-off.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Endorse creating coverage-measurement acceptance stories.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Deprioritized streams stranded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Service Mapping, Airlift, NowAssist and Network Discovery paused for CO5; backlog stranded across prior sprints.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Confirm the resumption plan after CO5 acceptance.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CO5 acceptance, CO6 gap closure, and resuming paused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29,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Secure CO5 acceptance evidence for the CMDB CCB (Data Dictionary approval target Jul 21).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Confirm CO6 signature to re-baseline the 5 open gaps (Jul 31 -&gt; Oct 30).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5468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Close Qualys Part 2 (1428704) or formally defer to CO6.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3192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Create 90%-coverage acceptance stories for Computers and Servers.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70916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Resume Service Mapping / Airlift / NowAssist after CO5 acceptance; sequence around code freezes (Dev Jul 4-18, Test Jul 18-Aug 15).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Story-level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29,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097280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Segoe UI"/>
              </a:rPr>
              <a:t>Full traceability is maintained in the team's working notes:</a:t>
            </a:r>
          </a:p>
          <a:p>
            <a:pPr algn="l"/>
            <a:r>
              <a:rPr sz="8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200" b="0" i="0">
                <a:solidFill>
                  <a:srgbClr val="2E6DB4"/>
                </a:solidFill>
                <a:latin typeface="Segoe UI"/>
              </a:rPr>
              <a:t>- CO5 deliverable traceability:  co5-deliverable-tracking.md</a:t>
            </a:r>
          </a:p>
          <a:p>
            <a:pPr algn="l"/>
            <a:r>
              <a:rPr sz="1200" b="0" i="0">
                <a:solidFill>
                  <a:srgbClr val="2E6DB4"/>
                </a:solidFill>
                <a:latin typeface="Segoe UI"/>
              </a:rPr>
              <a:t>- Objectives -&gt; Features -&gt; Stories:  PI-2/pi2-objectives-features-stories.md</a:t>
            </a:r>
          </a:p>
          <a:p>
            <a:pPr algn="l"/>
            <a:r>
              <a:rPr sz="1200" b="0" i="0">
                <a:solidFill>
                  <a:srgbClr val="2E6DB4"/>
                </a:solidFill>
                <a:latin typeface="Segoe UI"/>
              </a:rPr>
              <a:t>- Activity by Iteration (2.1 - 2.4):  PI-2/pi2-iteration-activity.md</a:t>
            </a:r>
          </a:p>
          <a:p>
            <a:pPr algn="l"/>
            <a:r>
              <a:rPr sz="1200" b="0" i="0">
                <a:solidFill>
                  <a:srgbClr val="2E6DB4"/>
                </a:solidFill>
                <a:latin typeface="Segoe UI"/>
              </a:rPr>
              <a:t>- Program Backlog Review notes:  PI-2/Program-Backlog-Review/</a:t>
            </a:r>
          </a:p>
          <a:p>
            <a:pPr algn="l"/>
            <a:r>
              <a:rPr sz="8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100" b="0" i="1">
                <a:solidFill>
                  <a:srgbClr val="6B7280"/>
                </a:solidFill>
                <a:latin typeface="Segoe UI"/>
              </a:rPr>
              <a:t>This deck is regenerated weekly from build_status_deck.py.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