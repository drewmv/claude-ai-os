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PI-3 Objectives -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5146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C9D6E6"/>
                </a:solidFill>
                <a:latin typeface="Segoe UI"/>
              </a:rPr>
              <a:t>Proposed objectives for PI Planning  ·  SMART, CO6-aligned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7 proposed objectives  ·  SMART  ·  committed &amp; stretch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PI-3 window: Aug 5 - Oct 27, 2026   ·   for PI Planning (Jul 22 - Aug 4)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89788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1">
                <a:solidFill>
                  <a:srgbClr val="7F8CA6"/>
                </a:solidFill>
                <a:latin typeface="Segoe UI"/>
              </a:rPr>
              <a:t>Proposed for planning discussion - Business Value set by Business Owners; committed vs. stretch confirmed at PI Planning.  Grounded in CO6 v3 (authoritative).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PI-3 Objectives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7 objectives  ·  ordered by priority  ·  committed &amp; stretch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383280"/>
                <a:gridCol w="3566160"/>
                <a:gridCol w="1097280"/>
                <a:gridCol w="1371600"/>
                <a:gridCol w="1280160"/>
              </a:tblGrid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Objective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Measurable target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Gate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Commit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Sustain ServiceNow Platform Operations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40 pts/member/sprint · ATF plan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Activate Qualys Integration in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Live in PROD · scheduled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Committed*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Expand CI Data Certification (all classes)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 CI classes certified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Automate Network Device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0 failed auth · &gt;=90%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Mixed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Build Service Maps (priority apps)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15 Silver + Gold · &gt;=75% inventory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Stretch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Deliver NERC-CIP Platform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Evaluation + exec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Committed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6B7280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Define &amp; Begin Legacy Rationalization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4-platform analysis · plan · Oct exec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Mixed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* Obj 2 committable only if the Qualys plugin is confirmed available.  Mixed = the later gate is a stretch (Obj 4 90% coverage; Obj 7 Oct execution).  Proposed for planning discussion - Business Value set by Business Owners; committed vs. stretch confirmed at PI Planning.  Grounded in CO6 v3 (authoritative).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1  -  Sustain ServiceNow Platform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P0   ·  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Sustain BAU delivery at 40 completed story points per team member per sprint across every PI-3 sprint, publish monthly sprint-allocation reports, and publish an ATF rollout plan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BAU support + ITSM PO coverage + ATF plan, scoped to production ITSM / CMDB modules.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40 pts/member/sprint (PTO-adjusted); monthly allocation reports; 1 ATF plan (all prod capabilities in use as of Jul 31).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Achievable if the Platform Support team is staffed at PI start with a PI-2 velocity baseline.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The delivery engine for the whole PI - if capacity drops, every objective slips. (CO6 Platform Support + ITSM PO + ATF.)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Per sprint through PI-3; ATF plan by Oct 30.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Per sprint - 40 pts/member  ·  Monthly - allocation reports  ·  Oct 30 - ATF rollout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Pin '40 pts' to your actual estimation unit; lock the team roster + PI-2 velocity baseline before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2  -  Activate Qualys Integration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P1   ·   Committed (contingent on Qualys plugin)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Configure, test, and deploy the one-way ServiceNow -&gt; Qualys integration to production by Sep 30, syncing CI owner, support group, and SOX flag on a defined schedule with zero manual handoffs.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One integration, explicit direction (ServiceNow -&gt; Qualys) and fields (owner, support group, SOX flag).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Live in PROD; scheduled sync; 0 manual handoffs; 0 data-loss / transformation errors.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AT RISK - stories 1428703 / 1428704 are blocked on the Qualys vendor plugin.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Highest contractual visibility; carries CO5 -&gt; CO6; security / vulnerability posture.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Sep 30 - single mid-PI gate, leaving recovery room.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Sep 30 - integration live in PROD, scheduled sync, 0 manual handoffs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Confirm the Qualys plugin is available (Stan / Rich Santillo) before planning. If unconfirmed, split: non-prod build (commit) vs. PROD go-live (stretch). Reconcile direction/data against CO6 v3.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3  -  Expand CI Data Certification Across All Major CI Classes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P1   ·  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Stand up data certification (process, PROD build, dashboards, training) for Computers and Servers by Sep 30 and Databases and Network Devices by Oct 30, all against the approved data dictionary.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4 named CI classes; each = process definition + PROD build + dashboard + training.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4 classes certified; per-class 4 artifacts; coverage evidenced by the audit dashboards.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Achievable only if PI-2 carryover closes first (CCB approval, audit spikes, 90% stories).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Re-baselines CO5 D1; audit-readiness; core CMDB health.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Computers &amp; Servers Sep 30; Databases &amp; Network Devices Oct 30.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Sep 30 - Computers &amp; Servers  ·  Oct 30 - Databases &amp; Network 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Entry criteria: Data Dictionary CCB approval (Jul 21) + 3 audit-dashboard spikes + 90%-coverage stories. If CCB slips, Sprint-1 is blocked.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4  -  Automate Network Device Discovery in CMDB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P1   ·   Committed to Sep 30; 90% coverage is Stretch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Discover all in-scope network device types with validated credentials (0 failed auth) and active schedules by Aug 31, populate 100% of mandatory attributes by Sep 30, and reach &gt;=90% coverage validated by business owners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In-scope device types (routers, switches, firewalls, load balancers, WAPs, controllers).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0 failed authentications; 0 blank mandatory attributes; &gt;=90% vs an owner-validated inventory.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Credential distribution is an unresolved CO6 RISK - 90% by Oct 30 is aggressive.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CMDB completeness + incident response; foundational.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Aug 31 (creds/schedules) -&gt; Sep 30 (attrs) -&gt; Oct 30 (90%).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Aug 31 - creds validated + schedules active  ·  Sep 30 - mandatory attrs 100%  ·  Oct 30 - &gt;=90%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Prove credential distribution on a pilot subnet before committing 90%. Define the coverage denominator (whose authoritative device list?).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5  -  Build Service Maps for Priority Business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P2   ·   Stretch (app-owner dependency)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Build and owner-validate service maps for 15 Silver-tier apps and &gt;=75% of the business-service inventory by Aug 31, Gold-tier apps by Sep 30, and remaining Accenture-managed Silver-tier apps by Oct 30 - all consumable in ServiceNow.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Tiered app targets; dependencies down to infrastructure CIs; owner validation.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15 Silver + &gt;=75% service inventory (Aug 31); Gold-tier (Sep 30); remaining Silver (Oct 30).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HIGHEST RISK - CO6 assumes business services defined pre-start; app-owner availability is the gate.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End-to-end service visibility; impact / incident analysis.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Aug 31 / Sep 30 / Oct 30.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Aug 31 - 15 Silver + &gt;=75% inventory  ·  Sep 30 - Gold-tier  ·  Oct 30 - remaining Silver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Secure the app-owner list before Aug 5 (hard entry criterion). Consider committing 8-10 Silver as the first gate; full 15 + Gold as stretch.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6  -  Deliver NERC-CIP ServiceNow Platform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P2   ·   Committed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Deliver a completed dual-instance NERC-CIP evaluation (considerations, pros/cons, risks, dependencies) by Sep 30 and an executive strategy package accepted by PPL IT leadership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2 artifacts - dual-instance evaluation + executive strategy package.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Evaluation delivered Sep 30; exec package delivered and accepted Oct 30.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Highly achievable - analysis / strategy work, low technical / infra dependency.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Regulatory (NERC-CIP); executive visibility.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Sep 30 (evaluation) / Oct 30 (package accepted).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Sep 30 - dual-instance evaluation  ·  Oct 30 - exec strategy package accepted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Name the accepting stakeholder (PPL IT Leadership) now - 'accepted' needs a named approver. Scope is in CO6 v3 but not the 3/27 draft - confirm with Joe / Jordan.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Objective 7  -  Define and Begin Legacy Platform Rationalization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Priority P3   ·   Committed to plan; Oct execution is Stretch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603504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0" i="1">
                <a:solidFill>
                  <a:srgbClr val="1F3A5F"/>
                </a:solidFill>
                <a:latin typeface="Segoe UI"/>
              </a:rPr>
              <a:t>Complete a gap analysis of iTeam, DISCO, Cherwell, and AIM vs. ServiceNow by Aug 31, deliver a prioritized migration plan + roadmap by Sep 30, and execute the October-scope items defined in that plan by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  ·  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4 platforms (iTeam, DISCO, Cherwell, AIM); analysis -&gt; plan -&gt; limited execution.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M  ·  Measurable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4-platform gap analysis; 1 prioritized plan; defined Oct-scope items executed.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  ·  Achievable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Analysis achievable; execution is greenfield (only iTeam import 1452028 today), intentionally limited.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R  ·  Relevant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Retire legacy tooling into ServiceNow.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T  ·  Time-bound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Aug 31 (analysis) / Sep 30 (plan) / Oct 30 (Oct-scope execution).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60520"/>
            <a:ext cx="11155680" cy="749808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206240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Segoe UI"/>
              </a:rPr>
              <a:t>Acceptance gates</a:t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Aug 31 - 4-platform gap analysis  ·  Sep 30 - migration plan + roadmap  ·  Oct 30 - Oct-scope 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074920"/>
            <a:ext cx="10881360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5A4A2A"/>
                </a:solidFill>
                <a:latin typeface="Segoe UI"/>
              </a:rPr>
              <a:t>Lock before planning</a:t>
            </a:r>
          </a:p>
          <a:p>
            <a:pPr algn="l"/>
            <a:r>
              <a:rPr sz="1000" b="0" i="0">
                <a:solidFill>
                  <a:srgbClr val="5A4A2A"/>
                </a:solidFill>
                <a:latin typeface="Segoe UI"/>
              </a:rPr>
              <a:t>Oct execution scope is defined only by the Sep 30 plan -&gt; keep it stretch. Decide Cherwell / AIM in-or-out at planning.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Gate Timeline - PI-3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When each objective's acceptance 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863840"/>
                <a:gridCol w="1920240"/>
              </a:tblGrid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When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What's 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Objectives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Aug 31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Network Gear (creds + schedules)  ·  Service Mapping (15 Silver + 75% inventory)  ·  Legacy (gap analysis)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4, 5, 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Sep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Qualys live in PROD  ·  Data Cert (Computers, Servers)  ·  Network attrs  ·  Service Mapping (Gold)  ·  Legacy (plan)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2, 3, 4, 5,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5A4A2A"/>
                          </a:solidFill>
                          <a:latin typeface="Segoe UI"/>
                        </a:rPr>
                        <a:t>PI-3 ends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>
                    <a:solidFill>
                      <a:srgbClr val="FBEED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1" i="0">
                          <a:solidFill>
                            <a:srgbClr val="1F3A5F"/>
                          </a:solidFill>
                          <a:latin typeface="Segoe UI"/>
                        </a:rPr>
                        <a:t>Oct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D2D2D"/>
                          </a:solidFill>
                          <a:latin typeface="Segoe UI"/>
                        </a:rPr>
                        <a:t>ATF plan  ·  Data Cert (Databases, Network)  ·  Network 90%  ·  Service Mapping (remaining Silver)  ·  NERC-CIP package  ·  Legacy (Oct exec)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Obj 1, 3, 4, 5, 6,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663440"/>
            <a:ext cx="11155680" cy="73152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09160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A4A2A"/>
                </a:solidFill>
                <a:latin typeface="Segoe UI"/>
              </a:rPr>
              <a:t>The Oct 30 CO6 gates land ~3 days after PI-3 ends (Oct 27) - plan them into the final sprint / IP iteration.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Lock These Before PI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Each turns an objective from aspirational to genuinely Achievable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PI-3 Objectives (proposed)  |  Jul 11,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108960"/>
                <a:gridCol w="2560320"/>
              </a:tblGrid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Lock before Aug 5 / PI Planning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Threatens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Owner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CO6 executed (signature)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All objectives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Christian / Aaron Simeon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Qualys vendor plugin confirmed available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2 (blocked stories 1428703/04)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Stan / Rich Santillo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App-owner list secured (Silver / Gold tiers)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Tanzeel / Joe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Data Dictionary CCB approval (Jul 21) + audit spikes + 90% stories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Manuel / Josh Sterling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Credential-distribution approach proven on a pilot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4 (90% coverage)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Stan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945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50" b="0" i="0">
                          <a:solidFill>
                            <a:srgbClr val="1F3A5F"/>
                          </a:solidFill>
                          <a:latin typeface="Segoe UI"/>
                        </a:rPr>
                        <a:t>Named accepting stakeholder for NERC-CIP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Obj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Joe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120640"/>
            <a:ext cx="11155680" cy="86868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175504"/>
            <a:ext cx="1088136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These are already in the PI-3 open-actions list - reframed here as entry criteria: a commitment isn't real until its dependency is closed.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