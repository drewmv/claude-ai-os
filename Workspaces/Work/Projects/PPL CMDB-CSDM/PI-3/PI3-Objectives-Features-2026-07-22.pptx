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PI-3 Plan - CMDB / 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87168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Objectives &amp; Features  ·  Objective View + Sprint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4 objectives  ·  11 features  ·  6 sprints (Aug 5 - Oct 27, 2026)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CMDB / CSDM team focus area  -  a subset of CO6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Source: Azure DevOps (A-INFOPS\FY26\PI3), as of Jul 22, 2026.  CMDB/CSDM focus area - a subset of CO6 (maps to 4 of the 7 CO6 objectives).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Objectives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4 CMDB/CSDM objectives  ·  11 features  ·  each mapped to 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22,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172200"/>
                <a:gridCol w="1051560"/>
                <a:gridCol w="1554480"/>
                <a:gridCol w="594360"/>
                <a:gridCol w="1371600"/>
              </a:tblGrid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Feat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CO6  ·  delivery gates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Automate Network Device Discovery in the CMDB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Automated credentialed discovery of all network device types, mandatory attribute population, and ≥90% owner-validated coverage.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CO6 Obj 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Aug 31 · Sep 30 ·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Build &amp; Validate Service Maps for Priority Business Apps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Owner-validated Silver- and Gold-tier service maps, with ≥75% of the business-service inventory represented.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A. Griffis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CO6 Obj 5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Aug 31 · Sep 30 · 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Certify CMDB Data Across the Four Major CI Classes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End-to-end data certification - process, PROD build, dashboards, training - across Computers, Servers, Databases, Network Devices.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CO6 Obj 3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Sep 30 ·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Activate the ServiceNow → Qualys Attribute Sync in Production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One-way ServiceNow → Qualys sync of owner, support group, and SOX flag, live in production on a defined schedule.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CO6 Obj 2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160520"/>
            <a:ext cx="11155680" cy="77724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06240"/>
            <a:ext cx="1088136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Source: Azure DevOps (A-INFOPS\FY26\PI3), as of Jul 22, 2026.  CMDB/CSDM focus area - a subset of CO6 (maps to 4 of the 7 CO6 objectives).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View - Features by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11 features grouped under their 4 parent objectives  ·  with CO6 delivery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22,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6720840"/>
                <a:gridCol w="822960"/>
                <a:gridCol w="960120"/>
                <a:gridCol w="1691640"/>
              </a:tblGrid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Start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Delivery (CO6)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4325">
                <a:tc gridSpan="5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Automate Network Device Discovery in the CMDB   ·   ADO 1516954   ·   CO6 Obj 4   ·   Owner: M. Vazquez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Credentialed Discovery Live — All Network Device Types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Inventory Coverage Reconciliation &amp; Owner Validation (≥90%)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 gridSpan="5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Build &amp; Validate Service Maps for Priority Business Apps   ·   ADO 1516955   ·   CO6 Obj 5   ·   Owner: A. Griffis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Silver-Tier Service Maps (App → Infrastructure) + ≥75% Business-Service Inventory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Gold-Tier Service Maps (Service → App) + Silver Validation Pass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1518000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Remaining Contractor-Managed Silver-Tier Maps + All-Silver Service → App Layer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 gridSpan="5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Certify CMDB Data Across the Four Major CI Classes   ·   ADO 1516956   ·   CO6 Obj 3   ·   Owner: M. Vazquez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Computers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Servers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Databases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1517040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Network Devices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14325">
                <a:tc gridSpan="5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Activate the ServiceNow → Qualys Attribute Sync in Production   ·   ADO 1516957   ·   CO6 Obj 2   ·   Owner: M. Vazquez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432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1517065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Activate ServiceNow → Qualys Attribute Sync (PROD)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Sprint View - Features by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Which features land in which PI-3 sprint (by ADO Iteration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22,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65960"/>
                <a:gridCol w="502920"/>
                <a:gridCol w="7589520"/>
              </a:tblGrid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Dates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Features  (ADO ID  ·  CO6 delivery date  ·  color = objective)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5 - Aug 18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  ·  Automated Credentialed Discovery Live — All Network Device Types   —  CO6 due Aug 31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1517650  ·  Silver-Tier Service Maps (App → Infrastructure) + ≥75% Business-Service Inventory   —  CO6 due Aug 31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1517065  ·  Activate ServiceNow → Qualys Attribute Sync (PROD)   —  CO6 due 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19 - Sep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1517029  ·  Certify Computers — CMDB Data Certification   —  CO6 due Sep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1517032  ·  Certify Servers — CMDB Data Certification   —  CO6 due 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2 - Sep 15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  ·  Mandatory Attribute Population via Discovery — Network Devices   —  CO6 due Sep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1517655  ·  Gold-Tier Service Maps (Service → App) + Silver Validation Pass   —  CO6 due 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16 - Sep 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1517037  ·  Certify Databases — CMDB Data Certification   —  CO6 due Oct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1517040  ·  Certify Network Devices — CMDB Data Certification   —  CO6 due 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30 - Oct 13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  ·  Network Inventory Coverage Reconciliation &amp; Owner Validation (≥90%)   —  CO6 due Oct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1518000  ·  Remaining Contractor-Managed Silver-Tier Maps + All-Silver Service → App Layer   —  CO6 due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Sprint 3.6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Oct 14 - Oct 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1">
                          <a:solidFill>
                            <a:srgbClr val="6B7280"/>
                          </a:solidFill>
                          <a:latin typeface="Segoe UI"/>
                        </a:rPr>
                        <a:t>— no features planned 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Features span Sprints 3.1 - 3.5 (2-3 each); the 3.6 IP iteration holds none. Every feature completes in a sprint ending before its CO6 delivery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Delivery Commitments - CO6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Every feature delivers a CO6 acceptance criterion; its completion date is the delivery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22,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6537960"/>
                <a:gridCol w="1920240"/>
                <a:gridCol w="1737360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Scheduled 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Aug 31, 2026   ·   2 features   ·   delivered in Sprint 3.1 (ends Aug 18)  ·  ahead of the commitment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Credentialed Discovery Live — All Network Device Types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Silver-Tier Service Maps (App → Infrastructure) + ≥75% Business-Service Inventory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Sep 30, 2026   ·   5 features   ·   delivered in Sprints 3.1 - 3.3 (end by Sep 15)  ·  ahead of the commitment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Gold-Tier Service Maps (Service → App) + Silver Validation Pass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Computers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Servers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1517065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Activate ServiceNow → Qualys Attribute Sync (PROD)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Qualys Sync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Oct 30, 2026   ·   4 features   ·   delivered in Sprints 3.4 - 3.5 (end by Oct 13)  ·  ahead of the Oct 30 date (after PI-3 close, Oct 27)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Inventory Coverage Reconciliation &amp; Owner Validation (≥90%)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1518000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Remaining Contractor-Managed Silver-Tier Maps + All-Silver Service → App Layer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Databases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1517040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Network Devices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Segoe UI"/>
              </a:rPr>
              <a:t>CO6 check: every feature is scheduled in a sprint that ends before its delivery date - the ADO plan fits within CO6.</a:t>
            </a:r>
          </a:p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Oct 30 gates fall after PI-3 close (Oct 27); those features complete by Sprint 3.5 (Oct 13), leaving the 3.6 IP iteration as validation buffer.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Program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Features across the 6 sprints  ·  color-coded by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22,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3.1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5 - Aug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Discovery Live — all device types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1516993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Aug 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Silver-Tier Maps + ≥75% Inventory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1517650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Aug 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83864"/>
            <a:ext cx="1767840" cy="713232"/>
          </a:xfrm>
          <a:prstGeom prst="round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3511296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Activate SN→Qualys Sync (PROD)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1517065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0488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0488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3.2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19 - Sep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0488" y="1911096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5352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Computers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1517029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80488" y="2697480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5352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Servers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1517032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8056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8056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3.3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2 - Sep 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8056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2919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Mandatory Attribute Population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1517005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8056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2919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Gold-Tier Maps + Silver Validation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1517655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3.4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16 - Sep 29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5624" y="1911096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Databases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1517037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2697480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Network Devices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1517040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3192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3192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3.5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30 - Oct 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3192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8056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Coverage Reconciliation ≥90%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1356646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3192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8056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Remaining Silver + Svc→App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1518000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90760" y="1234440"/>
            <a:ext cx="176784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90760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3.6 IP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Oct 14 - Oct 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90760" y="1911096"/>
            <a:ext cx="17678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90760" y="1911096"/>
            <a:ext cx="17678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Segoe UI"/>
              </a:rPr>
              <a:t>— none 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35040"/>
            <a:ext cx="914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Segoe UI"/>
              </a:rPr>
              <a:t>Objective: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6053328"/>
            <a:ext cx="219456" cy="21945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736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Network Discovery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69080" y="6053328"/>
            <a:ext cx="219456" cy="2194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Service Maps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6053328"/>
            <a:ext cx="219456" cy="21945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Data Certification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6053328"/>
            <a:ext cx="219456" cy="21945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Qualys 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