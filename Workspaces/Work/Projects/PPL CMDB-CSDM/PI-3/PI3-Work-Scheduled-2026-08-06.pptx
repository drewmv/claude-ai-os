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Network Discovery</c:v>
                </c:pt>
              </c:strCache>
            </c:strRef>
          </c:tx>
          <c:spPr>
            <a:solidFill>
              <a:srgbClr val="2E6DB4"/>
            </a:solidFill>
          </c:spPr>
          <c:cat>
            <c:strRef>
              <c:f>Sheet1!$A$2:$A$7</c:f>
              <c:strCache>
                <c:ptCount val="6"/>
                <c:pt idx="0">
                  <c:v>3.1</c:v>
                </c:pt>
                <c:pt idx="1">
                  <c:v>3.2</c:v>
                </c:pt>
                <c:pt idx="2">
                  <c:v>3.3</c:v>
                </c:pt>
                <c:pt idx="3">
                  <c:v>3.4</c:v>
                </c:pt>
                <c:pt idx="4">
                  <c:v>3.5</c:v>
                </c:pt>
                <c:pt idx="5">
                  <c:v>3.6 IP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0</c:v>
                </c:pt>
                <c:pt idx="2">
                  <c:v>5</c:v>
                </c:pt>
                <c:pt idx="3">
                  <c:v>11</c:v>
                </c:pt>
                <c:pt idx="4">
                  <c:v>14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 Certification</c:v>
                </c:pt>
              </c:strCache>
            </c:strRef>
          </c:tx>
          <c:spPr>
            <a:solidFill>
              <a:srgbClr val="5B4B8A"/>
            </a:solidFill>
          </c:spPr>
          <c:cat>
            <c:strRef>
              <c:f>Sheet1!$A$2:$A$7</c:f>
              <c:strCache>
                <c:ptCount val="6"/>
                <c:pt idx="0">
                  <c:v>3.1</c:v>
                </c:pt>
                <c:pt idx="1">
                  <c:v>3.2</c:v>
                </c:pt>
                <c:pt idx="2">
                  <c:v>3.3</c:v>
                </c:pt>
                <c:pt idx="3">
                  <c:v>3.4</c:v>
                </c:pt>
                <c:pt idx="4">
                  <c:v>3.5</c:v>
                </c:pt>
                <c:pt idx="5">
                  <c:v>3.6 IP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9</c:v>
                </c:pt>
                <c:pt idx="2">
                  <c:v>2</c:v>
                </c:pt>
                <c:pt idx="3">
                  <c:v>34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 Maps / BA Migr.</c:v>
                </c:pt>
              </c:strCache>
            </c:strRef>
          </c:tx>
          <c:spPr>
            <a:solidFill>
              <a:srgbClr val="2A9D8F"/>
            </a:solidFill>
          </c:spPr>
          <c:cat>
            <c:strRef>
              <c:f>Sheet1!$A$2:$A$7</c:f>
              <c:strCache>
                <c:ptCount val="6"/>
                <c:pt idx="0">
                  <c:v>3.1</c:v>
                </c:pt>
                <c:pt idx="1">
                  <c:v>3.2</c:v>
                </c:pt>
                <c:pt idx="2">
                  <c:v>3.3</c:v>
                </c:pt>
                <c:pt idx="3">
                  <c:v>3.4</c:v>
                </c:pt>
                <c:pt idx="4">
                  <c:v>3.5</c:v>
                </c:pt>
                <c:pt idx="5">
                  <c:v>3.6 IP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34</c:v>
                </c:pt>
                <c:pt idx="1">
                  <c:v>38</c:v>
                </c:pt>
                <c:pt idx="2">
                  <c:v>29</c:v>
                </c:pt>
                <c:pt idx="3">
                  <c:v>8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Qualys Sync</c:v>
                </c:pt>
              </c:strCache>
            </c:strRef>
          </c:tx>
          <c:spPr>
            <a:solidFill>
              <a:srgbClr val="E08A00"/>
            </a:solidFill>
          </c:spPr>
          <c:cat>
            <c:strRef>
              <c:f>Sheet1!$A$2:$A$7</c:f>
              <c:strCache>
                <c:ptCount val="6"/>
                <c:pt idx="0">
                  <c:v>3.1</c:v>
                </c:pt>
                <c:pt idx="1">
                  <c:v>3.2</c:v>
                </c:pt>
                <c:pt idx="2">
                  <c:v>3.3</c:v>
                </c:pt>
                <c:pt idx="3">
                  <c:v>3.4</c:v>
                </c:pt>
                <c:pt idx="4">
                  <c:v>3.5</c:v>
                </c:pt>
                <c:pt idx="5">
                  <c:v>3.6 IP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PI-2 Carryover / Gov.</c:v>
                </c:pt>
              </c:strCache>
            </c:strRef>
          </c:tx>
          <c:spPr>
            <a:solidFill>
              <a:srgbClr val="C0523A"/>
            </a:solidFill>
          </c:spPr>
          <c:cat>
            <c:strRef>
              <c:f>Sheet1!$A$2:$A$7</c:f>
              <c:strCache>
                <c:ptCount val="6"/>
                <c:pt idx="0">
                  <c:v>3.1</c:v>
                </c:pt>
                <c:pt idx="1">
                  <c:v>3.2</c:v>
                </c:pt>
                <c:pt idx="2">
                  <c:v>3.3</c:v>
                </c:pt>
                <c:pt idx="3">
                  <c:v>3.4</c:v>
                </c:pt>
                <c:pt idx="4">
                  <c:v>3.5</c:v>
                </c:pt>
                <c:pt idx="5">
                  <c:v>3.6 IP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A"/>
            </a:solidFill>
          </a:ln>
        </c:spPr>
        <c:txPr>
          <a:bodyPr/>
          <a:lstStyle/>
          <a:p>
            <a:pPr>
              <a:defRPr sz="12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3EA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6B7280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069080"/>
            <a:ext cx="12191695" cy="731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0704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PI-3 Work Scheduled  —  CMDB / CSDM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514600"/>
            <a:ext cx="10607040" cy="5943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0" i="0">
                <a:solidFill>
                  <a:srgbClr val="C9D6E6"/>
                </a:solidFill>
                <a:latin typeface="Calibri"/>
              </a:rPr>
              <a:t>5 Objectives · 15 Features · 213 Story Points · Aug 5 – Oct 27,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4224528"/>
            <a:ext cx="10607040" cy="1828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All 4 certification classes fully reconciled in ADO — Computers, Servers, Databases, Network Devices</a:t>
            </a:r>
          </a:p>
          <a:p>
            <a:pPr algn="l"/>
            <a:r>
              <a:rPr sz="1300" b="0" i="0">
                <a:solidFill>
                  <a:srgbClr val="C9D6E6"/>
                </a:solidFill>
                <a:latin typeface="Calibri"/>
              </a:rPr>
              <a:t>CMDB / CSDM team focus area  —  a subset of CO6</a:t>
            </a:r>
          </a:p>
          <a:p>
            <a:pPr algn="l"/>
            <a:r>
              <a:rPr sz="1200" b="0" i="0">
                <a:solidFill>
                  <a:srgbClr val="9FB2CC"/>
                </a:solidFill>
                <a:latin typeface="Calibri"/>
              </a:rPr>
              <a:t>Manuel Vazquez  —  Product Owner, CMDB-CSDM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5943600"/>
            <a:ext cx="1060704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1">
                <a:solidFill>
                  <a:srgbClr val="7F8CA6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PI-3 Program Board — 15 Features Across 6 Sprints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Color-coded by objective  ·  all features are parented to one of 5 PI-3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17830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78308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Sprint 3.1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Calibri"/>
              </a:rPr>
              <a:t>Aug 5–18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73936"/>
            <a:ext cx="1783080" cy="53035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801368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Discovery Live — all device types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1516993  ·  CO6 Aug 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59152"/>
            <a:ext cx="1783080" cy="53035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2386584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Silver-Tier Maps + ≥75% Inventory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1517650  ·  CO6 Aug 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944368"/>
            <a:ext cx="1783080" cy="53035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7784" y="2971799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Migrate BA → Service Instances (DQ)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1537867  ·  CO6 n/a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529584"/>
            <a:ext cx="1783080" cy="530352"/>
          </a:xfrm>
          <a:prstGeom prst="round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" y="3557015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Activate SN→Qualys Sync (PROD)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1517065  ·  CO6 Sep 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1783080" cy="530352"/>
          </a:xfrm>
          <a:prstGeom prst="roundRect">
            <a:avLst/>
          </a:prstGeom>
          <a:solidFill>
            <a:srgbClr val="C0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" y="4142232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Database Class Clean-up (PI-2)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1554951  ·  CO6 n/a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700016"/>
            <a:ext cx="1783080" cy="530352"/>
          </a:xfrm>
          <a:prstGeom prst="roundRect">
            <a:avLst/>
          </a:prstGeom>
          <a:solidFill>
            <a:srgbClr val="C0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" y="4727448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Air Lift CMDB Support (PI-2)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1557616  ·  CO6 n/a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285231"/>
            <a:ext cx="1783080" cy="530352"/>
          </a:xfrm>
          <a:prstGeom prst="roundRect">
            <a:avLst/>
          </a:prstGeom>
          <a:solidFill>
            <a:srgbClr val="C0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" y="5312664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New BA Governance Model (PI-2)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1553982  ·  CO6 n/a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77439" y="1207008"/>
            <a:ext cx="17830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39" y="1234440"/>
            <a:ext cx="178308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Sprint 3.2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Calibri"/>
              </a:rPr>
              <a:t>Aug 19–Sep 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77439" y="1773936"/>
            <a:ext cx="1783080" cy="53035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32303" y="1801368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Certify Computers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1517029  ·  CO6 Sep 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77439" y="2359152"/>
            <a:ext cx="1783080" cy="53035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32303" y="2386584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Certify Servers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1517032  ·  CO6 Sep 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207008"/>
            <a:ext cx="17830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59" y="1234440"/>
            <a:ext cx="178308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Sprint 3.3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Calibri"/>
              </a:rPr>
              <a:t>Sep 2–15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59" y="1773936"/>
            <a:ext cx="1783080" cy="53035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06823" y="1801368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Mandatory Attribute Population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1517005  ·  CO6 Sep 30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51959" y="2359152"/>
            <a:ext cx="1783080" cy="53035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6823" y="2386584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Gold-Tier Maps + Silver Validation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1517655  ·  CO6 Sep 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79" y="1207008"/>
            <a:ext cx="17830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79" y="1234440"/>
            <a:ext cx="178308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Sprint 3.4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Calibri"/>
              </a:rPr>
              <a:t>Sep 16–29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79" y="1773936"/>
            <a:ext cx="1783080" cy="53035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81343" y="1801368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Certify Databases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1517037  ·  CO6 Oct 30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79" y="2359152"/>
            <a:ext cx="1783080" cy="530352"/>
          </a:xfrm>
          <a:prstGeom prst="round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81343" y="2386584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Certify Network Devices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1517040  ·  CO6 Oct 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01000" y="1207008"/>
            <a:ext cx="178308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1234440"/>
            <a:ext cx="178308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Sprint 3.5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Calibri"/>
              </a:rPr>
              <a:t>Sep 30–Oct 13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01000" y="1773936"/>
            <a:ext cx="1783080" cy="530352"/>
          </a:xfrm>
          <a:prstGeom prst="round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5864" y="1801368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Coverage Reconciliation ≥90%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1356646  ·  CO6 Oct 30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01000" y="2359152"/>
            <a:ext cx="1783080" cy="530352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55864" y="2386584"/>
            <a:ext cx="1673352" cy="47548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00" b="1" i="0">
                <a:solidFill>
                  <a:srgbClr val="FFFFFF"/>
                </a:solidFill>
                <a:latin typeface="Calibri"/>
              </a:rPr>
              <a:t>Remaining Silver + Svc→App</a:t>
            </a:r>
          </a:p>
          <a:p>
            <a:pPr algn="l"/>
            <a:r>
              <a:rPr sz="650" b="0" i="0">
                <a:solidFill>
                  <a:srgbClr val="E0ECF8"/>
                </a:solidFill>
                <a:latin typeface="Calibri"/>
              </a:rPr>
              <a:t>ADO 1518000  ·  CO6 Oct 30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75520" y="1207008"/>
            <a:ext cx="1783080" cy="5029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75520" y="1234440"/>
            <a:ext cx="178308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Sprint 3.6 IP</a:t>
            </a:r>
          </a:p>
          <a:p>
            <a:pPr algn="ctr"/>
            <a:r>
              <a:rPr sz="800" b="0" i="0">
                <a:solidFill>
                  <a:srgbClr val="C9D6E6"/>
                </a:solidFill>
                <a:latin typeface="Calibri"/>
              </a:rPr>
              <a:t>Oct 14–27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75520" y="1773936"/>
            <a:ext cx="1783080" cy="530352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75520" y="1773936"/>
            <a:ext cx="17830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00" b="0" i="1">
                <a:solidFill>
                  <a:srgbClr val="6B7280"/>
                </a:solidFill>
                <a:latin typeface="Calibri"/>
              </a:rPr>
              <a:t>— sign-off buffer 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126480"/>
            <a:ext cx="91440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 i="0">
                <a:solidFill>
                  <a:srgbClr val="2D2D2D"/>
                </a:solidFill>
                <a:latin typeface="Calibri"/>
              </a:rPr>
              <a:t>Objective: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463040" y="6153912"/>
            <a:ext cx="182880" cy="18288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00784" y="6126480"/>
            <a:ext cx="210312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Network Discovery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566160" y="6153912"/>
            <a:ext cx="182880" cy="1828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03904" y="6126480"/>
            <a:ext cx="210312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Service Maps / BA Migr.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79" y="6153912"/>
            <a:ext cx="182880" cy="182880"/>
          </a:xfrm>
          <a:prstGeom prst="rect">
            <a:avLst/>
          </a:prstGeom>
          <a:solidFill>
            <a:srgbClr val="5B4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07023" y="6126480"/>
            <a:ext cx="210312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Data Certification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72400" y="6153912"/>
            <a:ext cx="182880" cy="182880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10144" y="6126480"/>
            <a:ext cx="210312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Qualys Sync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6153912"/>
            <a:ext cx="182880" cy="182880"/>
          </a:xfrm>
          <a:prstGeom prst="rect">
            <a:avLst/>
          </a:prstGeom>
          <a:solidFill>
            <a:srgbClr val="C0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13264" y="6126480"/>
            <a:ext cx="210312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2D2D2D"/>
                </a:solidFill>
                <a:latin typeface="Calibri"/>
              </a:rPr>
              <a:t>PI-2 Carryover / Gov.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Sprint Load Overview — Story Points by Workstream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213 known points across 25 features/sprints · Sprint 3.4 is the heaviest at 53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234440"/>
          <a:ext cx="1115568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⚠ 45 additional points from PI-2 carryover stories with no point value yet visible in ADO are not shown (4 database clean-up stories, 2 Airlift stories, 1537638).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Sprint 3.1  —  Aug 5 – Aug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No CO6 gate this sprint — delivery enablement  |  test code freeze Aug 5–15 (no PROD deploys)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6309360"/>
                <a:gridCol w="822960"/>
              </a:tblGrid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Story / spike detail (id, ADO id, description, points)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Total pts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A5296"/>
                          </a:solidFill>
                          <a:latin typeface="Calibri"/>
                        </a:rPr>
                        <a:t>1516993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Automated Credentialed Discovery Live — All Network Device Types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ND-1 1526911 Configure credentials (5) · ND-2 1526947 Discovery defs/IP ranges (1) · ND-3 1526951 Credentialed discovery live, all 6 device types (2) · ND-6 1557701 Analysis of network ranges (2)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A5296"/>
                          </a:solidFill>
                          <a:latin typeface="Calibr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Network Inventory Coverage Reconciliation (≥90%) — prep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1402555 Identify CI classes for group 1 (3, spike)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Computers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CC-1 1535486 Document cert process flow (2, spike)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Servers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SV-1 1535496 Document cert process flow (2, spike)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B56E00"/>
                          </a:solidFill>
                          <a:latin typeface="Calibri"/>
                        </a:rPr>
                        <a:t>1517065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Activate ServiceNow → Qualys Sync (PROD)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1428703 Install x_qual5_itam_nwapp plugin, Dev/Test/Prod 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7A6E"/>
                          </a:solidFill>
                          <a:latin typeface="Calibri"/>
                        </a:rPr>
                        <a:t>1537867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Migration of Business Apps to Application Services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S01 1553645 Inventory / reference-map (8) · S07 1553653 Stakeholder comms &amp; enablement (8)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7A6E"/>
                          </a:solidFill>
                          <a:latin typeface="Calibr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Silver-Tier Service Maps + ≥75% Inventory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3 spikes + 15 stories — data-source discovery batch (11 named apps + 4 placeholder)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708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8F3C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PI-2 Carryover / Governance stories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1512084 Populate Assigned-to, Computer Class (2, ⚠ misplaced under DB feature) · 1553978/1553980 Service Catalog + SOX-flag governance (1 each)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111556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Sprint 3.2  —  Aug 19 – Sep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CO6 gate Aug 31 — Automated Credentialed Discovery Live  +  Silver Service Maps  +  ≥75%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6309360"/>
                <a:gridCol w="822960"/>
              </a:tblGrid>
              <a:tr h="103875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Story / spike detail (id, ADO id, description, points)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Total pts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103875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Computers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C0392B"/>
                          </a:solidFill>
                          <a:latin typeface="Calibri"/>
                        </a:rPr>
                        <a:t>⚠ sequencing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CC-2 1535488 Build cert policies to PROD (2) · CC-3 1535489 Stand up dashboard (1) · CC-5 1535491 Deliver training (3, ⚠ lands ahead of CC-4)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3875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Servers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SV-2 1535499 Build cert policies to PROD (2) · SV-3 1535500 Stand up dashboard (1)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103875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7A6E"/>
                          </a:solidFill>
                          <a:latin typeface="Calibri"/>
                        </a:rPr>
                        <a:t>1537867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Migration of Business Apps to Application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S02 1553646 Copy BA → Application Service, retire original (8) · S09 1553656 Recurrence-guardrail spike 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03876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7A6E"/>
                          </a:solidFill>
                          <a:latin typeface="Calibr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Silver-Tier Service Maps + ≥75% Inventory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13 spikes + 16 stories — data-source discovery + build batch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111556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Sprint 3.3  —  Sep 2 – Sep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No CO6 gate this sprint — builds toward Sep 30  |  test freeze lifted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6309360"/>
                <a:gridCol w="822960"/>
              </a:tblGrid>
              <a:tr h="865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Story / spike detail (id, ADO id, description, points)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Total pts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865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Computers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CC-4 1535490 Run cert cycle &amp; monitor completeness (1)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5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Servers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SV-4 1535502 Run cert cycle &amp; monitor completeness (1)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865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A5296"/>
                          </a:solidFill>
                          <a:latin typeface="Calibri"/>
                        </a:rPr>
                        <a:t>1517005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Mandatory Attribute Population via Discovery — Network Devices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1537633 Define mandatory candidates (2) · 1537635 Baseline population &amp; gap analysis (3)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5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7A6E"/>
                          </a:solidFill>
                          <a:latin typeface="Calibri"/>
                        </a:rPr>
                        <a:t>1537867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Migration of Business Apps to Application Services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S04 1553648 Enable migrated services (3) · S10 1553649 Validate migration end state (5) · S05 1553651 Retarget platform config off retired class (8)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86563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7A6E"/>
                          </a:solidFill>
                          <a:latin typeface="Calibri"/>
                        </a:rPr>
                        <a:t>1517650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Silver-Tier Service Maps + ≥75% Inventory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C0392B"/>
                          </a:solidFill>
                          <a:latin typeface="Calibri"/>
                        </a:rPr>
                        <a:t>⚠ data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5 spikes + 8 stories — all placeholder-titled, not yet filled in with real app names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111556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Sprint 3.4  —  Sep 16 – Sep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CO6 gate Sep 30 (prior sprint's work lands) — ⚠ heaviest sprint: 53 pts, driven by Databases + Network Devices landing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6309360"/>
                <a:gridCol w="822960"/>
              </a:tblGrid>
              <a:tr h="74197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Story / spike detail (id, ADO id, description, points)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Total pts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74197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Databases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C0392B"/>
                          </a:solidFill>
                          <a:latin typeface="Calibri"/>
                        </a:rPr>
                        <a:t>⚠ clustering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DB-1 1560066 Document process flow (3, spike) · DB-2 1560067 Build to PROD (3) · DB-3 1560068 Dashboard (2) · DB-4 1560069 Run cycle (2) · DB-5 1560071 Training (3)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197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1517040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Network Devices</a:t>
                      </a:r>
                    </a:p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00" b="1" i="0">
                          <a:solidFill>
                            <a:srgbClr val="C0392B"/>
                          </a:solidFill>
                          <a:latin typeface="Calibri"/>
                        </a:rPr>
                        <a:t>⚠ clustering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NW-1 1560087 Audit-baseline spike (5) · NW-2 1560089 Process flow (3) · NW-3 1560091 Build to PROD (3) · NW-4 1560093 Dashboard (2) · NW-5 1560094 Run cycle (2) · NW-6 1560096 Training (3)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74197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4A3D73"/>
                          </a:solidFill>
                          <a:latin typeface="Calibri"/>
                        </a:rPr>
                        <a:t>1517032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Certify Servers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SV-5 1535504 Deliver training (3)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197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A5296"/>
                          </a:solidFill>
                          <a:latin typeface="Calibri"/>
                        </a:rPr>
                        <a:t>1517005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Mandatory Attribute Population via Discovery — Network Devices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1537637 Populate non-discoverable attrs, CI owner (2) · 1537638 Validate no blanks (TBD) · 1560305 …Support Group (2) · 1560306 …Technical Group Owner (2) · 1560308 …Environment (2)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8 + TBD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741970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A5296"/>
                          </a:solidFill>
                          <a:latin typeface="Calibr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Network Inventory Coverage Reconciliation (≥90%) — prep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1402559 Compare CI class sources (3, spike)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197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7A6E"/>
                          </a:solidFill>
                          <a:latin typeface="Calibri"/>
                        </a:rPr>
                        <a:t>1537867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Migration of Business Apps to Application Services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S06 1553652 Route operational CIs to App Service (3) · S08 1553654 Post-migration hypercare &amp; close-out (5)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111556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Sprint 3.5  —  Sep 30 – Oct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No new CO6 gate this sprint — builds toward Oct 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6309360"/>
                <a:gridCol w="822960"/>
              </a:tblGrid>
              <a:tr h="2596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Story / spike detail (id, ADO id, description, points)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Total pts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596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A5296"/>
                          </a:solidFill>
                          <a:latin typeface="Calibr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Network Inventory Coverage Reconciliation (≥90%)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CR-1 1559163 Define authoritative inventory / denominator (3) · CR-2 1559166 Gap analysis (3) · CR-3 1559175 Gap closure (5) · CR-4 1559183 Coverage dashboard (3)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111556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Sprint 3.6 IP  —  Oct 14 – Oct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CO6 gate Oct 30 — Certify Databases  ·  Certify Network Devices  ·  Coverage ≥90%  |  sign-off / validation buffer, not new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606040"/>
                <a:gridCol w="6309360"/>
                <a:gridCol w="822960"/>
              </a:tblGrid>
              <a:tr h="2596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Story / spike detail (id, ADO id, description, points)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Total pts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2596896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A5296"/>
                          </a:solidFill>
                          <a:latin typeface="Calibri"/>
                        </a:rPr>
                        <a:t>1356646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Network Inventory Coverage Reconciliation (≥90%) — final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Calibri"/>
                        </a:rPr>
                        <a:t>CR-5 1559193 Business-owner validation &amp; sign-off on ≥90% coverage (5)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2E6DB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111556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Certification Reconciliation — Computers &amp; Servers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CO6 Obj 3  ·  Sep 30 gate  ·  all 10 stories created in ADO, IDs reconciled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868680"/>
                <a:gridCol w="6309360"/>
                <a:gridCol w="914400"/>
                <a:gridCol w="868680"/>
                <a:gridCol w="1508760"/>
              </a:tblGrid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Story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99522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1517029  ·  Certify Computers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CC-1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1535486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Document the Computer Data Certification process flow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Ready DoR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CC-2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1535488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Build Computer certification policies/rules to 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Ready 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CC-3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1535489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Stand up the Computer certification tracking dashboard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Ready DoR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CC-4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1535490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Run the Computer certification cycle and monitor completeness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CC-5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1535491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Deliver Computer certification training to CI owners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Ready DoR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9522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1517032  ·  Certify Servers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SV-1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1535496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Document the Server Data Certification process flow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Active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SV-2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Build Server certification policies/rules to 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Ready DoR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SV-3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1535500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Stand up the Server certification tracking dashboard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Ready DoR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99522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SV-4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1535502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Run the Server certification cycle and monitor completeness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9528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SV-5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1535504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Deliver Server certification training to CI owners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111556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Certification Reconciliation — Databases &amp; Network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CO6 Obj 3  ·  Oct 30 gate  ·  all 11 stories created in ADO, IDs reconciled — ⚠ all landed in Sprint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5193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868680"/>
                <a:gridCol w="6309360"/>
                <a:gridCol w="914400"/>
                <a:gridCol w="868680"/>
                <a:gridCol w="1508760"/>
              </a:tblGrid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Local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ID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Story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37098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1517037  ·  Certify Databases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DB-1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1560066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Document the Database Data Certification process flow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 (spike)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DB-2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Build Database certification policies/rules to PROD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DB-3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1560068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Stand up the Database certification tracking dashboard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DB-4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Run the Database certification cycle and monitor completeness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DB-5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1560071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Deliver Database certification training to CI owners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0985">
                <a:tc gridSpan="6"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ADO 1517040  ·  Certify Network Devices</a:t>
                      </a:r>
                    </a:p>
                  </a:txBody>
                  <a:tcPr anchor="ctr">
                    <a:solidFill>
                      <a:srgbClr val="5B4B8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NW-1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1560087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Network audit-dashboard scope + gap-remediation baseline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 (spike)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NW-2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Document the Network Device certification process 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NW-3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1560091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Build Network Device certification policies/rules to PROD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NW-4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Stand up the Network Device certification tracking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0985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NW-5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1560094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Run the Network Device certification cycle and monitor completeness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370987"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Calibri"/>
                        </a:rPr>
                        <a:t>NW-6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1560096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Deliver Network Device certification training to owners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28232"/>
            <a:ext cx="11155680" cy="228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Reconciled against ADO board export (Iteration Path), Aug 6, 2026. Points marked TBD are not yet visible in 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18872"/>
            <a:ext cx="11155680" cy="5303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Open Items &amp; Data Quality Flags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594360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C9D6E6"/>
                </a:solidFill>
                <a:latin typeface="Calibri"/>
              </a:rPr>
              <a:t>Surfaced while reconciling the Aug 6 ADO export — none of these block PI-3, all need an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078992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50" b="0" i="0">
                <a:solidFill>
                  <a:srgbClr val="6B7280"/>
                </a:solidFill>
                <a:latin typeface="Calibri"/>
              </a:rPr>
              <a:t>PPL CMDB-CSDM  |  PI-3 Work Scheduled  |  ADO A-INFOPS\FY26\PI3  |  Aug 6,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207008"/>
            <a:ext cx="11155680" cy="77724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07008"/>
            <a:ext cx="128016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61872"/>
            <a:ext cx="283464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Sprint 3.4 clustering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261872"/>
            <a:ext cx="777240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All 5 Databases stories and all 6 Network Devices stories landed in Iteration 3.4 in ADO, rather than phased across 3.4→3.6 IP as drafted — 31 of 53 points in that sprint from these two features alone. Same pattern as CC-5 landing ahead of CC-4.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75688"/>
            <a:ext cx="11155680" cy="77724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075688"/>
            <a:ext cx="128016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130552"/>
            <a:ext cx="283464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Service Mapping placeholder titles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130552"/>
            <a:ext cx="777240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17 of the 39 “Gather/Build/Validate/Publish” stories under Feature 1517650 are still titled [PLACEHOLDER] — bulk-created template rows not yet filled in with a real app / data-source name. Flag to Adam Griffis.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944368"/>
            <a:ext cx="11155680" cy="77724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44368"/>
            <a:ext cx="128016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99232"/>
            <a:ext cx="283464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Possible duplicate stories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999232"/>
            <a:ext cx="777240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1508982 / 1513944 (no parent, no sprint assigned) look like duplicates of 1553978 / 1553980 (parented to Feature 1553982, Sprint 3.1, same titles). Not resolved — confirm in 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813048"/>
            <a:ext cx="11155680" cy="77724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813048"/>
            <a:ext cx="128016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67911"/>
            <a:ext cx="283464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1512084 still misplaced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3867911"/>
            <a:ext cx="777240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“Populate Assigned-to field in Computer Class” is parented to the Database Class Clean-up feature (1554951), not a Computer-class feature. Needs reparenting in 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681728"/>
            <a:ext cx="11155680" cy="77724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681728"/>
            <a:ext cx="128016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36592"/>
            <a:ext cx="283464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Unparented / no-sprint item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4736592"/>
            <a:ext cx="777240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1393089 “Requirement Gathering for Non-OT devices” (0 pts) has no parent feature and no sprint — ownership unclear.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550408"/>
            <a:ext cx="11155680" cy="777240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550408"/>
            <a:ext cx="128016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05272"/>
            <a:ext cx="283464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D2D2D"/>
                </a:solidFill>
                <a:latin typeface="Calibri"/>
              </a:rPr>
              <a:t>Points not yet visible in 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605272"/>
            <a:ext cx="7772400" cy="6675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Calibri"/>
              </a:rPr>
              <a:t>1537638 (Mandatory Attribute Population, Sprint 3.4), plus 4 PI-2 database clean-up stories and 2 Airlift stories — real load, but not counted in the 213-point total above.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