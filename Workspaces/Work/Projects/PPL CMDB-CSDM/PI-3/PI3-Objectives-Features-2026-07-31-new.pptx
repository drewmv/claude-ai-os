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PI-3 Plan - CMDB / CSDM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487168"/>
            <a:ext cx="106984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900" b="0" i="0">
                <a:solidFill>
                  <a:srgbClr val="C9D6E6"/>
                </a:solidFill>
                <a:latin typeface="Segoe UI"/>
              </a:rPr>
              <a:t>Objectives &amp; Features  ·  Objective View + Sprint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343400"/>
            <a:ext cx="1069848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4 objectives  ·  12 features (11 CO6-gated + 1 data-quality enabler)  ·  6 sprints (Aug 5 - Oct 27, 2026)</a:t>
            </a:r>
          </a:p>
          <a:p>
            <a:pPr algn="l"/>
            <a:r>
              <a:rPr sz="1400" b="0" i="0">
                <a:solidFill>
                  <a:srgbClr val="C9D6E6"/>
                </a:solidFill>
                <a:latin typeface="Segoe UI"/>
              </a:rPr>
              <a:t>CMDB / CSDM team focus area  -  a subset of CO6</a:t>
            </a:r>
          </a:p>
          <a:p>
            <a:pPr algn="l"/>
            <a:r>
              <a:rPr sz="1200" b="0" i="0">
                <a:solidFill>
                  <a:srgbClr val="9FB2CC"/>
                </a:solidFill>
                <a:latin typeface="Segoe UI"/>
              </a:rPr>
              <a:t>Manuel Vazquez  -  Scrum Master, CMDB-CSDM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943600"/>
            <a:ext cx="106984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7F8CA6"/>
                </a:solidFill>
                <a:latin typeface="Segoe UI"/>
              </a:rPr>
              <a:t>Source: Azure DevOps (A-INFOPS\FY26\PI3), as of Jul 31, 2026.  CMDB/CSDM focus area - a subset of CO6 (maps to 4 of the 7 CO6 objectives).  Stories column: user stories confirmed created in ADO under that feature.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PI-3 Objectives -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4 CMDB/CSDM objectives  ·  12 features (11 mapped to CO6, 1 data-quality enabler)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PI-3 Objectives &amp; Features  |  ADO A-INFOPS\FY26\PI3  |  Jul 31,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556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6172200"/>
                <a:gridCol w="1051560"/>
                <a:gridCol w="1554480"/>
                <a:gridCol w="594360"/>
                <a:gridCol w="1371600"/>
              </a:tblGrid>
              <a:tr h="49377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Objective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ADO ID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Owner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Feat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CO6  ·  delivery gates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>
                    <a:solidFill>
                      <a:srgbClr val="2E6DB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Automate Network Device Discovery in the CMDB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Automated credentialed discovery of all network device types, mandatory attribute population, and ≥90% owner-validated coverage.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1516954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M. Vazquez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F3A5F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CO6 Obj 4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6B7280"/>
                          </a:solidFill>
                          <a:latin typeface="Segoe UI"/>
                        </a:rPr>
                        <a:t>Aug 31 · Sep 30 · Oct 30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>
                    <a:solidFill>
                      <a:srgbClr val="2A9D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Build &amp; Validate Service Maps for Priority Business Apps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Owner-validated Silver- and Gold-tier service maps, with ≥75% of the business-service inventory represented.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1516955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A. Griffis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F3A5F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7A6E"/>
                          </a:solidFill>
                          <a:latin typeface="Segoe UI"/>
                        </a:rPr>
                        <a:t>CO6 Obj 5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6B7280"/>
                          </a:solidFill>
                          <a:latin typeface="Segoe UI"/>
                        </a:rPr>
                        <a:t>Aug 31 · Sep 30 · Oct 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>
                    <a:solidFill>
                      <a:srgbClr val="5B4B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Certify CMDB Data Across the Four Major CI Classes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End-to-end data certification - process, PROD build, dashboards, training - across Computers, Servers, Databases, Network Devices.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1516956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M. Vazquez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F3A5F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4A3D73"/>
                          </a:solidFill>
                          <a:latin typeface="Segoe UI"/>
                        </a:rPr>
                        <a:t>CO6 Obj 3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6B7280"/>
                          </a:solidFill>
                          <a:latin typeface="Segoe UI"/>
                        </a:rPr>
                        <a:t>Sep 30 · Oct 30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>
                    <a:solidFill>
                      <a:srgbClr val="E08A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Activate the ServiceNow → Qualys Attribute Sync in Production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One-way ServiceNow → Qualys sync of owner, support group, and SOX flag, live in production on a defined schedule.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1516957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M. Vazquez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F3A5F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B56E00"/>
                          </a:solidFill>
                          <a:latin typeface="Segoe UI"/>
                        </a:rPr>
                        <a:t>CO6 Obj 2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6B7280"/>
                          </a:solidFill>
                          <a:latin typeface="Segoe UI"/>
                        </a:rPr>
                        <a:t>Sep 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4160520"/>
            <a:ext cx="11155680" cy="777240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206240"/>
            <a:ext cx="1088136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1F3A5F"/>
                </a:solidFill>
                <a:latin typeface="Segoe UI"/>
              </a:rPr>
              <a:t>Source: Azure DevOps (A-INFOPS\FY26\PI3), as of Jul 31, 2026.  CMDB/CSDM focus area - a subset of CO6 (maps to 4 of the 7 CO6 objectives).  Stories column: user stories confirmed created in ADO under that feature.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Objective View - Features by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12 features grouped under their 4 parent objectives  ·  with CO6 delivery commitment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PI-3 Objectives &amp; Features  |  ADO A-INFOPS\FY26\PI3  |  Jul 31,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07008"/>
          <a:ext cx="11155679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5669280"/>
                <a:gridCol w="777240"/>
                <a:gridCol w="868680"/>
                <a:gridCol w="1051560"/>
                <a:gridCol w="1874519"/>
              </a:tblGrid>
              <a:tr h="29583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ADO ID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Feature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Sprint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Start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Stories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Delivery (CO6)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295835">
                <a:tc gridSpan="6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Automate Network Device Discovery in the CMDB   ·   ADO 1516954   ·   CO6 Obj 4   ·   Owner: M. Vazquez</a:t>
                      </a:r>
                    </a:p>
                  </a:txBody>
                  <a:tcPr anchor="ctr">
                    <a:solidFill>
                      <a:srgbClr val="2E6DB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9583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1516993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Automated Credentialed Discovery Live — All Network Device Types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3.1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Aug 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8B57"/>
                          </a:solidFill>
                          <a:latin typeface="Segoe UI"/>
                        </a:rPr>
                        <a:t>5 in ADO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8B57"/>
                          </a:solidFill>
                          <a:latin typeface="Segoe UI"/>
                        </a:rPr>
                        <a:t>Aug 31,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29583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1517005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Mandatory Attribute Population via Discovery — Network Devices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3.3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Sep 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8B57"/>
                          </a:solidFill>
                          <a:latin typeface="Segoe UI"/>
                        </a:rPr>
                        <a:t>5 in ADO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Sep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29583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1356646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Network Inventory Coverage Reconciliation &amp; Owner Validation (≥90%)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3.5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Sep 30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6B7280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C0392B"/>
                          </a:solidFill>
                          <a:latin typeface="Segoe UI"/>
                        </a:rPr>
                        <a:t>Oct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295835">
                <a:tc gridSpan="6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Build &amp; Validate Service Maps for Priority Business Apps   ·   ADO 1516955   ·   CO6 Obj 5   ·   Owner: A. Griffis</a:t>
                      </a:r>
                    </a:p>
                  </a:txBody>
                  <a:tcPr anchor="ctr">
                    <a:solidFill>
                      <a:srgbClr val="2A9D8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9583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1537867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Migration of Business Apps to Application Services (data-quality enabler — not a CO6 gate)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3.1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Aug 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6B7280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n/a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29583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1517650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Silver-Tier Service Maps (App → Infrastructure) + ≥75% Business-Service Inventory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3.1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Aug 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6B7280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8B57"/>
                          </a:solidFill>
                          <a:latin typeface="Segoe UI"/>
                        </a:rPr>
                        <a:t>Aug 31,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29583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1517655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Gold-Tier Service Maps (Service → App) + Silver Validation Pass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3.3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Sep 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6B7280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Sep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29583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1518000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Remaining Contractor-Managed Silver-Tier Maps + All-Silver Service → App Layer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3.5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Sep 30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6B7280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C0392B"/>
                          </a:solidFill>
                          <a:latin typeface="Segoe UI"/>
                        </a:rPr>
                        <a:t>Oct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295835">
                <a:tc gridSpan="6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Certify CMDB Data Across the Four Major CI Classes   ·   ADO 1516956   ·   CO6 Obj 3   ·   Owner: M. Vazquez</a:t>
                      </a:r>
                    </a:p>
                  </a:txBody>
                  <a:tcPr anchor="ctr">
                    <a:solidFill>
                      <a:srgbClr val="5B4B8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9583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1517029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Certify Computers — CMDB Data Certification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3.2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Aug 19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8B57"/>
                          </a:solidFill>
                          <a:latin typeface="Segoe UI"/>
                        </a:rPr>
                        <a:t>5 in ADO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Sep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29583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1517032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Certify Servers — CMDB Data Certification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3.2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Aug 19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8B57"/>
                          </a:solidFill>
                          <a:latin typeface="Segoe UI"/>
                        </a:rPr>
                        <a:t>5 in ADO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Sep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29583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1517037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Certify Databases — CMDB Data Certification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3.4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Sep 16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6B7280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C0392B"/>
                          </a:solidFill>
                          <a:latin typeface="Segoe UI"/>
                        </a:rPr>
                        <a:t>Oct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29583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1517040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Certify Network Devices — CMDB Data Certification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3.4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Sep 16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6B7280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C0392B"/>
                          </a:solidFill>
                          <a:latin typeface="Segoe UI"/>
                        </a:rPr>
                        <a:t>Oct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295835">
                <a:tc gridSpan="6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Activate the ServiceNow → Qualys Attribute Sync in Production   ·   ADO 1516957   ·   CO6 Obj 2   ·   Owner: M. Vazquez</a:t>
                      </a:r>
                    </a:p>
                  </a:txBody>
                  <a:tcPr anchor="ctr">
                    <a:solidFill>
                      <a:srgbClr val="E08A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958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1517065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Activate ServiceNow → Qualys Attribute Sync (PROD)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3.1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Aug 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6B7280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Sep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Sprint View - Features by Iteration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Which features land in which PI-3 sprint (by ADO Iteration Path)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PI-3 Objectives &amp; Features  |  ADO A-INFOPS\FY26\PI3  |  Jul 31,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80160"/>
          <a:ext cx="111556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965960"/>
                <a:gridCol w="502920"/>
                <a:gridCol w="7589520"/>
              </a:tblGrid>
              <a:tr h="692331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Sprint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Dates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Features  (ADO ID  ·  CO6 delivery date  ·  color = objective)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Aug 5 - Aug 18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1516993  ·  Automated Credentialed Discovery Live — All Network Device Types   —  CO6 due Aug 31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950" b="1" i="0">
                          <a:solidFill>
                            <a:srgbClr val="1F7A6E"/>
                          </a:solidFill>
                          <a:latin typeface="Segoe UI"/>
                        </a:rPr>
                        <a:t>1537867  ·  Migration of Business Apps to Application Services (data-quality enabler — not a CO6 gate)   —  CO6 due n/a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950" b="1" i="0">
                          <a:solidFill>
                            <a:srgbClr val="1F7A6E"/>
                          </a:solidFill>
                          <a:latin typeface="Segoe UI"/>
                        </a:rPr>
                        <a:t>1517650  ·  Silver-Tier Service Maps (App → Infrastructure) + ≥75% Business-Service Inventory   —  CO6 due Aug 31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950" b="1" i="0">
                          <a:solidFill>
                            <a:srgbClr val="B56E00"/>
                          </a:solidFill>
                          <a:latin typeface="Segoe UI"/>
                        </a:rPr>
                        <a:t>1517065  ·  Activate ServiceNow → Qualys Attribute Sync (PROD)   —  CO6 due Sep 30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Aug 19 - Sep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950" b="1" i="0">
                          <a:solidFill>
                            <a:srgbClr val="4A3D73"/>
                          </a:solidFill>
                          <a:latin typeface="Segoe UI"/>
                        </a:rPr>
                        <a:t>1517029  ·  Certify Computers — CMDB Data Certification   —  CO6 due Sep 30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950" b="1" i="0">
                          <a:solidFill>
                            <a:srgbClr val="4A3D73"/>
                          </a:solidFill>
                          <a:latin typeface="Segoe UI"/>
                        </a:rPr>
                        <a:t>1517032  ·  Certify Servers — CMDB Data Certification   —  CO6 due Sep 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Sep 2 - Sep 15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1517005  ·  Mandatory Attribute Population via Discovery — Network Devices   —  CO6 due Sep 30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950" b="1" i="0">
                          <a:solidFill>
                            <a:srgbClr val="1F7A6E"/>
                          </a:solidFill>
                          <a:latin typeface="Segoe UI"/>
                        </a:rPr>
                        <a:t>1517655  ·  Gold-Tier Service Maps (Service → App) + Silver Validation Pass   —  CO6 due Sep 30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Sep 16 - Sep 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950" b="1" i="0">
                          <a:solidFill>
                            <a:srgbClr val="4A3D73"/>
                          </a:solidFill>
                          <a:latin typeface="Segoe UI"/>
                        </a:rPr>
                        <a:t>1517037  ·  Certify Databases — CMDB Data Certification   —  CO6 due Oct 30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950" b="1" i="0">
                          <a:solidFill>
                            <a:srgbClr val="4A3D73"/>
                          </a:solidFill>
                          <a:latin typeface="Segoe UI"/>
                        </a:rPr>
                        <a:t>1517040  ·  Certify Network Devices — CMDB Data Certification   —  CO6 due Oct 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Sep 30 - Oct 13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1356646  ·  Network Inventory Coverage Reconciliation &amp; Owner Validation (≥90%)   —  CO6 due Oct 30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950" b="1" i="0">
                          <a:solidFill>
                            <a:srgbClr val="1F7A6E"/>
                          </a:solidFill>
                          <a:latin typeface="Segoe UI"/>
                        </a:rPr>
                        <a:t>1518000  ·  Remaining Contractor-Managed Silver-Tier Maps + All-Silver Service → App Layer   —  CO6 due Oct 30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6923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6B7280"/>
                          </a:solidFill>
                          <a:latin typeface="Segoe UI"/>
                        </a:rPr>
                        <a:t>Sprint 3.6 IP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Oct 14 - Oct 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6B7280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1">
                          <a:solidFill>
                            <a:srgbClr val="6B7280"/>
                          </a:solidFill>
                          <a:latin typeface="Segoe UI"/>
                        </a:rPr>
                        <a:t>— no features planned 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172200"/>
            <a:ext cx="111556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  <a:latin typeface="Segoe UI"/>
              </a:rPr>
              <a:t>Features span Sprints 3.1 - 3.5 (2-4 each); the 3.6 IP iteration holds none. Every CO6-gated feature completes in a sprint ending before its CO6 delivery date (1537867 is a data-quality enabler with no CO6 gate).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Delivery Commitments - CO6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Every feature delivers a CO6 acceptance criterion; its completion date is the delivery commitment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PI-3 Objectives &amp; Features  |  ADO A-INFOPS\FY26\PI3  |  Jul 31,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88720"/>
          <a:ext cx="111556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6537960"/>
                <a:gridCol w="1920240"/>
                <a:gridCol w="1737360"/>
              </a:tblGrid>
              <a:tr h="3048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ADO ID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Feature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Objective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Scheduled sprint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04800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Aug 31, 2026   ·   2 features   ·   delivered in Sprint 3.1 (ends Aug 18)  ·  ahead of the commitment</a:t>
                      </a:r>
                    </a:p>
                  </a:txBody>
                  <a:tcPr anchor="ctr">
                    <a:solidFill>
                      <a:srgbClr val="2E8B5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048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1516993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Automated Credentialed Discovery Live — All Network Device Types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Network Discovery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1517650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Silver-Tier Service Maps (App → Infrastructure) + ≥75% Business-Service Inventory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7A6E"/>
                          </a:solidFill>
                          <a:latin typeface="Segoe UI"/>
                        </a:rPr>
                        <a:t>Service Maps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04800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Sep 30, 2026   ·   5 features   ·   delivered in Sprints 3.1 - 3.3 (end by Sep 15)  ·  ahead of the commitment</a:t>
                      </a:r>
                    </a:p>
                  </a:txBody>
                  <a:tcPr anchor="ctr">
                    <a:solidFill>
                      <a:srgbClr val="2E6DB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048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1517005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Mandatory Attribute Population via Discovery — Network Devices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Network Discovery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1517655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Gold-Tier Service Maps (Service → App) + Silver Validation Pass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7A6E"/>
                          </a:solidFill>
                          <a:latin typeface="Segoe UI"/>
                        </a:rPr>
                        <a:t>Service Maps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1517029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Certify Computers — CMDB Data Certification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4A3D73"/>
                          </a:solidFill>
                          <a:latin typeface="Segoe UI"/>
                        </a:rPr>
                        <a:t>Data Certification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1517032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Certify Servers — CMDB Data Certification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4A3D73"/>
                          </a:solidFill>
                          <a:latin typeface="Segoe UI"/>
                        </a:rPr>
                        <a:t>Data Certification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1517065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Activate ServiceNow → Qualys Attribute Sync (PROD)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B56E00"/>
                          </a:solidFill>
                          <a:latin typeface="Segoe UI"/>
                        </a:rPr>
                        <a:t>Qualys Sync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04800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Oct 30, 2026   ·   4 features   ·   delivered in Sprints 3.4 - 3.5 (end by Oct 13)  ·  ahead of the Oct 30 date (after PI-3 close, Oct 27)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048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1356646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Network Inventory Coverage Reconciliation &amp; Owner Validation (≥90%)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Network Discovery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1518000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Remaining Contractor-Managed Silver-Tier Maps + All-Silver Service → App Layer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7A6E"/>
                          </a:solidFill>
                          <a:latin typeface="Segoe UI"/>
                        </a:rPr>
                        <a:t>Service Maps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1517037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Certify Databases — CMDB Data Certification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4A3D73"/>
                          </a:solidFill>
                          <a:latin typeface="Segoe UI"/>
                        </a:rPr>
                        <a:t>Data Certification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3.4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1517040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Certify Network Devices — CMDB Data Certification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4A3D73"/>
                          </a:solidFill>
                          <a:latin typeface="Segoe UI"/>
                        </a:rPr>
                        <a:t>Data Certification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Sprint 3.4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2E8B57"/>
                </a:solidFill>
                <a:latin typeface="Segoe UI"/>
              </a:rPr>
              <a:t>CO6 check: every feature is scheduled in a sprint that ends before its delivery date - the ADO plan fits within CO6.</a:t>
            </a:r>
          </a:p>
          <a:p>
            <a:pPr algn="l"/>
            <a:r>
              <a:rPr sz="950" b="0" i="1">
                <a:solidFill>
                  <a:srgbClr val="6B7280"/>
                </a:solidFill>
                <a:latin typeface="Segoe UI"/>
              </a:rPr>
              <a:t>Oct 30 gates fall after PI-3 close (Oct 27); those features complete by Sprint 3.5 (Oct 13), leaving the 3.6 IP iteration as validation buffer.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PI-3 Program 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Features across the 6 sprints  ·  color-coded by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PI-3 Objectives &amp; Features  |  ADO A-INFOPS\FY26\PI3  |  Jul 31,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1767840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71016"/>
            <a:ext cx="176784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Sprint 3.1</a:t>
            </a:r>
          </a:p>
          <a:p>
            <a:pPr algn="ctr"/>
            <a:r>
              <a:rPr sz="800" b="0" i="0">
                <a:solidFill>
                  <a:srgbClr val="C9D6E6"/>
                </a:solidFill>
                <a:latin typeface="Segoe UI"/>
              </a:rPr>
              <a:t>Aug 5 - Aug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11096"/>
            <a:ext cx="1767840" cy="713232"/>
          </a:xfrm>
          <a:prstGeom prst="round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1938528"/>
            <a:ext cx="1658112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Discovery Live — all device types</a:t>
            </a:r>
          </a:p>
          <a:p>
            <a:pPr algn="l"/>
            <a:r>
              <a:rPr sz="700" b="0" i="0">
                <a:solidFill>
                  <a:srgbClr val="E4ECF6"/>
                </a:solidFill>
                <a:latin typeface="Segoe UI"/>
              </a:rPr>
              <a:t>ADO 1516993</a:t>
            </a:r>
          </a:p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CO6 due Aug 31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97480"/>
            <a:ext cx="1767840" cy="713232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" y="2724912"/>
            <a:ext cx="1658112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BA → App Service Migration (enabler)</a:t>
            </a:r>
          </a:p>
          <a:p>
            <a:pPr algn="l"/>
            <a:r>
              <a:rPr sz="700" b="0" i="0">
                <a:solidFill>
                  <a:srgbClr val="E4ECF6"/>
                </a:solidFill>
                <a:latin typeface="Segoe UI"/>
              </a:rPr>
              <a:t>ADO 1537867</a:t>
            </a:r>
          </a:p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CO6 due n/a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83864"/>
            <a:ext cx="1767840" cy="713232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" y="3511296"/>
            <a:ext cx="1658112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Silver-Tier Maps + ≥75% Inventory</a:t>
            </a:r>
          </a:p>
          <a:p>
            <a:pPr algn="l"/>
            <a:r>
              <a:rPr sz="700" b="0" i="0">
                <a:solidFill>
                  <a:srgbClr val="E4ECF6"/>
                </a:solidFill>
                <a:latin typeface="Segoe UI"/>
              </a:rPr>
              <a:t>ADO 1517650</a:t>
            </a:r>
          </a:p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CO6 due Aug 31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270248"/>
            <a:ext cx="1767840" cy="713232"/>
          </a:xfrm>
          <a:prstGeom prst="round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" y="4297680"/>
            <a:ext cx="1658112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Activate SN→Qualys Sync (PROD)</a:t>
            </a:r>
          </a:p>
          <a:p>
            <a:pPr algn="l"/>
            <a:r>
              <a:rPr sz="700" b="0" i="0">
                <a:solidFill>
                  <a:srgbClr val="E4ECF6"/>
                </a:solidFill>
                <a:latin typeface="Segoe UI"/>
              </a:rPr>
              <a:t>ADO 1517065</a:t>
            </a:r>
          </a:p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CO6 due Sep 30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80488" y="1234440"/>
            <a:ext cx="1767840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80488" y="1271016"/>
            <a:ext cx="176784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Sprint 3.2</a:t>
            </a:r>
          </a:p>
          <a:p>
            <a:pPr algn="ctr"/>
            <a:r>
              <a:rPr sz="800" b="0" i="0">
                <a:solidFill>
                  <a:srgbClr val="C9D6E6"/>
                </a:solidFill>
                <a:latin typeface="Segoe UI"/>
              </a:rPr>
              <a:t>Aug 19 - Sep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80488" y="1911096"/>
            <a:ext cx="1767840" cy="713232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35352" y="1938528"/>
            <a:ext cx="1658112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Certify Computers</a:t>
            </a:r>
          </a:p>
          <a:p>
            <a:pPr algn="l"/>
            <a:r>
              <a:rPr sz="700" b="0" i="0">
                <a:solidFill>
                  <a:srgbClr val="E4ECF6"/>
                </a:solidFill>
                <a:latin typeface="Segoe UI"/>
              </a:rPr>
              <a:t>ADO 1517029</a:t>
            </a:r>
          </a:p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CO6 due Sep 30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80488" y="2697480"/>
            <a:ext cx="1767840" cy="713232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35352" y="2724912"/>
            <a:ext cx="1658112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Certify Servers</a:t>
            </a:r>
          </a:p>
          <a:p>
            <a:pPr algn="l"/>
            <a:r>
              <a:rPr sz="700" b="0" i="0">
                <a:solidFill>
                  <a:srgbClr val="E4ECF6"/>
                </a:solidFill>
                <a:latin typeface="Segoe UI"/>
              </a:rPr>
              <a:t>ADO 1517032</a:t>
            </a:r>
          </a:p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CO6 due Sep 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8056" y="1234440"/>
            <a:ext cx="1767840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8056" y="1271016"/>
            <a:ext cx="176784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Sprint 3.3</a:t>
            </a:r>
          </a:p>
          <a:p>
            <a:pPr algn="ctr"/>
            <a:r>
              <a:rPr sz="800" b="0" i="0">
                <a:solidFill>
                  <a:srgbClr val="C9D6E6"/>
                </a:solidFill>
                <a:latin typeface="Segoe UI"/>
              </a:rPr>
              <a:t>Sep 2 - Sep 15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8056" y="1911096"/>
            <a:ext cx="1767840" cy="713232"/>
          </a:xfrm>
          <a:prstGeom prst="round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2919" y="1938528"/>
            <a:ext cx="1658112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Mandatory Attribute Population</a:t>
            </a:r>
          </a:p>
          <a:p>
            <a:pPr algn="l"/>
            <a:r>
              <a:rPr sz="700" b="0" i="0">
                <a:solidFill>
                  <a:srgbClr val="E4ECF6"/>
                </a:solidFill>
                <a:latin typeface="Segoe UI"/>
              </a:rPr>
              <a:t>ADO 1517005</a:t>
            </a:r>
          </a:p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CO6 due Sep 30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8056" y="2697480"/>
            <a:ext cx="1767840" cy="713232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12919" y="2724912"/>
            <a:ext cx="1658112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Gold-Tier Maps + Silver Validation</a:t>
            </a:r>
          </a:p>
          <a:p>
            <a:pPr algn="l"/>
            <a:r>
              <a:rPr sz="700" b="0" i="0">
                <a:solidFill>
                  <a:srgbClr val="E4ECF6"/>
                </a:solidFill>
                <a:latin typeface="Segoe UI"/>
              </a:rPr>
              <a:t>ADO 1517655</a:t>
            </a:r>
          </a:p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CO6 due Sep 30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35624" y="1234440"/>
            <a:ext cx="1767840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35624" y="1271016"/>
            <a:ext cx="176784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Sprint 3.4</a:t>
            </a:r>
          </a:p>
          <a:p>
            <a:pPr algn="ctr"/>
            <a:r>
              <a:rPr sz="800" b="0" i="0">
                <a:solidFill>
                  <a:srgbClr val="C9D6E6"/>
                </a:solidFill>
                <a:latin typeface="Segoe UI"/>
              </a:rPr>
              <a:t>Sep 16 - Sep 29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35624" y="1911096"/>
            <a:ext cx="1767840" cy="713232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0488" y="1938528"/>
            <a:ext cx="1658112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Certify Databases</a:t>
            </a:r>
          </a:p>
          <a:p>
            <a:pPr algn="l"/>
            <a:r>
              <a:rPr sz="700" b="0" i="0">
                <a:solidFill>
                  <a:srgbClr val="E4ECF6"/>
                </a:solidFill>
                <a:latin typeface="Segoe UI"/>
              </a:rPr>
              <a:t>ADO 1517037</a:t>
            </a:r>
          </a:p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CO6 due Oct 30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35624" y="2697480"/>
            <a:ext cx="1767840" cy="713232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90488" y="2724912"/>
            <a:ext cx="1658112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Certify Network Devices</a:t>
            </a:r>
          </a:p>
          <a:p>
            <a:pPr algn="l"/>
            <a:r>
              <a:rPr sz="700" b="0" i="0">
                <a:solidFill>
                  <a:srgbClr val="E4ECF6"/>
                </a:solidFill>
                <a:latin typeface="Segoe UI"/>
              </a:rPr>
              <a:t>ADO 1517040</a:t>
            </a:r>
          </a:p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CO6 due Oct 30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13192" y="1234440"/>
            <a:ext cx="1767840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13192" y="1271016"/>
            <a:ext cx="176784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Sprint 3.5</a:t>
            </a:r>
          </a:p>
          <a:p>
            <a:pPr algn="ctr"/>
            <a:r>
              <a:rPr sz="800" b="0" i="0">
                <a:solidFill>
                  <a:srgbClr val="C9D6E6"/>
                </a:solidFill>
                <a:latin typeface="Segoe UI"/>
              </a:rPr>
              <a:t>Sep 30 - Oct 13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13192" y="1911096"/>
            <a:ext cx="1767840" cy="713232"/>
          </a:xfrm>
          <a:prstGeom prst="round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68056" y="1938528"/>
            <a:ext cx="1658112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Coverage Reconciliation ≥90%</a:t>
            </a:r>
          </a:p>
          <a:p>
            <a:pPr algn="l"/>
            <a:r>
              <a:rPr sz="700" b="0" i="0">
                <a:solidFill>
                  <a:srgbClr val="E4ECF6"/>
                </a:solidFill>
                <a:latin typeface="Segoe UI"/>
              </a:rPr>
              <a:t>ADO 1356646</a:t>
            </a:r>
          </a:p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CO6 due Oct 30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13192" y="2697480"/>
            <a:ext cx="1767840" cy="713232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68056" y="2724912"/>
            <a:ext cx="1658112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Remaining Silver + Svc→App</a:t>
            </a:r>
          </a:p>
          <a:p>
            <a:pPr algn="l"/>
            <a:r>
              <a:rPr sz="700" b="0" i="0">
                <a:solidFill>
                  <a:srgbClr val="E4ECF6"/>
                </a:solidFill>
                <a:latin typeface="Segoe UI"/>
              </a:rPr>
              <a:t>ADO 1518000</a:t>
            </a:r>
          </a:p>
          <a:p>
            <a:pPr algn="l"/>
            <a:r>
              <a:rPr sz="750" b="1" i="0">
                <a:solidFill>
                  <a:srgbClr val="FFFFFF"/>
                </a:solidFill>
                <a:latin typeface="Segoe UI"/>
              </a:rPr>
              <a:t>CO6 due Oct 30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90760" y="1234440"/>
            <a:ext cx="1767840" cy="56692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90760" y="1271016"/>
            <a:ext cx="176784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Sprint 3.6 IP</a:t>
            </a:r>
          </a:p>
          <a:p>
            <a:pPr algn="ctr"/>
            <a:r>
              <a:rPr sz="800" b="0" i="0">
                <a:solidFill>
                  <a:srgbClr val="C9D6E6"/>
                </a:solidFill>
                <a:latin typeface="Segoe UI"/>
              </a:rPr>
              <a:t>Oct 14 - Oct 27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90760" y="1911096"/>
            <a:ext cx="176784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90760" y="1911096"/>
            <a:ext cx="176784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Segoe UI"/>
              </a:rPr>
              <a:t>— none 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035040"/>
            <a:ext cx="9144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1" i="0">
                <a:solidFill>
                  <a:srgbClr val="2D2D2D"/>
                </a:solidFill>
                <a:latin typeface="Segoe UI"/>
              </a:rPr>
              <a:t>Objective: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63040" y="6053328"/>
            <a:ext cx="219456" cy="21945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737360" y="6025896"/>
            <a:ext cx="237744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Network Discovery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69080" y="6053328"/>
            <a:ext cx="219456" cy="21945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43400" y="6025896"/>
            <a:ext cx="237744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Service Maps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75120" y="6053328"/>
            <a:ext cx="219456" cy="219456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6025896"/>
            <a:ext cx="237744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Data Certification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81160" y="6053328"/>
            <a:ext cx="219456" cy="219456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55480" y="6025896"/>
            <a:ext cx="237744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Qualys Sync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