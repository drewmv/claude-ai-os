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PI-3 Objectives - CMDB / CSDM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14600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900" b="0" i="0">
                <a:solidFill>
                  <a:srgbClr val="C9D6E6"/>
                </a:solidFill>
                <a:latin typeface="Segoe UI"/>
              </a:rPr>
              <a:t>Four proposed objectives  ·  SMART, mapped to CO6 v3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1069848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Network Gear  ·  Service Mapping  ·  CMDB Governance  ·  Qualys Integration</a:t>
            </a:r>
          </a:p>
          <a:p>
            <a:pPr algn="l"/>
            <a:r>
              <a:rPr sz="1400" b="0" i="0">
                <a:solidFill>
                  <a:srgbClr val="C9D6E6"/>
                </a:solidFill>
                <a:latin typeface="Segoe UI"/>
              </a:rPr>
              <a:t>PI-3 window: Aug 5 - Oct 27, 2026   ·   for PI Planning (Jul 22 - Aug 4)</a:t>
            </a:r>
          </a:p>
          <a:p>
            <a:pPr algn="l"/>
            <a:r>
              <a:rPr sz="1200" b="0" i="0">
                <a:solidFill>
                  <a:srgbClr val="9FB2CC"/>
                </a:solidFill>
                <a:latin typeface="Segoe UI"/>
              </a:rPr>
              <a:t>Manuel Vazquez  -  Scrum Master, CMDB-CSDM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43600"/>
            <a:ext cx="1069848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7F8CA6"/>
                </a:solidFill>
                <a:latin typeface="Segoe UI"/>
              </a:rPr>
              <a:t>Proposed for PI Planning - Business Value set by Business Owners.  Grounded in the authoritative CO6 v3.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PI-3 Objectives -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Four objectives, each mapped to a CO6 v3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(proposed)  |  CO6 v3  -  Jul 12,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200400"/>
                <a:gridCol w="2468880"/>
                <a:gridCol w="2834640"/>
                <a:gridCol w="914400"/>
                <a:gridCol w="1280160"/>
              </a:tblGrid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Objective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CO6 v3 deliverable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Measurable target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Gate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Commit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Automate Network Device Discovery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v3 #1  Network Gear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0 failed auth · &gt;=90% coverage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Oct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Mixed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Build &amp; Validate Service 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v3 #2  Service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15 Silver + Gold · &gt;=75% inventory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Oct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Stretch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Certify CMDB Data (4 CI classes)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v3 #4  CMDB Governance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4 CI classes certified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Oct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Committed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Activate ServiceNow-&gt;Qualys 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v3 #3  Qualys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Live in PROD · scheduled 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Sep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Committed*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297680"/>
            <a:ext cx="111556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* Obj 4 committable only if the Qualys plug-in is confirmed.  Mixed = later gate is a stretch (Obj 1 90% coverage).  Proposed for PI Planning - Business Value set by Business Owners.  Grounded in the authoritative CO6 v3.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Objective 1  -  Automate Network Device Discovery in the CMDB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Maps to CO6 v3 Deliverable #1 (Network Gear Discovery)   ·   Committed to Sep 30; 90% = Stretch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(proposed)  |  CO6 v3  -  Jul 12,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11155680" cy="54864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24712"/>
            <a:ext cx="10881360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1F3A5F"/>
                </a:solidFill>
                <a:latin typeface="Segoe UI"/>
              </a:rPr>
              <a:t>Enable automated discovery of all in-scope network device types with validated credentials (0 failed auth) and active schedules by Aug 31, 100% of mandatory attributes by Sep 30, and &gt;=90% of the business-owner-validated device inventory in the CMDB by Oct 30.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55648"/>
          <a:ext cx="111556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9372600"/>
              </a:tblGrid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S  ·  Specific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Named device types (routers, switches, firewalls, load balancers, WAPs, controllers); creds, schedules, attributes, coverage.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M  ·  Measurable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0 failed authentications; 0 blank mandatory attributes; &gt;=90% vs an owner-validated inventory.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A  ·  Achievable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C0392B"/>
                          </a:solidFill>
                          <a:latin typeface="Segoe UI"/>
                        </a:rPr>
                        <a:t>At risk - credential distribution is an unsolved CO6 risk; 90% by Oct 30 is aggressive.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R  ·  Relevant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CMDB completeness and incident impact analysis.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T  ·  Time-bound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31 -&gt; Sep 30 -&gt; Oct 30 (Oct 30 lands just after PI-3 ends Oct 27).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529584"/>
          <a:ext cx="11155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0"/>
                <a:gridCol w="237744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 (CO6 v3)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Target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•  Device types discovered via validated credentials - no failed authentications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•  Discovery schedules active on defined intervals; CMDB auto-updated each cycle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Aug 31,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All mandatory CMDB attributes populated via discovery - none blank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&gt;=90% of expected inventory in the CMDB, validated by business owners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440680"/>
            <a:ext cx="11155680" cy="841248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477256"/>
            <a:ext cx="10881360" cy="7680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5A4A2A"/>
                </a:solidFill>
                <a:latin typeface="Segoe UI"/>
              </a:rPr>
              <a:t>Lock before planning</a:t>
            </a:r>
          </a:p>
          <a:p>
            <a:pPr algn="l"/>
            <a:r>
              <a:rPr sz="1000" b="0" i="0">
                <a:solidFill>
                  <a:srgbClr val="5A4A2A"/>
                </a:solidFill>
                <a:latin typeface="Segoe UI"/>
              </a:rPr>
              <a:t>Prove credential distribution on a pilot subnet before committing 90%. Define the coverage denominator (authoritative device list).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Objective 2  -  Build &amp; Validate Service Maps for Priority Business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Maps to CO6 v3 Deliverable #2 (Service Mapping)   ·   Stretch (app-owner dependency)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(proposed)  |  CO6 v3  -  Jul 12,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11155680" cy="54864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24712"/>
            <a:ext cx="10881360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1F3A5F"/>
                </a:solidFill>
                <a:latin typeface="Segoe UI"/>
              </a:rPr>
              <a:t>Deliver owner-validated, ServiceNow-consumable service maps - 15 Silver-tier apps (app-&gt;infra) and &gt;=75% of the business-service inventory by Aug 31, Gold-tier (service-&gt;app) maps by Sep 30, and the remaining Contractor-managed Silver-tier maps by Oct 30.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55648"/>
          <a:ext cx="111556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9372600"/>
              </a:tblGrid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S  ·  Specific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Tiered targets; two mapping layers (app-&gt;infra, service-&gt;app); owner validation; consumable in ServiceNow.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M  ·  Measurable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15 Silver-tier maps; Gold-tier maps; &gt;=75% business-service inventory.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A  ·  Achievable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C0392B"/>
                          </a:solidFill>
                          <a:latin typeface="Segoe UI"/>
                        </a:rPr>
                        <a:t>Highest risk - depends on app-owner availability and business services being defined before start.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R  ·  Relevant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Faster incident triage and change-impact assessment; lower MTTR.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T  ·  Time-bound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Aug 31 / Sep 30 / Oct 30.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529584"/>
          <a:ext cx="11155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0"/>
                <a:gridCol w="237744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 (CO6 v3)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Target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•  15 Silver-tier maps (business app -&gt; infrastructure), owner-validated, teams enabled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•  &gt;=75% business-service inventory represented, owner-validated  (*assumes services defined prior to start)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Aug 31,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•  15 Silver-tier maps: additional validation pass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•  Gold-tier maps (business service -&gt; business application), owner-validated, teams enabled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•  Remaining Contractor-managed Silver-tier maps (app -&gt; infra)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•  Silver-tier maps (business service -&gt; business application)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440680"/>
            <a:ext cx="11155680" cy="841248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477256"/>
            <a:ext cx="10881360" cy="7680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5A4A2A"/>
                </a:solidFill>
                <a:latin typeface="Segoe UI"/>
              </a:rPr>
              <a:t>Lock before planning</a:t>
            </a:r>
          </a:p>
          <a:p>
            <a:pPr algn="l"/>
            <a:r>
              <a:rPr sz="1000" b="0" i="0">
                <a:solidFill>
                  <a:srgbClr val="5A4A2A"/>
                </a:solidFill>
                <a:latin typeface="Segoe UI"/>
              </a:rPr>
              <a:t>Secure the app-owner list before Aug 5. Consider committing 8-10 Silver as the first gate; full 15 + Gold as stretch.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Objective 3  -  Certify CMDB Data Across the Four Major CI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Maps to CO6 v3 Deliverable #4 (CMDB Governance)   ·   Committed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(proposed)  |  CO6 v3  -  Jul 12,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11155680" cy="54864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24712"/>
            <a:ext cx="10881360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1F3A5F"/>
                </a:solidFill>
                <a:latin typeface="Segoe UI"/>
              </a:rPr>
              <a:t>Stand up an end-to-end data certification process - documented flow, technical build in production, tracking dashboards, and delivered training - for Computers and Servers by Sep 30 and Databases and Network Devices by Oct 30.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55648"/>
          <a:ext cx="111556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9372600"/>
              </a:tblGrid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S  ·  Specific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4 CI classes; each = process flow + PROD build + dashboards + training.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M  ·  Measurable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4 classes fully certified (4 artifacts each).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A  ·  Achievable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C0392B"/>
                          </a:solidFill>
                          <a:latin typeface="Segoe UI"/>
                        </a:rPr>
                        <a:t>Depends on PI-2 carryover: Data Dictionary CCB approval (Jul 21) + audit-dashboard spikes.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R  ·  Relevant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Audit-readiness and a trustworthy CMDB for change / incident / regulatory decisions.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T  ·  Time-bound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Computers &amp; Servers Sep 30; Databases &amp; Network Devices Oct 30.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529584"/>
          <a:ext cx="11155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0"/>
                <a:gridCol w="237744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 (CO6 v3)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Target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•  Data certification for Computers - process flow, PROD build, dashboards, training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•  Data certification for Servers - same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•  Data certification for Databases - same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•  Data certification for Network Devices - same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Oct 30,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440680"/>
            <a:ext cx="11155680" cy="841248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477256"/>
            <a:ext cx="10881360" cy="7680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5A4A2A"/>
                </a:solidFill>
                <a:latin typeface="Segoe UI"/>
              </a:rPr>
              <a:t>Lock before planning</a:t>
            </a:r>
          </a:p>
          <a:p>
            <a:pPr algn="l"/>
            <a:r>
              <a:rPr sz="1000" b="0" i="0">
                <a:solidFill>
                  <a:srgbClr val="5A4A2A"/>
                </a:solidFill>
                <a:latin typeface="Segoe UI"/>
              </a:rPr>
              <a:t>Close the PI-2 carryover gates before PI-3 starts, or Sprint-1 is blocked.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Objective 4  -  Activate the ServiceNow -&gt; Qualys Attribute Sync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Maps to CO6 v3 Deliverable #3 (Qualys Integration)   ·   Committed (contingent on plug-in)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(proposed)  |  CO6 v3  -  Jul 12,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11155680" cy="54864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24712"/>
            <a:ext cx="10881360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1F3A5F"/>
                </a:solidFill>
                <a:latin typeface="Segoe UI"/>
              </a:rPr>
              <a:t>Configure, test, and deploy to production a one-way ServiceNow -&gt; Qualys integration that automatically synchronizes CI owner, support group, and SOX flag on a defined schedule with zero manual handoffs, by Sep 30.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55648"/>
          <a:ext cx="111556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9372600"/>
              </a:tblGrid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S  ·  Specific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One integration; direction ServiceNow -&gt; Qualys; three fields (owner, support group, SOX flag).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M  ·  Measurable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Live in production; scheduled sync; 0 manual handoffs.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A  ·  Achievable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C0392B"/>
                          </a:solidFill>
                          <a:latin typeface="Segoe UI"/>
                        </a:rPr>
                        <a:t>Contingent on the Qualys plug-in; stories 1428703/1428704 are blocked and scoped for the old direction.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R  ·  Relevant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Ties vulnerability data to the right owners and compliance context; audit readiness.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T  ·  Time-bound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Sep 30 - single mid-PI gate.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529584"/>
          <a:ext cx="1115568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0"/>
                <a:gridCol w="237744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Acceptance criteria (CO6 v3)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Target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One-way ServiceNow -&gt; Qualys integration configured, tested, live in PROD; owner, support group &amp; SOX flag auto-synchronized on a defined schedule, no manual handoffs  (*assumes the required Qualys plug-in is available)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E6DB4"/>
                          </a:solidFill>
                          <a:latin typeface="Segoe UI"/>
                        </a:rPr>
                        <a:t>Sep 30, 2026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440680"/>
            <a:ext cx="11155680" cy="841248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5477256"/>
            <a:ext cx="10881360" cy="7680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5A4A2A"/>
                </a:solidFill>
                <a:latin typeface="Segoe UI"/>
              </a:rPr>
              <a:t>Lock before planning</a:t>
            </a:r>
          </a:p>
          <a:p>
            <a:pPr algn="l"/>
            <a:r>
              <a:rPr sz="1000" b="0" i="0">
                <a:solidFill>
                  <a:srgbClr val="5A4A2A"/>
                </a:solidFill>
                <a:latin typeface="Segoe UI"/>
              </a:rPr>
              <a:t>Confirm the Qualys plug-in is available; re-scope stories 1428703 / 1428704 to the ServiceNow -&gt; Qualys direction.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Gate Timeline - PI-3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When each objective's acceptance lands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(proposed)  |  CO6 v3  -  Jul 12,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863840"/>
                <a:gridCol w="1920240"/>
              </a:tblGrid>
              <a:tr h="4937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When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What's due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Objectives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Aug 31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Network Gear (creds + schedules)  ·  Service Mapping (15 Silver + &gt;=75% inventory)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Obj 1, 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Sep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Qualys live in PROD  ·  Data cert (Computers, Servers)  ·  Network attributes  ·  Service Mapping (Gold + Silver pass)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Obj 1, 2, 3,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C0392B"/>
                          </a:solidFill>
                          <a:latin typeface="Segoe UI"/>
                        </a:rPr>
                        <a:t>Oct 27</a:t>
                      </a:r>
                    </a:p>
                  </a:txBody>
                  <a:tcPr anchor="ctr">
                    <a:solidFill>
                      <a:srgbClr val="FBEE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5A4A2A"/>
                          </a:solidFill>
                          <a:latin typeface="Segoe UI"/>
                        </a:rPr>
                        <a:t>PI-3 ends</a:t>
                      </a:r>
                    </a:p>
                  </a:txBody>
                  <a:tcPr anchor="ctr">
                    <a:solidFill>
                      <a:srgbClr val="FBEE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>
                    <a:solidFill>
                      <a:srgbClr val="FBEEDB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Oct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Network 90%  ·  Service Mapping (remaining Silver + service-&gt;app)  ·  Data cert (Databases, Network)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Obj 1, 2,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4114800"/>
            <a:ext cx="11155680" cy="731520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160520"/>
            <a:ext cx="108813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5A4A2A"/>
                </a:solidFill>
                <a:latin typeface="Segoe UI"/>
              </a:rPr>
              <a:t>The Oct 30 gates land ~3 days after PI-3 ends (Oct 27) - plan them into the final sprint / IP iteration.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Lock These Before PI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Each turns an objective from aspirational to genuinely Achievable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(proposed)  |  CO6 v3  -  Jul 12,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  <a:gridCol w="2560320"/>
              </a:tblGrid>
              <a:tr h="5181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Lock before Aug 5 / PI Planning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Threatens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1F3A5F"/>
                          </a:solidFill>
                          <a:latin typeface="Segoe UI"/>
                        </a:rPr>
                        <a:t>Qualys plug-in confirmed available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Obj 4 (stories 1428703/04 blocked)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Stan / Rich Santillo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1F3A5F"/>
                          </a:solidFill>
                          <a:latin typeface="Segoe UI"/>
                        </a:rPr>
                        <a:t>Re-scope Qualys stories to ServiceNow -&gt; Qualys direction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Obj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Stan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1F3A5F"/>
                          </a:solidFill>
                          <a:latin typeface="Segoe UI"/>
                        </a:rPr>
                        <a:t>App-owner list secured (Silver / Gold tiers)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Obj 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Tanzeel / Joe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1F3A5F"/>
                          </a:solidFill>
                          <a:latin typeface="Segoe UI"/>
                        </a:rPr>
                        <a:t>PI-2 carryover: Data Dictionary CCB approval (Jul 21) + audit spikes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Obj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Manuel / Josh Sterling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1F3A5F"/>
                          </a:solidFill>
                          <a:latin typeface="Segoe UI"/>
                        </a:rPr>
                        <a:t>Credential-distribution approach proven on a pilot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Obj 1 (90% coverage)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Stan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029200"/>
            <a:ext cx="11155680" cy="86868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084064"/>
            <a:ext cx="1088136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A commitment isn't real until its dependency is closed - resolve these before committing at PI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