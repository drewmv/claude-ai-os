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CMDB Governance &amp; Lifecycle Advisory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106984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Status Update Aligned to Audit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99232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9FB2CC"/>
                </a:solidFill>
                <a:latin typeface="Segoe UI"/>
              </a:rPr>
              <a:t>Data Completeness &amp; Accuracy  -  Governance Structure  -  Stakeholder Engagement (OCM)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August 20, 2026</a:t>
            </a:r>
          </a:p>
          <a:p>
            <a:pPr algn="l"/>
            <a:r>
              <a:rPr sz="1350" b="0" i="0">
                <a:solidFill>
                  <a:srgbClr val="C9D6E6"/>
                </a:solidFill>
                <a:latin typeface="Segoe UI"/>
              </a:rPr>
              <a:t>Corporate Audit Services engagement: CMDB Governance and Lifecycle Advisory Review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Product Owner,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Audit Objective 1 - Data Completeness &amp;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Corporate Audit Services  |  CMDB Governance and Lifecycle Advisory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CMDB Governance &amp; Lifecycle Advisory Review - Status Update  |  Aug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CCB-Ratified Jul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Approved Data Dictionary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CMP Stage 1 defines Mandatory / Audited attributes for all 4 core CI classes - the agreed standard for completeness and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4 CI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7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Data Certification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7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End-to-end process, PROD build, dashboards, and training. Computers &amp; Servers gate Sep 30; Databases &amp; Network Devices gate Oct 30.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Computer, Server, Network -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Automated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SCCM/Discovery precedence live for Computer &amp; Server; credentialed discovery validated for Routers, Switches, and Firewalls.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19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3566160"/>
            <a:ext cx="5440679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7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E08A00"/>
                </a:solidFill>
                <a:latin typeface="Segoe UI"/>
              </a:rPr>
              <a:t>2 Active Blockers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7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Open Data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Database discovery credential issue (Active, 8 pts) and network device coverage for 3 of 6 device types plus scheduling automation - both tracked toward their gates.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15000"/>
            <a:ext cx="11155680" cy="5943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Objective 1: management has a documented plan - a ratified Data Dictionary and an active Certification Program - and is executing it, with two known data-completeness gaps being tracked to 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Audit Objective 2 - Governance Structure &amp;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Corporate Audit Services  |  CMDB Governance and Lifecycle Advisory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CMDB Governance &amp; Lifecycle Advisory Review - Status Update  |  Aug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Chair: Josh Sterling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Change Control Board (CCB)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Standing governance authority. Ratifies attribute governance, ownership assignments, and audit scope for the CMDB data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4 of 4 Core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7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Class Managers 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7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Todd Dierksheide (Business App), Monica Green / Paul Becker (Computer), Ray Reuter (Server &amp; Database) - named, accountable owners per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Stage 1 of 3 Ratified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Configuration Management Plan (CMP)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Stage 1 (Data Dictionary) ratified July 21. Stage 2 (Lifecycle &amp; Health Targets) and Stage 3 (Governance Process &amp; Controls, gate Sep 30) in progress.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19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7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Approval-Gated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7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CI Retirement Governance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Identify - Notify - Approve - Advance Notice - Implement. A controlled, audit-trailed workflow for every future CI retirement, pending formal CCB approval.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15000"/>
            <a:ext cx="11155680" cy="5943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Objective 2: a standing governance body, named class owners, and a staged CMP are in place - periodic data validation formalizes further as CMP Stage 2 and 3 land.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Audit Objective 3 - Stakeholder Engagement &amp; OCM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Corporate Audit Services  |  CMDB Governance and Lifecycle Advisory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CMDB Governance &amp; Lifecycle Advisory Review - Status Update  |  Aug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Recurring - 3rd Thursday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Monthly CMDB Audit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Standing communication cadence with PPL Audit and key stakeholders, confirmed ongoing since July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41732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160020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Jul 21 Session Held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7" y="200253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CCB Ratification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7" y="249631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Formal stakeholder review and approval events for governance artifacts, such as the Data Dictionary ratification.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In 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Certification Training &amp; Office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Kick-off, policy execution, monitoring, office hours, and feedback loops built into the certification rollout for each CI class.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19" y="3566160"/>
            <a:ext cx="5440679" cy="1965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356616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7" y="3749040"/>
            <a:ext cx="5038343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2E6DB4"/>
                </a:solidFill>
                <a:latin typeface="Segoe UI"/>
              </a:rPr>
              <a:t>Proven in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7" y="4151376"/>
            <a:ext cx="5038343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Staged Communication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4645152"/>
            <a:ext cx="5038343" cy="758951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Used during the July cleanup response - key stakeholders engaged first, broader operational teams as the baseline stabilized.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15000"/>
            <a:ext cx="11155680" cy="5943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Objective 3: recurring communication cadences and structured training/feedback loops are operating today, and were stress-tested during the July cleanup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