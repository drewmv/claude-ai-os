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CMDB Server &amp; Computer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106984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C9D6E6"/>
                </a:solidFill>
                <a:latin typeface="Segoe UI"/>
              </a:rPr>
              <a:t>Process, Root Cause, and Go-Forward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99232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1">
                <a:solidFill>
                  <a:srgbClr val="9FB2CC"/>
                </a:solidFill>
                <a:latin typeface="Segoe UI"/>
              </a:rPr>
              <a:t>Restoring Trust Through Transparency and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6984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 response to stakeholder concerns about the July 2026 Computer &amp; Server record cleanup</a:t>
            </a:r>
          </a:p>
          <a:p>
            <a:pPr algn="l"/>
            <a:r>
              <a:rPr sz="1350" b="0" i="0">
                <a:solidFill>
                  <a:srgbClr val="C9D6E6"/>
                </a:solidFill>
                <a:latin typeface="Segoe UI"/>
              </a:rPr>
              <a:t>How the CMDB is populated, what happened, why, and the controls now gating every future retirement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Why We're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Responding to concerns raised about the Computer &amp; Server record cleanup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28016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88136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What happened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00784"/>
            <a:ext cx="10881360" cy="10881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A one-time cleanup retired Computer and Server records that were loaded into the CMDB from legacy sources as an initial starting point, before ServiceNow Discovery scope was finalized.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63240"/>
            <a:ext cx="128016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1088136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The concern raised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92424"/>
            <a:ext cx="10881360" cy="10881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Active operational assets may have been caught in that cleanup, with risk to data integrity, operations, governance, and compliance.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54880"/>
            <a:ext cx="128016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088136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What this deck covers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84064"/>
            <a:ext cx="10881360" cy="10881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How the CMDB gets populated, why cleanup is a defined stage in that process, what actually happened, the root cause, and the governance controls now gating every future retirement.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How the CMDB Gets Populated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initial population journey - six defined stages, ending in a locked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1645919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645919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46303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1 - Manual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463039" cy="1042415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Legacy tools &amp; existing sources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48839" y="250545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4872" y="1737360"/>
            <a:ext cx="1645919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04872" y="1737360"/>
            <a:ext cx="1645919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1883664"/>
            <a:ext cx="146303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2 - Credentialless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2359152"/>
            <a:ext cx="1463039" cy="1042415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Unauthenticated network scan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50791" y="250545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37360"/>
            <a:ext cx="1645919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1737360"/>
            <a:ext cx="1645919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1883664"/>
            <a:ext cx="146303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3 - Credentials &amp; Subnets 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359152"/>
            <a:ext cx="1463039" cy="1042415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The scope gate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52744" y="250545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737360"/>
            <a:ext cx="1645919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1737360"/>
            <a:ext cx="1645919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1883664"/>
            <a:ext cx="146303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4 - Horizontal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359152"/>
            <a:ext cx="1463039" cy="1042415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Deep, authenticated scan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54696" y="250545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7" y="1737360"/>
            <a:ext cx="1645919" cy="17373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0727" y="1737360"/>
            <a:ext cx="1645919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7" y="1883664"/>
            <a:ext cx="146303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5 - Cleanup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7" y="2359152"/>
            <a:ext cx="1463039" cy="1042415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C9D6E6"/>
                </a:solidFill>
                <a:latin typeface="Segoe UI"/>
              </a:rPr>
              <a:t>Retire unconfirmed pre-scope CIs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756647" y="250545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12679" y="1737360"/>
            <a:ext cx="1645919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12679" y="1737360"/>
            <a:ext cx="1645919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1883664"/>
            <a:ext cx="1463039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6 -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9" y="2359152"/>
            <a:ext cx="1463039" cy="1042415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Locked, trustworthy starting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93192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Cleanup (stage 5) is a defined step in this journey - not an ad-hoc or erroneous event. It exists so the baseline reflects only confirmed, in-scope assets.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Stage Detail: Import + Credentialless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provisional starting point - before anything is validated against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79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07491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1 - Manual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074919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Before any automated scanning starts, the CMDB is seeded with what already exists - exports from tools like SCCM, prior inventory spreadsheets, other management platforms, vendor asset lists. Gives a starting population, but it is inherently stale and incomplete.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19" y="1371600"/>
            <a:ext cx="5440679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19" y="1371600"/>
            <a:ext cx="5440679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600200"/>
            <a:ext cx="507491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2 - Credentialless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103120"/>
            <a:ext cx="5074919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An unauthenticated network scan identifies live IPs and does basic fingerprinting. Answers one question: what is out there that we do not already know about? Needs zero access approvals - fast, but shallow.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Both stages are inherently provisional - neither is validated against defined scope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Credentials, Subnets,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scope gate - the crux of the 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8229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Discovery only ever covers subnets explicitly in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883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606040"/>
            <a:ext cx="10899648" cy="73151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Before deeper access is granted, three things must be locked down: which subnets are in scope, the right credentials for each platform, and that those credentials validate with zero failed logins on a sample.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6557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83280"/>
            <a:ext cx="10899648" cy="73151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This step depends on security teams and server owners granting access - not on CMDB tooling.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4281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160520"/>
            <a:ext cx="10899648" cy="73151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This is the crux of the root cause: many subnets - including those hosting OT, SCADA, and NERC-related devices - are intentionally out of scope, by design, not by oversight.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Horizontal Discovery → Why Cleanup Precedes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Cleanup is how the baseline stays trustworthy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453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63040"/>
            <a:ext cx="10899648" cy="100583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Horizontal discovery logs into every in-scope server and pulls real configuration data - this is what makes CMDB data trustworthy instead of an import snapshot.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9689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14600"/>
            <a:ext cx="10899648" cy="100583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A baseline is supposed to represent ground truth. Before it is locked, every CI that discovery did NOT confirm gets retired - not deleted - so the starting number is not inflated by records that no longer exist or were never in scope.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4845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566160"/>
            <a:ext cx="10899648" cy="100583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Retiring unconfirmed pre-scope records before baseline is a defined step in this process - not an ad-hoc or erroneous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What Actually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facts of the July 2026 Computer &amp; Server cleanup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453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63040"/>
            <a:ext cx="108996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A single, one-time query identified and retired the qualifying records - not an automated or recurring process writing to the CMDB on a schedule.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597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77440"/>
            <a:ext cx="108996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Criteria: records not already Retired whose Discovery Source was a legacy or manual origin (ImportSet, iTeam, Manual Entry, CherWell KY, CherWell PA, or empty).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291840"/>
            <a:ext cx="108996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All records meeting the criteria were retired, across both the Computer and Server classes.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885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206240"/>
            <a:ext cx="108996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The action was reviewed with key stakeholders in advance - the CMDB team did not do this unilaterally.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Root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 scope gap - not a faulty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453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63040"/>
            <a:ext cx="108996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Initial CMDB loads were bulk collections from existing sources, imported as a starting point before Discovery scope was finalized - never validated for scope when they entered the CMDB.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597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77440"/>
            <a:ext cx="108996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ServiceNow Discovery is scoped to specific, prescribed subnets. Multiple subnets - including those hosting OT, SCADA, and NERC-related devices - are intentionally out of scope.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291840"/>
            <a:ext cx="108996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Retirement logic based on the absence of active discovery does not act on those out-of-scope assets, because they were never in the discovered inventory to begin with.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885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206240"/>
            <a:ext cx="108996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NERC CIP is currently out of scope for this CMDB effort; a separate, parallel initiative is evaluating NERC-specific 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Concerns Raised → Responses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Direct responses to each concern raised by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77724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Concern Raised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Response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Active CIs automatically retired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Done by a one-time script, not an automated or recurring rule. Reviewed with key stakeholders beforehand, not unilaterally.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Potential widespread / undiscovered impact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Retired records were unvalidated pre-scope imports, not authoritatively discovered assets. Any confirmed as a legitimate in-scope asset is restored immediately.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Communication / stakeholder awareness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The cleanup was reviewed with key stakeholders. Communication is deliberately staged: key stakeholders now to stabilize the baseline, then operational teams as it is confirmed.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Operational risk (monitoring alerts)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Where a retired record was still referenced downstream, restoring it resolves the discrepancy. Over 40 records have already been restored this way.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Concerns Raised → Responses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Direct responses to each concern raised by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77724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Concern Raised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Response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OT / SCADA / CIP assets are different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Agreed - this is central. Those assets sit on out-of-scope subnets, are not discovered, and are not maintained in the CMDB. OT and CIP are handled by a parallel effort.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Insufficient retirement controls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Agreed. Establishing a governed CMDB Health and lifecycle policy - staleness-based candidates, automated notification, explicit approval, advance notice (see Go-Forward Governance).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Compliance / NERC CIP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NERC CIP is out of scope today, and the CMDB is not its system of record. A parallel initiative owns NERC-specific solutions and governance.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Root cause &amp; remediation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Root cause: unvalidated pre-scope legacy imports, plus a CMDB scope narrower than assumed. Remediation: the governed CMDB Health retirement policy.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Safeguards Already in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Controls that were in effect during the July cleanup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53568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53568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320649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Retired ≠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67712"/>
            <a:ext cx="3206496" cy="15361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Every retired record is fully recoverable. No data is lost.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920" y="1554480"/>
            <a:ext cx="353568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2920" y="1554480"/>
            <a:ext cx="353568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7512" y="1755648"/>
            <a:ext cx="320649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One-Time, Not Recurring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7512" y="2267712"/>
            <a:ext cx="3206496" cy="15361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A baseline stabilization action - not a standing automated rule writing to the CMDB on a schedule.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2920" y="1554480"/>
            <a:ext cx="353568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2920" y="1554480"/>
            <a:ext cx="353568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7511" y="1755648"/>
            <a:ext cx="320649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40+ Records Restored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7511" y="2267712"/>
            <a:ext cx="3206496" cy="15361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Any record confirmed as a legitimate in-scope asset has been restored on request - already proven in practice.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Transition to a Managed, Governed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Every future retirement runs through this gated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02631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202631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84343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843430" cy="16824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CMDB Health criteria (staleness) - explicitly excludes non-discoverable in-scope assets like OT/SCADA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29230" y="282549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5262" y="1737360"/>
            <a:ext cx="202631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5262" y="1737360"/>
            <a:ext cx="202631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6702" y="1883664"/>
            <a:ext cx="184343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6702" y="2359152"/>
            <a:ext cx="1843430" cy="16824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Automated workflow alerts affected stakeholders &amp; owners - no silent state changes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1572" y="282549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7604" y="1737360"/>
            <a:ext cx="202631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67604" y="1737360"/>
            <a:ext cx="202631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9044" y="1883664"/>
            <a:ext cx="184343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9044" y="2359152"/>
            <a:ext cx="1843430" cy="16824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Explicit sign-off required from responsible stakeholders &amp; SMEs before proceeding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93915" y="282549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49947" y="1737360"/>
            <a:ext cx="202631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49947" y="1737360"/>
            <a:ext cx="202631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1387" y="1883664"/>
            <a:ext cx="184343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Advance Notice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1387" y="2359152"/>
            <a:ext cx="1843430" cy="16824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Issued before implementation - time for downstream teams to decommission cleanly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76257" y="2825496"/>
            <a:ext cx="256032" cy="201168"/>
          </a:xfrm>
          <a:prstGeom prst="rightArrow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32289" y="1737360"/>
            <a:ext cx="2026310" cy="23774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32289" y="1737360"/>
            <a:ext cx="202631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3729" y="1883664"/>
            <a:ext cx="184343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Implement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3729" y="2359152"/>
            <a:ext cx="1843430" cy="16824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Change executed only after every gate above is satisfied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3484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No CI is retired silently. Identification, notification, approval, and notice all happen before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Governance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Who approves this policy before it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4533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63040"/>
            <a:ext cx="10899648" cy="8229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Policy requirements will be defined with stakeholder input.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14015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31720"/>
            <a:ext cx="10899648" cy="8229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Formally approved by the Change Control Board (CCB) - chaired by Josh Sterling - before any development or implementation.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82696"/>
            <a:ext cx="109728" cy="10972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200400"/>
            <a:ext cx="10899648" cy="8229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0" i="0">
                <a:solidFill>
                  <a:srgbClr val="2D2D2D"/>
                </a:solidFill>
                <a:latin typeface="Segoe UI"/>
              </a:rPr>
              <a:t>The policy will comply with all existing change, configuration management, and governance processes.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663440"/>
            <a:ext cx="11155680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107899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No future retirement bypasses this gate.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What happens from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Retirement Governance  -  Aug 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63040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Define the CMDB Health and retirement lifecycle policy with stakeholder input (staleness criteria, automated notification, explicit approval, advance notice).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457200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Submit the policy to the CCB for approval before development.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457200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66160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Continue restoring any record identified as a legitimate in-scope asset (40+ done so far).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17720"/>
            <a:ext cx="457200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457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617720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Keep stabilizing the in-scope CMDB baseline, and widen communication as it firms 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1">
                <a:solidFill>
                  <a:srgbClr val="9FB2CC"/>
                </a:solidFill>
                <a:latin typeface="Segoe UI"/>
              </a:rPr>
              <a:t>Restoring Trust Through Transparency and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023360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9D6E6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