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CMDB Audit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78608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C9D6E6"/>
                </a:solidFill>
                <a:latin typeface="Segoe UI"/>
              </a:rPr>
              <a:t>Audit-required attributes in focus - full attribute status by CI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127248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i="1">
                <a:solidFill>
                  <a:srgbClr val="9FB2CC"/>
                </a:solidFill>
                <a:latin typeface="Segoe UI"/>
              </a:rPr>
              <a:t>Bridging Gaps to Achieve CMDB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343400"/>
            <a:ext cx="10698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The attributes PPL Audit asked us to track - measured against a 90% completeness target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As of July 16, 2026  ·  25,966 configuration items across Business Applications, Servers &amp; Computers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Audit Readiness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Audit-required attributes vs. the 90% target  ·  full attribute detail per class follows  ·  as of Jul 16,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Audit Readiness  |  Attribute Completeness  -  Jul 16,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97864"/>
            <a:ext cx="146304" cy="14630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152144"/>
            <a:ext cx="219456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≥ 90%  On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197864"/>
            <a:ext cx="146304" cy="1463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1152144"/>
            <a:ext cx="219456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80-89%  At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197864"/>
            <a:ext cx="146304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8" y="1152144"/>
            <a:ext cx="219456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&lt; 80% 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152144"/>
            <a:ext cx="420624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50" b="0" i="1">
                <a:solidFill>
                  <a:srgbClr val="6B7280"/>
                </a:solidFill>
                <a:latin typeface="Segoe UI"/>
              </a:rPr>
              <a:t>Target: ≥ 90% on every audit attribute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572768"/>
          <a:ext cx="11155680" cy="4078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2103120"/>
                <a:gridCol w="201168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Audit Attribute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Gap (CIs)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10896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Business Applications      ·      2,148 configuration items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CI Owner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E8B57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ON TARGET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392B"/>
                          </a:solidFill>
                          <a:latin typeface="Segoe UI"/>
                        </a:rPr>
                        <a:t>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1,371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310896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Servers      ·      3,917 configuration items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CI Owner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E8B57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ON TARGET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Location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E8B57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ON TARGET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IP Address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E8B57"/>
                          </a:solidFill>
                          <a:latin typeface="Segoe UI"/>
                        </a:rPr>
                        <a:t>91%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358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ON TARGET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</a:tr>
              <a:tr h="310896">
                <a:tc gridSpan="4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Computers      ·      19,901 configuration items</a:t>
                      </a:r>
                    </a:p>
                  </a:txBody>
                  <a:tcPr anchor="ctr">
                    <a:solidFill>
                      <a:srgbClr val="2E6DB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Assigned To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E08A00"/>
                          </a:solidFill>
                          <a:latin typeface="Segoe UI"/>
                        </a:rPr>
                        <a:t>83%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3,412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AT RISK</a:t>
                      </a:r>
                    </a:p>
                  </a:txBody>
                  <a:tcPr anchor="ctr">
                    <a:solidFill>
                      <a:srgbClr val="E08A0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Location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C0392B"/>
                          </a:solidFill>
                          <a:latin typeface="Segoe UI"/>
                        </a:rPr>
                        <a:t>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6,748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Serial Number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E8B57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D2D2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ON TARGET</a:t>
                      </a:r>
                    </a:p>
                  </a:txBody>
                  <a:tcPr anchor="ctr">
                    <a:solidFill>
                      <a:srgbClr val="2E8B5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5870448"/>
            <a:ext cx="1115568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5 of 8 audit attributes are at target.  Servers are fully compliant; the open gaps are Business Application Classification and Computer Location / Assigned To - detailed on the following slides.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Business Applications - Status &amp;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All attributes shown  ·  audit attributes vs. the 90% target  ·  2,148 CIs  ·  as of 7/16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Audit Readiness  |  Attribute Completeness  -  Jul 16,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55680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AUDIT ATTRIBUTES</a:t>
            </a:r>
            <a:r>
              <a:rPr sz="1000" b="0" i="1">
                <a:solidFill>
                  <a:srgbClr val="6B7280"/>
                </a:solidFill>
                <a:latin typeface="Segoe UI"/>
              </a:rPr>
              <a:t>     measured against the ≥ 90%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35024"/>
            <a:ext cx="256032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256032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53895"/>
            <a:ext cx="2560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  <a:latin typeface="Segoe UI"/>
              </a:rPr>
              <a:t>CI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00784"/>
            <a:ext cx="256032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500" b="1" i="0">
                <a:solidFill>
                  <a:srgbClr val="2E8B57"/>
                </a:solidFill>
                <a:latin typeface="Segoe U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93391"/>
            <a:ext cx="2560320" cy="16459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Segoe UI"/>
              </a:rPr>
              <a:t>Gap: 11 CIs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39" y="1335024"/>
            <a:ext cx="256032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39" y="1335024"/>
            <a:ext cx="256032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39" y="1453895"/>
            <a:ext cx="2560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  <a:latin typeface="Segoe UI"/>
              </a:rPr>
              <a:t>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1700784"/>
            <a:ext cx="256032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500" b="1" i="0">
                <a:solidFill>
                  <a:srgbClr val="C0392B"/>
                </a:solidFill>
                <a:latin typeface="Segoe UI"/>
              </a:rPr>
              <a:t>36%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1993391"/>
            <a:ext cx="2560320" cy="16459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Segoe UI"/>
              </a:rPr>
              <a:t>Gap: 1,371 CIs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249424"/>
            <a:ext cx="1115568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1 of 2 audit attributes at target. CI Owner is effectively complete; Classification (36%) is the single audit gap - and the only audit attribute that has not moved since June.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51760"/>
            <a:ext cx="11155680" cy="21945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8A929E"/>
                </a:solidFill>
                <a:latin typeface="Segoe UI"/>
              </a:rPr>
              <a:t>OTHER TRACKED ATTRIBUTES</a:t>
            </a:r>
            <a:r>
              <a:rPr sz="1000" b="0" i="1">
                <a:solidFill>
                  <a:srgbClr val="6B7280"/>
                </a:solidFill>
                <a:latin typeface="Segoe UI"/>
              </a:rPr>
              <a:t>     managed - not part of the audit target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07792"/>
            <a:ext cx="1476102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907792"/>
            <a:ext cx="1476102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99232"/>
            <a:ext cx="1476102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Technical Owner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291840"/>
            <a:ext cx="1476102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89%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16182" y="2907792"/>
            <a:ext cx="1476102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16182" y="2907792"/>
            <a:ext cx="1476102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16182" y="2999232"/>
            <a:ext cx="1476102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Business 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16182" y="3291840"/>
            <a:ext cx="1476102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84%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29445" y="2907792"/>
            <a:ext cx="1476102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29445" y="2907792"/>
            <a:ext cx="1476102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9445" y="2999232"/>
            <a:ext cx="1476102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Approval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9445" y="3291840"/>
            <a:ext cx="1476102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81%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2708" y="2907792"/>
            <a:ext cx="1476102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42708" y="2907792"/>
            <a:ext cx="1476102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2708" y="2999232"/>
            <a:ext cx="1476102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Support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2708" y="3291840"/>
            <a:ext cx="1476102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77%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55971" y="2907792"/>
            <a:ext cx="1476102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55971" y="2907792"/>
            <a:ext cx="1476102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55971" y="2999232"/>
            <a:ext cx="1476102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App Code / Asset Tag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5971" y="3291840"/>
            <a:ext cx="1476102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100%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69234" y="2907792"/>
            <a:ext cx="1476102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69234" y="2907792"/>
            <a:ext cx="1476102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69234" y="2999232"/>
            <a:ext cx="1476102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Value Stream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69234" y="3291840"/>
            <a:ext cx="1476102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62%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2497" y="2907792"/>
            <a:ext cx="1476102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82497" y="2907792"/>
            <a:ext cx="1476102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82497" y="2999232"/>
            <a:ext cx="1476102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SOX 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82497" y="3291840"/>
            <a:ext cx="1476102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100%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712463"/>
            <a:ext cx="11155680" cy="1463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785615"/>
            <a:ext cx="11155680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  <a:latin typeface="Segoe UI"/>
              </a:rPr>
              <a:t>REMEDIATION ACTION PLAN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02920" y="4059936"/>
          <a:ext cx="1115568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126480"/>
                <a:gridCol w="26517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Audit gap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Root cause &amp; remediation approach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Owner  ·  Target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Classification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1,371 CIs  ·  36%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Governance / manual attribute - set per application by business owners; no automated discovery source. Remediate as a governed, change-controlled data story, classified by business criticality.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Joe Dames - PO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Todd Dierksheide - CCB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Target: TBD with CCB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502920" y="5230368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C0392B"/>
                </a:solidFill>
                <a:latin typeface="Segoe UI"/>
              </a:rPr>
              <a:t>Constraint:  </a:t>
            </a:r>
            <a:r>
              <a:rPr sz="1050" b="0" i="0">
                <a:solidFill>
                  <a:srgbClr val="2D2D2D"/>
                </a:solidFill>
                <a:latin typeface="Segoe UI"/>
              </a:rPr>
              <a:t>Classification remediation is gated by the 6/10 Business Application enhancement pause - mass updates must go through a governed story + change control, not inline edits. This is the root of the stall.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6473952"/>
            <a:ext cx="9326880" cy="21945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850" b="0" i="1">
                <a:solidFill>
                  <a:srgbClr val="6B7280"/>
                </a:solidFill>
                <a:latin typeface="Segoe UI"/>
              </a:rPr>
              <a:t>Remediation tracked under ADO Spike 1480111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Servers -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All attributes shown  ·  audit-ready  ·  3,917 CIs  ·  as of 7/16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Audit Readiness  |  Attribute Completeness  -  Jul 16,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55680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AUDIT ATTRIBUTES</a:t>
            </a:r>
            <a:r>
              <a:rPr sz="1000" b="0" i="1">
                <a:solidFill>
                  <a:srgbClr val="6B7280"/>
                </a:solidFill>
                <a:latin typeface="Segoe UI"/>
              </a:rPr>
              <a:t>     measured against the ≥ 90%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35024"/>
            <a:ext cx="256032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256032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53895"/>
            <a:ext cx="2560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  <a:latin typeface="Segoe UI"/>
              </a:rPr>
              <a:t>CI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00784"/>
            <a:ext cx="256032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500" b="1" i="0">
                <a:solidFill>
                  <a:srgbClr val="2E8B57"/>
                </a:solidFill>
                <a:latin typeface="Segoe U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93391"/>
            <a:ext cx="2560320" cy="16459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Segoe UI"/>
              </a:rPr>
              <a:t>Gap: 0 CIs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39" y="1335024"/>
            <a:ext cx="256032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39" y="1335024"/>
            <a:ext cx="256032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39" y="1453895"/>
            <a:ext cx="2560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  <a:latin typeface="Segoe UI"/>
              </a:rPr>
              <a:t>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1700784"/>
            <a:ext cx="256032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500" b="1" i="0">
                <a:solidFill>
                  <a:srgbClr val="2E8B57"/>
                </a:solidFill>
                <a:latin typeface="Segoe U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1993391"/>
            <a:ext cx="2560320" cy="16459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Segoe UI"/>
              </a:rPr>
              <a:t>Gap: 1 CIs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1335024"/>
            <a:ext cx="256032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59" y="1335024"/>
            <a:ext cx="256032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59" y="1453895"/>
            <a:ext cx="2560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  <a:latin typeface="Segoe UI"/>
              </a:rPr>
              <a:t>IP Address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1700784"/>
            <a:ext cx="256032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500" b="1" i="0">
                <a:solidFill>
                  <a:srgbClr val="2E8B57"/>
                </a:solidFill>
                <a:latin typeface="Segoe UI"/>
              </a:rPr>
              <a:t>91%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1993391"/>
            <a:ext cx="2560320" cy="16459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Segoe UI"/>
              </a:rPr>
              <a:t>Gap: 358 CIs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249424"/>
            <a:ext cx="1115568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Audit-ready. All three audit attributes are at or above the 90% target as of 7/16 - CI Owner 100%, Location 100%, IP Address 91%. Location and IP Address were remediated this week (44% -&gt; 100% and 43% -&gt; 91%).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651760"/>
            <a:ext cx="11155680" cy="21945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8A929E"/>
                </a:solidFill>
                <a:latin typeface="Segoe UI"/>
              </a:rPr>
              <a:t>OTHER TRACKED ATTRIBUTES</a:t>
            </a:r>
            <a:r>
              <a:rPr sz="1000" b="0" i="1">
                <a:solidFill>
                  <a:srgbClr val="6B7280"/>
                </a:solidFill>
                <a:latin typeface="Segoe UI"/>
              </a:rPr>
              <a:t>     managed - not part of the audit 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Technical Owner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85060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85060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5060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Support Group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85060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7199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7199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67199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App Code / Asset Tag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7199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9339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49339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9339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Value Stream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9339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1480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1480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31480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SOX Type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1480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99%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13620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13620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13620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Classification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3620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99%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712463"/>
            <a:ext cx="11155680" cy="1463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3840480"/>
            <a:ext cx="11155680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  <a:latin typeface="Segoe UI"/>
              </a:rPr>
              <a:t>SUMMARY &amp; STATUS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4114800"/>
            <a:ext cx="111556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Audit-ready. All three audit attributes are at or above the 90% target as of 7/16 - CI Owner 100%, Location 100%, IP Address 91%. Location and IP Address were remediated this week (44% -&gt; 100% and 43% -&gt; 91%).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029200"/>
            <a:ext cx="128016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02920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Segoe UI"/>
              </a:rPr>
              <a:t>No audit remediation required - sustain current levels through ongoing discovery and governance.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D2D2D"/>
                </a:solidFill>
                <a:latin typeface="Segoe UI"/>
              </a:rPr>
              <a:t>Not audit-gated:  </a:t>
            </a:r>
            <a:r>
              <a:rPr sz="1050" b="0" i="0">
                <a:solidFill>
                  <a:srgbClr val="2D2D2D"/>
                </a:solidFill>
                <a:latin typeface="Segoe UI"/>
              </a:rPr>
              <a:t>Value Stream (0%) and App Code / Asset Tag (75%) are tracked but sit outside the audit target - addressed under separate data-quality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Computers - Status &amp;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All attributes shown  ·  audit attributes vs. the 90% target  ·  19,901 CIs  ·  as of 7/16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Audit Readiness  |  Attribute Completeness  -  Jul 16,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55680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AUDIT ATTRIBUTES</a:t>
            </a:r>
            <a:r>
              <a:rPr sz="1000" b="0" i="1">
                <a:solidFill>
                  <a:srgbClr val="6B7280"/>
                </a:solidFill>
                <a:latin typeface="Segoe UI"/>
              </a:rPr>
              <a:t>     measured against the ≥ 90%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35024"/>
            <a:ext cx="256032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2560320" cy="7315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53895"/>
            <a:ext cx="2560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  <a:latin typeface="Segoe UI"/>
              </a:rPr>
              <a:t>Assigned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00784"/>
            <a:ext cx="256032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500" b="1" i="0">
                <a:solidFill>
                  <a:srgbClr val="E08A00"/>
                </a:solidFill>
                <a:latin typeface="Segoe UI"/>
              </a:rPr>
              <a:t>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93391"/>
            <a:ext cx="2560320" cy="16459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Segoe UI"/>
              </a:rPr>
              <a:t>Gap: 3,412 CIs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39" y="1335024"/>
            <a:ext cx="256032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39" y="1335024"/>
            <a:ext cx="256032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39" y="1453895"/>
            <a:ext cx="2560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  <a:latin typeface="Segoe UI"/>
              </a:rPr>
              <a:t>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1700784"/>
            <a:ext cx="256032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500" b="1" i="0">
                <a:solidFill>
                  <a:srgbClr val="C0392B"/>
                </a:solidFill>
                <a:latin typeface="Segoe UI"/>
              </a:rPr>
              <a:t>66%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1993391"/>
            <a:ext cx="2560320" cy="16459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Segoe UI"/>
              </a:rPr>
              <a:t>Gap: 6,748 CIs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1335024"/>
            <a:ext cx="2560320" cy="84124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59" y="1335024"/>
            <a:ext cx="256032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59" y="1453895"/>
            <a:ext cx="25603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 i="0">
                <a:solidFill>
                  <a:srgbClr val="2D2D2D"/>
                </a:solidFill>
                <a:latin typeface="Segoe UI"/>
              </a:rPr>
              <a:t>Serial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1700784"/>
            <a:ext cx="256032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500" b="1" i="0">
                <a:solidFill>
                  <a:srgbClr val="2E8B57"/>
                </a:solidFill>
                <a:latin typeface="Segoe U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1993391"/>
            <a:ext cx="2560320" cy="16459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Segoe UI"/>
              </a:rPr>
              <a:t>Gap: 0 CIs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249424"/>
            <a:ext cx="1115568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1 of 3 audit attributes at target (Serial Number 100%). Location (66%) and Assigned To (83%) are the open audit gaps - both improving: Location 38% -&gt; 66% and Assigned To 71% -&gt; 83% since early July.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651760"/>
            <a:ext cx="11155680" cy="21945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8A929E"/>
                </a:solidFill>
                <a:latin typeface="Segoe UI"/>
              </a:rPr>
              <a:t>OTHER TRACKED ATTRIBUTES</a:t>
            </a:r>
            <a:r>
              <a:rPr sz="1000" b="0" i="1">
                <a:solidFill>
                  <a:srgbClr val="6B7280"/>
                </a:solidFill>
                <a:latin typeface="Segoe UI"/>
              </a:rPr>
              <a:t>     managed - not part of the audit 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CI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85060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85060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85060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Technical Owner Group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85060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7199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7199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67199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Support 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7199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9339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49339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9339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App Code / Asset Tag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9339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64%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1480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31480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31480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Operating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1480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99%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13620" y="2907792"/>
            <a:ext cx="1744980" cy="67665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13620" y="2907792"/>
            <a:ext cx="1744980" cy="64008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13620" y="2999232"/>
            <a:ext cx="17449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1" i="0">
                <a:solidFill>
                  <a:srgbClr val="2D2D2D"/>
                </a:solidFill>
                <a:latin typeface="Segoe UI"/>
              </a:rPr>
              <a:t>IP Address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3620" y="3291840"/>
            <a:ext cx="17449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50" b="1" i="0">
                <a:solidFill>
                  <a:srgbClr val="6B7280"/>
                </a:solidFill>
                <a:latin typeface="Segoe UI"/>
              </a:rPr>
              <a:t>19%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712463"/>
            <a:ext cx="11155680" cy="1463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3785615"/>
            <a:ext cx="11155680" cy="2377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2E6DB4"/>
                </a:solidFill>
                <a:latin typeface="Segoe UI"/>
              </a:rPr>
              <a:t>REMEDIATION ACTION PLAN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502920" y="4059936"/>
          <a:ext cx="11155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126480"/>
                <a:gridCol w="26517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Audit gap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Root cause &amp; remediation approach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Owner  ·  Target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Location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6,748 CIs  ·  66%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Auto-populated by device discovery - gaps are discovery coverage (offline physical devices may not report). Close at source via the discovery / SCCM pipeline, not manual entry.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Anthony de Araujo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Monica Green / Paul Becker - CCB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On trajectory to ≥90%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Assigned To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3,412 CIs  ·  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Discovery-driven endpoint assignment; within 7 points of target and climbing. Sustain the same pipeline remediation.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Anthony de Araujo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On trajectory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D2D2D"/>
                </a:solidFill>
                <a:latin typeface="Segoe UI"/>
              </a:rPr>
              <a:t/>
            </a:r>
            <a:r>
              <a:rPr sz="1050" b="0" i="0">
                <a:solidFill>
                  <a:srgbClr val="2D2D2D"/>
                </a:solidFill>
                <a:latin typeface="Segoe UI"/>
              </a:rPr>
              <a:t>Retired-device cleanup reduced the active population and lifted compliance; discovery attributes (incl. IP Address, App Code) improve together. Validate physical vs. virtual coverage.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31720" y="6473952"/>
            <a:ext cx="9326880" cy="21945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850" b="0" i="1">
                <a:solidFill>
                  <a:srgbClr val="6B7280"/>
                </a:solidFill>
                <a:latin typeface="Segoe UI"/>
              </a:rPr>
              <a:t>Remediation tracked under ADO Spike 1480114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Where each CI class stands against the audit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Audit Readiness  |  Attribute Completeness  -  Jul 16,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99032"/>
            <a:ext cx="128016" cy="8412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81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Servers - audit-ready.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09928"/>
            <a:ext cx="108813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All three audit attributes (CI Owner, Location, IP Address) are at or above target; Location and IP Address were remediated this week. Sustain via discovery.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78023"/>
            <a:ext cx="128016" cy="84124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0591"/>
            <a:ext cx="10881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Computers - on trajectory.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08813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Serial Number at target. Location (66%) and Assigned To (83%) are climbing via the device-discovery pipeline and retired-device cleanup (Spike 1480114). On track.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57015"/>
            <a:ext cx="128016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9583"/>
            <a:ext cx="108813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Business Applications - one stalled gap.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67911"/>
            <a:ext cx="108813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CI Owner at target. Classification (36%) is the stalled audit gap - governance/manual data blocked by the BA-enhancement pause; needs a governed story + CCB owner (Spike 1480111).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54295"/>
            <a:ext cx="11155680" cy="89611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654295"/>
            <a:ext cx="128016" cy="89611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54879"/>
            <a:ext cx="10789920" cy="7132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E6DB4"/>
                </a:solidFill>
                <a:latin typeface="Segoe UI"/>
              </a:rPr>
              <a:t>Immediate focus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D2D2D"/>
                </a:solidFill>
                <a:latin typeface="Segoe UI"/>
              </a:rPr>
              <a:t>Unblock Business Application Classification (governed story with Joe Dames + CCB / Todd Dierksheide) and set a target date; sustain the Computers device-discovery remediation for Location &amp; Assigned To. Servers are audit-ready.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