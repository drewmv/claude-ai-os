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E2761"/>
                </a:solidFill>
                <a:latin typeface="Cambria"/>
              </a:rPr>
              <a:t>Feature Implementation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Every feature decomposes the same way  ·  three stages, three dated exit gates  ·  proposed, for agreement at PI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PPL CMDB-CSDM  |  Feature Implementation Structure  |  Proposed Oct 14,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383280" cy="713232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Spike</a:t>
            </a:r>
          </a:p>
          <a:p>
            <a:pPr algn="ctr"/>
            <a:r>
              <a:rPr sz="950">
                <a:solidFill>
                  <a:srgbClr val="E4E5EC"/>
                </a:solidFill>
                <a:latin typeface="Calibri"/>
              </a:rPr>
              <a:t>one per feature  ·  ADO type: Spike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59152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0B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Requirements gathered and confirmed in writing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5292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0B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Technical approach agreed with the dev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4670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0B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Build stories listed and sized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0B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Configuration vs. customization determined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62272"/>
            <a:ext cx="3383280" cy="51206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1E276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 b="1">
                <a:solidFill>
                  <a:srgbClr val="1E2761"/>
                </a:solidFill>
                <a:latin typeface="Calibri"/>
              </a:rPr>
              <a:t>Exit — build stories pass DoR gates 1–4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713232"/>
          </a:xfrm>
          <a:prstGeom prst="roundRect">
            <a:avLst>
              <a:gd name="adj" fmla="val 8000"/>
            </a:avLst>
          </a:prstGeom>
          <a:solidFill>
            <a:srgbClr val="0B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Build &amp; test</a:t>
            </a:r>
          </a:p>
          <a:p>
            <a:pPr algn="ctr"/>
            <a:r>
              <a:rPr sz="950">
                <a:solidFill>
                  <a:srgbClr val="E1EDEF"/>
                </a:solidFill>
                <a:latin typeface="Calibri"/>
              </a:rPr>
              <a:t>n stories  ·  ADO type: 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59152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A9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One story per increment of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85292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A9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Each story fits one iteration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34670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A9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Testing inside the story — no QA handoff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84048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A9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Staging deploy + PO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462272"/>
            <a:ext cx="3383280" cy="51206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0B6E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 b="1">
                <a:solidFill>
                  <a:srgbClr val="0B6E7F"/>
                </a:solidFill>
                <a:latin typeface="Calibri"/>
              </a:rPr>
              <a:t>Exit — Definition of Done met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371600"/>
            <a:ext cx="3383280" cy="713232"/>
          </a:xfrm>
          <a:prstGeom prst="roundRect">
            <a:avLst>
              <a:gd name="adj" fmla="val 8000"/>
            </a:avLst>
          </a:prstGeom>
          <a:solidFill>
            <a:srgbClr val="9C6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Implement</a:t>
            </a:r>
          </a:p>
          <a:p>
            <a:pPr algn="ctr"/>
            <a:r>
              <a:rPr sz="950">
                <a:solidFill>
                  <a:srgbClr val="F3EDE2"/>
                </a:solidFill>
                <a:latin typeface="Calibri"/>
              </a:rPr>
              <a:t>one per feature  ·  ADO type: 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359152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CC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Change request raised and scheduled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85292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CC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Deployed to PROD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34670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CC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OCM communications / 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84048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CC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>
                <a:solidFill>
                  <a:srgbClr val="1A1A2E"/>
                </a:solidFill>
                <a:latin typeface="Calibri"/>
              </a:rPr>
              <a:t>Evidence packaged, acceptance received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462272"/>
            <a:ext cx="3383280" cy="51206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9C6F1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 b="1">
                <a:solidFill>
                  <a:srgbClr val="9C6F15"/>
                </a:solidFill>
                <a:latin typeface="Calibri"/>
              </a:rPr>
              <a:t>Exit — contract / governance gate evidenced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895344" y="1618488"/>
            <a:ext cx="256032" cy="219456"/>
          </a:xfrm>
          <a:prstGeom prst="rightArrow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827264" y="1618488"/>
            <a:ext cx="256032" cy="219456"/>
          </a:xfrm>
          <a:prstGeom prst="rightArrow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5212080"/>
            <a:ext cx="7315200" cy="347472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 b="1">
                <a:solidFill>
                  <a:srgbClr val="6B7280"/>
                </a:solidFill>
                <a:latin typeface="Calibri"/>
              </a:rPr>
              <a:t>Covered by the current Definition of Done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5212080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F1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050" b="1">
                <a:solidFill>
                  <a:srgbClr val="9C6F15"/>
                </a:solidFill>
                <a:latin typeface="Calibri"/>
              </a:rPr>
              <a:t>Not covered 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24144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The Definition of Done ends at staging plus PO demo. Contract acceptance needs PROD plus customer sign-off — so a feature can be Done and still not be delivered. </a:t>
            </a:r>
            <a:r>
              <a:rPr sz="1050" b="1">
                <a:solidFill>
                  <a:srgbClr val="6B7280"/>
                </a:solidFill>
                <a:latin typeface="Calibri"/>
              </a:rPr>
              <a:t>The Implement story is what closes that gap, and carries its own acceptance criteria.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