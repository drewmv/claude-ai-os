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Feature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Every feature decomposes into the same three buckets  ·  use it to create the spikes and stories under a feature in 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Feature Structure  |  Oct 15,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Spike / requirements</a:t>
            </a:r>
          </a:p>
          <a:p>
            <a:pPr algn="ctr"/>
            <a:r>
              <a:rPr sz="950">
                <a:solidFill>
                  <a:srgbClr val="E4E5EC"/>
                </a:solidFill>
                <a:latin typeface="Calibri"/>
              </a:rPr>
              <a:t>what must be answered before anyone builds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Access, data and dependencies understood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Technical approach agreed with the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Build stories listed and sized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307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Configuration vs. customization determined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70832"/>
            <a:ext cx="3383280" cy="493776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1E276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50" b="1">
                <a:solidFill>
                  <a:srgbClr val="1E2761"/>
                </a:solidFill>
                <a:latin typeface="Calibri"/>
              </a:rPr>
              <a:t>Exit — build stories pass DoR gates 1–4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Build &amp; test</a:t>
            </a:r>
          </a:p>
          <a:p>
            <a:pPr algn="ctr"/>
            <a:r>
              <a:rPr sz="950">
                <a:solidFill>
                  <a:srgbClr val="E1EDEF"/>
                </a:solidFill>
                <a:latin typeface="Calibri"/>
              </a:rPr>
              <a:t>the stories that do the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One story per increment of 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Each story fits one iteration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Testing inside the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307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Staging deploy + PO 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370832"/>
            <a:ext cx="3383280" cy="493776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0B6E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50" b="1">
                <a:solidFill>
                  <a:srgbClr val="0B6E7F"/>
                </a:solidFill>
                <a:latin typeface="Calibri"/>
              </a:rPr>
              <a:t>Exit — Definition of Done met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Promote to prod</a:t>
            </a:r>
          </a:p>
          <a:p>
            <a:pPr algn="ctr"/>
            <a:r>
              <a:rPr sz="950">
                <a:solidFill>
                  <a:srgbClr val="F3EDE2"/>
                </a:solidFill>
                <a:latin typeface="Calibri"/>
              </a:rPr>
              <a:t>getting it released and accepted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OCM comms and training where needed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Change request and PROD 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Evidence packaged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7307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>
                <a:solidFill>
                  <a:srgbClr val="1A1A2E"/>
                </a:solidFill>
                <a:latin typeface="Calibri"/>
              </a:rPr>
              <a:t>Acceptance received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370832"/>
            <a:ext cx="3383280" cy="493776"/>
          </a:xfrm>
          <a:prstGeom prst="roundRect">
            <a:avLst>
              <a:gd name="adj" fmla="val 8000"/>
            </a:avLst>
          </a:prstGeom>
          <a:noFill/>
          <a:ln w="9525">
            <a:solidFill>
              <a:srgbClr val="9C6F1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50" b="1">
                <a:solidFill>
                  <a:srgbClr val="9C6F15"/>
                </a:solidFill>
                <a:latin typeface="Calibri"/>
              </a:rPr>
              <a:t>Exit — gate evidenced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EAEBF0"/>
          </a:solidFill>
          <a:ln w="9525">
            <a:solidFill>
              <a:srgbClr val="C0C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0584"/>
          <a:lstStyle/>
          <a:p>
            <a:pPr algn="l"/>
            <a:r>
              <a:rPr sz="1150" b="1">
                <a:solidFill>
                  <a:srgbClr val="1E2761"/>
                </a:solidFill>
                <a:latin typeface="Calibri"/>
              </a:rPr>
              <a:t>How to use it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Hold this next to a feature in ADO and create the items listed. Create every item with the “+” link from the Feature — never standalone. </a:t>
            </a:r>
            <a:r>
              <a:rPr sz="1000" b="1">
                <a:solidFill>
                  <a:srgbClr val="1A1A2E"/>
                </a:solidFill>
                <a:latin typeface="Calibri"/>
              </a:rPr>
              <a:t>The bucket weights differ by feature type — see the two templates that follow.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Template A — Network Inventory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Applies to  1639206 SolarWinds  ·  1639225 Cisco Catalyst  ·  1639239 Qualys  ·  Tripwire (no ADO item 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Template A — Network Inventory Integration  |  Oct 15,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Spike / requirements</a:t>
            </a:r>
          </a:p>
          <a:p>
            <a:pPr algn="ctr"/>
            <a:r>
              <a:rPr sz="950">
                <a:solidFill>
                  <a:srgbClr val="E4E5EC"/>
                </a:solidFill>
                <a:latin typeface="Calibri"/>
              </a:rPr>
              <a:t>3 items  ·  fat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A-S1   </a:t>
            </a:r>
            <a:r>
              <a:rPr sz="1000">
                <a:solidFill>
                  <a:srgbClr val="1A1A2E"/>
                </a:solidFill>
                <a:latin typeface="Calibri"/>
              </a:rPr>
              <a:t>Source access and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A-S2   </a:t>
            </a:r>
            <a:r>
              <a:rPr sz="1000">
                <a:solidFill>
                  <a:srgbClr val="1A1A2E"/>
                </a:solidFill>
                <a:latin typeface="Calibri"/>
              </a:rPr>
              <a:t>Data profile and field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A-S3   </a:t>
            </a:r>
            <a:r>
              <a:rPr sz="1000">
                <a:solidFill>
                  <a:srgbClr val="1A1A2E"/>
                </a:solidFill>
                <a:latin typeface="Calibri"/>
              </a:rPr>
              <a:t>Reconciliation and precedence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Build &amp; test</a:t>
            </a:r>
          </a:p>
          <a:p>
            <a:pPr algn="ctr"/>
            <a:r>
              <a:rPr sz="950">
                <a:solidFill>
                  <a:srgbClr val="E1EDEF"/>
                </a:solidFill>
                <a:latin typeface="Calibri"/>
              </a:rPr>
              <a:t>5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A-B1   </a:t>
            </a:r>
            <a:r>
              <a:rPr sz="1000">
                <a:solidFill>
                  <a:srgbClr val="1A1A2E"/>
                </a:solidFill>
                <a:latin typeface="Calibri"/>
              </a:rPr>
              <a:t>Configure data source 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A-B2   </a:t>
            </a:r>
            <a:r>
              <a:rPr sz="1000">
                <a:solidFill>
                  <a:srgbClr val="1A1A2E"/>
                </a:solidFill>
                <a:latin typeface="Calibri"/>
              </a:rPr>
              <a:t>Field mapping and transforms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A-B3   </a:t>
            </a:r>
            <a:r>
              <a:rPr sz="1000">
                <a:solidFill>
                  <a:srgbClr val="1A1A2E"/>
                </a:solidFill>
                <a:latin typeface="Calibri"/>
              </a:rPr>
              <a:t>Identification and reconciliation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307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A-B4   </a:t>
            </a:r>
            <a:r>
              <a:rPr sz="1000">
                <a:solidFill>
                  <a:srgbClr val="1A1A2E"/>
                </a:solidFill>
                <a:latin typeface="Calibri"/>
              </a:rPr>
              <a:t>Scheduled sync and error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42816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A-B5   </a:t>
            </a:r>
            <a:r>
              <a:rPr sz="1000">
                <a:solidFill>
                  <a:srgbClr val="1A1A2E"/>
                </a:solidFill>
                <a:latin typeface="Calibri"/>
              </a:rPr>
              <a:t>Validate against a sample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Promote to prod</a:t>
            </a:r>
          </a:p>
          <a:p>
            <a:pPr algn="ctr"/>
            <a:r>
              <a:rPr sz="950">
                <a:solidFill>
                  <a:srgbClr val="F3EDE2"/>
                </a:solidFill>
                <a:latin typeface="Calibri"/>
              </a:rPr>
              <a:t>1 item  ·  thin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9C6F15"/>
                </a:solidFill>
                <a:latin typeface="Calibri"/>
              </a:rPr>
              <a:t>A-P1   </a:t>
            </a:r>
            <a:r>
              <a:rPr sz="1000">
                <a:solidFill>
                  <a:srgbClr val="1A1A2E"/>
                </a:solidFill>
                <a:latin typeface="Calibri"/>
              </a:rPr>
              <a:t>CR, PROD deploy, evidence,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6F2E9"/>
          </a:solidFill>
          <a:ln w="9525">
            <a:solidFill>
              <a:srgbClr val="E3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0584"/>
          <a:lstStyle/>
          <a:p>
            <a:pPr algn="l"/>
            <a:r>
              <a:rPr sz="1150" b="1">
                <a:solidFill>
                  <a:srgbClr val="9C6F15"/>
                </a:solidFill>
                <a:latin typeface="Calibri"/>
              </a:rPr>
              <a:t>Long pole — A-S1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Credentials and account permissions are the recurring blocker on this project. An integration POC changes no user-facing behaviour, so there is nothing to communicate and nobody to train — </a:t>
            </a:r>
            <a:r>
              <a:rPr sz="1000" b="1">
                <a:solidFill>
                  <a:srgbClr val="1A1A2E"/>
                </a:solidFill>
                <a:latin typeface="Calibri"/>
              </a:rPr>
              <a:t>one promote item is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E2761"/>
                </a:solidFill>
                <a:latin typeface="Cambria"/>
              </a:rPr>
              <a:t>Template B — Lifecycle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Calibri"/>
              </a:rPr>
              <a:t>Applies to  1640805 Server Build Lifecycle  ·  1640819 Server Decommission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PPL CMDB-CSDM  |  Template B — Lifecycle Process Flow  |  Oct 15,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Spike / requirements</a:t>
            </a:r>
          </a:p>
          <a:p>
            <a:pPr algn="ctr"/>
            <a:r>
              <a:rPr sz="950">
                <a:solidFill>
                  <a:srgbClr val="E4E5EC"/>
                </a:solidFill>
                <a:latin typeface="Calibri"/>
              </a:rPr>
              <a:t>3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B-S1   </a:t>
            </a:r>
            <a:r>
              <a:rPr sz="1000">
                <a:solidFill>
                  <a:srgbClr val="1A1A2E"/>
                </a:solidFill>
                <a:latin typeface="Calibri"/>
              </a:rPr>
              <a:t>Current-state process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B-S2   </a:t>
            </a:r>
            <a:r>
              <a:rPr sz="1000">
                <a:solidFill>
                  <a:srgbClr val="1A1A2E"/>
                </a:solidFill>
                <a:latin typeface="Calibri"/>
              </a:rPr>
              <a:t>Target-state flow and CI state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8E9EF"/>
          </a:solidFill>
          <a:ln w="9525">
            <a:solidFill>
              <a:srgbClr val="B7B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B-S3   </a:t>
            </a:r>
            <a:r>
              <a:rPr sz="1000">
                <a:solidFill>
                  <a:srgbClr val="1A1A2E"/>
                </a:solidFill>
                <a:latin typeface="Calibri"/>
              </a:rPr>
              <a:t>Class Manager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0B6E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Build &amp; test</a:t>
            </a:r>
          </a:p>
          <a:p>
            <a:pPr algn="ctr"/>
            <a:r>
              <a:rPr sz="950">
                <a:solidFill>
                  <a:srgbClr val="E1EDEF"/>
                </a:solidFill>
                <a:latin typeface="Calibri"/>
              </a:rPr>
              <a:t>5 items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B-B1   </a:t>
            </a:r>
            <a:r>
              <a:rPr sz="1000">
                <a:solidFill>
                  <a:srgbClr val="1A1A2E"/>
                </a:solidFill>
                <a:latin typeface="Calibri"/>
              </a:rPr>
              <a:t>Configure lifecycle states and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B-B2   </a:t>
            </a:r>
            <a:r>
              <a:rPr sz="1000">
                <a:solidFill>
                  <a:srgbClr val="1A1A2E"/>
                </a:solidFill>
                <a:latin typeface="Calibri"/>
              </a:rPr>
              <a:t>Triggers and state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B-B3   </a:t>
            </a:r>
            <a:r>
              <a:rPr sz="1000">
                <a:solidFill>
                  <a:srgbClr val="1A1A2E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3075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B-B4   </a:t>
            </a:r>
            <a:r>
              <a:rPr sz="1000">
                <a:solidFill>
                  <a:srgbClr val="1A1A2E"/>
                </a:solidFill>
                <a:latin typeface="Calibri"/>
              </a:rPr>
              <a:t>User entry point (catalog item)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242816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E6F0F2"/>
          </a:solidFill>
          <a:ln w="9525">
            <a:solidFill>
              <a:srgbClr val="B0D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0B6E7F"/>
                </a:solidFill>
                <a:latin typeface="Calibri"/>
              </a:rPr>
              <a:t>B-B5   </a:t>
            </a:r>
            <a:r>
              <a:rPr sz="1000">
                <a:solidFill>
                  <a:srgbClr val="1A1A2E"/>
                </a:solidFill>
                <a:latin typeface="Calibri"/>
              </a:rPr>
              <a:t>Test with representative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9C6F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Promote to prod</a:t>
            </a:r>
          </a:p>
          <a:p>
            <a:pPr algn="ctr"/>
            <a:r>
              <a:rPr sz="950">
                <a:solidFill>
                  <a:srgbClr val="F3EDE2"/>
                </a:solidFill>
                <a:latin typeface="Calibri"/>
              </a:rPr>
              <a:t>3 items  ·  fat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9C6F15"/>
                </a:solidFill>
                <a:latin typeface="Calibri"/>
              </a:rPr>
              <a:t>B-P1   </a:t>
            </a:r>
            <a:r>
              <a:rPr sz="1000">
                <a:solidFill>
                  <a:srgbClr val="1A1A2E"/>
                </a:solidFill>
                <a:latin typeface="Calibri"/>
              </a:rPr>
              <a:t>OCM comms and training materials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70662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9C6F15"/>
                </a:solidFill>
                <a:latin typeface="Calibri"/>
              </a:rPr>
              <a:t>B-P2   </a:t>
            </a:r>
            <a:r>
              <a:rPr sz="1000">
                <a:solidFill>
                  <a:srgbClr val="1A1A2E"/>
                </a:solidFill>
                <a:latin typeface="Calibri"/>
              </a:rPr>
              <a:t>Change request and PROD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21868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F5F0E7"/>
          </a:solidFill>
          <a:ln w="9525">
            <a:solidFill>
              <a:srgbClr val="DF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/>
          <a:lstStyle/>
          <a:p>
            <a:pPr algn="l"/>
            <a:r>
              <a:rPr sz="1000" b="1">
                <a:solidFill>
                  <a:srgbClr val="9C6F15"/>
                </a:solidFill>
                <a:latin typeface="Calibri"/>
              </a:rPr>
              <a:t>B-P3   </a:t>
            </a:r>
            <a:r>
              <a:rPr sz="1000">
                <a:solidFill>
                  <a:srgbClr val="1A1A2E"/>
                </a:solidFill>
                <a:latin typeface="Calibri"/>
              </a:rPr>
              <a:t>Evidence packaged, acceptance received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658368"/>
          </a:xfrm>
          <a:prstGeom prst="roundRect">
            <a:avLst>
              <a:gd name="adj" fmla="val 8000"/>
            </a:avLst>
          </a:prstGeom>
          <a:solidFill>
            <a:srgbClr val="F6F2E9"/>
          </a:solidFill>
          <a:ln w="9525">
            <a:solidFill>
              <a:srgbClr val="E3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0584"/>
          <a:lstStyle/>
          <a:p>
            <a:pPr algn="l"/>
            <a:r>
              <a:rPr sz="1150" b="1">
                <a:solidFill>
                  <a:srgbClr val="9C6F15"/>
                </a:solidFill>
                <a:latin typeface="Calibri"/>
              </a:rPr>
              <a:t>Long pole — B-S3</a:t>
            </a:r>
          </a:p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Class Manager sign-off is an external dependency, not team capacity. A lifecycle flow changes how people actually work, so </a:t>
            </a:r>
            <a:r>
              <a:rPr sz="1000" b="1">
                <a:solidFill>
                  <a:srgbClr val="1A1A2E"/>
                </a:solidFill>
                <a:latin typeface="Calibri"/>
              </a:rPr>
              <a:t>communication and training are delivery work, not an afterthought.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