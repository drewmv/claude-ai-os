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0175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100" b="1">
                <a:solidFill>
                  <a:srgbClr val="1E2761"/>
                </a:solidFill>
                <a:latin typeface="Cambria"/>
              </a:rPr>
              <a:t>Implementation Structure — Pilot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8229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280"/>
                </a:solidFill>
                <a:latin typeface="Calibri"/>
              </a:rPr>
              <a:t>Recommend the server lifecycle pair  ·  run the structure once, adjust, run it again  ·  both gate Feb 2, the lowest-value invoice month in the 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35508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PPL CMDB-CSDM  |  Feature Implementation Structure — Pilot  |  Oct 15,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7936992" y="1417320"/>
            <a:ext cx="1252728" cy="1627632"/>
          </a:xfrm>
          <a:prstGeom prst="rect">
            <a:avLst/>
          </a:prstGeom>
          <a:solidFill>
            <a:srgbClr val="ED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Pilot feature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0" y="1417320"/>
            <a:ext cx="7315" cy="1627632"/>
          </a:xfrm>
          <a:prstGeom prst="rect">
            <a:avLst/>
          </a:prstGeom>
          <a:solidFill>
            <a:srgbClr val="D5D9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17520" y="1463040"/>
            <a:ext cx="12527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Calibri"/>
              </a:rPr>
              <a:t>4.1</a:t>
            </a:r>
          </a:p>
          <a:p>
            <a:pPr algn="l"/>
            <a:r>
              <a:rPr sz="900" b="0">
                <a:solidFill>
                  <a:srgbClr val="1E2761"/>
                </a:solidFill>
                <a:latin typeface="Calibri"/>
              </a:rPr>
              <a:t>Oct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4178808" y="1417320"/>
            <a:ext cx="7315" cy="1627632"/>
          </a:xfrm>
          <a:prstGeom prst="rect">
            <a:avLst/>
          </a:prstGeom>
          <a:solidFill>
            <a:srgbClr val="D5D9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70248" y="1463040"/>
            <a:ext cx="12527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Calibri"/>
              </a:rPr>
              <a:t>4.2</a:t>
            </a:r>
          </a:p>
          <a:p>
            <a:pPr algn="l"/>
            <a:r>
              <a:rPr sz="900" b="0">
                <a:solidFill>
                  <a:srgbClr val="1E2761"/>
                </a:solidFill>
                <a:latin typeface="Calibri"/>
              </a:rPr>
              <a:t>Nov 11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31536" y="1417320"/>
            <a:ext cx="7315" cy="1627632"/>
          </a:xfrm>
          <a:prstGeom prst="rect">
            <a:avLst/>
          </a:prstGeom>
          <a:solidFill>
            <a:srgbClr val="D5D9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22976" y="1463040"/>
            <a:ext cx="12527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Calibri"/>
              </a:rPr>
              <a:t>4.3</a:t>
            </a:r>
          </a:p>
          <a:p>
            <a:pPr algn="l"/>
            <a:r>
              <a:rPr sz="900" b="0">
                <a:solidFill>
                  <a:srgbClr val="1E2761"/>
                </a:solidFill>
                <a:latin typeface="Calibri"/>
              </a:rPr>
              <a:t>Nov 25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84264" y="1417320"/>
            <a:ext cx="7315" cy="1627632"/>
          </a:xfrm>
          <a:prstGeom prst="rect">
            <a:avLst/>
          </a:prstGeom>
          <a:solidFill>
            <a:srgbClr val="D5D9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75704" y="1463040"/>
            <a:ext cx="12527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Calibri"/>
              </a:rPr>
              <a:t>4.4</a:t>
            </a:r>
          </a:p>
          <a:p>
            <a:pPr algn="l"/>
            <a:r>
              <a:rPr sz="900" b="0">
                <a:solidFill>
                  <a:srgbClr val="1E2761"/>
                </a:solidFill>
                <a:latin typeface="Calibri"/>
              </a:rPr>
              <a:t>Dec 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36992" y="1417320"/>
            <a:ext cx="7315" cy="1627632"/>
          </a:xfrm>
          <a:prstGeom prst="rect">
            <a:avLst/>
          </a:prstGeom>
          <a:solidFill>
            <a:srgbClr val="D5D9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28431" y="1463040"/>
            <a:ext cx="12527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Calibri"/>
              </a:rPr>
              <a:t>4.5</a:t>
            </a:r>
          </a:p>
          <a:p>
            <a:pPr algn="l"/>
            <a:r>
              <a:rPr sz="900" b="0">
                <a:solidFill>
                  <a:srgbClr val="1E2761"/>
                </a:solidFill>
                <a:latin typeface="Calibri"/>
              </a:rPr>
              <a:t>Dec 23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89720" y="1417320"/>
            <a:ext cx="7315" cy="1627632"/>
          </a:xfrm>
          <a:prstGeom prst="rect">
            <a:avLst/>
          </a:prstGeom>
          <a:solidFill>
            <a:srgbClr val="D5D9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81160" y="1463040"/>
            <a:ext cx="12527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Calibri"/>
              </a:rPr>
              <a:t>4.6</a:t>
            </a:r>
          </a:p>
          <a:p>
            <a:pPr algn="l"/>
            <a:r>
              <a:rPr sz="900" b="0">
                <a:solidFill>
                  <a:srgbClr val="1E2761"/>
                </a:solidFill>
                <a:latin typeface="Calibri"/>
              </a:rPr>
              <a:t>Jan 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442448" y="1417320"/>
            <a:ext cx="7315" cy="1627632"/>
          </a:xfrm>
          <a:prstGeom prst="rect">
            <a:avLst/>
          </a:prstGeom>
          <a:solidFill>
            <a:srgbClr val="D5D9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33888" y="1463040"/>
            <a:ext cx="12527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Calibri"/>
              </a:rPr>
              <a:t>4.7 IP</a:t>
            </a:r>
          </a:p>
          <a:p>
            <a:pPr algn="l"/>
            <a:r>
              <a:rPr sz="900" b="0">
                <a:solidFill>
                  <a:srgbClr val="1E2761"/>
                </a:solidFill>
                <a:latin typeface="Calibri"/>
              </a:rPr>
              <a:t>Jan 20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26080" y="1993392"/>
            <a:ext cx="8769096" cy="9144"/>
          </a:xfrm>
          <a:prstGeom prst="rect">
            <a:avLst/>
          </a:prstGeom>
          <a:solidFill>
            <a:srgbClr val="D5D9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2176272"/>
            <a:ext cx="237744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D2E46"/>
                </a:solidFill>
                <a:latin typeface="Calibri"/>
              </a:rPr>
              <a:t>D10  </a:t>
            </a:r>
            <a:r>
              <a:rPr sz="900" b="0">
                <a:solidFill>
                  <a:srgbClr val="6B7280"/>
                </a:solidFill>
                <a:latin typeface="Calibri"/>
              </a:rPr>
              <a:t>1640805</a:t>
            </a:r>
          </a:p>
          <a:p>
            <a:pPr algn="l"/>
            <a:r>
              <a:rPr sz="950" b="0">
                <a:solidFill>
                  <a:srgbClr val="1A1A2E"/>
                </a:solidFill>
                <a:latin typeface="Calibri"/>
              </a:rPr>
              <a:t>Server Build Lifecycle Process Flow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78808" y="2231136"/>
            <a:ext cx="1252728" cy="237744"/>
          </a:xfrm>
          <a:prstGeom prst="rect">
            <a:avLst/>
          </a:prstGeom>
          <a:solidFill>
            <a:srgbClr val="D3C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31536" y="2231136"/>
            <a:ext cx="2505456" cy="237744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89720" y="2231136"/>
            <a:ext cx="1252728" cy="237744"/>
          </a:xfrm>
          <a:prstGeom prst="rect">
            <a:avLst/>
          </a:prstGeom>
          <a:solidFill>
            <a:srgbClr val="FFFFFF"/>
          </a:solidFill>
          <a:ln w="15875">
            <a:solidFill>
              <a:srgbClr val="6D2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Diamond 25"/>
          <p:cNvSpPr/>
          <p:nvPr/>
        </p:nvSpPr>
        <p:spPr>
          <a:xfrm>
            <a:off x="11503152" y="2267712"/>
            <a:ext cx="155448" cy="155448"/>
          </a:xfrm>
          <a:prstGeom prst="diamond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2706624"/>
            <a:ext cx="237744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D2E46"/>
                </a:solidFill>
                <a:latin typeface="Calibri"/>
              </a:rPr>
              <a:t>D11  </a:t>
            </a:r>
            <a:r>
              <a:rPr sz="900" b="0">
                <a:solidFill>
                  <a:srgbClr val="6B7280"/>
                </a:solidFill>
                <a:latin typeface="Calibri"/>
              </a:rPr>
              <a:t>1640819</a:t>
            </a:r>
          </a:p>
          <a:p>
            <a:pPr algn="l"/>
            <a:r>
              <a:rPr sz="950" b="0">
                <a:solidFill>
                  <a:srgbClr val="1A1A2E"/>
                </a:solidFill>
                <a:latin typeface="Calibri"/>
              </a:rPr>
              <a:t>Server Decommission Lifecycle Flow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31536" y="2761488"/>
            <a:ext cx="1252728" cy="237744"/>
          </a:xfrm>
          <a:prstGeom prst="rect">
            <a:avLst/>
          </a:prstGeom>
          <a:solidFill>
            <a:srgbClr val="D3C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684264" y="2761488"/>
            <a:ext cx="3758184" cy="237744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442448" y="2761488"/>
            <a:ext cx="914400" cy="237744"/>
          </a:xfrm>
          <a:prstGeom prst="rect">
            <a:avLst/>
          </a:prstGeom>
          <a:solidFill>
            <a:srgbClr val="FFFFFF"/>
          </a:solidFill>
          <a:ln w="15875">
            <a:solidFill>
              <a:srgbClr val="6D2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Diamond 30"/>
          <p:cNvSpPr/>
          <p:nvPr/>
        </p:nvSpPr>
        <p:spPr>
          <a:xfrm>
            <a:off x="11503152" y="2798064"/>
            <a:ext cx="155448" cy="155448"/>
          </a:xfrm>
          <a:prstGeom prst="diamond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26049" y="2103120"/>
            <a:ext cx="12801" cy="969264"/>
          </a:xfrm>
          <a:prstGeom prst="rect">
            <a:avLst/>
          </a:prstGeom>
          <a:solidFill>
            <a:srgbClr val="9C6F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31920" y="3145536"/>
            <a:ext cx="30175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>
                <a:solidFill>
                  <a:srgbClr val="9C6F15"/>
                </a:solidFill>
                <a:latin typeface="Calibri"/>
              </a:rPr>
              <a:t>handoff — D10 spike closes, D11 spike opens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3200400"/>
            <a:ext cx="201168" cy="100584"/>
          </a:xfrm>
          <a:prstGeom prst="rect">
            <a:avLst/>
          </a:prstGeom>
          <a:solidFill>
            <a:srgbClr val="D3C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3145536"/>
            <a:ext cx="457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Spike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316736" y="3200400"/>
            <a:ext cx="201168" cy="100584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572768" y="31455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Build &amp; test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633472" y="3172968"/>
            <a:ext cx="201168" cy="146304"/>
          </a:xfrm>
          <a:prstGeom prst="rect">
            <a:avLst/>
          </a:prstGeom>
          <a:solidFill>
            <a:srgbClr val="FFFFFF"/>
          </a:solidFill>
          <a:ln w="15875">
            <a:solidFill>
              <a:srgbClr val="6D2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889504" y="3145536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Validate &amp; release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3703320"/>
            <a:ext cx="3538728" cy="1188720"/>
          </a:xfrm>
          <a:prstGeom prst="roundRect">
            <a:avLst>
              <a:gd name="adj" fmla="val 8000"/>
            </a:avLst>
          </a:prstGeom>
          <a:solidFill>
            <a:srgbClr val="F4F0F2"/>
          </a:solidFill>
          <a:ln w="9525">
            <a:solidFill>
              <a:srgbClr val="D3C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/>
          <a:lstStyle/>
          <a:p>
            <a:pPr algn="ctr"/>
            <a:r>
              <a:rPr sz="1150" b="1">
                <a:solidFill>
                  <a:srgbClr val="6D2E46"/>
                </a:solidFill>
                <a:latin typeface="Calibri"/>
              </a:rPr>
              <a:t>Owned by you</a:t>
            </a:r>
          </a:p>
          <a:p>
            <a:r>
              <a:rPr sz="1000">
                <a:solidFill>
                  <a:srgbClr val="1A1A2E"/>
                </a:solidFill>
                <a:latin typeface="Calibri"/>
              </a:rPr>
              <a:t>Both features are M. Vazquez's. No new process imposed on A. Griffis, who is at 50% allocation and already carries 6 of 12 features.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315968" y="3703320"/>
            <a:ext cx="3538728" cy="1188720"/>
          </a:xfrm>
          <a:prstGeom prst="roundRect">
            <a:avLst>
              <a:gd name="adj" fmla="val 8000"/>
            </a:avLst>
          </a:prstGeom>
          <a:solidFill>
            <a:srgbClr val="F4F0F2"/>
          </a:solidFill>
          <a:ln w="9525">
            <a:solidFill>
              <a:srgbClr val="D3C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/>
          <a:lstStyle/>
          <a:p>
            <a:pPr algn="ctr"/>
            <a:r>
              <a:rPr sz="1150" b="1">
                <a:solidFill>
                  <a:srgbClr val="6D2E46"/>
                </a:solidFill>
                <a:latin typeface="Calibri"/>
              </a:rPr>
              <a:t>Stage 3 gets a real test</a:t>
            </a:r>
          </a:p>
          <a:p>
            <a:r>
              <a:rPr sz="1000">
                <a:solidFill>
                  <a:srgbClr val="1A1A2E"/>
                </a:solidFill>
                <a:latin typeface="Calibri"/>
              </a:rPr>
              <a:t>Lifecycle process flows change how server builds and decommissions actually happen — genuine OCM, training and Class Manager sign-off, not a thin POC release.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174736" y="3703320"/>
            <a:ext cx="3538728" cy="1188720"/>
          </a:xfrm>
          <a:prstGeom prst="roundRect">
            <a:avLst>
              <a:gd name="adj" fmla="val 8000"/>
            </a:avLst>
          </a:prstGeom>
          <a:solidFill>
            <a:srgbClr val="F4F0F2"/>
          </a:solidFill>
          <a:ln w="9525">
            <a:solidFill>
              <a:srgbClr val="D3C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/>
          <a:lstStyle/>
          <a:p>
            <a:pPr algn="ctr"/>
            <a:r>
              <a:rPr sz="1150" b="1">
                <a:solidFill>
                  <a:srgbClr val="6D2E46"/>
                </a:solidFill>
                <a:latin typeface="Calibri"/>
              </a:rPr>
              <a:t>Two runs, not two pilots</a:t>
            </a:r>
          </a:p>
          <a:p>
            <a:r>
              <a:rPr sz="1000">
                <a:solidFill>
                  <a:srgbClr val="1A1A2E"/>
                </a:solidFill>
                <a:latin typeface="Calibri"/>
              </a:rPr>
              <a:t>D10's spike closes Nov 24; D11's opens Nov 25. Fix what is awkward after the first run and apply it to the second, inside the same PI.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5120640"/>
            <a:ext cx="11247120" cy="749808"/>
          </a:xfrm>
          <a:prstGeom prst="roundRect">
            <a:avLst>
              <a:gd name="adj" fmla="val 8000"/>
            </a:avLst>
          </a:prstGeom>
          <a:solidFill>
            <a:srgbClr val="F5F0E7"/>
          </a:solidFill>
          <a:ln w="9525">
            <a:solidFill>
              <a:srgbClr val="E1D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/>
          <a:lstStyle/>
          <a:p>
            <a:pPr algn="ctr"/>
            <a:r>
              <a:rPr sz="1150" b="1">
                <a:solidFill>
                  <a:srgbClr val="9C6F15"/>
                </a:solidFill>
                <a:latin typeface="Calibri"/>
              </a:rPr>
              <a:t>Watch</a:t>
            </a:r>
          </a:p>
          <a:p>
            <a:r>
              <a:rPr sz="1000" b="0">
                <a:solidFill>
                  <a:srgbClr val="1A1A2E"/>
                </a:solidFill>
                <a:latin typeface="Calibri"/>
              </a:rPr>
              <a:t>D11 finishes on its gate date with no validation margin, and its validate-and-release window falls in the IP iteration where capacity goes to I&amp;A and PI-5 Planning — so the clean read on Stage 3 will come from D10's January window. </a:t>
            </a:r>
            <a:r>
              <a:rPr sz="1000" b="1">
                <a:solidFill>
                  <a:srgbClr val="1A1A2E"/>
                </a:solidFill>
                <a:latin typeface="Calibri"/>
              </a:rPr>
              <a:t>Confirm Ray Reuter's availability for D10 requirements sign-off at the end of Sprint 4.2 before Nov 11.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