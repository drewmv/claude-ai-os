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Implementation Structure — Pilot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Recommend the server lifecycle pair  ·  run the structure once, adjust, run it again  ·  both gate Feb 2, the lowest-value invoice month in the 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Feature Implementation Structure — Pilot  |  Oct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936992" y="1417320"/>
            <a:ext cx="1252728" cy="1627632"/>
          </a:xfrm>
          <a:prstGeom prst="rect">
            <a:avLst/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Pilot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4.1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Oct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4.2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Nov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31536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4.3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Nov 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4264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4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4.4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Dec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4.5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Dec 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4.6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Jan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42448" y="1417320"/>
            <a:ext cx="7315" cy="1627632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33888" y="1463040"/>
            <a:ext cx="1252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4.7 IP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Jan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1993392"/>
            <a:ext cx="8769096" cy="9144"/>
          </a:xfrm>
          <a:prstGeom prst="rect">
            <a:avLst/>
          </a:prstGeom>
          <a:solidFill>
            <a:srgbClr val="D5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D2E46"/>
                </a:solidFill>
                <a:latin typeface="Calibri"/>
              </a:rPr>
              <a:t>D10  </a:t>
            </a:r>
            <a:r>
              <a:rPr sz="900" b="0">
                <a:solidFill>
                  <a:srgbClr val="6B7280"/>
                </a:solidFill>
                <a:latin typeface="Calibri"/>
              </a:rPr>
              <a:t>1640805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Server Build Lifecycle Process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2231136"/>
            <a:ext cx="1252728" cy="237744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31536" y="2231136"/>
            <a:ext cx="2505456" cy="23774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231136"/>
            <a:ext cx="1252728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11503152" y="2267712"/>
            <a:ext cx="155448" cy="155448"/>
          </a:xfrm>
          <a:prstGeom prst="diamond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06624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D2E46"/>
                </a:solidFill>
                <a:latin typeface="Calibri"/>
              </a:rPr>
              <a:t>D11  </a:t>
            </a:r>
            <a:r>
              <a:rPr sz="900" b="0">
                <a:solidFill>
                  <a:srgbClr val="6B7280"/>
                </a:solidFill>
                <a:latin typeface="Calibri"/>
              </a:rPr>
              <a:t>1640819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Server Decommission Lifecycle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31536" y="2761488"/>
            <a:ext cx="1252728" cy="237744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84264" y="2761488"/>
            <a:ext cx="3758184" cy="23774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42448" y="2761488"/>
            <a:ext cx="9144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11503152" y="2798064"/>
            <a:ext cx="155448" cy="155448"/>
          </a:xfrm>
          <a:prstGeom prst="diamond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26049" y="2103120"/>
            <a:ext cx="12801" cy="969264"/>
          </a:xfrm>
          <a:prstGeom prst="rect">
            <a:avLst/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14553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9C6F15"/>
                </a:solidFill>
                <a:latin typeface="Calibri"/>
              </a:rPr>
              <a:t>handoff — D10 spike closes, D11 spike opens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00400"/>
            <a:ext cx="201168" cy="100584"/>
          </a:xfrm>
          <a:prstGeom prst="rect">
            <a:avLst/>
          </a:prstGeom>
          <a:solidFill>
            <a:srgbClr val="D3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31455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Spike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16736" y="3200400"/>
            <a:ext cx="201168" cy="10058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72768" y="31455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Build &amp; 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3172968"/>
            <a:ext cx="201168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314553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Validate &amp; release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703320"/>
            <a:ext cx="3538728" cy="1188720"/>
          </a:xfrm>
          <a:prstGeom prst="roundRect">
            <a:avLst>
              <a:gd name="adj" fmla="val 8000"/>
            </a:avLst>
          </a:prstGeom>
          <a:solidFill>
            <a:srgbClr val="F4F0F2"/>
          </a:solidFill>
          <a:ln w="9525">
            <a:solidFill>
              <a:srgbClr val="D3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l"/>
            <a:r>
              <a:rPr sz="1150" b="1">
                <a:solidFill>
                  <a:srgbClr val="6D2E46"/>
                </a:solidFill>
                <a:latin typeface="Calibri"/>
              </a:rPr>
              <a:t>Owned by you</a:t>
            </a:r>
          </a:p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Both features are M. Vazquez's. No new process imposed on A. Griffis, who is at 50% allocation and already carries 6 of 12 features.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3703320"/>
            <a:ext cx="3538728" cy="1188720"/>
          </a:xfrm>
          <a:prstGeom prst="roundRect">
            <a:avLst>
              <a:gd name="adj" fmla="val 8000"/>
            </a:avLst>
          </a:prstGeom>
          <a:solidFill>
            <a:srgbClr val="F4F0F2"/>
          </a:solidFill>
          <a:ln w="9525">
            <a:solidFill>
              <a:srgbClr val="D3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l"/>
            <a:r>
              <a:rPr sz="1150" b="1">
                <a:solidFill>
                  <a:srgbClr val="6D2E46"/>
                </a:solidFill>
                <a:latin typeface="Calibri"/>
              </a:rPr>
              <a:t>Stage 3 gets a real test</a:t>
            </a:r>
          </a:p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Lifecycle process flows change how server builds and decommissions actually happen — genuine OCM, training and Class Manager sign-off, not a thin POC release.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74736" y="3703320"/>
            <a:ext cx="3538728" cy="1188720"/>
          </a:xfrm>
          <a:prstGeom prst="roundRect">
            <a:avLst>
              <a:gd name="adj" fmla="val 8000"/>
            </a:avLst>
          </a:prstGeom>
          <a:solidFill>
            <a:srgbClr val="F4F0F2"/>
          </a:solidFill>
          <a:ln w="9525">
            <a:solidFill>
              <a:srgbClr val="D3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l"/>
            <a:r>
              <a:rPr sz="1150" b="1">
                <a:solidFill>
                  <a:srgbClr val="6D2E46"/>
                </a:solidFill>
                <a:latin typeface="Calibri"/>
              </a:rPr>
              <a:t>Two runs, not two pilots</a:t>
            </a:r>
          </a:p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D10's spike closes Nov 24; D11's opens Nov 25. Fix what is awkward after the first run and apply it to the second, inside the same PI.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E1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/>
            <a:r>
              <a:rPr sz="1150" b="1">
                <a:solidFill>
                  <a:srgbClr val="9C6F15"/>
                </a:solidFill>
                <a:latin typeface="Calibri"/>
              </a:rPr>
              <a:t>Watch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D11 finishes on its gate date with no validation margin, and its validate-and-release window falls in the IP iteration where capacity goes to I&amp;A and PI-5 Planning — so the clean read on Stage 3 will come from D10's January window. </a:t>
            </a:r>
            <a:r>
              <a:rPr sz="1000" b="1">
                <a:solidFill>
                  <a:srgbClr val="1A1A2E"/>
                </a:solidFill>
                <a:latin typeface="Calibri"/>
              </a:rPr>
              <a:t>Confirm Ray Reuter's availability for D10 requirements sign-off at the end of Sprint 4.2 before Nov 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