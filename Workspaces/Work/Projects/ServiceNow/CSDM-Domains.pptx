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Common Service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AA0FF"/>
                </a:solidFill>
                <a:latin typeface="Calibri"/>
              </a:rPr>
              <a:t>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CEE"/>
                </a:solidFill>
                <a:latin typeface="Calibri"/>
              </a:rPr>
              <a:t>Domains, Key Components &amp; ServiceNow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88AA"/>
                </a:solidFill>
                <a:latin typeface="Calibri"/>
              </a:rPr>
              <a:t>Source: ServiceNow Australia Release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2D40"/>
                </a:solidFill>
                <a:latin typeface="Calibri"/>
              </a:rPr>
              <a:t>CSDM — The 7 Domains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9204" y="777240"/>
            <a:ext cx="2651760" cy="2103120"/>
          </a:xfrm>
          <a:prstGeom prst="rect">
            <a:avLst/>
          </a:prstGeom>
          <a:solidFill>
            <a:srgbClr val="ECF0F1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" y="777240"/>
            <a:ext cx="2651760" cy="29260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" y="79552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" y="79552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" y="11247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495E"/>
                </a:solidFill>
                <a:latin typeface="Calibri"/>
              </a:rPr>
              <a:t>Base referential data — required before all other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164592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Business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192024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Value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194559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Product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468879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Contracts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2132" y="777240"/>
            <a:ext cx="2651760" cy="2103120"/>
          </a:xfrm>
          <a:prstGeom prst="rect">
            <a:avLst/>
          </a:prstGeom>
          <a:solidFill>
            <a:srgbClr val="F5EAF8"/>
          </a:solidFill>
          <a:ln w="190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2132" y="777240"/>
            <a:ext cx="2651760" cy="292608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1860" y="79552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2172" y="79552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Ideation &amp;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1860" y="11247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3A83"/>
                </a:solidFill>
                <a:latin typeface="Calibri"/>
              </a:rPr>
              <a:t>Ideas and strategies for new or improved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0148" y="164592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Product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0148" y="192024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Planning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0148" y="2194559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Strategic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0148" y="2468879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Strategic 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777240"/>
            <a:ext cx="2651760" cy="2103120"/>
          </a:xfrm>
          <a:prstGeom prst="rect">
            <a:avLst/>
          </a:prstGeom>
          <a:solidFill>
            <a:srgbClr val="E8F3FF"/>
          </a:solidFill>
          <a:ln w="190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777240"/>
            <a:ext cx="2651760" cy="29260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4788" y="79552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79552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Design &amp;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4788" y="11247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C96"/>
                </a:solidFill>
                <a:latin typeface="Calibri"/>
              </a:rPr>
              <a:t>Logical designs for digital products being built or bought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076" y="164592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Business Capability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92024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Business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076" y="2194559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Information Object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7988" y="777240"/>
            <a:ext cx="2651760" cy="2103120"/>
          </a:xfrm>
          <a:prstGeom prst="rect">
            <a:avLst/>
          </a:prstGeom>
          <a:solidFill>
            <a:srgbClr val="E6F7F5"/>
          </a:solidFill>
          <a:ln w="190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47988" y="777240"/>
            <a:ext cx="2651760" cy="29260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7716" y="79552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8028" y="79552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 &amp;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7716" y="112471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7A6E"/>
                </a:solidFill>
                <a:latin typeface="Calibri"/>
              </a:rPr>
              <a:t>Logical development details during the software build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6004" y="164592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SDLC Component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6004" y="192024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DevOps Pipeline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6004" y="2194559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AI Digital Asset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15668" y="3090672"/>
            <a:ext cx="2651760" cy="2103120"/>
          </a:xfrm>
          <a:prstGeom prst="rect">
            <a:avLst/>
          </a:prstGeom>
          <a:solidFill>
            <a:srgbClr val="FFF0E0"/>
          </a:solidFill>
          <a:ln w="190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15668" y="3090672"/>
            <a:ext cx="2651760" cy="292608"/>
          </a:xfrm>
          <a:prstGeom prst="rect">
            <a:avLst/>
          </a:prstGeom>
          <a:solidFill>
            <a:srgbClr val="C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5396" y="310896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5708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5396" y="3438144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6A10"/>
                </a:solidFill>
                <a:latin typeface="Calibri"/>
              </a:rPr>
              <a:t>Operational domain — deployed apps, infrastructure, technology services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43684" y="3959352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Technology Mgmt Service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43684" y="4233672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Technology Mgmt Offering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43684" y="4507991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Service Instance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43684" y="4782311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Application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68596" y="3090672"/>
            <a:ext cx="2651760" cy="2103120"/>
          </a:xfrm>
          <a:prstGeom prst="rect">
            <a:avLst/>
          </a:prstGeom>
          <a:solidFill>
            <a:srgbClr val="E8F8ED"/>
          </a:solidFill>
          <a:ln w="190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68596" y="3090672"/>
            <a:ext cx="2651760" cy="292608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8324" y="310896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8636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Consumption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78324" y="3438144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7A3C"/>
                </a:solidFill>
                <a:latin typeface="Calibri"/>
              </a:rPr>
              <a:t>Portfolios and catalogs where consumers request business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6612" y="3959352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Business 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6612" y="4233672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Business Service Offering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6612" y="4507991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Service Catalog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6612" y="4782311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Business Service Portfolio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21524" y="3090672"/>
            <a:ext cx="2651760" cy="2103120"/>
          </a:xfrm>
          <a:prstGeom prst="rect">
            <a:avLst/>
          </a:prstGeom>
          <a:solidFill>
            <a:srgbClr val="FDEBED"/>
          </a:solidFill>
          <a:ln w="19050">
            <a:solidFill>
              <a:srgbClr val="7D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21524" y="3090672"/>
            <a:ext cx="2651760" cy="292608"/>
          </a:xfrm>
          <a:prstGeom prst="rect">
            <a:avLst/>
          </a:prstGeom>
          <a:solidFill>
            <a:srgbClr val="7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31252" y="310896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41564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Manage Portfolio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31252" y="3438144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D1F2A"/>
                </a:solidFill>
                <a:latin typeface="Calibri"/>
              </a:rPr>
              <a:t>Cross-domain visibility layer for service owners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49540" y="3959352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SPM Taxonomy Node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9540" y="4233672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• Cross-Domain Visibility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Calibri"/>
              </a:rPr>
              <a:t>Each domain is detailed on the following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4495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201168"/>
            <a:ext cx="1417320" cy="274320"/>
          </a:xfrm>
          <a:prstGeom prst="rect">
            <a:avLst/>
          </a:prstGeom>
          <a:solidFill>
            <a:srgbClr val="0C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194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PREREQUISITE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Base referential data — required before all other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56032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07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170432"/>
            <a:ext cx="292608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2070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170432"/>
            <a:ext cx="512064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54480"/>
            <a:ext cx="256032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1554480"/>
            <a:ext cx="292608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5312" y="1554480"/>
            <a:ext cx="512064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6093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495E"/>
                </a:solidFill>
                <a:latin typeface="Calibri"/>
              </a:rPr>
              <a:t>Business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cmdb_ci_business_process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60934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Core process definitions used across the CMDB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1762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76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2176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495E"/>
                </a:solidFill>
                <a:latin typeface="Calibri"/>
              </a:rPr>
              <a:t>Value 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231136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cmn_value_stream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31136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End-to-end flow delivering value to customers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798064"/>
            <a:ext cx="256032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2798064"/>
            <a:ext cx="292608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5312" y="2798064"/>
            <a:ext cx="512064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852928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495E"/>
                </a:solidFill>
                <a:latin typeface="Calibri"/>
              </a:rPr>
              <a:t>Product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2852928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852928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Hardware, software, and application model catalog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419856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07792" y="341985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25312" y="3419856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474720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495E"/>
                </a:solidFill>
                <a:latin typeface="Calibri"/>
              </a:rPr>
              <a:t>Contracts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3474720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ast_contract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3474720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Vendor and service agreements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041648"/>
            <a:ext cx="256032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07792" y="4041648"/>
            <a:ext cx="292608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25312" y="4041648"/>
            <a:ext cx="5120640" cy="621792"/>
          </a:xfrm>
          <a:prstGeom prst="rect">
            <a:avLst/>
          </a:prstGeom>
          <a:solidFill>
            <a:srgbClr val="ECF0F1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096512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495E"/>
                </a:solidFill>
                <a:latin typeface="Calibri"/>
              </a:rPr>
              <a:t>Organizational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9232" y="4096512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core_company / business_unit / cmn_department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2" y="4096512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Company, BU, Department, Location, Users, Groups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4663440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07792" y="4663440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25312" y="4663440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471830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495E"/>
                </a:solidFill>
                <a:latin typeface="Calibri"/>
              </a:rPr>
              <a:t>Life Cycle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9232" y="471830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life_cycle_mapping / life_cycle_control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471830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Standard CSDM life-cycle stage and status pairs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Domain 1 of 7  |  CSDM — Common Service Data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3A8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Ideation &amp;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201168"/>
            <a:ext cx="1417320" cy="274320"/>
          </a:xfrm>
          <a:prstGeom prst="rect">
            <a:avLst/>
          </a:prstGeom>
          <a:solidFill>
            <a:srgbClr val="441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194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STRATEGIC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Ideas and strategies for new or improved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560320" cy="384048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07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170432"/>
            <a:ext cx="2926080" cy="384048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2070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170432"/>
            <a:ext cx="5120640" cy="384048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54480"/>
            <a:ext cx="256032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1554480"/>
            <a:ext cx="292608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5312" y="1554480"/>
            <a:ext cx="512064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6093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83"/>
                </a:solidFill>
                <a:latin typeface="Calibri"/>
              </a:rPr>
              <a:t>Product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sn_align_core_product_idea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60934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Concept for a new or enhanced digital product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1762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76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2176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83"/>
                </a:solidFill>
                <a:latin typeface="Calibri"/>
              </a:rPr>
              <a:t>Planning 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231136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sn_align_core_planning_item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31136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Work item aligning ideas to delivery plans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798064"/>
            <a:ext cx="256032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2798064"/>
            <a:ext cx="292608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5312" y="2798064"/>
            <a:ext cx="512064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852928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83"/>
                </a:solidFill>
                <a:latin typeface="Calibri"/>
              </a:rPr>
              <a:t>Strategic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2852928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sn_gf_plan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852928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Long-range plan linked to organizational goals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419856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07792" y="341985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25312" y="3419856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474720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83"/>
                </a:solidFill>
                <a:latin typeface="Calibri"/>
              </a:rPr>
              <a:t>Strategic Priority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3474720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sn_gf_strategy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3474720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High-level priority driving investment decisions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041648"/>
            <a:ext cx="256032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07792" y="4041648"/>
            <a:ext cx="292608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25312" y="4041648"/>
            <a:ext cx="5120640" cy="621792"/>
          </a:xfrm>
          <a:prstGeom prst="rect">
            <a:avLst/>
          </a:prstGeom>
          <a:solidFill>
            <a:srgbClr val="F5EAF8"/>
          </a:solidFill>
          <a:ln w="6350">
            <a:solidFill>
              <a:srgbClr val="6C3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096512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83"/>
                </a:solidFill>
                <a:latin typeface="Calibri"/>
              </a:rPr>
              <a:t>Goal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9232" y="4096512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sn_gf_goal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2" y="4096512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Measurable target tied to a strategic priority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Domain 2 of 7  |  CSDM — Common Service Data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C9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Design &amp;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201168"/>
            <a:ext cx="1417320" cy="274320"/>
          </a:xfrm>
          <a:prstGeom prst="rect">
            <a:avLst/>
          </a:prstGeom>
          <a:solidFill>
            <a:srgbClr val="003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194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Logical designs for digital products being built or bought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560320" cy="38404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07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170432"/>
            <a:ext cx="2926080" cy="38404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2070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170432"/>
            <a:ext cx="5120640" cy="38404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54480"/>
            <a:ext cx="2560320" cy="621792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1554480"/>
            <a:ext cx="2926080" cy="621792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5312" y="1554480"/>
            <a:ext cx="5120640" cy="621792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6093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  <a:latin typeface="Calibri"/>
              </a:rPr>
              <a:t>Business 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cmdb_ci_business_capability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60934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High-level capability required to execute the business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1762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76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2176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  <a:latin typeface="Calibri"/>
              </a:rPr>
              <a:t>Business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231136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cmdb_ci_business_app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31136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Purchased or internally developed application (logical)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798064"/>
            <a:ext cx="2560320" cy="621792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2798064"/>
            <a:ext cx="2926080" cy="621792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5312" y="2798064"/>
            <a:ext cx="5120640" cy="621792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852928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  <a:latin typeface="Calibri"/>
              </a:rPr>
              <a:t>Information Object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2852928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cmdb_ci_information_object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852928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Type of data exchanged (PII, PCI DSS, HIPAA, etc.)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Domain 3 of 7  |  CSDM — Common Service Data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A6E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Build &amp;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201168"/>
            <a:ext cx="1417320" cy="274320"/>
          </a:xfrm>
          <a:prstGeom prst="rect">
            <a:avLst/>
          </a:prstGeom>
          <a:solidFill>
            <a:srgbClr val="00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194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Logical development details during the software build effort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560320" cy="38404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07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170432"/>
            <a:ext cx="2926080" cy="38404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2070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170432"/>
            <a:ext cx="5120640" cy="38404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54480"/>
            <a:ext cx="2560320" cy="621792"/>
          </a:xfrm>
          <a:prstGeom prst="rect">
            <a:avLst/>
          </a:prstGeom>
          <a:solidFill>
            <a:srgbClr val="E6F7F5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1554480"/>
            <a:ext cx="2926080" cy="621792"/>
          </a:xfrm>
          <a:prstGeom prst="rect">
            <a:avLst/>
          </a:prstGeom>
          <a:solidFill>
            <a:srgbClr val="E6F7F5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5312" y="1554480"/>
            <a:ext cx="5120640" cy="621792"/>
          </a:xfrm>
          <a:prstGeom prst="rect">
            <a:avLst/>
          </a:prstGeom>
          <a:solidFill>
            <a:srgbClr val="E6F7F5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6093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6E"/>
                </a:solidFill>
                <a:latin typeface="Calibri"/>
              </a:rPr>
              <a:t>SDLC Component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cmdb_ci_sdlc_component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60934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Unique code effort — microservice, API, or software element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1762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76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2176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6E"/>
                </a:solidFill>
                <a:latin typeface="Calibri"/>
              </a:rPr>
              <a:t>DevOps Pipeline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231136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Various DevOps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31136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Development pipeline and CI/CD model objects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798064"/>
            <a:ext cx="2560320" cy="621792"/>
          </a:xfrm>
          <a:prstGeom prst="rect">
            <a:avLst/>
          </a:prstGeom>
          <a:solidFill>
            <a:srgbClr val="E6F7F5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2798064"/>
            <a:ext cx="2926080" cy="621792"/>
          </a:xfrm>
          <a:prstGeom prst="rect">
            <a:avLst/>
          </a:prstGeom>
          <a:solidFill>
            <a:srgbClr val="E6F7F5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5312" y="2798064"/>
            <a:ext cx="5120640" cy="621792"/>
          </a:xfrm>
          <a:prstGeom prst="rect">
            <a:avLst/>
          </a:prstGeom>
          <a:solidFill>
            <a:srgbClr val="E6F7F5"/>
          </a:solidFill>
          <a:ln w="6350">
            <a:solidFill>
              <a:srgbClr val="1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852928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6E"/>
                </a:solidFill>
                <a:latin typeface="Calibri"/>
              </a:rPr>
              <a:t>AI Digital Asset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2852928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alm_ai_digital_asset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852928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Deployable AI source: System, Model, Dataset, Prompt assets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Domain 4 of 7  |  CSDM — Common Service Data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C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6A1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Service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201168"/>
            <a:ext cx="1417320" cy="274320"/>
          </a:xfrm>
          <a:prstGeom prst="rect">
            <a:avLst/>
          </a:prstGeom>
          <a:solidFill>
            <a:srgbClr val="98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194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Operational domain — deployed apps, infrastructure, technology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560320" cy="384048"/>
          </a:xfrm>
          <a:prstGeom prst="rect">
            <a:avLst/>
          </a:prstGeom>
          <a:solidFill>
            <a:srgbClr val="C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07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170432"/>
            <a:ext cx="2926080" cy="384048"/>
          </a:xfrm>
          <a:prstGeom prst="rect">
            <a:avLst/>
          </a:prstGeom>
          <a:solidFill>
            <a:srgbClr val="C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2070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170432"/>
            <a:ext cx="5120640" cy="384048"/>
          </a:xfrm>
          <a:prstGeom prst="rect">
            <a:avLst/>
          </a:prstGeom>
          <a:solidFill>
            <a:srgbClr val="C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54480"/>
            <a:ext cx="256032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1554480"/>
            <a:ext cx="292608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5312" y="1554480"/>
            <a:ext cx="512064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6093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10"/>
                </a:solidFill>
                <a:latin typeface="Calibri"/>
              </a:rPr>
              <a:t>Technology Mgmt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cmdb_ci_service_technical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60934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Identifies the technology provider your business consumes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1762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76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2176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10"/>
                </a:solidFill>
                <a:latin typeface="Calibri"/>
              </a:rPr>
              <a:t>Technology Mgmt Offering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231136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service_offering (Technical)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31136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Stratification of technical service by environment/pricing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798064"/>
            <a:ext cx="256032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2798064"/>
            <a:ext cx="292608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5312" y="2798064"/>
            <a:ext cx="512064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852928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10"/>
                </a:solidFill>
                <a:latin typeface="Calibri"/>
              </a:rPr>
              <a:t>Service Instance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2852928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cmdb_ci_service_auto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852928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Central operational entity — deployed system or app stack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419856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07792" y="341985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25312" y="3419856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474720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10"/>
                </a:solidFill>
                <a:latin typeface="Calibri"/>
              </a:rPr>
              <a:t>Application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3474720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cmdb_ci_appl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3474720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Discoverable running instance of code on a host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041648"/>
            <a:ext cx="256032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07792" y="4041648"/>
            <a:ext cx="292608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25312" y="4041648"/>
            <a:ext cx="5120640" cy="621792"/>
          </a:xfrm>
          <a:prstGeom prst="rect">
            <a:avLst/>
          </a:prstGeom>
          <a:solidFill>
            <a:srgbClr val="FFF0E0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096512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10"/>
                </a:solidFill>
                <a:latin typeface="Calibri"/>
              </a:rPr>
              <a:t>API Components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9232" y="4096512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cmdb_ci_api / api_gateway / api_backend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2" y="4096512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API, API Gateway, and API Backend CIs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4663440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07792" y="4663440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25312" y="4663440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471830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10"/>
                </a:solidFill>
                <a:latin typeface="Calibri"/>
              </a:rPr>
              <a:t>Infrastructure CIs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9232" y="471830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471830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Physical and logical components: servers, DBs, network gear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Domain 5 of 7  |  CSDM — Common Service Data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7A3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Service Consumption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201168"/>
            <a:ext cx="1417320" cy="274320"/>
          </a:xfrm>
          <a:prstGeom prst="rect">
            <a:avLst/>
          </a:prstGeom>
          <a:solidFill>
            <a:srgbClr val="005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194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CONSUMER-FACING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Portfolios and catalogs where consumers request business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560320" cy="384048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07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170432"/>
            <a:ext cx="2926080" cy="384048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2070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170432"/>
            <a:ext cx="5120640" cy="384048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54480"/>
            <a:ext cx="2560320" cy="621792"/>
          </a:xfrm>
          <a:prstGeom prst="rect">
            <a:avLst/>
          </a:prstGeom>
          <a:solidFill>
            <a:srgbClr val="E8F8ED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1554480"/>
            <a:ext cx="2926080" cy="621792"/>
          </a:xfrm>
          <a:prstGeom prst="rect">
            <a:avLst/>
          </a:prstGeom>
          <a:solidFill>
            <a:srgbClr val="E8F8ED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5312" y="1554480"/>
            <a:ext cx="5120640" cy="621792"/>
          </a:xfrm>
          <a:prstGeom prst="rect">
            <a:avLst/>
          </a:prstGeom>
          <a:solidFill>
            <a:srgbClr val="E8F8ED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6093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A3C"/>
                </a:solidFill>
                <a:latin typeface="Calibri"/>
              </a:rPr>
              <a:t>Business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cmdb_ci_service_business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60934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Broad business objective dependent on underlying technology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1762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76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2176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A3C"/>
                </a:solidFill>
                <a:latin typeface="Calibri"/>
              </a:rPr>
              <a:t>Business Service Offering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231136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service_offering (Business)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31136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Specific offerings consumers select — SLAs, pricing,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798064"/>
            <a:ext cx="2560320" cy="621792"/>
          </a:xfrm>
          <a:prstGeom prst="rect">
            <a:avLst/>
          </a:prstGeom>
          <a:solidFill>
            <a:srgbClr val="E8F8ED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2798064"/>
            <a:ext cx="2926080" cy="621792"/>
          </a:xfrm>
          <a:prstGeom prst="rect">
            <a:avLst/>
          </a:prstGeom>
          <a:solidFill>
            <a:srgbClr val="E8F8ED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5312" y="2798064"/>
            <a:ext cx="5120640" cy="621792"/>
          </a:xfrm>
          <a:prstGeom prst="rect">
            <a:avLst/>
          </a:prstGeom>
          <a:solidFill>
            <a:srgbClr val="E8F8ED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852928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A3C"/>
                </a:solidFill>
                <a:latin typeface="Calibri"/>
              </a:rPr>
              <a:t>Service Catalog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2852928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sc_catalog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852928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Where business offerings are published and browsed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419856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07792" y="341985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25312" y="3419856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7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474720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A3C"/>
                </a:solidFill>
                <a:latin typeface="Calibri"/>
              </a:rPr>
              <a:t>Business Service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3474720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service_portfolio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3474720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Hierarchical collection of business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Domain 6 of 7  |  CSDM — Common Service Data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7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D1F2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Manage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201168"/>
            <a:ext cx="1417320" cy="274320"/>
          </a:xfrm>
          <a:prstGeom prst="rect">
            <a:avLst/>
          </a:prstGeom>
          <a:solidFill>
            <a:srgbClr val="550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194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Cross-domain visibility layer for service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560320" cy="384048"/>
          </a:xfrm>
          <a:prstGeom prst="rect">
            <a:avLst/>
          </a:prstGeom>
          <a:solidFill>
            <a:srgbClr val="7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07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170432"/>
            <a:ext cx="2926080" cy="384048"/>
          </a:xfrm>
          <a:prstGeom prst="rect">
            <a:avLst/>
          </a:prstGeom>
          <a:solidFill>
            <a:srgbClr val="7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2070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170432"/>
            <a:ext cx="5120640" cy="384048"/>
          </a:xfrm>
          <a:prstGeom prst="rect">
            <a:avLst/>
          </a:prstGeom>
          <a:solidFill>
            <a:srgbClr val="7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54480"/>
            <a:ext cx="2560320" cy="621792"/>
          </a:xfrm>
          <a:prstGeom prst="rect">
            <a:avLst/>
          </a:prstGeom>
          <a:solidFill>
            <a:srgbClr val="FDEBED"/>
          </a:solidFill>
          <a:ln w="6350">
            <a:solidFill>
              <a:srgbClr val="7D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1554480"/>
            <a:ext cx="2926080" cy="621792"/>
          </a:xfrm>
          <a:prstGeom prst="rect">
            <a:avLst/>
          </a:prstGeom>
          <a:solidFill>
            <a:srgbClr val="FDEBED"/>
          </a:solidFill>
          <a:ln w="6350">
            <a:solidFill>
              <a:srgbClr val="7D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5312" y="1554480"/>
            <a:ext cx="5120640" cy="621792"/>
          </a:xfrm>
          <a:prstGeom prst="rect">
            <a:avLst/>
          </a:prstGeom>
          <a:solidFill>
            <a:srgbClr val="FDEBED"/>
          </a:solidFill>
          <a:ln w="6350">
            <a:solidFill>
              <a:srgbClr val="7D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6093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D1F2A"/>
                </a:solidFill>
                <a:latin typeface="Calibri"/>
              </a:rPr>
              <a:t>SPM Taxonomy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spm_taxonomy_node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609344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Connects Business Services and Tech Services to the portfolio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1762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7D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76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7D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2176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7D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231136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D1F2A"/>
                </a:solidFill>
                <a:latin typeface="Calibri"/>
              </a:rPr>
              <a:t>Cross-Domain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231136"/>
            <a:ext cx="2798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All CSDM domains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231136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Service owners oversee apps, services, and instances holistically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Domain 7 of 7  |  CSDM — Common Service Data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Design &amp; Planning — Business Application Types &amp;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BD4F0"/>
                </a:solidFill>
                <a:latin typeface="Calibri"/>
              </a:rPr>
              <a:t>All are Business Applications (cmdb_ci_business_app) — differentiated by classification attributes and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840480" cy="1005840"/>
          </a:xfrm>
          <a:prstGeom prst="rect">
            <a:avLst/>
          </a:prstGeom>
          <a:solidFill>
            <a:srgbClr val="E8F3FF"/>
          </a:solidFill>
          <a:ln w="317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840480" cy="29260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7957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C96"/>
                </a:solidFill>
                <a:latin typeface="Calibri"/>
              </a:rPr>
              <a:t>ServiceNow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3794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Application Type: COTS  |  Install Type: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2148840"/>
            <a:ext cx="36576" cy="20116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2331720"/>
            <a:ext cx="3236976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" y="2331720"/>
            <a:ext cx="36576" cy="15544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-132588" y="2487168"/>
            <a:ext cx="1417320" cy="1051560"/>
          </a:xfrm>
          <a:prstGeom prst="rect">
            <a:avLst/>
          </a:prstGeom>
          <a:solidFill>
            <a:srgbClr val="D6EAFF"/>
          </a:solidFill>
          <a:ln w="2286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-132588" y="2487168"/>
            <a:ext cx="1417320" cy="256032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-59436" y="25146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59436" y="277977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C96"/>
                </a:solidFill>
                <a:latin typeface="Calibri"/>
              </a:rPr>
              <a:t>ITSM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59436" y="309067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IT Service
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6272" y="2331720"/>
            <a:ext cx="36576" cy="15544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85900" y="2487168"/>
            <a:ext cx="1417320" cy="1051560"/>
          </a:xfrm>
          <a:prstGeom prst="rect">
            <a:avLst/>
          </a:prstGeom>
          <a:solidFill>
            <a:srgbClr val="D6EAFF"/>
          </a:solidFill>
          <a:ln w="2286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85900" y="2487168"/>
            <a:ext cx="1417320" cy="256032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9052" y="25146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9052" y="277977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C96"/>
                </a:solidFill>
                <a:latin typeface="Calibri"/>
              </a:rPr>
              <a:t>ITOM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9052" y="309067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IT Operations
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331720"/>
            <a:ext cx="36576" cy="15544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4388" y="2487168"/>
            <a:ext cx="1417320" cy="1051560"/>
          </a:xfrm>
          <a:prstGeom prst="rect">
            <a:avLst/>
          </a:prstGeom>
          <a:solidFill>
            <a:srgbClr val="D6EAFF"/>
          </a:solidFill>
          <a:ln w="2286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4388" y="2487168"/>
            <a:ext cx="1417320" cy="256032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7540" y="25146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7540" y="277977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C96"/>
                </a:solidFill>
                <a:latin typeface="Calibri"/>
              </a:rPr>
              <a:t>HRSD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7540" y="309067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HR Service
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6301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All four records live in cmdb_ci_business_app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11430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96"/>
                </a:solidFill>
                <a:latin typeface="Calibri"/>
              </a:rPr>
              <a:t>Two ways to express the relationship in CSDM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1536192"/>
            <a:ext cx="7498079" cy="1417320"/>
          </a:xfrm>
          <a:prstGeom prst="rect">
            <a:avLst/>
          </a:prstGeom>
          <a:solidFill>
            <a:srgbClr val="EAF4FF"/>
          </a:solidFill>
          <a:ln w="1524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1591056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  <a:latin typeface="Calibri"/>
              </a:rPr>
              <a:t>Option 1 — Platform Attribute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19202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On each product BA (ITSM, ITOM, HRSD), set the Platform field to "ServiceNow".
Quick to implement. Useful for filtering and reporting by platform.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41401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88"/>
                </a:solidFill>
                <a:latin typeface="Calibri"/>
              </a:rPr>
              <a:t>ITSM.platform = "ServiceNow"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090672"/>
            <a:ext cx="7498079" cy="1417320"/>
          </a:xfrm>
          <a:prstGeom prst="rect">
            <a:avLst/>
          </a:prstGeom>
          <a:solidFill>
            <a:srgbClr val="EAF4FF"/>
          </a:solidFill>
          <a:ln w="1524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145536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  <a:latin typeface="Calibri"/>
              </a:rPr>
              <a:t>Option 2 — Business Application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4747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On each product BA, use the Business Application reference field to point directly
to the ServiceNow platform BA record. Creates an explicit, traceable CI relationship.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977639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88"/>
                </a:solidFill>
                <a:latin typeface="Calibri"/>
              </a:rPr>
              <a:t>ITSM.business_application → ServiceNow (cmdb_ci_business_app record)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64515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  <a:latin typeface="Calibri"/>
              </a:rPr>
              <a:t>Business Application Classification Attributes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992624"/>
            <a:ext cx="1920240" cy="32918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9704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Attribute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92624"/>
            <a:ext cx="1920240" cy="32918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describes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4992624"/>
            <a:ext cx="3474720" cy="32918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50383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Example values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5321808"/>
            <a:ext cx="1920240" cy="329184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9704" y="5367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Application 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321808"/>
            <a:ext cx="1920240" cy="329184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5367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Nature of software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60" y="5321808"/>
            <a:ext cx="3474720" cy="329184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1624" y="5367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COTS, Custom, Open Source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34840" y="565099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9704" y="5696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Architecture Type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65099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55664" y="5696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Structural pattern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6760" y="5650992"/>
            <a:ext cx="3474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1624" y="56967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Web Based, Microservices, Monolith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34840" y="5980176"/>
            <a:ext cx="1920240" cy="329184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9704" y="6025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Install Type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980176"/>
            <a:ext cx="1920240" cy="329184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55664" y="6025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Where it lives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66760" y="5980176"/>
            <a:ext cx="3474720" cy="329184"/>
          </a:xfrm>
          <a:prstGeom prst="rect">
            <a:avLst/>
          </a:prstGeom>
          <a:solidFill>
            <a:srgbClr val="E8F3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21624" y="60258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Cloud, On-Premise, Hybrid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4840" y="630936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9704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Platform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630936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55664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Underlying platform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66760" y="6309360"/>
            <a:ext cx="3474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21624" y="6355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Calibri"/>
              </a:rPr>
              <a:t>ServiceNow, Salesforce, SAP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CSDM — Design &amp; Planning Domain  |  Business Application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2D40"/>
                </a:solidFill>
                <a:latin typeface="Calibri"/>
              </a:rPr>
              <a:t>Key Relationship: Design → Service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How a logical Business Application becomes an operational Service Instance backed by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051560"/>
            <a:ext cx="3657600" cy="34747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Design &amp; Planning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051560"/>
            <a:ext cx="6766560" cy="347472"/>
          </a:xfrm>
          <a:prstGeom prst="rect">
            <a:avLst/>
          </a:prstGeom>
          <a:solidFill>
            <a:srgbClr val="C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051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Service Delivery 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554480"/>
            <a:ext cx="3657600" cy="1371600"/>
          </a:xfrm>
          <a:prstGeom prst="rect">
            <a:avLst/>
          </a:prstGeom>
          <a:solidFill>
            <a:srgbClr val="E8F3FF"/>
          </a:solidFill>
          <a:ln w="2540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642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96"/>
                </a:solidFill>
                <a:latin typeface="Calibri"/>
              </a:rPr>
              <a:t>Business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02996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cmdb_ci_business_app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8600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Logical — not yet deployed.
The software product as planned or purchased.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4" y="2039112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23865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Calibri"/>
              </a:rPr>
              <a:t>deployed 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554480"/>
            <a:ext cx="3291840" cy="1371600"/>
          </a:xfrm>
          <a:prstGeom prst="rect">
            <a:avLst/>
          </a:prstGeom>
          <a:solidFill>
            <a:srgbClr val="FFF0E0"/>
          </a:solidFill>
          <a:ln w="2540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66420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6A10"/>
                </a:solidFill>
                <a:latin typeface="Calibri"/>
              </a:rPr>
              <a:t>Service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2996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cmdb_ci_service_auto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28600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Operational — live and running.
The deployed system in a specific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19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Calibri"/>
              </a:rPr>
              <a:t>depends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657600"/>
            <a:ext cx="5303520" cy="2606040"/>
          </a:xfrm>
          <a:prstGeom prst="rect">
            <a:avLst/>
          </a:prstGeom>
          <a:solidFill>
            <a:srgbClr val="FFF8EC"/>
          </a:solidFill>
          <a:ln w="1905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7490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6A10"/>
                </a:solidFill>
                <a:latin typeface="Calibri"/>
              </a:rPr>
              <a:t>Service Delivery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11480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Infrastructure CIs that the Service Instance runs 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4462272"/>
            <a:ext cx="2331720" cy="457200"/>
          </a:xfrm>
          <a:prstGeom prst="rect">
            <a:avLst/>
          </a:prstGeom>
          <a:solidFill>
            <a:srgbClr val="FFEDD5"/>
          </a:solidFill>
          <a:ln w="1016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498848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4010"/>
                </a:solidFill>
                <a:latin typeface="Calibri"/>
              </a:rPr>
              <a:t>Servers / Compute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70916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Calibri"/>
              </a:rPr>
              <a:t>cmdb_ci_server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4992624"/>
            <a:ext cx="2331720" cy="457200"/>
          </a:xfrm>
          <a:prstGeom prst="rect">
            <a:avLst/>
          </a:prstGeom>
          <a:solidFill>
            <a:srgbClr val="FFEDD5"/>
          </a:solidFill>
          <a:ln w="1016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5029200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4010"/>
                </a:solidFill>
                <a:latin typeface="Calibri"/>
              </a:rPr>
              <a:t>Databases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239512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Calibri"/>
              </a:rPr>
              <a:t>cmdb_ci_database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5522976"/>
            <a:ext cx="2331720" cy="457200"/>
          </a:xfrm>
          <a:prstGeom prst="rect">
            <a:avLst/>
          </a:prstGeom>
          <a:solidFill>
            <a:srgbClr val="FFEDD5"/>
          </a:solidFill>
          <a:ln w="1016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55955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4010"/>
                </a:solidFill>
                <a:latin typeface="Calibri"/>
              </a:rPr>
              <a:t>Network Devices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769864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Calibri"/>
              </a:rPr>
              <a:t>cmdb_ci_netgear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4462272"/>
            <a:ext cx="2331720" cy="457200"/>
          </a:xfrm>
          <a:prstGeom prst="rect">
            <a:avLst/>
          </a:prstGeom>
          <a:solidFill>
            <a:srgbClr val="FFEDD5"/>
          </a:solidFill>
          <a:ln w="1016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4498848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4010"/>
                </a:solidFill>
                <a:latin typeface="Calibri"/>
              </a:rPr>
              <a:t>Applications (running)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70916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Calibri"/>
              </a:rPr>
              <a:t>cmdb_ci_appl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4992624"/>
            <a:ext cx="2331720" cy="457200"/>
          </a:xfrm>
          <a:prstGeom prst="rect">
            <a:avLst/>
          </a:prstGeom>
          <a:solidFill>
            <a:srgbClr val="FFEDD5"/>
          </a:solidFill>
          <a:ln w="1016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5029200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4010"/>
                </a:solidFill>
                <a:latin typeface="Calibri"/>
              </a:rPr>
              <a:t>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239512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Calibri"/>
              </a:rPr>
              <a:t>cmdb_ci_storage_device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5522976"/>
            <a:ext cx="2331720" cy="457200"/>
          </a:xfrm>
          <a:prstGeom prst="rect">
            <a:avLst/>
          </a:prstGeom>
          <a:solidFill>
            <a:srgbClr val="FFEDD5"/>
          </a:solidFill>
          <a:ln w="10160">
            <a:solidFill>
              <a:srgbClr val="C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555955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4010"/>
                </a:solidFill>
                <a:latin typeface="Calibri"/>
              </a:rPr>
              <a:t>Cloud Resources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769864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Calibri"/>
              </a:rPr>
              <a:t>cmdb_ci_cloud_*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3291840"/>
            <a:ext cx="3657600" cy="2971800"/>
          </a:xfrm>
          <a:prstGeom prst="rect">
            <a:avLst/>
          </a:prstGeom>
          <a:solidFill>
            <a:srgbClr val="EEF5FF"/>
          </a:solidFill>
          <a:ln w="1524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364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  <a:latin typeface="Calibri"/>
              </a:rPr>
              <a:t>Key Distinction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373075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Business Application is logical 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395020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it exists in Design &amp; Planning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" y="416966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before anything is deployed.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438912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460857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Service Instance is operational 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482803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it IS the deployed, running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" y="504748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in a specific environment (Prod,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" y="52669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Dev, Test, etc.).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548640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570585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The Service Delivery Network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592531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represents everything the 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" y="614476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55"/>
                </a:solidFill>
                <a:latin typeface="Calibri"/>
              </a:rPr>
              <a:t>Instance depends on to function.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CSDM — Design &amp; Planning  |  Service Delivery Domain Relationship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How the Domains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A0FF"/>
                </a:solidFill>
                <a:latin typeface="Calibri"/>
              </a:rPr>
              <a:t>Foundation  →  Ideation &amp; Strategy  →  Design &amp; Planning  →  Build &amp; Integration  →  Service Delivery  →  Service Consumption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688AA"/>
                </a:solidFill>
                <a:latin typeface="Calibri"/>
              </a:rPr>
              <a:t>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C66"/>
                </a:solidFill>
                <a:latin typeface="Calibri"/>
              </a:rPr>
              <a:t>Manage Portfolio  (cross-domain visibility layer)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• Foundation data must exist before any other domain is populated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87952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• Ideation → Design → Build represents the product lifecycle (logical, non-operational)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26864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• Service Delivery is the operational heart — running instances, infrastructure, offerings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65775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• Service Consumption is business-facing — what end users see and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04688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• Manage Portfolio gives service owners holistic visibility across all 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