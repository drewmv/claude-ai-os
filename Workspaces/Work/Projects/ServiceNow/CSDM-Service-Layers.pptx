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CSDM Service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DDEE"/>
                </a:solidFill>
                <a:latin typeface="Calibri"/>
              </a:rPr>
              <a:t>Understanding how Business Applications connect to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Read the stack bottom to top: Technical →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3A5F"/>
                </a:solidFill>
                <a:latin typeface="Calibri"/>
              </a:rPr>
              <a:t>CSDM: The Service Layer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Calibri"/>
              </a:rPr>
              <a:t>↑  Technical  →  Business  ↑     (read bottom to top)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09928" y="1051560"/>
            <a:ext cx="8778240" cy="841248"/>
          </a:xfrm>
          <a:prstGeom prst="roundRect">
            <a:avLst/>
          </a:prstGeom>
          <a:solidFill>
            <a:srgbClr val="D4EDDA"/>
          </a:solidFill>
          <a:ln w="22860">
            <a:solidFill>
              <a:srgbClr val="5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92808" y="112471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Business Offering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2808" y="1490472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44444"/>
                </a:solidFill>
                <a:latin typeface="Calibri"/>
              </a:rPr>
              <a:t>What the business receives — a named, business-facing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70848" y="1307592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408" y="1280160"/>
            <a:ext cx="1325880" cy="384048"/>
          </a:xfrm>
          <a:prstGeom prst="roundRect">
            <a:avLst/>
          </a:prstGeom>
          <a:solidFill>
            <a:srgbClr val="5A9E6F"/>
          </a:solidFill>
          <a:ln>
            <a:solidFill>
              <a:srgbClr val="5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9928" y="1901952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AAAAA"/>
                </a:solidFill>
                <a:latin typeface="Calibri"/>
              </a:rPr>
              <a:t>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9928" y="2057400"/>
            <a:ext cx="8778240" cy="841248"/>
          </a:xfrm>
          <a:prstGeom prst="roundRect">
            <a:avLst/>
          </a:prstGeom>
          <a:solidFill>
            <a:srgbClr val="CCE5FF"/>
          </a:solidFill>
          <a:ln w="2286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92808" y="213055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Technical Offering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8" y="2496312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44444"/>
                </a:solidFill>
                <a:latin typeface="Calibri"/>
              </a:rPr>
              <a:t>What IT provides to fulfill that business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2313432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408" y="2286000"/>
            <a:ext cx="1325880" cy="384048"/>
          </a:xfrm>
          <a:prstGeom prst="roundRect">
            <a:avLst/>
          </a:prstGeom>
          <a:solidFill>
            <a:srgbClr val="4A86C8"/>
          </a:solidFill>
          <a:ln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9928" y="2907792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AAAAA"/>
                </a:solidFill>
                <a:latin typeface="Calibri"/>
              </a:rPr>
              <a:t>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9928" y="3063240"/>
            <a:ext cx="8778240" cy="841248"/>
          </a:xfrm>
          <a:prstGeom prst="roundRect">
            <a:avLst/>
          </a:prstGeom>
          <a:solidFill>
            <a:srgbClr val="FFF3CD"/>
          </a:solidFill>
          <a:ln w="22860">
            <a:solidFill>
              <a:srgbClr val="C8A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92808" y="313639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Service Instance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2808" y="3502152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44444"/>
                </a:solidFill>
                <a:latin typeface="Calibri"/>
              </a:rPr>
              <a:t>The live, running service in a specific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3319272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9408" y="3291840"/>
            <a:ext cx="1325880" cy="384048"/>
          </a:xfrm>
          <a:prstGeom prst="roundRect">
            <a:avLst/>
          </a:prstGeom>
          <a:solidFill>
            <a:srgbClr val="C8A135"/>
          </a:solidFill>
          <a:ln>
            <a:solidFill>
              <a:srgbClr val="C8A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9928" y="3913632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AAAAA"/>
                </a:solidFill>
                <a:latin typeface="Calibri"/>
              </a:rPr>
              <a:t>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09928" y="4069080"/>
            <a:ext cx="8778240" cy="841248"/>
          </a:xfrm>
          <a:prstGeom prst="roundRect">
            <a:avLst/>
          </a:prstGeom>
          <a:solidFill>
            <a:srgbClr val="FFE5D0"/>
          </a:solidFill>
          <a:ln w="22860">
            <a:solidFill>
              <a:srgbClr val="C8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92808" y="414223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Application Instance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808" y="4507992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44444"/>
                </a:solidFill>
                <a:latin typeface="Calibri"/>
              </a:rPr>
              <a:t>A specific deployment of the app (Prod, Dev, Test…)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4325112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DEPLOYED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9408" y="4297680"/>
            <a:ext cx="1325880" cy="384048"/>
          </a:xfrm>
          <a:prstGeom prst="roundRect">
            <a:avLst/>
          </a:prstGeom>
          <a:solidFill>
            <a:srgbClr val="C87040"/>
          </a:solidFill>
          <a:ln>
            <a:solidFill>
              <a:srgbClr val="C8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09928" y="4919472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AAAAA"/>
                </a:solidFill>
                <a:latin typeface="Calibri"/>
              </a:rPr>
              <a:t>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09928" y="5074920"/>
            <a:ext cx="8778240" cy="841248"/>
          </a:xfrm>
          <a:prstGeom prst="roundRect">
            <a:avLst/>
          </a:prstGeom>
          <a:solidFill>
            <a:srgbClr val="F8D7DA"/>
          </a:solidFill>
          <a:ln w="22860">
            <a:solidFill>
              <a:srgbClr val="B8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92808" y="514807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Business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5513832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44444"/>
                </a:solidFill>
                <a:latin typeface="Calibri"/>
              </a:rPr>
              <a:t>The software product itself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5330952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9408" y="5303520"/>
            <a:ext cx="1325880" cy="384048"/>
          </a:xfrm>
          <a:prstGeom prst="roundRect">
            <a:avLst/>
          </a:prstGeom>
          <a:solidFill>
            <a:srgbClr val="B84A52"/>
          </a:solidFill>
          <a:ln>
            <a:solidFill>
              <a:srgbClr val="B8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CSDM — Common Service Data Model  |  ServiceNow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